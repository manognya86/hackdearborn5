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6 minutes)" id="{74A15EA8-778F-62B8-42F5-568DADE1ECCE}">
          <p14:sldIdLst>
            <p14:sldId id="256"/>
            <p14:sldId id="257"/>
            <p14:sldId id="258"/>
            <p14:sldId id="259"/>
            <p14:sldId id="260"/>
            <p14:sldId id="261"/>
            <p14:sldId id="262"/>
            <p14:sldId id="263"/>
            <p14:sldId id="264"/>
            <p14:sldId id="265"/>
            <p14:sldId id="266"/>
            <p14:sldId id="267"/>
            <p14:sldId id="268"/>
          </p14:sldIdLst>
        </p14:section>
        <p14:section name="Appendix: deep dives for Q&amp;A" id="{AE03F505-29E0-8D19-7A93-D9EFF8FE1B2C}">
          <p14:sldIdLst>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 name="Thank you" id="{4D5F0F51-3574-EFC7-F7E8-4D7D34F3170E}">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F4F1EA"/>
                </a:solidFill>
                <a:latin typeface="+mn-lt"/>
              </a:defRPr>
            </a:pPr>
            <a:r>
              <a:rPr sz="1600" b="0" i="0" u="none" strike="noStrike">
                <a:solidFill>
                  <a:srgbClr val="F4F1EA"/>
                </a:solidFill>
                <a:latin typeface="+mn-lt"/>
              </a:rPr>
              <a:t>If the label's unstated heat tolerance were…</a:t>
            </a:r>
          </a:p>
        </c:rich>
      </c:tx>
      <c:overlay val="0"/>
    </c:title>
    <c:autoTitleDeleted val="0"/>
    <c:plotArea>
      <c:layout/>
      <c:barChart>
        <c:barDir val="col"/>
        <c:grouping val="clustered"/>
        <c:varyColors val="0"/>
        <c:ser>
          <c:idx val="0"/>
          <c:order val="0"/>
          <c:tx>
            <c:strRef>
              <c:f>Sheet1!$B$1</c:f>
              <c:strCache>
                <c:ptCount val="1"/>
                <c:pt idx="0">
                  <c:v>Budget left</c:v>
                </c:pt>
              </c:strCache>
            </c:strRef>
          </c:tx>
          <c:spPr>
            <a:solidFill>
              <a:srgbClr val="F2A541"/>
            </a:solidFill>
            <a:effectLst/>
          </c:spPr>
          <c:invertIfNegative val="0"/>
          <c:dLbls>
            <c:numFmt formatCode="0&quot;%&quot;" sourceLinked="0"/>
            <c:spPr>
              <a:noFill/>
              <a:ln>
                <a:noFill/>
              </a:ln>
              <a:effectLst/>
            </c:spPr>
            <c:txPr>
              <a:bodyPr/>
              <a:lstStyle/>
              <a:p>
                <a:pPr>
                  <a:defRPr sz="1400" b="0" i="0" u="none" strike="noStrike">
                    <a:solidFill>
                      <a:srgbClr val="F4F1E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4 h</c:v>
                </c:pt>
                <c:pt idx="1">
                  <c:v>8 h (our default)</c:v>
                </c:pt>
                <c:pt idx="2">
                  <c:v>24 h</c:v>
                </c:pt>
                <c:pt idx="3">
                  <c:v>72 h</c:v>
                </c:pt>
              </c:strCache>
            </c:strRef>
          </c:cat>
          <c:val>
            <c:numRef>
              <c:f>Sheet1!$B$2:$B$5</c:f>
              <c:numCache>
                <c:formatCode>General</c:formatCode>
                <c:ptCount val="4"/>
                <c:pt idx="0">
                  <c:v>0</c:v>
                </c:pt>
                <c:pt idx="1">
                  <c:v>43</c:v>
                </c:pt>
                <c:pt idx="2">
                  <c:v>81</c:v>
                </c:pt>
                <c:pt idx="3">
                  <c:v>94</c:v>
                </c:pt>
              </c:numCache>
            </c:numRef>
          </c:val>
          <c:extLst>
            <c:ext xmlns:c16="http://schemas.microsoft.com/office/drawing/2014/chart" uri="{C3380CC4-5D6E-409C-BE32-E72D297353CC}">
              <c16:uniqueId val="{00000000-18D2-4AD8-B9DF-23D443621B9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B9C4BF"/>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solidFill>
          <a:srgbClr val="2B2F31"/>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03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Hi, I'm Manu. This is LIFELOG. Our theme is Conjure Reality, and what we conjure is something invisible: how much safe life is left in a temperature-sensitive medicine. We're entering Shaping Society, plus Best Use of Tiger Data and Best Use of Gemini API.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[0:10–0:45] Pharma tracks temperature obsessively, until the pharmacy door. After that it's a hot car, a power outage, a mailbox in August. People either throw away good medicine or use medicine that may have lost potency. Nobody can answer the simple question: is mine still OK?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[0:45–1:10] Here's the key insight. A thermometer only tells you now. These two EpiPens both read 22 degrees, but one spent two hours in a hot car. Damage accumulates. So we give every medicine a life budget that starts at 100% and gets spent by exposure, at the rate its own label allows.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[1:10–1:45] This isn't a niche. Over 8 million Americans rely on insulin, 1 in 8 adults now take a GLP-1 drug, and power outages doubled last year to 11 hours per customer. When researchers mailed 48 test packages, every single one left its labeled temperature range. Add biologics, EpiPens and glucagon, and that's tens of millions of people whose medicine leaves the cold chain at the pharmacy door.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[1:45–2:15] Here's the app, on desktop and phone. Every medicine leads with a traffic light in plain words, a single 'do this now' action, and then the why: what used the budget and what each choice would save. Technical detail is folded away, so anyone can read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Accuracy starts with the rules. 24 real medicines: insulins, GLP-1 pens, biologics, heart, migraine and bone medicines, an EpiPen and glucagon, each from its manufacturer's FDA label. Every quote is tested word for word against the label text, and every number against its quote, and a script re-checks them live. For anything else, type the name: we fetch the official FDA label first, check what was extracted the same way, and flag anything we couldn't find.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[2:35–3:10] Inputs come from a label photo, voice, a sensor, the forecast and the outage map. Gemini turns the unstructured ones into data. Tiger Data stores every reading and does the heavy lifting: continuous aggregates, scheduled jobs and live triggers. The engine computes the budget, and Gemini explains it back in plain language, citing the label.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one person's tracker becomes a community tool. During a storm outage, the database finds every home inside the outage, ranks medicines by hours left versus hours until power returns, and sends each person to the nearest place with power. In our demo, your hot-car EpiPen runs out in about 3 hours, and power is back in 12.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[3:35–4:00] Medicine data has to be private and trustworthy. Privacy is enforced by the database itself: row-level security means a signed-in person's queries can only return their own rows. A pharmacist signs off on each medicine's rules and wording. And where the label is silent, published evidence can replace our 8-hour assumption, for example EpiPen's 1994 heat study, but only after a pharmacist approves it; then Tiger recalculates every patient's history.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[4:00–4:25] Medicine safety is a family affair: an older patient, or a son looking after his mother. A caregiver sees everyone they look after in one place. A Coming up list shows every use-by date with a refill letter drafted in one click. Alerts appear live in the app and as phone or desktop notifications. And one tap on My power is out turns the utility's ZIP-level report into a plan for your own fridge.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[4:25–5:10] Patients never pay: they bring the data and the network. The people who lose money today pay. Pharmacies and mail-order services subscribe per patient: storage proof for replacements and fewer ruined shipments. Health plans pay per verified exposure receipt instead of approving replacements on guesswork. Utilities license the outage view to know which medical-needs homes come first. It's cheap to run: no feature depends on paid AI, and Tiger compresses the data 11 times. The exact prices are what our pilot will test.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We start where we are. First, one Dearborn pharmacy and about a hundred insulin and GLP-1 patients, in English and Arabic. Then a mail-order pharmacy and a utility partner before storm season. Then a health plan and our open API for device makers. We'll measure medicines saved from the trash, replacements backed by receipts, and alerts acted on within the hour. And it's hard to copy: verified label rules, pharmacist review and a history no thermometer builds.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[5:45–6:05] So: we don't tell you if your medicine is cold right now. We tell you how much safe life it has left. We're looking for a Dearborn pharmacy for our pilot, a utility partner before storm season, a health plan to try exposure receipts, and clinicians to validate it. (Next click goes straight to the thank-you slide: the appendix is hidden.)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index. These slides are hidden during the slideshow; type a number and press Enter to jump to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exists today? Warehouse trackers like Controlant and Zest Labs predict shelf life for pallets, but they stop at delivery. Fridge thermometers beep at one threshold and forget. The label has the rules but nobody applies them to what actually happened. LIFELOG is the first piece that lives with the patient.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are new. One: Gemini turns any label into a model, so we never hand-configure a product. Two: a cumulative life budget for patients, scored per reading, honest about uncertainty. Three: one person's tracker becomes a neighborhood rescue network in an outage. Four: the intelligence lives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Tiger Data isn't just storage here. A continuous aggregate scores every reading in real time. When a sensor reconnects with hours of old data, we refresh exactly the affected window. Alerts run as a scheduled job inside the database, triggers push live updates, compression shrinks history 11 times, and we use pgvector, PostGIS and Toolkit.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works at both ends. It reads labels, voice and photos into structured data, finds official labels by name with grounded search, and turns our numbers back into advice that quotes the label, in Arabic, Spanish or Bengali if you prefer. Ask LIFELOG uses function calling: Gemini decides which of five data tools to call, and we show which ones it used.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medicine gets its own forecasting model. Four candidates compete on that medicine's own history from Tiger Data, and the winner is chosen by backtesting. The EpiPen in a backpack follows the outdoor weather, so it gets the weather model, 66 percent more accurate than assuming nothing changes; fridge pens get simpler models. Then we simulate 300 possible futures through the life budget to get real risks, not just a line.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rescue map isn't only a demo storm. Every 10 minutes LIFELOG imports DTE Energy's public outage map, stores each outage area as a PostGIS polygon with customers out and the restoration estimate, and closes areas when power is back. Utilities report by ZIP code, so we say power may be out instead of pretending we know. When we captured this, 174 customers were out across 30 ZIP areas.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matters with medicine. Every budget is calculated three independent ways and they agree exactly. We also show our biggest assumption instead of hiding it: when a label doesn't say how long it tolerates heat, we assume 8 hours, and this chart shows how the answer would change. A silent sensor never shows 'safe'.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Insurers and pharmacists need to trust the numbers. One tap creates an exposure receipt: a fingerprint of the medicine's temperature record stored in Tiger Data. The pharmacist scans the QR code and sees the record. If anything in that period changed later, the page says so.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patients actually ask is: was the dose I already took still good? One tap logs a dose with the medicine's status at that moment from Tiger Data. If late sensor data later changes the answer, the dose is flagged. Doses go into the verifiable receipt, and Ask LIFELOG can answer from them.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Dearborn, a safety tool has to speak Arabic, so the whole interface works in English, Arabic, Spanish and Bengali, with Arabic right to left. Label quotes stay exactly as the FDA wrote them. And people stay in control: download everything LIFELOG holds about you in one file, or delete your account and every reading.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makes LIFELOG friendlier, but it's never a single point of failure. When the free quota runs out, every button falls back to rules built from your own data and the label's exact words, and the answer says so.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LIFELOG is also a platform. Any thermometer, smart fridge or cooler bag can send readings with a device key, receive signed alert webhooks, and use our open format for medicine storage rules. A standard Bluetooth thermometer pairs straight from the browser.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can try it three ways. The owner account has six medicines and the demo controls. A customer account has three medicines of its own and cannot see the owner's, because row-level security in Postgres hides them. A pharmacist account reviews the rules and approves evidence.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Snap a label. Leave the EpiPen in a hot car. Watch a sensor reconnect with hours of late data, which Tiger repairs. Trigger a summer storm and see the rescue list. Then ask LIFELOG a question.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helps patients and caregivers first, but the same data helps pharmacies fix hot deliveries, utilities and emergency managers prioritize outages, and insurers approve replacements. That's Shaping Society: healthcare access, equity and crisis response.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we know it works: 186 automated tests, an end-to-end API check with zero failures, every Gemini feature tested on the live key, all 24 FDA labels re-checked live, and a browser that clicks every screen as all three accounts. The tests caught real bugs, listed here, and we fixed them. What's still open is listed honestly on the right.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the backup slides are numbered 15 to 29.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222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F2224"/>
        </a:solidFill>
        <a:effectLst/>
      </p:bgPr>
    </p:bg>
    <p:spTree>
      <p:nvGrpSpPr>
        <p:cNvPr id="1" name=""/>
        <p:cNvGrpSpPr/>
        <p:nvPr/>
      </p:nvGrpSpPr>
      <p:grpSpPr>
        <a:xfrm>
          <a:off x="0" y="0"/>
          <a:ext cx="0" cy="0"/>
          <a:chOff x="0" y="0"/>
          <a:chExt cx="0" cy="0"/>
        </a:xfrm>
      </p:grpSpPr>
      <p:sp>
        <p:nvSpPr>
          <p:cNvPr id="2" name="Text 0"/>
          <p:cNvSpPr/>
          <p:nvPr/>
        </p:nvSpPr>
        <p:spPr>
          <a:xfrm>
            <a:off x="548640" y="6419088"/>
            <a:ext cx="4572000" cy="274320"/>
          </a:xfrm>
          <a:prstGeom prst="rect">
            <a:avLst/>
          </a:prstGeom>
          <a:noFill/>
          <a:ln/>
        </p:spPr>
        <p:txBody>
          <a:bodyPr wrap="square" lIns="0" tIns="0" rIns="0" bIns="0" rtlCol="0" anchor="ctr"/>
          <a:lstStyle/>
          <a:p>
            <a:pPr marL="0" indent="0">
              <a:buNone/>
            </a:pPr>
            <a:r>
              <a:rPr lang="en-US" sz="1000" kern="0" spc="200" dirty="0">
                <a:solidFill>
                  <a:srgbClr val="B9C4BF"/>
                </a:solidFill>
              </a:rPr>
              <a:t>LIFELOG  ·  Hack Dearborn 5</a:t>
            </a:r>
            <a:endParaRPr lang="en-US" sz="1000" dirty="0"/>
          </a:p>
        </p:txBody>
      </p:sp>
      <p:sp>
        <p:nvSpPr>
          <p:cNvPr id="3" name="Text 1"/>
          <p:cNvSpPr>
            <a:spLocks noGrp="1"/>
          </p:cNvSpPr>
          <p:nvPr>
            <p:ph type="title" idx="101" hasCustomPrompt="1"/>
          </p:nvPr>
        </p:nvSpPr>
        <p:spPr>
          <a:xfrm>
            <a:off x="548640" y="384048"/>
            <a:ext cx="11064240" cy="777240"/>
          </a:xfrm>
          <a:prstGeom prst="rect">
            <a:avLst/>
          </a:prstGeom>
          <a:noFill/>
          <a:ln/>
        </p:spPr>
        <p:txBody>
          <a:bodyPr wrap="square" rtlCol="0"/>
          <a:lstStyle>
            <a:lvl1pPr marL="0" indent="0">
              <a:buNone/>
              <a:defRPr lang="en-US" sz="3200" dirty="0">
                <a:solidFill>
                  <a:srgbClr val="F4F1EA"/>
                </a:solidFill>
                <a:latin typeface="Bookman Old Style" pitchFamily="34" charset="0"/>
                <a:ea typeface="Bookman Old Style" pitchFamily="34" charset="-122"/>
                <a:cs typeface="Bookman Old Style"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audio" Target="../media/audio2.wav"/><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10.png"/><Relationship Id="rId4" Type="http://schemas.openxmlformats.org/officeDocument/2006/relationships/image" Target="../media/image39.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0.png"/><Relationship Id="rId4" Type="http://schemas.openxmlformats.org/officeDocument/2006/relationships/image" Target="../media/image14.png"/><Relationship Id="rId9"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38.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5.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74.png"/><Relationship Id="rId4" Type="http://schemas.openxmlformats.org/officeDocument/2006/relationships/image" Target="../media/image73.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82.png"/><Relationship Id="rId4" Type="http://schemas.openxmlformats.org/officeDocument/2006/relationships/image" Target="../media/image8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nim|1|zoom|after|"/>
          <p:cNvSpPr/>
          <p:nvPr/>
        </p:nvSpPr>
        <p:spPr>
          <a:xfrm>
            <a:off x="640080" y="502920"/>
            <a:ext cx="292608" cy="292608"/>
          </a:xfrm>
          <a:prstGeom prst="star4">
            <a:avLst/>
          </a:prstGeom>
          <a:solidFill>
            <a:srgbClr val="F2A541"/>
          </a:solidFill>
          <a:ln/>
        </p:spPr>
      </p:sp>
      <p:sp>
        <p:nvSpPr>
          <p:cNvPr id="3" name="anim|1|zoom|with|"/>
          <p:cNvSpPr/>
          <p:nvPr/>
        </p:nvSpPr>
        <p:spPr>
          <a:xfrm>
            <a:off x="7863840" y="914400"/>
            <a:ext cx="201168" cy="201168"/>
          </a:xfrm>
          <a:prstGeom prst="star4">
            <a:avLst/>
          </a:prstGeom>
          <a:solidFill>
            <a:srgbClr val="A8D5C2"/>
          </a:solidFill>
          <a:ln/>
        </p:spPr>
      </p:sp>
      <p:sp>
        <p:nvSpPr>
          <p:cNvPr id="4" name="anim|1|zoom|with|"/>
          <p:cNvSpPr/>
          <p:nvPr/>
        </p:nvSpPr>
        <p:spPr>
          <a:xfrm>
            <a:off x="1188720" y="5989320"/>
            <a:ext cx="182880" cy="182880"/>
          </a:xfrm>
          <a:prstGeom prst="star4">
            <a:avLst/>
          </a:prstGeom>
          <a:solidFill>
            <a:srgbClr val="A8D5C2"/>
          </a:solidFill>
          <a:ln/>
        </p:spPr>
      </p:sp>
      <p:sp>
        <p:nvSpPr>
          <p:cNvPr id="5" name="anim|1|zoom|with|"/>
          <p:cNvSpPr/>
          <p:nvPr/>
        </p:nvSpPr>
        <p:spPr>
          <a:xfrm>
            <a:off x="7589520" y="5577840"/>
            <a:ext cx="274320" cy="274320"/>
          </a:xfrm>
          <a:prstGeom prst="star4">
            <a:avLst/>
          </a:prstGeom>
          <a:solidFill>
            <a:srgbClr val="F2A541"/>
          </a:solidFill>
          <a:ln/>
        </p:spPr>
      </p:sp>
      <p:sp>
        <p:nvSpPr>
          <p:cNvPr id="6" name="anim|2|fade|after|"/>
          <p:cNvSpPr txBox="1"/>
          <p:nvPr/>
        </p:nvSpPr>
        <p:spPr>
          <a:xfrm>
            <a:off x="731520" y="1143000"/>
            <a:ext cx="6858000" cy="365760"/>
          </a:xfrm>
          <a:prstGeom prst="rect">
            <a:avLst/>
          </a:prstGeom>
          <a:noFill/>
          <a:ln/>
        </p:spPr>
        <p:txBody>
          <a:bodyPr wrap="square" lIns="0" tIns="0" rIns="0" bIns="0" rtlCol="0" anchor="ctr"/>
          <a:lstStyle/>
          <a:p>
            <a:pPr marL="0" indent="0">
              <a:buNone/>
            </a:pPr>
            <a:r>
              <a:rPr lang="en-US" sz="1400" b="1" kern="0" spc="400" dirty="0">
                <a:solidFill>
                  <a:srgbClr val="F2A541"/>
                </a:solidFill>
                <a:latin typeface="Calibri" pitchFamily="34" charset="0"/>
                <a:ea typeface="Calibri" pitchFamily="34" charset="-122"/>
                <a:cs typeface="Calibri" pitchFamily="34" charset="-120"/>
              </a:rPr>
              <a:t>HACK DEARBORN 5  ·  CONJURE REALITY</a:t>
            </a:r>
            <a:endParaRPr lang="en-US" sz="1400" dirty="0"/>
          </a:p>
        </p:txBody>
      </p:sp>
      <p:sp>
        <p:nvSpPr>
          <p:cNvPr id="7" name="anim|3|fadedzoom|after|"/>
          <p:cNvSpPr txBox="1"/>
          <p:nvPr/>
        </p:nvSpPr>
        <p:spPr>
          <a:xfrm>
            <a:off x="685800" y="1600200"/>
            <a:ext cx="6858000" cy="1188720"/>
          </a:xfrm>
          <a:prstGeom prst="rect">
            <a:avLst/>
          </a:prstGeom>
          <a:noFill/>
          <a:ln/>
        </p:spPr>
        <p:txBody>
          <a:bodyPr wrap="square" lIns="0" tIns="0" rIns="0" bIns="0" rtlCol="0" anchor="ctr"/>
          <a:lstStyle/>
          <a:p>
            <a:pPr marL="0" indent="0">
              <a:buNone/>
            </a:pPr>
            <a:r>
              <a:rPr lang="en-US" sz="7200" kern="0" spc="800" dirty="0">
                <a:solidFill>
                  <a:srgbClr val="F4F1EA"/>
                </a:solidFill>
                <a:latin typeface="Bookman Old Style" pitchFamily="34" charset="0"/>
                <a:ea typeface="Bookman Old Style" pitchFamily="34" charset="-122"/>
                <a:cs typeface="Bookman Old Style" pitchFamily="34" charset="-120"/>
              </a:rPr>
              <a:t>LIFELOG</a:t>
            </a:r>
            <a:endParaRPr lang="en-US" sz="7200" dirty="0"/>
          </a:p>
        </p:txBody>
      </p:sp>
      <p:sp>
        <p:nvSpPr>
          <p:cNvPr id="8" name="anim|4|fade|after|"/>
          <p:cNvSpPr txBox="1"/>
          <p:nvPr/>
        </p:nvSpPr>
        <p:spPr>
          <a:xfrm>
            <a:off x="731520" y="2788920"/>
            <a:ext cx="6949440" cy="548640"/>
          </a:xfrm>
          <a:prstGeom prst="rect">
            <a:avLst/>
          </a:prstGeom>
          <a:noFill/>
          <a:ln/>
        </p:spPr>
        <p:txBody>
          <a:bodyPr wrap="square" lIns="0" tIns="0" rIns="0" bIns="0" rtlCol="0" anchor="ctr"/>
          <a:lstStyle/>
          <a:p>
            <a:pPr marL="0" indent="0">
              <a:buNone/>
            </a:pPr>
            <a:r>
              <a:rPr lang="en-US" sz="2600" i="1" dirty="0">
                <a:solidFill>
                  <a:srgbClr val="A8D5C2"/>
                </a:solidFill>
                <a:latin typeface="Calibri" pitchFamily="34" charset="0"/>
                <a:ea typeface="Calibri" pitchFamily="34" charset="-122"/>
                <a:cs typeface="Calibri" pitchFamily="34" charset="-120"/>
              </a:rPr>
              <a:t>Conjure the hidden life of your medicine</a:t>
            </a:r>
            <a:endParaRPr lang="en-US" sz="2600" dirty="0"/>
          </a:p>
        </p:txBody>
      </p:sp>
      <p:sp>
        <p:nvSpPr>
          <p:cNvPr id="9" name="anim|5|wipe|click|"/>
          <p:cNvSpPr txBox="1"/>
          <p:nvPr/>
        </p:nvSpPr>
        <p:spPr>
          <a:xfrm>
            <a:off x="731520" y="3520440"/>
            <a:ext cx="6583680" cy="914400"/>
          </a:xfrm>
          <a:prstGeom prst="rect">
            <a:avLst/>
          </a:prstGeom>
          <a:noFill/>
          <a:ln/>
        </p:spPr>
        <p:txBody>
          <a:bodyPr wrap="square" lIns="0" tIns="0" rIns="0" bIns="0" rtlCol="0" anchor="ctr"/>
          <a:lstStyle/>
          <a:p>
            <a:pPr marL="0" indent="0">
              <a:buNone/>
            </a:pPr>
            <a:r>
              <a:rPr lang="en-US" sz="1800" dirty="0">
                <a:solidFill>
                  <a:srgbClr val="F4F1EA"/>
                </a:solidFill>
                <a:latin typeface="Calibri" pitchFamily="34" charset="0"/>
                <a:ea typeface="Calibri" pitchFamily="34" charset="-122"/>
                <a:cs typeface="Calibri" pitchFamily="34" charset="-120"/>
              </a:rPr>
              <a:t>We don't tell you if your medicine is cold right now. We tell you how much safe life it has left, and what to do about it.</a:t>
            </a:r>
            <a:endParaRPr lang="en-US" sz="1800" dirty="0"/>
          </a:p>
        </p:txBody>
      </p:sp>
      <p:sp>
        <p:nvSpPr>
          <p:cNvPr id="10" name="anim|6|rise|click|"/>
          <p:cNvSpPr/>
          <p:nvPr/>
        </p:nvSpPr>
        <p:spPr>
          <a:xfrm>
            <a:off x="731520" y="4754880"/>
            <a:ext cx="2103120" cy="457200"/>
          </a:xfrm>
          <a:prstGeom prst="roundRect">
            <a:avLst>
              <a:gd name="adj" fmla="val 50000"/>
            </a:avLst>
          </a:prstGeom>
          <a:solidFill>
            <a:srgbClr val="2B2F31"/>
          </a:solidFill>
          <a:ln w="15875">
            <a:solidFill>
              <a:srgbClr val="6FA391"/>
            </a:solidFill>
            <a:prstDash val="solid"/>
          </a:ln>
        </p:spPr>
      </p:sp>
      <p:sp>
        <p:nvSpPr>
          <p:cNvPr id="11" name="anim|6|rise|with|"/>
          <p:cNvSpPr txBox="1"/>
          <p:nvPr/>
        </p:nvSpPr>
        <p:spPr>
          <a:xfrm>
            <a:off x="731520" y="4754880"/>
            <a:ext cx="2103120" cy="457200"/>
          </a:xfrm>
          <a:prstGeom prst="rect">
            <a:avLst/>
          </a:prstGeom>
          <a:noFill/>
          <a:ln/>
        </p:spPr>
        <p:txBody>
          <a:bodyPr wrap="square" lIns="0" tIns="0" rIns="0" bIns="0" rtlCol="0" anchor="ctr"/>
          <a:lstStyle/>
          <a:p>
            <a:pPr marL="0" indent="0" algn="ctr">
              <a:buNone/>
            </a:pPr>
            <a:r>
              <a:rPr lang="en-US" sz="1300" b="1" dirty="0">
                <a:solidFill>
                  <a:srgbClr val="6FA391"/>
                </a:solidFill>
                <a:latin typeface="Calibri" pitchFamily="34" charset="0"/>
                <a:ea typeface="Calibri" pitchFamily="34" charset="-122"/>
                <a:cs typeface="Calibri" pitchFamily="34" charset="-120"/>
              </a:rPr>
              <a:t>Shaping Society track</a:t>
            </a:r>
            <a:endParaRPr lang="en-US" sz="1300" dirty="0"/>
          </a:p>
        </p:txBody>
      </p:sp>
      <p:sp>
        <p:nvSpPr>
          <p:cNvPr id="12" name="anim|6|rise|after|"/>
          <p:cNvSpPr/>
          <p:nvPr/>
        </p:nvSpPr>
        <p:spPr>
          <a:xfrm>
            <a:off x="2971800" y="4754880"/>
            <a:ext cx="2103120" cy="457200"/>
          </a:xfrm>
          <a:prstGeom prst="roundRect">
            <a:avLst>
              <a:gd name="adj" fmla="val 50000"/>
            </a:avLst>
          </a:prstGeom>
          <a:solidFill>
            <a:srgbClr val="2B2F31"/>
          </a:solidFill>
          <a:ln w="15875">
            <a:solidFill>
              <a:srgbClr val="F2A541"/>
            </a:solidFill>
            <a:prstDash val="solid"/>
          </a:ln>
        </p:spPr>
      </p:sp>
      <p:sp>
        <p:nvSpPr>
          <p:cNvPr id="13" name="anim|6|rise|with|"/>
          <p:cNvSpPr txBox="1"/>
          <p:nvPr/>
        </p:nvSpPr>
        <p:spPr>
          <a:xfrm>
            <a:off x="2971800" y="4754880"/>
            <a:ext cx="2103120" cy="457200"/>
          </a:xfrm>
          <a:prstGeom prst="rect">
            <a:avLst/>
          </a:prstGeom>
          <a:noFill/>
          <a:ln/>
        </p:spPr>
        <p:txBody>
          <a:bodyPr wrap="square" lIns="0" tIns="0" rIns="0" bIns="0" rtlCol="0" anchor="ctr"/>
          <a:lstStyle/>
          <a:p>
            <a:pPr marL="0" indent="0" algn="ctr">
              <a:buNone/>
            </a:pPr>
            <a:r>
              <a:rPr lang="en-US" sz="1300" b="1" dirty="0">
                <a:solidFill>
                  <a:srgbClr val="F2A541"/>
                </a:solidFill>
                <a:latin typeface="Calibri" pitchFamily="34" charset="0"/>
                <a:ea typeface="Calibri" pitchFamily="34" charset="-122"/>
                <a:cs typeface="Calibri" pitchFamily="34" charset="-120"/>
              </a:rPr>
              <a:t>Best Use of Tiger Data</a:t>
            </a:r>
            <a:endParaRPr lang="en-US" sz="1300" dirty="0"/>
          </a:p>
        </p:txBody>
      </p:sp>
      <p:sp>
        <p:nvSpPr>
          <p:cNvPr id="14" name="anim|6|rise|after|"/>
          <p:cNvSpPr/>
          <p:nvPr/>
        </p:nvSpPr>
        <p:spPr>
          <a:xfrm>
            <a:off x="5212080" y="4754880"/>
            <a:ext cx="2103120" cy="457200"/>
          </a:xfrm>
          <a:prstGeom prst="roundRect">
            <a:avLst>
              <a:gd name="adj" fmla="val 50000"/>
            </a:avLst>
          </a:prstGeom>
          <a:solidFill>
            <a:srgbClr val="2B2F31"/>
          </a:solidFill>
          <a:ln w="15875">
            <a:solidFill>
              <a:srgbClr val="9C8CE0"/>
            </a:solidFill>
            <a:prstDash val="solid"/>
          </a:ln>
        </p:spPr>
      </p:sp>
      <p:sp>
        <p:nvSpPr>
          <p:cNvPr id="15" name="anim|6|rise|with|"/>
          <p:cNvSpPr txBox="1"/>
          <p:nvPr/>
        </p:nvSpPr>
        <p:spPr>
          <a:xfrm>
            <a:off x="5212080" y="4754880"/>
            <a:ext cx="2103120" cy="457200"/>
          </a:xfrm>
          <a:prstGeom prst="rect">
            <a:avLst/>
          </a:prstGeom>
          <a:noFill/>
          <a:ln/>
        </p:spPr>
        <p:txBody>
          <a:bodyPr wrap="square" lIns="0" tIns="0" rIns="0" bIns="0" rtlCol="0" anchor="ctr"/>
          <a:lstStyle/>
          <a:p>
            <a:pPr marL="0" indent="0" algn="ctr">
              <a:buNone/>
            </a:pPr>
            <a:r>
              <a:rPr lang="en-US" sz="1300" b="1" dirty="0">
                <a:solidFill>
                  <a:srgbClr val="9C8CE0"/>
                </a:solidFill>
                <a:latin typeface="Calibri" pitchFamily="34" charset="0"/>
                <a:ea typeface="Calibri" pitchFamily="34" charset="-122"/>
                <a:cs typeface="Calibri" pitchFamily="34" charset="-120"/>
              </a:rPr>
              <a:t>Best Use of Gemini API</a:t>
            </a:r>
            <a:endParaRPr lang="en-US" sz="1300" dirty="0"/>
          </a:p>
        </p:txBody>
      </p:sp>
      <p:sp>
        <p:nvSpPr>
          <p:cNvPr id="16" name="anim|7|fadedzoom|click|"/>
          <p:cNvSpPr/>
          <p:nvPr/>
        </p:nvSpPr>
        <p:spPr>
          <a:xfrm>
            <a:off x="8769096" y="585216"/>
            <a:ext cx="2816352" cy="5733288"/>
          </a:xfrm>
          <a:prstGeom prst="roundRect">
            <a:avLst>
              <a:gd name="adj" fmla="val 3896"/>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17" name="anim|7|fadedzoom|click|" descr="C:\Users\manog\AppData\Local\Temp\claude\D--HackDearborn5\a0a981a9-7044-4bcc-95cc-4043289afdb4\scratchpad\deck\phone-epipen.png"/>
          <p:cNvPicPr>
            <a:picLocks noChangeAspect="1"/>
          </p:cNvPicPr>
          <p:nvPr/>
        </p:nvPicPr>
        <p:blipFill>
          <a:blip r:embed="rId4"/>
          <a:stretch>
            <a:fillRect/>
          </a:stretch>
        </p:blipFill>
        <p:spPr>
          <a:xfrm>
            <a:off x="8823960" y="640080"/>
            <a:ext cx="2706624" cy="5623560"/>
          </a:xfrm>
          <a:prstGeom prst="rect">
            <a:avLst/>
          </a:prstGeom>
        </p:spPr>
      </p:pic>
      <p:pic>
        <p:nvPicPr>
          <p:cNvPr id="18" name="anim|7|zoom|with|" descr="preencoded.png"/>
          <p:cNvPicPr>
            <a:picLocks noChangeAspect="1"/>
          </p:cNvPicPr>
          <p:nvPr/>
        </p:nvPicPr>
        <p:blipFill>
          <a:blip r:embed="rId5"/>
          <a:stretch>
            <a:fillRect/>
          </a:stretch>
        </p:blipFill>
        <p:spPr>
          <a:xfrm>
            <a:off x="7498080" y="5074920"/>
            <a:ext cx="1005840" cy="1005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vortex/>
        <p:sndAc>
          <p:stSnd>
            <p:snd r:embed="rId3" name="chime.wav"/>
          </p:stSnd>
        </p:sndAc>
      </p:transition>
    </mc:Choice>
    <mc:Fallback>
      <p:transition spd="slow">
        <p:fade/>
        <p:sndAc>
          <p:stSnd>
            <p:snd r:embed="rId3" name="chim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600" fill="hold"/>
                                        <p:tgtEl>
                                          <p:spTgt spid="2"/>
                                        </p:tgtEl>
                                        <p:attrNameLst>
                                          <p:attrName>ppt_w</p:attrName>
                                        </p:attrNameLst>
                                      </p:cBhvr>
                                      <p:tavLst>
                                        <p:tav tm="0">
                                          <p:val>
                                            <p:fltVal val="0"/>
                                          </p:val>
                                        </p:tav>
                                        <p:tav tm="100000">
                                          <p:val>
                                            <p:strVal val="#ppt_w"/>
                                          </p:val>
                                        </p:tav>
                                      </p:tavLst>
                                    </p:anim>
                                    <p:anim calcmode="lin" valueType="num">
                                      <p:cBhvr>
                                        <p:cTn id="8" dur="600" fill="hold"/>
                                        <p:tgtEl>
                                          <p:spTgt spid="2"/>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600" fill="hold"/>
                                        <p:tgtEl>
                                          <p:spTgt spid="3"/>
                                        </p:tgtEl>
                                        <p:attrNameLst>
                                          <p:attrName>ppt_w</p:attrName>
                                        </p:attrNameLst>
                                      </p:cBhvr>
                                      <p:tavLst>
                                        <p:tav tm="0">
                                          <p:val>
                                            <p:fltVal val="0"/>
                                          </p:val>
                                        </p:tav>
                                        <p:tav tm="100000">
                                          <p:val>
                                            <p:strVal val="#ppt_w"/>
                                          </p:val>
                                        </p:tav>
                                      </p:tavLst>
                                    </p:anim>
                                    <p:anim calcmode="lin" valueType="num">
                                      <p:cBhvr>
                                        <p:cTn id="12" dur="600" fill="hold"/>
                                        <p:tgtEl>
                                          <p:spTgt spid="3"/>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600" fill="hold"/>
                                        <p:tgtEl>
                                          <p:spTgt spid="4"/>
                                        </p:tgtEl>
                                        <p:attrNameLst>
                                          <p:attrName>ppt_w</p:attrName>
                                        </p:attrNameLst>
                                      </p:cBhvr>
                                      <p:tavLst>
                                        <p:tav tm="0">
                                          <p:val>
                                            <p:fltVal val="0"/>
                                          </p:val>
                                        </p:tav>
                                        <p:tav tm="100000">
                                          <p:val>
                                            <p:strVal val="#ppt_w"/>
                                          </p:val>
                                        </p:tav>
                                      </p:tavLst>
                                    </p:anim>
                                    <p:anim calcmode="lin" valueType="num">
                                      <p:cBhvr>
                                        <p:cTn id="16" dur="6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600" fill="hold"/>
                                        <p:tgtEl>
                                          <p:spTgt spid="5"/>
                                        </p:tgtEl>
                                        <p:attrNameLst>
                                          <p:attrName>ppt_w</p:attrName>
                                        </p:attrNameLst>
                                      </p:cBhvr>
                                      <p:tavLst>
                                        <p:tav tm="0">
                                          <p:val>
                                            <p:fltVal val="0"/>
                                          </p:val>
                                        </p:tav>
                                        <p:tav tm="100000">
                                          <p:val>
                                            <p:strVal val="#ppt_w"/>
                                          </p:val>
                                        </p:tav>
                                      </p:tavLst>
                                    </p:anim>
                                    <p:anim calcmode="lin" valueType="num">
                                      <p:cBhvr>
                                        <p:cTn id="20" dur="600" fill="hold"/>
                                        <p:tgtEl>
                                          <p:spTgt spid="5"/>
                                        </p:tgtEl>
                                        <p:attrNameLst>
                                          <p:attrName>ppt_h</p:attrName>
                                        </p:attrNameLst>
                                      </p:cBhvr>
                                      <p:tavLst>
                                        <p:tav tm="0">
                                          <p:val>
                                            <p:fltVal val="0"/>
                                          </p:val>
                                        </p:tav>
                                        <p:tav tm="100000">
                                          <p:val>
                                            <p:strVal val="#ppt_h"/>
                                          </p:val>
                                        </p:tav>
                                      </p:tavLst>
                                    </p:anim>
                                  </p:childTnLst>
                                </p:cTn>
                              </p:par>
                            </p:childTnLst>
                          </p:cTn>
                        </p:par>
                        <p:par>
                          <p:cTn id="21" fill="hold">
                            <p:stCondLst>
                              <p:cond delay="60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par>
                          <p:cTn id="25" fill="hold">
                            <p:stCondLst>
                              <p:cond delay="1100"/>
                            </p:stCondLst>
                            <p:childTnLst>
                              <p:par>
                                <p:cTn id="26" presetID="53" presetClass="entr" presetSubtype="16"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600" fill="hold"/>
                                        <p:tgtEl>
                                          <p:spTgt spid="7"/>
                                        </p:tgtEl>
                                        <p:attrNameLst>
                                          <p:attrName>ppt_w</p:attrName>
                                        </p:attrNameLst>
                                      </p:cBhvr>
                                      <p:tavLst>
                                        <p:tav tm="0">
                                          <p:val>
                                            <p:fltVal val="0"/>
                                          </p:val>
                                        </p:tav>
                                        <p:tav tm="100000">
                                          <p:val>
                                            <p:strVal val="#ppt_w"/>
                                          </p:val>
                                        </p:tav>
                                      </p:tavLst>
                                    </p:anim>
                                    <p:anim calcmode="lin" valueType="num">
                                      <p:cBhvr>
                                        <p:cTn id="29" dur="600" fill="hold"/>
                                        <p:tgtEl>
                                          <p:spTgt spid="7"/>
                                        </p:tgtEl>
                                        <p:attrNameLst>
                                          <p:attrName>ppt_h</p:attrName>
                                        </p:attrNameLst>
                                      </p:cBhvr>
                                      <p:tavLst>
                                        <p:tav tm="0">
                                          <p:val>
                                            <p:fltVal val="0"/>
                                          </p:val>
                                        </p:tav>
                                        <p:tav tm="100000">
                                          <p:val>
                                            <p:strVal val="#ppt_h"/>
                                          </p:val>
                                        </p:tav>
                                      </p:tavLst>
                                    </p:anim>
                                    <p:animEffect transition="in" filter="fade">
                                      <p:cBhvr>
                                        <p:cTn id="30" dur="600"/>
                                        <p:tgtEl>
                                          <p:spTgt spid="7"/>
                                        </p:tgtEl>
                                      </p:cBhvr>
                                    </p:animEffect>
                                  </p:childTnLst>
                                </p:cTn>
                              </p:par>
                            </p:childTnLst>
                          </p:cTn>
                        </p:par>
                        <p:par>
                          <p:cTn id="31" fill="hold">
                            <p:stCondLst>
                              <p:cond delay="1700"/>
                            </p:stCondLst>
                            <p:childTnLst>
                              <p:par>
                                <p:cTn id="32" presetID="10"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37"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fill="hold"/>
                                        <p:tgtEl>
                                          <p:spTgt spid="10"/>
                                        </p:tgtEl>
                                        <p:attrNameLst>
                                          <p:attrName>ppt_x</p:attrName>
                                        </p:attrNameLst>
                                      </p:cBhvr>
                                      <p:tavLst>
                                        <p:tav tm="0">
                                          <p:val>
                                            <p:strVal val="#ppt_x"/>
                                          </p:val>
                                        </p:tav>
                                        <p:tav tm="100000">
                                          <p:val>
                                            <p:strVal val="#ppt_x"/>
                                          </p:val>
                                        </p:tav>
                                      </p:tavLst>
                                    </p:anim>
                                    <p:anim calcmode="lin" valueType="num">
                                      <p:cBhvr>
                                        <p:cTn id="46" dur="450" decel="100000" fill="hold"/>
                                        <p:tgtEl>
                                          <p:spTgt spid="10"/>
                                        </p:tgtEl>
                                        <p:attrNameLst>
                                          <p:attrName>ppt_y</p:attrName>
                                        </p:attrNameLst>
                                      </p:cBhvr>
                                      <p:tavLst>
                                        <p:tav tm="0">
                                          <p:val>
                                            <p:strVal val="#ppt_y+1"/>
                                          </p:val>
                                        </p:tav>
                                        <p:tav tm="100000">
                                          <p:val>
                                            <p:strVal val="#ppt_y-.03"/>
                                          </p:val>
                                        </p:tav>
                                      </p:tavLst>
                                    </p:anim>
                                    <p:anim calcmode="lin" valueType="num">
                                      <p:cBhvr>
                                        <p:cTn id="47"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48" presetID="37"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anim calcmode="lin" valueType="num">
                                      <p:cBhvr>
                                        <p:cTn id="51" dur="500" fill="hold"/>
                                        <p:tgtEl>
                                          <p:spTgt spid="11"/>
                                        </p:tgtEl>
                                        <p:attrNameLst>
                                          <p:attrName>ppt_x</p:attrName>
                                        </p:attrNameLst>
                                      </p:cBhvr>
                                      <p:tavLst>
                                        <p:tav tm="0">
                                          <p:val>
                                            <p:strVal val="#ppt_x"/>
                                          </p:val>
                                        </p:tav>
                                        <p:tav tm="100000">
                                          <p:val>
                                            <p:strVal val="#ppt_x"/>
                                          </p:val>
                                        </p:tav>
                                      </p:tavLst>
                                    </p:anim>
                                    <p:anim calcmode="lin" valueType="num">
                                      <p:cBhvr>
                                        <p:cTn id="52" dur="450" decel="100000" fill="hold"/>
                                        <p:tgtEl>
                                          <p:spTgt spid="11"/>
                                        </p:tgtEl>
                                        <p:attrNameLst>
                                          <p:attrName>ppt_y</p:attrName>
                                        </p:attrNameLst>
                                      </p:cBhvr>
                                      <p:tavLst>
                                        <p:tav tm="0">
                                          <p:val>
                                            <p:strVal val="#ppt_y+1"/>
                                          </p:val>
                                        </p:tav>
                                        <p:tav tm="100000">
                                          <p:val>
                                            <p:strVal val="#ppt_y-.03"/>
                                          </p:val>
                                        </p:tav>
                                      </p:tavLst>
                                    </p:anim>
                                    <p:anim calcmode="lin" valueType="num">
                                      <p:cBhvr>
                                        <p:cTn id="53"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childTnLst>
                          </p:cTn>
                        </p:par>
                        <p:par>
                          <p:cTn id="54" fill="hold">
                            <p:stCondLst>
                              <p:cond delay="500"/>
                            </p:stCondLst>
                            <p:childTnLst>
                              <p:par>
                                <p:cTn id="55" presetID="37" presetClass="entr" presetSubtype="0" fill="hold" nodeType="afterEffect">
                                  <p:stCondLst>
                                    <p:cond delay="5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anim calcmode="lin" valueType="num">
                                      <p:cBhvr>
                                        <p:cTn id="58" dur="500" fill="hold"/>
                                        <p:tgtEl>
                                          <p:spTgt spid="12"/>
                                        </p:tgtEl>
                                        <p:attrNameLst>
                                          <p:attrName>ppt_x</p:attrName>
                                        </p:attrNameLst>
                                      </p:cBhvr>
                                      <p:tavLst>
                                        <p:tav tm="0">
                                          <p:val>
                                            <p:strVal val="#ppt_x"/>
                                          </p:val>
                                        </p:tav>
                                        <p:tav tm="100000">
                                          <p:val>
                                            <p:strVal val="#ppt_x"/>
                                          </p:val>
                                        </p:tav>
                                      </p:tavLst>
                                    </p:anim>
                                    <p:anim calcmode="lin" valueType="num">
                                      <p:cBhvr>
                                        <p:cTn id="59" dur="450" decel="100000" fill="hold"/>
                                        <p:tgtEl>
                                          <p:spTgt spid="12"/>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anim calcmode="lin" valueType="num">
                                      <p:cBhvr>
                                        <p:cTn id="64" dur="500" fill="hold"/>
                                        <p:tgtEl>
                                          <p:spTgt spid="13"/>
                                        </p:tgtEl>
                                        <p:attrNameLst>
                                          <p:attrName>ppt_x</p:attrName>
                                        </p:attrNameLst>
                                      </p:cBhvr>
                                      <p:tavLst>
                                        <p:tav tm="0">
                                          <p:val>
                                            <p:strVal val="#ppt_x"/>
                                          </p:val>
                                        </p:tav>
                                        <p:tav tm="100000">
                                          <p:val>
                                            <p:strVal val="#ppt_x"/>
                                          </p:val>
                                        </p:tav>
                                      </p:tavLst>
                                    </p:anim>
                                    <p:anim calcmode="lin" valueType="num">
                                      <p:cBhvr>
                                        <p:cTn id="65" dur="450" decel="100000" fill="hold"/>
                                        <p:tgtEl>
                                          <p:spTgt spid="13"/>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par>
                          <p:cTn id="67" fill="hold">
                            <p:stCondLst>
                              <p:cond delay="1050"/>
                            </p:stCondLst>
                            <p:childTnLst>
                              <p:par>
                                <p:cTn id="68" presetID="37" presetClass="entr" presetSubtype="0" fill="hold" nodeType="afterEffect">
                                  <p:stCondLst>
                                    <p:cond delay="5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anim calcmode="lin" valueType="num">
                                      <p:cBhvr>
                                        <p:cTn id="71" dur="500" fill="hold"/>
                                        <p:tgtEl>
                                          <p:spTgt spid="14"/>
                                        </p:tgtEl>
                                        <p:attrNameLst>
                                          <p:attrName>ppt_x</p:attrName>
                                        </p:attrNameLst>
                                      </p:cBhvr>
                                      <p:tavLst>
                                        <p:tav tm="0">
                                          <p:val>
                                            <p:strVal val="#ppt_x"/>
                                          </p:val>
                                        </p:tav>
                                        <p:tav tm="100000">
                                          <p:val>
                                            <p:strVal val="#ppt_x"/>
                                          </p:val>
                                        </p:tav>
                                      </p:tavLst>
                                    </p:anim>
                                    <p:anim calcmode="lin" valueType="num">
                                      <p:cBhvr>
                                        <p:cTn id="72" dur="450" decel="100000" fill="hold"/>
                                        <p:tgtEl>
                                          <p:spTgt spid="14"/>
                                        </p:tgtEl>
                                        <p:attrNameLst>
                                          <p:attrName>ppt_y</p:attrName>
                                        </p:attrNameLst>
                                      </p:cBhvr>
                                      <p:tavLst>
                                        <p:tav tm="0">
                                          <p:val>
                                            <p:strVal val="#ppt_y+1"/>
                                          </p:val>
                                        </p:tav>
                                        <p:tav tm="100000">
                                          <p:val>
                                            <p:strVal val="#ppt_y-.03"/>
                                          </p:val>
                                        </p:tav>
                                      </p:tavLst>
                                    </p:anim>
                                    <p:anim calcmode="lin" valueType="num">
                                      <p:cBhvr>
                                        <p:cTn id="73"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74" presetID="37"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anim calcmode="lin" valueType="num">
                                      <p:cBhvr>
                                        <p:cTn id="77" dur="500" fill="hold"/>
                                        <p:tgtEl>
                                          <p:spTgt spid="15"/>
                                        </p:tgtEl>
                                        <p:attrNameLst>
                                          <p:attrName>ppt_x</p:attrName>
                                        </p:attrNameLst>
                                      </p:cBhvr>
                                      <p:tavLst>
                                        <p:tav tm="0">
                                          <p:val>
                                            <p:strVal val="#ppt_x"/>
                                          </p:val>
                                        </p:tav>
                                        <p:tav tm="100000">
                                          <p:val>
                                            <p:strVal val="#ppt_x"/>
                                          </p:val>
                                        </p:tav>
                                      </p:tavLst>
                                    </p:anim>
                                    <p:anim calcmode="lin" valueType="num">
                                      <p:cBhvr>
                                        <p:cTn id="78" dur="450" decel="100000" fill="hold"/>
                                        <p:tgtEl>
                                          <p:spTgt spid="15"/>
                                        </p:tgtEl>
                                        <p:attrNameLst>
                                          <p:attrName>ppt_y</p:attrName>
                                        </p:attrNameLst>
                                      </p:cBhvr>
                                      <p:tavLst>
                                        <p:tav tm="0">
                                          <p:val>
                                            <p:strVal val="#ppt_y+1"/>
                                          </p:val>
                                        </p:tav>
                                        <p:tav tm="100000">
                                          <p:val>
                                            <p:strVal val="#ppt_y-.03"/>
                                          </p:val>
                                        </p:tav>
                                      </p:tavLst>
                                    </p:anim>
                                    <p:anim calcmode="lin" valueType="num">
                                      <p:cBhvr>
                                        <p:cTn id="79"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16"/>
                                        </p:tgtEl>
                                        <p:attrNameLst>
                                          <p:attrName>style.visibility</p:attrName>
                                        </p:attrNameLst>
                                      </p:cBhvr>
                                      <p:to>
                                        <p:strVal val="visible"/>
                                      </p:to>
                                    </p:set>
                                    <p:anim calcmode="lin" valueType="num">
                                      <p:cBhvr>
                                        <p:cTn id="84" dur="600" fill="hold"/>
                                        <p:tgtEl>
                                          <p:spTgt spid="16"/>
                                        </p:tgtEl>
                                        <p:attrNameLst>
                                          <p:attrName>ppt_w</p:attrName>
                                        </p:attrNameLst>
                                      </p:cBhvr>
                                      <p:tavLst>
                                        <p:tav tm="0">
                                          <p:val>
                                            <p:fltVal val="0"/>
                                          </p:val>
                                        </p:tav>
                                        <p:tav tm="100000">
                                          <p:val>
                                            <p:strVal val="#ppt_w"/>
                                          </p:val>
                                        </p:tav>
                                      </p:tavLst>
                                    </p:anim>
                                    <p:anim calcmode="lin" valueType="num">
                                      <p:cBhvr>
                                        <p:cTn id="85" dur="600" fill="hold"/>
                                        <p:tgtEl>
                                          <p:spTgt spid="16"/>
                                        </p:tgtEl>
                                        <p:attrNameLst>
                                          <p:attrName>ppt_h</p:attrName>
                                        </p:attrNameLst>
                                      </p:cBhvr>
                                      <p:tavLst>
                                        <p:tav tm="0">
                                          <p:val>
                                            <p:fltVal val="0"/>
                                          </p:val>
                                        </p:tav>
                                        <p:tav tm="100000">
                                          <p:val>
                                            <p:strVal val="#ppt_h"/>
                                          </p:val>
                                        </p:tav>
                                      </p:tavLst>
                                    </p:anim>
                                    <p:animEffect transition="in" filter="fade">
                                      <p:cBhvr>
                                        <p:cTn id="86" dur="600"/>
                                        <p:tgtEl>
                                          <p:spTgt spid="16"/>
                                        </p:tgtEl>
                                      </p:cBhvr>
                                    </p:animEffect>
                                  </p:childTnLst>
                                </p:cTn>
                              </p:par>
                              <p:par>
                                <p:cTn id="87" presetID="53" presetClass="entr" presetSubtype="16" fill="hold" nodeType="withEffect">
                                  <p:stCondLst>
                                    <p:cond delay="0"/>
                                  </p:stCondLst>
                                  <p:childTnLst>
                                    <p:set>
                                      <p:cBhvr>
                                        <p:cTn id="88" dur="1" fill="hold">
                                          <p:stCondLst>
                                            <p:cond delay="0"/>
                                          </p:stCondLst>
                                        </p:cTn>
                                        <p:tgtEl>
                                          <p:spTgt spid="17"/>
                                        </p:tgtEl>
                                        <p:attrNameLst>
                                          <p:attrName>style.visibility</p:attrName>
                                        </p:attrNameLst>
                                      </p:cBhvr>
                                      <p:to>
                                        <p:strVal val="visible"/>
                                      </p:to>
                                    </p:set>
                                    <p:anim calcmode="lin" valueType="num">
                                      <p:cBhvr>
                                        <p:cTn id="89" dur="600" fill="hold"/>
                                        <p:tgtEl>
                                          <p:spTgt spid="17"/>
                                        </p:tgtEl>
                                        <p:attrNameLst>
                                          <p:attrName>ppt_w</p:attrName>
                                        </p:attrNameLst>
                                      </p:cBhvr>
                                      <p:tavLst>
                                        <p:tav tm="0">
                                          <p:val>
                                            <p:fltVal val="0"/>
                                          </p:val>
                                        </p:tav>
                                        <p:tav tm="100000">
                                          <p:val>
                                            <p:strVal val="#ppt_w"/>
                                          </p:val>
                                        </p:tav>
                                      </p:tavLst>
                                    </p:anim>
                                    <p:anim calcmode="lin" valueType="num">
                                      <p:cBhvr>
                                        <p:cTn id="90" dur="600" fill="hold"/>
                                        <p:tgtEl>
                                          <p:spTgt spid="17"/>
                                        </p:tgtEl>
                                        <p:attrNameLst>
                                          <p:attrName>ppt_h</p:attrName>
                                        </p:attrNameLst>
                                      </p:cBhvr>
                                      <p:tavLst>
                                        <p:tav tm="0">
                                          <p:val>
                                            <p:fltVal val="0"/>
                                          </p:val>
                                        </p:tav>
                                        <p:tav tm="100000">
                                          <p:val>
                                            <p:strVal val="#ppt_h"/>
                                          </p:val>
                                        </p:tav>
                                      </p:tavLst>
                                    </p:anim>
                                    <p:animEffect transition="in" filter="fade">
                                      <p:cBhvr>
                                        <p:cTn id="91" dur="600"/>
                                        <p:tgtEl>
                                          <p:spTgt spid="17"/>
                                        </p:tgtEl>
                                      </p:cBhvr>
                                    </p:animEffect>
                                  </p:childTnLst>
                                </p:cTn>
                              </p:par>
                              <p:par>
                                <p:cTn id="92" presetID="23" presetClass="entr" presetSubtype="16" fill="hold" nodeType="withEffect">
                                  <p:stCondLst>
                                    <p:cond delay="0"/>
                                  </p:stCondLst>
                                  <p:childTnLst>
                                    <p:set>
                                      <p:cBhvr>
                                        <p:cTn id="93" dur="1" fill="hold">
                                          <p:stCondLst>
                                            <p:cond delay="0"/>
                                          </p:stCondLst>
                                        </p:cTn>
                                        <p:tgtEl>
                                          <p:spTgt spid="18"/>
                                        </p:tgtEl>
                                        <p:attrNameLst>
                                          <p:attrName>style.visibility</p:attrName>
                                        </p:attrNameLst>
                                      </p:cBhvr>
                                      <p:to>
                                        <p:strVal val="visible"/>
                                      </p:to>
                                    </p:set>
                                    <p:anim calcmode="lin" valueType="num">
                                      <p:cBhvr>
                                        <p:cTn id="94" dur="600" fill="hold"/>
                                        <p:tgtEl>
                                          <p:spTgt spid="18"/>
                                        </p:tgtEl>
                                        <p:attrNameLst>
                                          <p:attrName>ppt_w</p:attrName>
                                        </p:attrNameLst>
                                      </p:cBhvr>
                                      <p:tavLst>
                                        <p:tav tm="0">
                                          <p:val>
                                            <p:fltVal val="0"/>
                                          </p:val>
                                        </p:tav>
                                        <p:tav tm="100000">
                                          <p:val>
                                            <p:strVal val="#ppt_w"/>
                                          </p:val>
                                        </p:tav>
                                      </p:tavLst>
                                    </p:anim>
                                    <p:anim calcmode="lin" valueType="num">
                                      <p:cBhvr>
                                        <p:cTn id="95" dur="6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3"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The cold chain ends at the pharmacy door</a:t>
            </a:r>
            <a:endParaRPr lang="en-US" sz="3200" dirty="0"/>
          </a:p>
        </p:txBody>
      </p:sp>
      <p:sp>
        <p:nvSpPr>
          <p:cNvPr id="3" name="Text 1"/>
          <p:cNvSpPr txBox="1"/>
          <p:nvPr/>
        </p:nvSpPr>
        <p:spPr>
          <a:xfrm>
            <a:off x="548640" y="1234440"/>
            <a:ext cx="10515600" cy="548640"/>
          </a:xfrm>
          <a:prstGeom prst="rect">
            <a:avLst/>
          </a:prstGeom>
          <a:noFill/>
          <a:ln/>
        </p:spPr>
        <p:txBody>
          <a:bodyPr wrap="square" lIns="0" tIns="0" rIns="0" bIns="0" rtlCol="0" anchor="ctr"/>
          <a:lstStyle/>
          <a:p>
            <a:pPr marL="0" indent="0">
              <a:buNone/>
            </a:pPr>
            <a:r>
              <a:rPr lang="en-US" sz="1800" dirty="0">
                <a:solidFill>
                  <a:srgbClr val="B9C4BF"/>
                </a:solidFill>
                <a:latin typeface="Calibri" pitchFamily="34" charset="0"/>
                <a:ea typeface="Calibri" pitchFamily="34" charset="-122"/>
                <a:cs typeface="Calibri" pitchFamily="34" charset="-120"/>
              </a:rPr>
              <a:t>Warehouses and pharmacies log temperature to the minute. Once a medicine goes home, nobody is watching.</a:t>
            </a:r>
            <a:endParaRPr lang="en-US" sz="1800" dirty="0"/>
          </a:p>
        </p:txBody>
      </p:sp>
      <p:sp>
        <p:nvSpPr>
          <p:cNvPr id="4" name="anim|1|rise|click|"/>
          <p:cNvSpPr/>
          <p:nvPr/>
        </p:nvSpPr>
        <p:spPr>
          <a:xfrm>
            <a:off x="548640" y="2011680"/>
            <a:ext cx="3474720" cy="2926080"/>
          </a:xfrm>
          <a:prstGeom prst="roundRect">
            <a:avLst>
              <a:gd name="adj" fmla="val 3750"/>
            </a:avLst>
          </a:prstGeom>
          <a:solidFill>
            <a:srgbClr val="2B2F31"/>
          </a:solidFill>
          <a:ln w="9525">
            <a:solidFill>
              <a:srgbClr val="45504C"/>
            </a:solidFill>
            <a:prstDash val="solid"/>
          </a:ln>
        </p:spPr>
      </p:sp>
      <p:sp>
        <p:nvSpPr>
          <p:cNvPr id="5" name="anim|1|rise|with|"/>
          <p:cNvSpPr/>
          <p:nvPr/>
        </p:nvSpPr>
        <p:spPr>
          <a:xfrm>
            <a:off x="868680" y="2286000"/>
            <a:ext cx="822960" cy="822960"/>
          </a:xfrm>
          <a:prstGeom prst="ellipse">
            <a:avLst/>
          </a:prstGeom>
          <a:solidFill>
            <a:srgbClr val="343A3C"/>
          </a:solidFill>
          <a:ln/>
        </p:spPr>
      </p:sp>
      <p:pic>
        <p:nvPicPr>
          <p:cNvPr id="6" name="anim|1|rise|with|" descr="preencoded.png"/>
          <p:cNvPicPr>
            <a:picLocks noChangeAspect="1"/>
          </p:cNvPicPr>
          <p:nvPr/>
        </p:nvPicPr>
        <p:blipFill>
          <a:blip r:embed="rId4"/>
          <a:stretch>
            <a:fillRect/>
          </a:stretch>
        </p:blipFill>
        <p:spPr>
          <a:xfrm>
            <a:off x="1049731" y="2467051"/>
            <a:ext cx="460858" cy="460858"/>
          </a:xfrm>
          <a:prstGeom prst="rect">
            <a:avLst/>
          </a:prstGeom>
        </p:spPr>
      </p:pic>
      <p:sp>
        <p:nvSpPr>
          <p:cNvPr id="7" name="anim|1|rise|with|"/>
          <p:cNvSpPr txBox="1"/>
          <p:nvPr/>
        </p:nvSpPr>
        <p:spPr>
          <a:xfrm>
            <a:off x="868680" y="3246120"/>
            <a:ext cx="2926080" cy="45720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The hot car</a:t>
            </a:r>
            <a:endParaRPr lang="en-US" sz="2100" dirty="0"/>
          </a:p>
        </p:txBody>
      </p:sp>
      <p:sp>
        <p:nvSpPr>
          <p:cNvPr id="8" name="anim|1|rise|with|"/>
          <p:cNvSpPr txBox="1"/>
          <p:nvPr/>
        </p:nvSpPr>
        <p:spPr>
          <a:xfrm>
            <a:off x="868680" y="3703320"/>
            <a:ext cx="2880360" cy="114300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A parked car on a summer day can climb past 50°C. Many labels cap insulin, GLP-1 pens and EpiPens around 25–30°C.</a:t>
            </a:r>
            <a:endParaRPr lang="en-US" sz="1500" dirty="0"/>
          </a:p>
        </p:txBody>
      </p:sp>
      <p:sp>
        <p:nvSpPr>
          <p:cNvPr id="9" name="anim|2|rise|click|"/>
          <p:cNvSpPr/>
          <p:nvPr/>
        </p:nvSpPr>
        <p:spPr>
          <a:xfrm>
            <a:off x="4297680" y="2011680"/>
            <a:ext cx="3474720" cy="2926080"/>
          </a:xfrm>
          <a:prstGeom prst="roundRect">
            <a:avLst>
              <a:gd name="adj" fmla="val 3750"/>
            </a:avLst>
          </a:prstGeom>
          <a:solidFill>
            <a:srgbClr val="2B2F31"/>
          </a:solidFill>
          <a:ln w="9525">
            <a:solidFill>
              <a:srgbClr val="45504C"/>
            </a:solidFill>
            <a:prstDash val="solid"/>
          </a:ln>
        </p:spPr>
      </p:sp>
      <p:sp>
        <p:nvSpPr>
          <p:cNvPr id="10" name="anim|2|rise|with|"/>
          <p:cNvSpPr/>
          <p:nvPr/>
        </p:nvSpPr>
        <p:spPr>
          <a:xfrm>
            <a:off x="4617720" y="2286000"/>
            <a:ext cx="822960" cy="822960"/>
          </a:xfrm>
          <a:prstGeom prst="ellipse">
            <a:avLst/>
          </a:prstGeom>
          <a:solidFill>
            <a:srgbClr val="343A3C"/>
          </a:solidFill>
          <a:ln/>
        </p:spPr>
      </p:sp>
      <p:pic>
        <p:nvPicPr>
          <p:cNvPr id="11" name="anim|2|rise|with|" descr="preencoded.png"/>
          <p:cNvPicPr>
            <a:picLocks noChangeAspect="1"/>
          </p:cNvPicPr>
          <p:nvPr/>
        </p:nvPicPr>
        <p:blipFill>
          <a:blip r:embed="rId5"/>
          <a:stretch>
            <a:fillRect/>
          </a:stretch>
        </p:blipFill>
        <p:spPr>
          <a:xfrm>
            <a:off x="4798771" y="2467051"/>
            <a:ext cx="460858" cy="460858"/>
          </a:xfrm>
          <a:prstGeom prst="rect">
            <a:avLst/>
          </a:prstGeom>
        </p:spPr>
      </p:pic>
      <p:sp>
        <p:nvSpPr>
          <p:cNvPr id="12" name="anim|2|rise|with|"/>
          <p:cNvSpPr txBox="1"/>
          <p:nvPr/>
        </p:nvSpPr>
        <p:spPr>
          <a:xfrm>
            <a:off x="4617720" y="3246120"/>
            <a:ext cx="2926080" cy="45720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The power outage</a:t>
            </a:r>
            <a:endParaRPr lang="en-US" sz="2100" dirty="0"/>
          </a:p>
        </p:txBody>
      </p:sp>
      <p:sp>
        <p:nvSpPr>
          <p:cNvPr id="13" name="anim|2|rise|with|"/>
          <p:cNvSpPr txBox="1"/>
          <p:nvPr/>
        </p:nvSpPr>
        <p:spPr>
          <a:xfrm>
            <a:off x="4617720" y="3703320"/>
            <a:ext cx="2880360" cy="114300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A fridge without power warms slowly. After a storm, is the insulin still good? Nobody can say.</a:t>
            </a:r>
            <a:endParaRPr lang="en-US" sz="1500" dirty="0"/>
          </a:p>
        </p:txBody>
      </p:sp>
      <p:sp>
        <p:nvSpPr>
          <p:cNvPr id="14" name="anim|3|rise|click|"/>
          <p:cNvSpPr/>
          <p:nvPr/>
        </p:nvSpPr>
        <p:spPr>
          <a:xfrm>
            <a:off x="8046720" y="2011680"/>
            <a:ext cx="3474720" cy="2926080"/>
          </a:xfrm>
          <a:prstGeom prst="roundRect">
            <a:avLst>
              <a:gd name="adj" fmla="val 3750"/>
            </a:avLst>
          </a:prstGeom>
          <a:solidFill>
            <a:srgbClr val="2B2F31"/>
          </a:solidFill>
          <a:ln w="9525">
            <a:solidFill>
              <a:srgbClr val="45504C"/>
            </a:solidFill>
            <a:prstDash val="solid"/>
          </a:ln>
        </p:spPr>
      </p:sp>
      <p:sp>
        <p:nvSpPr>
          <p:cNvPr id="15" name="anim|3|rise|with|"/>
          <p:cNvSpPr/>
          <p:nvPr/>
        </p:nvSpPr>
        <p:spPr>
          <a:xfrm>
            <a:off x="8366760" y="2286000"/>
            <a:ext cx="822960" cy="822960"/>
          </a:xfrm>
          <a:prstGeom prst="ellipse">
            <a:avLst/>
          </a:prstGeom>
          <a:solidFill>
            <a:srgbClr val="343A3C"/>
          </a:solidFill>
          <a:ln/>
        </p:spPr>
      </p:sp>
      <p:pic>
        <p:nvPicPr>
          <p:cNvPr id="16" name="anim|3|rise|with|" descr="preencoded.png"/>
          <p:cNvPicPr>
            <a:picLocks noChangeAspect="1"/>
          </p:cNvPicPr>
          <p:nvPr/>
        </p:nvPicPr>
        <p:blipFill>
          <a:blip r:embed="rId6"/>
          <a:stretch>
            <a:fillRect/>
          </a:stretch>
        </p:blipFill>
        <p:spPr>
          <a:xfrm>
            <a:off x="8547811" y="2467051"/>
            <a:ext cx="460858" cy="460858"/>
          </a:xfrm>
          <a:prstGeom prst="rect">
            <a:avLst/>
          </a:prstGeom>
        </p:spPr>
      </p:pic>
      <p:sp>
        <p:nvSpPr>
          <p:cNvPr id="17" name="anim|3|rise|with|"/>
          <p:cNvSpPr txBox="1"/>
          <p:nvPr/>
        </p:nvSpPr>
        <p:spPr>
          <a:xfrm>
            <a:off x="8366760" y="3246120"/>
            <a:ext cx="2926080" cy="45720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The sunny mailbox</a:t>
            </a:r>
            <a:endParaRPr lang="en-US" sz="2100" dirty="0"/>
          </a:p>
        </p:txBody>
      </p:sp>
      <p:sp>
        <p:nvSpPr>
          <p:cNvPr id="18" name="anim|3|rise|with|"/>
          <p:cNvSpPr txBox="1"/>
          <p:nvPr/>
        </p:nvSpPr>
        <p:spPr>
          <a:xfrm>
            <a:off x="8366760" y="3703320"/>
            <a:ext cx="2880360" cy="114300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Mail-order medicine can sit in a hot mailbox for hours before anyone gets home.</a:t>
            </a:r>
            <a:endParaRPr lang="en-US" sz="1500" dirty="0"/>
          </a:p>
        </p:txBody>
      </p:sp>
      <p:sp>
        <p:nvSpPr>
          <p:cNvPr id="19" name="anim|4|fade|click|"/>
          <p:cNvSpPr/>
          <p:nvPr/>
        </p:nvSpPr>
        <p:spPr>
          <a:xfrm>
            <a:off x="548640" y="5257800"/>
            <a:ext cx="11064240" cy="868680"/>
          </a:xfrm>
          <a:prstGeom prst="roundRect">
            <a:avLst>
              <a:gd name="adj" fmla="val 12632"/>
            </a:avLst>
          </a:prstGeom>
          <a:solidFill>
            <a:srgbClr val="3A2622"/>
          </a:solidFill>
          <a:ln w="9525">
            <a:solidFill>
              <a:srgbClr val="E2705D"/>
            </a:solidFill>
            <a:prstDash val="solid"/>
          </a:ln>
        </p:spPr>
      </p:sp>
      <p:sp>
        <p:nvSpPr>
          <p:cNvPr id="20" name="anim|4|fade|with|"/>
          <p:cNvSpPr txBox="1"/>
          <p:nvPr/>
        </p:nvSpPr>
        <p:spPr>
          <a:xfrm>
            <a:off x="822960" y="5257800"/>
            <a:ext cx="10515600" cy="86868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Today's answer is a guess: throw away medicine that may be fine ($30 to $1,000 each), or use medicine that may not work.</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4="http://schemas.microsoft.com/office/powerpoint/2010/main" Requires="p14">
      <p:transition spd="slow" p14:dur="900">
        <p:fade/>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anim calcmode="lin" valueType="num">
                                      <p:cBhvr>
                                        <p:cTn id="14" dur="500" fill="hold"/>
                                        <p:tgtEl>
                                          <p:spTgt spid="5"/>
                                        </p:tgtEl>
                                        <p:attrNameLst>
                                          <p:attrName>ppt_x</p:attrName>
                                        </p:attrNameLst>
                                      </p:cBhvr>
                                      <p:tavLst>
                                        <p:tav tm="0">
                                          <p:val>
                                            <p:strVal val="#ppt_x"/>
                                          </p:val>
                                        </p:tav>
                                        <p:tav tm="100000">
                                          <p:val>
                                            <p:strVal val="#ppt_x"/>
                                          </p:val>
                                        </p:tav>
                                      </p:tavLst>
                                    </p:anim>
                                    <p:anim calcmode="lin" valueType="num">
                                      <p:cBhvr>
                                        <p:cTn id="15" dur="450" decel="100000" fill="hold"/>
                                        <p:tgtEl>
                                          <p:spTgt spid="5"/>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450" decel="100000" fill="hold"/>
                                        <p:tgtEl>
                                          <p:spTgt spid="6"/>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450" decel="100000" fill="hold"/>
                                        <p:tgtEl>
                                          <p:spTgt spid="7"/>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450" decel="100000" fill="hold"/>
                                        <p:tgtEl>
                                          <p:spTgt spid="8"/>
                                        </p:tgtEl>
                                        <p:attrNameLst>
                                          <p:attrName>ppt_y</p:attrName>
                                        </p:attrNameLst>
                                      </p:cBhvr>
                                      <p:tavLst>
                                        <p:tav tm="0">
                                          <p:val>
                                            <p:strVal val="#ppt_y+1"/>
                                          </p:val>
                                        </p:tav>
                                        <p:tav tm="100000">
                                          <p:val>
                                            <p:strVal val="#ppt_y-.03"/>
                                          </p:val>
                                        </p:tav>
                                      </p:tavLst>
                                    </p:anim>
                                    <p:anim calcmode="lin" valueType="num">
                                      <p:cBhvr>
                                        <p:cTn id="34"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450" decel="100000" fill="hold"/>
                                        <p:tgtEl>
                                          <p:spTgt spid="9"/>
                                        </p:tgtEl>
                                        <p:attrNameLst>
                                          <p:attrName>ppt_y</p:attrName>
                                        </p:attrNameLst>
                                      </p:cBhvr>
                                      <p:tavLst>
                                        <p:tav tm="0">
                                          <p:val>
                                            <p:strVal val="#ppt_y+1"/>
                                          </p:val>
                                        </p:tav>
                                        <p:tav tm="100000">
                                          <p:val>
                                            <p:strVal val="#ppt_y-.03"/>
                                          </p:val>
                                        </p:tav>
                                      </p:tavLst>
                                    </p:anim>
                                    <p:anim calcmode="lin" valueType="num">
                                      <p:cBhvr>
                                        <p:cTn id="42"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3" presetID="37"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anim calcmode="lin" valueType="num">
                                      <p:cBhvr>
                                        <p:cTn id="46" dur="500" fill="hold"/>
                                        <p:tgtEl>
                                          <p:spTgt spid="10"/>
                                        </p:tgtEl>
                                        <p:attrNameLst>
                                          <p:attrName>ppt_x</p:attrName>
                                        </p:attrNameLst>
                                      </p:cBhvr>
                                      <p:tavLst>
                                        <p:tav tm="0">
                                          <p:val>
                                            <p:strVal val="#ppt_x"/>
                                          </p:val>
                                        </p:tav>
                                        <p:tav tm="100000">
                                          <p:val>
                                            <p:strVal val="#ppt_x"/>
                                          </p:val>
                                        </p:tav>
                                      </p:tavLst>
                                    </p:anim>
                                    <p:anim calcmode="lin" valueType="num">
                                      <p:cBhvr>
                                        <p:cTn id="47" dur="450" decel="100000" fill="hold"/>
                                        <p:tgtEl>
                                          <p:spTgt spid="10"/>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fill="hold"/>
                                        <p:tgtEl>
                                          <p:spTgt spid="11"/>
                                        </p:tgtEl>
                                        <p:attrNameLst>
                                          <p:attrName>ppt_x</p:attrName>
                                        </p:attrNameLst>
                                      </p:cBhvr>
                                      <p:tavLst>
                                        <p:tav tm="0">
                                          <p:val>
                                            <p:strVal val="#ppt_x"/>
                                          </p:val>
                                        </p:tav>
                                        <p:tav tm="100000">
                                          <p:val>
                                            <p:strVal val="#ppt_x"/>
                                          </p:val>
                                        </p:tav>
                                      </p:tavLst>
                                    </p:anim>
                                    <p:anim calcmode="lin" valueType="num">
                                      <p:cBhvr>
                                        <p:cTn id="53" dur="450" decel="100000" fill="hold"/>
                                        <p:tgtEl>
                                          <p:spTgt spid="11"/>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55" presetID="37"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anim calcmode="lin" valueType="num">
                                      <p:cBhvr>
                                        <p:cTn id="58" dur="500" fill="hold"/>
                                        <p:tgtEl>
                                          <p:spTgt spid="12"/>
                                        </p:tgtEl>
                                        <p:attrNameLst>
                                          <p:attrName>ppt_x</p:attrName>
                                        </p:attrNameLst>
                                      </p:cBhvr>
                                      <p:tavLst>
                                        <p:tav tm="0">
                                          <p:val>
                                            <p:strVal val="#ppt_x"/>
                                          </p:val>
                                        </p:tav>
                                        <p:tav tm="100000">
                                          <p:val>
                                            <p:strVal val="#ppt_x"/>
                                          </p:val>
                                        </p:tav>
                                      </p:tavLst>
                                    </p:anim>
                                    <p:anim calcmode="lin" valueType="num">
                                      <p:cBhvr>
                                        <p:cTn id="59" dur="450" decel="100000" fill="hold"/>
                                        <p:tgtEl>
                                          <p:spTgt spid="12"/>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anim calcmode="lin" valueType="num">
                                      <p:cBhvr>
                                        <p:cTn id="64" dur="500" fill="hold"/>
                                        <p:tgtEl>
                                          <p:spTgt spid="13"/>
                                        </p:tgtEl>
                                        <p:attrNameLst>
                                          <p:attrName>ppt_x</p:attrName>
                                        </p:attrNameLst>
                                      </p:cBhvr>
                                      <p:tavLst>
                                        <p:tav tm="0">
                                          <p:val>
                                            <p:strVal val="#ppt_x"/>
                                          </p:val>
                                        </p:tav>
                                        <p:tav tm="100000">
                                          <p:val>
                                            <p:strVal val="#ppt_x"/>
                                          </p:val>
                                        </p:tav>
                                      </p:tavLst>
                                    </p:anim>
                                    <p:anim calcmode="lin" valueType="num">
                                      <p:cBhvr>
                                        <p:cTn id="65" dur="450" decel="100000" fill="hold"/>
                                        <p:tgtEl>
                                          <p:spTgt spid="13"/>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7" presetClass="entr" presetSubtype="0"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anim calcmode="lin" valueType="num">
                                      <p:cBhvr>
                                        <p:cTn id="72" dur="500" fill="hold"/>
                                        <p:tgtEl>
                                          <p:spTgt spid="14"/>
                                        </p:tgtEl>
                                        <p:attrNameLst>
                                          <p:attrName>ppt_x</p:attrName>
                                        </p:attrNameLst>
                                      </p:cBhvr>
                                      <p:tavLst>
                                        <p:tav tm="0">
                                          <p:val>
                                            <p:strVal val="#ppt_x"/>
                                          </p:val>
                                        </p:tav>
                                        <p:tav tm="100000">
                                          <p:val>
                                            <p:strVal val="#ppt_x"/>
                                          </p:val>
                                        </p:tav>
                                      </p:tavLst>
                                    </p:anim>
                                    <p:anim calcmode="lin" valueType="num">
                                      <p:cBhvr>
                                        <p:cTn id="73" dur="450" decel="100000" fill="hold"/>
                                        <p:tgtEl>
                                          <p:spTgt spid="14"/>
                                        </p:tgtEl>
                                        <p:attrNameLst>
                                          <p:attrName>ppt_y</p:attrName>
                                        </p:attrNameLst>
                                      </p:cBhvr>
                                      <p:tavLst>
                                        <p:tav tm="0">
                                          <p:val>
                                            <p:strVal val="#ppt_y+1"/>
                                          </p:val>
                                        </p:tav>
                                        <p:tav tm="100000">
                                          <p:val>
                                            <p:strVal val="#ppt_y-.03"/>
                                          </p:val>
                                        </p:tav>
                                      </p:tavLst>
                                    </p:anim>
                                    <p:anim calcmode="lin" valueType="num">
                                      <p:cBhvr>
                                        <p:cTn id="74"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75" presetID="37" presetClass="entr" presetSubtype="0" fill="hold" nodeType="with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p:tgtEl>
                                          <p:spTgt spid="15"/>
                                        </p:tgtEl>
                                      </p:cBhvr>
                                    </p:animEffect>
                                    <p:anim calcmode="lin" valueType="num">
                                      <p:cBhvr>
                                        <p:cTn id="78" dur="500" fill="hold"/>
                                        <p:tgtEl>
                                          <p:spTgt spid="15"/>
                                        </p:tgtEl>
                                        <p:attrNameLst>
                                          <p:attrName>ppt_x</p:attrName>
                                        </p:attrNameLst>
                                      </p:cBhvr>
                                      <p:tavLst>
                                        <p:tav tm="0">
                                          <p:val>
                                            <p:strVal val="#ppt_x"/>
                                          </p:val>
                                        </p:tav>
                                        <p:tav tm="100000">
                                          <p:val>
                                            <p:strVal val="#ppt_x"/>
                                          </p:val>
                                        </p:tav>
                                      </p:tavLst>
                                    </p:anim>
                                    <p:anim calcmode="lin" valueType="num">
                                      <p:cBhvr>
                                        <p:cTn id="79" dur="450" decel="100000" fill="hold"/>
                                        <p:tgtEl>
                                          <p:spTgt spid="15"/>
                                        </p:tgtEl>
                                        <p:attrNameLst>
                                          <p:attrName>ppt_y</p:attrName>
                                        </p:attrNameLst>
                                      </p:cBhvr>
                                      <p:tavLst>
                                        <p:tav tm="0">
                                          <p:val>
                                            <p:strVal val="#ppt_y+1"/>
                                          </p:val>
                                        </p:tav>
                                        <p:tav tm="100000">
                                          <p:val>
                                            <p:strVal val="#ppt_y-.03"/>
                                          </p:val>
                                        </p:tav>
                                      </p:tavLst>
                                    </p:anim>
                                    <p:anim calcmode="lin" valueType="num">
                                      <p:cBhvr>
                                        <p:cTn id="80"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1" presetID="37" presetClass="entr" presetSubtype="0" fill="hold" nodeType="with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500"/>
                                        <p:tgtEl>
                                          <p:spTgt spid="16"/>
                                        </p:tgtEl>
                                      </p:cBhvr>
                                    </p:animEffect>
                                    <p:anim calcmode="lin" valueType="num">
                                      <p:cBhvr>
                                        <p:cTn id="84" dur="500" fill="hold"/>
                                        <p:tgtEl>
                                          <p:spTgt spid="16"/>
                                        </p:tgtEl>
                                        <p:attrNameLst>
                                          <p:attrName>ppt_x</p:attrName>
                                        </p:attrNameLst>
                                      </p:cBhvr>
                                      <p:tavLst>
                                        <p:tav tm="0">
                                          <p:val>
                                            <p:strVal val="#ppt_x"/>
                                          </p:val>
                                        </p:tav>
                                        <p:tav tm="100000">
                                          <p:val>
                                            <p:strVal val="#ppt_x"/>
                                          </p:val>
                                        </p:tav>
                                      </p:tavLst>
                                    </p:anim>
                                    <p:anim calcmode="lin" valueType="num">
                                      <p:cBhvr>
                                        <p:cTn id="85" dur="450" decel="100000" fill="hold"/>
                                        <p:tgtEl>
                                          <p:spTgt spid="16"/>
                                        </p:tgtEl>
                                        <p:attrNameLst>
                                          <p:attrName>ppt_y</p:attrName>
                                        </p:attrNameLst>
                                      </p:cBhvr>
                                      <p:tavLst>
                                        <p:tav tm="0">
                                          <p:val>
                                            <p:strVal val="#ppt_y+1"/>
                                          </p:val>
                                        </p:tav>
                                        <p:tav tm="100000">
                                          <p:val>
                                            <p:strVal val="#ppt_y-.03"/>
                                          </p:val>
                                        </p:tav>
                                      </p:tavLst>
                                    </p:anim>
                                    <p:anim calcmode="lin" valueType="num">
                                      <p:cBhvr>
                                        <p:cTn id="86"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87" presetID="37" presetClass="entr" presetSubtype="0" fill="hold" grpId="0" nodeType="with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fade">
                                      <p:cBhvr>
                                        <p:cTn id="89" dur="500"/>
                                        <p:tgtEl>
                                          <p:spTgt spid="17"/>
                                        </p:tgtEl>
                                      </p:cBhvr>
                                    </p:animEffect>
                                    <p:anim calcmode="lin" valueType="num">
                                      <p:cBhvr>
                                        <p:cTn id="90" dur="500" fill="hold"/>
                                        <p:tgtEl>
                                          <p:spTgt spid="17"/>
                                        </p:tgtEl>
                                        <p:attrNameLst>
                                          <p:attrName>ppt_x</p:attrName>
                                        </p:attrNameLst>
                                      </p:cBhvr>
                                      <p:tavLst>
                                        <p:tav tm="0">
                                          <p:val>
                                            <p:strVal val="#ppt_x"/>
                                          </p:val>
                                        </p:tav>
                                        <p:tav tm="100000">
                                          <p:val>
                                            <p:strVal val="#ppt_x"/>
                                          </p:val>
                                        </p:tav>
                                      </p:tavLst>
                                    </p:anim>
                                    <p:anim calcmode="lin" valueType="num">
                                      <p:cBhvr>
                                        <p:cTn id="91" dur="450" decel="100000" fill="hold"/>
                                        <p:tgtEl>
                                          <p:spTgt spid="17"/>
                                        </p:tgtEl>
                                        <p:attrNameLst>
                                          <p:attrName>ppt_y</p:attrName>
                                        </p:attrNameLst>
                                      </p:cBhvr>
                                      <p:tavLst>
                                        <p:tav tm="0">
                                          <p:val>
                                            <p:strVal val="#ppt_y+1"/>
                                          </p:val>
                                        </p:tav>
                                        <p:tav tm="100000">
                                          <p:val>
                                            <p:strVal val="#ppt_y-.03"/>
                                          </p:val>
                                        </p:tav>
                                      </p:tavLst>
                                    </p:anim>
                                    <p:anim calcmode="lin" valueType="num">
                                      <p:cBhvr>
                                        <p:cTn id="92"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93" presetID="37"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anim calcmode="lin" valueType="num">
                                      <p:cBhvr>
                                        <p:cTn id="96" dur="500" fill="hold"/>
                                        <p:tgtEl>
                                          <p:spTgt spid="18"/>
                                        </p:tgtEl>
                                        <p:attrNameLst>
                                          <p:attrName>ppt_x</p:attrName>
                                        </p:attrNameLst>
                                      </p:cBhvr>
                                      <p:tavLst>
                                        <p:tav tm="0">
                                          <p:val>
                                            <p:strVal val="#ppt_x"/>
                                          </p:val>
                                        </p:tav>
                                        <p:tav tm="100000">
                                          <p:val>
                                            <p:strVal val="#ppt_x"/>
                                          </p:val>
                                        </p:tav>
                                      </p:tavLst>
                                    </p:anim>
                                    <p:anim calcmode="lin" valueType="num">
                                      <p:cBhvr>
                                        <p:cTn id="97" dur="450" decel="100000" fill="hold"/>
                                        <p:tgtEl>
                                          <p:spTgt spid="18"/>
                                        </p:tgtEl>
                                        <p:attrNameLst>
                                          <p:attrName>ppt_y</p:attrName>
                                        </p:attrNameLst>
                                      </p:cBhvr>
                                      <p:tavLst>
                                        <p:tav tm="0">
                                          <p:val>
                                            <p:strVal val="#ppt_y+1"/>
                                          </p:val>
                                        </p:tav>
                                        <p:tav tm="100000">
                                          <p:val>
                                            <p:strVal val="#ppt_y-.03"/>
                                          </p:val>
                                        </p:tav>
                                      </p:tavLst>
                                    </p:anim>
                                    <p:anim calcmode="lin" valueType="num">
                                      <p:cBhvr>
                                        <p:cTn id="98"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500"/>
                                        <p:tgtEl>
                                          <p:spTgt spid="1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0"/>
                                        </p:tgtEl>
                                        <p:attrNameLst>
                                          <p:attrName>style.visibility</p:attrName>
                                        </p:attrNameLst>
                                      </p:cBhvr>
                                      <p:to>
                                        <p:strVal val="visible"/>
                                      </p:to>
                                    </p:set>
                                    <p:animEffect transition="in" filter="fade">
                                      <p:cBhvr>
                                        <p:cTn id="10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The insight: exposure adds up</a:t>
            </a:r>
            <a:endParaRPr lang="en-US" sz="3200" dirty="0"/>
          </a:p>
        </p:txBody>
      </p:sp>
      <p:sp>
        <p:nvSpPr>
          <p:cNvPr id="3" name="Text 1"/>
          <p:cNvSpPr txBox="1"/>
          <p:nvPr/>
        </p:nvSpPr>
        <p:spPr>
          <a:xfrm>
            <a:off x="548640" y="1234440"/>
            <a:ext cx="10515600" cy="457200"/>
          </a:xfrm>
          <a:prstGeom prst="rect">
            <a:avLst/>
          </a:prstGeom>
          <a:noFill/>
          <a:ln/>
        </p:spPr>
        <p:txBody>
          <a:bodyPr wrap="square" lIns="0" tIns="0" rIns="0" bIns="0" rtlCol="0" anchor="ctr"/>
          <a:lstStyle/>
          <a:p>
            <a:pPr marL="0" indent="0">
              <a:buNone/>
            </a:pPr>
            <a:r>
              <a:rPr lang="en-US" sz="1800" dirty="0">
                <a:solidFill>
                  <a:srgbClr val="B9C4BF"/>
                </a:solidFill>
                <a:latin typeface="Calibri" pitchFamily="34" charset="0"/>
                <a:ea typeface="Calibri" pitchFamily="34" charset="-122"/>
                <a:cs typeface="Calibri" pitchFamily="34" charset="-120"/>
              </a:rPr>
              <a:t>Two EpiPens. Same temperature right now. Very different lives.</a:t>
            </a:r>
            <a:endParaRPr lang="en-US" sz="1800" dirty="0"/>
          </a:p>
        </p:txBody>
      </p:sp>
      <p:sp>
        <p:nvSpPr>
          <p:cNvPr id="4" name="anim|1|fade|click|"/>
          <p:cNvSpPr/>
          <p:nvPr/>
        </p:nvSpPr>
        <p:spPr>
          <a:xfrm>
            <a:off x="548640" y="1920240"/>
            <a:ext cx="3657600" cy="4023360"/>
          </a:xfrm>
          <a:prstGeom prst="roundRect">
            <a:avLst>
              <a:gd name="adj" fmla="val 3000"/>
            </a:avLst>
          </a:prstGeom>
          <a:solidFill>
            <a:srgbClr val="2B2F31"/>
          </a:solidFill>
          <a:ln w="9525">
            <a:solidFill>
              <a:srgbClr val="45504C"/>
            </a:solidFill>
            <a:prstDash val="solid"/>
          </a:ln>
        </p:spPr>
      </p:sp>
      <p:sp>
        <p:nvSpPr>
          <p:cNvPr id="5" name="anim|1|fade|with|"/>
          <p:cNvSpPr txBox="1"/>
          <p:nvPr/>
        </p:nvSpPr>
        <p:spPr>
          <a:xfrm>
            <a:off x="822960" y="2103120"/>
            <a:ext cx="3108960" cy="365760"/>
          </a:xfrm>
          <a:prstGeom prst="rect">
            <a:avLst/>
          </a:prstGeom>
          <a:noFill/>
          <a:ln/>
        </p:spPr>
        <p:txBody>
          <a:bodyPr wrap="square" lIns="0" tIns="0" rIns="0" bIns="0" rtlCol="0" anchor="ctr"/>
          <a:lstStyle/>
          <a:p>
            <a:pPr marL="0" indent="0" algn="ctr">
              <a:buNone/>
            </a:pPr>
            <a:r>
              <a:rPr lang="en-US" sz="1500" dirty="0">
                <a:solidFill>
                  <a:srgbClr val="B9C4BF"/>
                </a:solidFill>
                <a:latin typeface="Calibri" pitchFamily="34" charset="0"/>
                <a:ea typeface="Calibri" pitchFamily="34" charset="-122"/>
                <a:cs typeface="Calibri" pitchFamily="34" charset="-120"/>
              </a:rPr>
              <a:t>Right now: 22°C</a:t>
            </a:r>
            <a:endParaRPr lang="en-US" sz="1500" dirty="0"/>
          </a:p>
        </p:txBody>
      </p:sp>
      <p:pic>
        <p:nvPicPr>
          <p:cNvPr id="6" name="anim|1|fade|with|" descr="preencoded.png"/>
          <p:cNvPicPr>
            <a:picLocks noChangeAspect="1"/>
          </p:cNvPicPr>
          <p:nvPr/>
        </p:nvPicPr>
        <p:blipFill>
          <a:blip r:embed="rId3"/>
          <a:stretch>
            <a:fillRect/>
          </a:stretch>
        </p:blipFill>
        <p:spPr>
          <a:xfrm>
            <a:off x="1463040" y="2560320"/>
            <a:ext cx="1828800" cy="1828800"/>
          </a:xfrm>
          <a:prstGeom prst="rect">
            <a:avLst/>
          </a:prstGeom>
        </p:spPr>
      </p:pic>
      <p:sp>
        <p:nvSpPr>
          <p:cNvPr id="7" name="anim|1|fade|with|"/>
          <p:cNvSpPr txBox="1"/>
          <p:nvPr/>
        </p:nvSpPr>
        <p:spPr>
          <a:xfrm>
            <a:off x="1463040" y="2560320"/>
            <a:ext cx="1828800" cy="1828800"/>
          </a:xfrm>
          <a:prstGeom prst="rect">
            <a:avLst/>
          </a:prstGeom>
          <a:noFill/>
          <a:ln/>
        </p:spPr>
        <p:txBody>
          <a:bodyPr wrap="square" lIns="0" tIns="0" rIns="0" bIns="0" rtlCol="0" anchor="ctr"/>
          <a:lstStyle/>
          <a:p>
            <a:pPr marL="0" indent="0" algn="ctr">
              <a:buNone/>
            </a:pPr>
            <a:r>
              <a:rPr lang="en-US" sz="3000" b="1" dirty="0">
                <a:solidFill>
                  <a:srgbClr val="F4F1EA"/>
                </a:solidFill>
                <a:latin typeface="Calibri" pitchFamily="34" charset="0"/>
                <a:ea typeface="Calibri" pitchFamily="34" charset="-122"/>
                <a:cs typeface="Calibri" pitchFamily="34" charset="-120"/>
              </a:rPr>
              <a:t>100%</a:t>
            </a:r>
            <a:endParaRPr lang="en-US" sz="3000" dirty="0"/>
          </a:p>
        </p:txBody>
      </p:sp>
      <p:sp>
        <p:nvSpPr>
          <p:cNvPr id="8" name="anim|1|fade|with|"/>
          <p:cNvSpPr txBox="1"/>
          <p:nvPr/>
        </p:nvSpPr>
        <p:spPr>
          <a:xfrm>
            <a:off x="822960" y="4572000"/>
            <a:ext cx="3108960" cy="457200"/>
          </a:xfrm>
          <a:prstGeom prst="rect">
            <a:avLst/>
          </a:prstGeom>
          <a:noFill/>
          <a:ln/>
        </p:spPr>
        <p:txBody>
          <a:bodyPr wrap="square" lIns="0" tIns="0" rIns="0" bIns="0" rtlCol="0" anchor="ctr"/>
          <a:lstStyle/>
          <a:p>
            <a:pPr marL="0" indent="0" algn="ctr">
              <a:buNone/>
            </a:pPr>
            <a:r>
              <a:rPr lang="en-US" sz="1600" dirty="0">
                <a:solidFill>
                  <a:srgbClr val="F4F1EA"/>
                </a:solidFill>
                <a:latin typeface="Calibri" pitchFamily="34" charset="0"/>
                <a:ea typeface="Calibri" pitchFamily="34" charset="-122"/>
                <a:cs typeface="Calibri" pitchFamily="34" charset="-120"/>
              </a:rPr>
              <a:t>Stored as labeled for 3 days</a:t>
            </a:r>
            <a:endParaRPr lang="en-US" sz="1600" dirty="0"/>
          </a:p>
        </p:txBody>
      </p:sp>
      <p:sp>
        <p:nvSpPr>
          <p:cNvPr id="9" name="anim|1|fade|with|"/>
          <p:cNvSpPr txBox="1"/>
          <p:nvPr/>
        </p:nvSpPr>
        <p:spPr>
          <a:xfrm>
            <a:off x="822960" y="5074920"/>
            <a:ext cx="3108960" cy="411480"/>
          </a:xfrm>
          <a:prstGeom prst="rect">
            <a:avLst/>
          </a:prstGeom>
          <a:noFill/>
          <a:ln/>
        </p:spPr>
        <p:txBody>
          <a:bodyPr wrap="square" lIns="0" tIns="0" rIns="0" bIns="0" rtlCol="0" anchor="ctr"/>
          <a:lstStyle/>
          <a:p>
            <a:pPr marL="0" indent="0" algn="ctr">
              <a:buNone/>
            </a:pPr>
            <a:r>
              <a:rPr lang="en-US" sz="1500" b="1" dirty="0">
                <a:solidFill>
                  <a:srgbClr val="6FA391"/>
                </a:solidFill>
                <a:latin typeface="Calibri" pitchFamily="34" charset="0"/>
                <a:ea typeface="Calibri" pitchFamily="34" charset="-122"/>
                <a:cs typeface="Calibri" pitchFamily="34" charset="-120"/>
              </a:rPr>
              <a:t>Safe to use</a:t>
            </a:r>
            <a:endParaRPr lang="en-US" sz="1500" dirty="0"/>
          </a:p>
        </p:txBody>
      </p:sp>
      <p:sp>
        <p:nvSpPr>
          <p:cNvPr id="10" name="anim|2|fadedzoom|click|"/>
          <p:cNvSpPr/>
          <p:nvPr/>
        </p:nvSpPr>
        <p:spPr>
          <a:xfrm>
            <a:off x="4480560" y="1920240"/>
            <a:ext cx="3657600" cy="4023360"/>
          </a:xfrm>
          <a:prstGeom prst="roundRect">
            <a:avLst>
              <a:gd name="adj" fmla="val 3000"/>
            </a:avLst>
          </a:prstGeom>
          <a:solidFill>
            <a:srgbClr val="2B2F31"/>
          </a:solidFill>
          <a:ln w="9525">
            <a:solidFill>
              <a:srgbClr val="45504C"/>
            </a:solidFill>
            <a:prstDash val="solid"/>
          </a:ln>
        </p:spPr>
      </p:sp>
      <p:sp>
        <p:nvSpPr>
          <p:cNvPr id="11" name="anim|2|fade|with|"/>
          <p:cNvSpPr txBox="1"/>
          <p:nvPr/>
        </p:nvSpPr>
        <p:spPr>
          <a:xfrm>
            <a:off x="4754880" y="2103120"/>
            <a:ext cx="3108960" cy="365760"/>
          </a:xfrm>
          <a:prstGeom prst="rect">
            <a:avLst/>
          </a:prstGeom>
          <a:noFill/>
          <a:ln/>
        </p:spPr>
        <p:txBody>
          <a:bodyPr wrap="square" lIns="0" tIns="0" rIns="0" bIns="0" rtlCol="0" anchor="ctr"/>
          <a:lstStyle/>
          <a:p>
            <a:pPr marL="0" indent="0" algn="ctr">
              <a:buNone/>
            </a:pPr>
            <a:r>
              <a:rPr lang="en-US" sz="1500" dirty="0">
                <a:solidFill>
                  <a:srgbClr val="B9C4BF"/>
                </a:solidFill>
                <a:latin typeface="Calibri" pitchFamily="34" charset="0"/>
                <a:ea typeface="Calibri" pitchFamily="34" charset="-122"/>
                <a:cs typeface="Calibri" pitchFamily="34" charset="-120"/>
              </a:rPr>
              <a:t>Right now: 22°C</a:t>
            </a:r>
            <a:endParaRPr lang="en-US" sz="1500" dirty="0"/>
          </a:p>
        </p:txBody>
      </p:sp>
      <p:pic>
        <p:nvPicPr>
          <p:cNvPr id="12" name="anim|2|fade|with|" descr="preencoded.png"/>
          <p:cNvPicPr>
            <a:picLocks noChangeAspect="1"/>
          </p:cNvPicPr>
          <p:nvPr/>
        </p:nvPicPr>
        <p:blipFill>
          <a:blip r:embed="rId4"/>
          <a:stretch>
            <a:fillRect/>
          </a:stretch>
        </p:blipFill>
        <p:spPr>
          <a:xfrm>
            <a:off x="5394960" y="2560320"/>
            <a:ext cx="1828800" cy="1828800"/>
          </a:xfrm>
          <a:prstGeom prst="rect">
            <a:avLst/>
          </a:prstGeom>
        </p:spPr>
      </p:pic>
      <p:sp>
        <p:nvSpPr>
          <p:cNvPr id="13" name="anim|2|fade|with|"/>
          <p:cNvSpPr txBox="1"/>
          <p:nvPr/>
        </p:nvSpPr>
        <p:spPr>
          <a:xfrm>
            <a:off x="5394960" y="2560320"/>
            <a:ext cx="1828800" cy="1828800"/>
          </a:xfrm>
          <a:prstGeom prst="rect">
            <a:avLst/>
          </a:prstGeom>
          <a:noFill/>
          <a:ln/>
        </p:spPr>
        <p:txBody>
          <a:bodyPr wrap="square" lIns="0" tIns="0" rIns="0" bIns="0" rtlCol="0" anchor="ctr"/>
          <a:lstStyle/>
          <a:p>
            <a:pPr marL="0" indent="0" algn="ctr">
              <a:buNone/>
            </a:pPr>
            <a:r>
              <a:rPr lang="en-US" sz="3000" b="1" dirty="0">
                <a:solidFill>
                  <a:srgbClr val="F4F1EA"/>
                </a:solidFill>
                <a:latin typeface="Calibri" pitchFamily="34" charset="0"/>
                <a:ea typeface="Calibri" pitchFamily="34" charset="-122"/>
                <a:cs typeface="Calibri" pitchFamily="34" charset="-120"/>
              </a:rPr>
              <a:t>43%</a:t>
            </a:r>
            <a:endParaRPr lang="en-US" sz="3000" dirty="0"/>
          </a:p>
        </p:txBody>
      </p:sp>
      <p:sp>
        <p:nvSpPr>
          <p:cNvPr id="14" name="anim|2|fade|with|"/>
          <p:cNvSpPr txBox="1"/>
          <p:nvPr/>
        </p:nvSpPr>
        <p:spPr>
          <a:xfrm>
            <a:off x="4754880" y="4572000"/>
            <a:ext cx="3108960" cy="457200"/>
          </a:xfrm>
          <a:prstGeom prst="rect">
            <a:avLst/>
          </a:prstGeom>
          <a:noFill/>
          <a:ln/>
        </p:spPr>
        <p:txBody>
          <a:bodyPr wrap="square" lIns="0" tIns="0" rIns="0" bIns="0" rtlCol="0" anchor="ctr"/>
          <a:lstStyle/>
          <a:p>
            <a:pPr marL="0" indent="0" algn="ctr">
              <a:buNone/>
            </a:pPr>
            <a:r>
              <a:rPr lang="en-US" sz="1600" dirty="0">
                <a:solidFill>
                  <a:srgbClr val="F4F1EA"/>
                </a:solidFill>
                <a:latin typeface="Calibri" pitchFamily="34" charset="0"/>
                <a:ea typeface="Calibri" pitchFamily="34" charset="-122"/>
                <a:cs typeface="Calibri" pitchFamily="34" charset="-120"/>
              </a:rPr>
              <a:t>Two hours in a hot car this afternoon</a:t>
            </a:r>
            <a:endParaRPr lang="en-US" sz="1600" dirty="0"/>
          </a:p>
        </p:txBody>
      </p:sp>
      <p:sp>
        <p:nvSpPr>
          <p:cNvPr id="15" name="anim|2|fade|with|"/>
          <p:cNvSpPr txBox="1"/>
          <p:nvPr/>
        </p:nvSpPr>
        <p:spPr>
          <a:xfrm>
            <a:off x="4754880" y="5074920"/>
            <a:ext cx="3108960" cy="411480"/>
          </a:xfrm>
          <a:prstGeom prst="rect">
            <a:avLst/>
          </a:prstGeom>
          <a:noFill/>
          <a:ln/>
        </p:spPr>
        <p:txBody>
          <a:bodyPr wrap="square" lIns="0" tIns="0" rIns="0" bIns="0" rtlCol="0" anchor="ctr"/>
          <a:lstStyle/>
          <a:p>
            <a:pPr marL="0" indent="0" algn="ctr">
              <a:buNone/>
            </a:pPr>
            <a:r>
              <a:rPr lang="en-US" sz="1500" b="1" dirty="0">
                <a:solidFill>
                  <a:srgbClr val="F2A541"/>
                </a:solidFill>
                <a:latin typeface="Calibri" pitchFamily="34" charset="0"/>
                <a:ea typeface="Calibri" pitchFamily="34" charset="-122"/>
                <a:cs typeface="Calibri" pitchFamily="34" charset="-120"/>
              </a:rPr>
              <a:t>OK to use, act soon</a:t>
            </a:r>
            <a:endParaRPr lang="en-US" sz="1500" dirty="0"/>
          </a:p>
        </p:txBody>
      </p:sp>
      <p:sp>
        <p:nvSpPr>
          <p:cNvPr id="16" name="anim|3|fade|click|"/>
          <p:cNvSpPr/>
          <p:nvPr/>
        </p:nvSpPr>
        <p:spPr>
          <a:xfrm>
            <a:off x="8595360" y="1920240"/>
            <a:ext cx="731520" cy="731520"/>
          </a:xfrm>
          <a:prstGeom prst="ellipse">
            <a:avLst/>
          </a:prstGeom>
          <a:solidFill>
            <a:srgbClr val="343A3C"/>
          </a:solidFill>
          <a:ln/>
        </p:spPr>
      </p:sp>
      <p:pic>
        <p:nvPicPr>
          <p:cNvPr id="17" name="anim|3|fade|click|" descr="preencoded.png"/>
          <p:cNvPicPr>
            <a:picLocks noChangeAspect="1"/>
          </p:cNvPicPr>
          <p:nvPr/>
        </p:nvPicPr>
        <p:blipFill>
          <a:blip r:embed="rId5"/>
          <a:stretch>
            <a:fillRect/>
          </a:stretch>
        </p:blipFill>
        <p:spPr>
          <a:xfrm>
            <a:off x="8756294" y="2081174"/>
            <a:ext cx="409651" cy="409651"/>
          </a:xfrm>
          <a:prstGeom prst="rect">
            <a:avLst/>
          </a:prstGeom>
        </p:spPr>
      </p:pic>
      <p:sp>
        <p:nvSpPr>
          <p:cNvPr id="18" name="anim|3|fade|with|"/>
          <p:cNvSpPr txBox="1"/>
          <p:nvPr/>
        </p:nvSpPr>
        <p:spPr>
          <a:xfrm>
            <a:off x="8595360" y="2834640"/>
            <a:ext cx="3017520" cy="3017520"/>
          </a:xfrm>
          <a:prstGeom prst="rect">
            <a:avLst/>
          </a:prstGeom>
          <a:noFill/>
          <a:ln/>
        </p:spPr>
        <p:txBody>
          <a:bodyPr wrap="square" lIns="0" tIns="0" rIns="0" bIns="0" rtlCol="0" anchor="t"/>
          <a:lstStyle/>
          <a:p>
            <a:pPr marL="0" indent="0">
              <a:buNone/>
            </a:pPr>
            <a:r>
              <a:rPr lang="en-US" sz="1700" b="1" dirty="0">
                <a:solidFill>
                  <a:srgbClr val="F4F1EA"/>
                </a:solidFill>
                <a:latin typeface="Calibri" pitchFamily="34" charset="0"/>
                <a:ea typeface="Calibri" pitchFamily="34" charset="-122"/>
                <a:cs typeface="Calibri" pitchFamily="34" charset="-120"/>
              </a:rPr>
              <a:t>Every medicine starts with a 100% life budget.</a:t>
            </a:r>
            <a:endParaRPr lang="en-US" sz="1700" dirty="0"/>
          </a:p>
          <a:p>
            <a:pPr marL="0" indent="0">
              <a:buNone/>
            </a:pPr>
            <a:r>
              <a:rPr lang="en-US" sz="800" dirty="0">
                <a:solidFill>
                  <a:srgbClr val="F4F1EA"/>
                </a:solidFill>
                <a:latin typeface="Calibri" pitchFamily="34" charset="0"/>
                <a:ea typeface="Calibri" pitchFamily="34" charset="-122"/>
                <a:cs typeface="Calibri" pitchFamily="34" charset="-120"/>
              </a:rPr>
              <a:t> </a:t>
            </a:r>
            <a:endParaRPr lang="en-US" sz="1700" dirty="0"/>
          </a:p>
          <a:p>
            <a:pPr marL="0" indent="0">
              <a:buNone/>
            </a:pPr>
            <a:r>
              <a:rPr lang="en-US" sz="1700" dirty="0">
                <a:solidFill>
                  <a:srgbClr val="F4F1EA"/>
                </a:solidFill>
                <a:latin typeface="Calibri" pitchFamily="34" charset="0"/>
                <a:ea typeface="Calibri" pitchFamily="34" charset="-122"/>
                <a:cs typeface="Calibri" pitchFamily="34" charset="-120"/>
              </a:rPr>
              <a:t>Time outside its label's range spends it, at the speed the label allows. It never refills.</a:t>
            </a:r>
            <a:endParaRPr lang="en-US" sz="1700" dirty="0"/>
          </a:p>
          <a:p>
            <a:pPr marL="0" indent="0">
              <a:buNone/>
            </a:pPr>
            <a:r>
              <a:rPr lang="en-US" sz="800" dirty="0">
                <a:solidFill>
                  <a:srgbClr val="F4F1EA"/>
                </a:solidFill>
                <a:latin typeface="Calibri" pitchFamily="34" charset="0"/>
                <a:ea typeface="Calibri" pitchFamily="34" charset="-122"/>
                <a:cs typeface="Calibri" pitchFamily="34" charset="-120"/>
              </a:rPr>
              <a:t> </a:t>
            </a:r>
            <a:endParaRPr lang="en-US" sz="1700" dirty="0"/>
          </a:p>
          <a:p>
            <a:pPr marL="0" indent="0">
              <a:buNone/>
            </a:pPr>
            <a:r>
              <a:rPr lang="en-US" sz="1700" i="1" dirty="0">
                <a:solidFill>
                  <a:srgbClr val="A8D5C2"/>
                </a:solidFill>
                <a:latin typeface="Calibri" pitchFamily="34" charset="0"/>
                <a:ea typeface="Calibri" pitchFamily="34" charset="-122"/>
                <a:cs typeface="Calibri" pitchFamily="34" charset="-120"/>
              </a:rPr>
              <a:t>A thermometer shows the present. LIFELOG remembers the past.</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600" fill="hold"/>
                                        <p:tgtEl>
                                          <p:spTgt spid="10"/>
                                        </p:tgtEl>
                                        <p:attrNameLst>
                                          <p:attrName>ppt_w</p:attrName>
                                        </p:attrNameLst>
                                      </p:cBhvr>
                                      <p:tavLst>
                                        <p:tav tm="0">
                                          <p:val>
                                            <p:fltVal val="0"/>
                                          </p:val>
                                        </p:tav>
                                        <p:tav tm="100000">
                                          <p:val>
                                            <p:strVal val="#ppt_w"/>
                                          </p:val>
                                        </p:tav>
                                      </p:tavLst>
                                    </p:anim>
                                    <p:anim calcmode="lin" valueType="num">
                                      <p:cBhvr>
                                        <p:cTn id="28" dur="600" fill="hold"/>
                                        <p:tgtEl>
                                          <p:spTgt spid="10"/>
                                        </p:tgtEl>
                                        <p:attrNameLst>
                                          <p:attrName>ppt_h</p:attrName>
                                        </p:attrNameLst>
                                      </p:cBhvr>
                                      <p:tavLst>
                                        <p:tav tm="0">
                                          <p:val>
                                            <p:fltVal val="0"/>
                                          </p:val>
                                        </p:tav>
                                        <p:tav tm="100000">
                                          <p:val>
                                            <p:strVal val="#ppt_h"/>
                                          </p:val>
                                        </p:tav>
                                      </p:tavLst>
                                    </p:anim>
                                    <p:animEffect transition="in" filter="fade">
                                      <p:cBhvr>
                                        <p:cTn id="29" dur="6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3" grpId="0" animBg="1"/>
      <p:bldP spid="14" grpId="0" animBg="1"/>
      <p:bldP spid="15"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A big, growing group of people carry this risk</a:t>
            </a:r>
            <a:endParaRPr lang="en-US" sz="3200" dirty="0"/>
          </a:p>
        </p:txBody>
      </p:sp>
      <p:sp>
        <p:nvSpPr>
          <p:cNvPr id="3" name="anim|1|rise|click|"/>
          <p:cNvSpPr/>
          <p:nvPr/>
        </p:nvSpPr>
        <p:spPr>
          <a:xfrm>
            <a:off x="548640" y="1417320"/>
            <a:ext cx="2606040" cy="3429000"/>
          </a:xfrm>
          <a:prstGeom prst="roundRect">
            <a:avLst>
              <a:gd name="adj" fmla="val 4211"/>
            </a:avLst>
          </a:prstGeom>
          <a:solidFill>
            <a:srgbClr val="2B2F31"/>
          </a:solidFill>
          <a:ln w="9525">
            <a:solidFill>
              <a:srgbClr val="45504C"/>
            </a:solidFill>
            <a:prstDash val="solid"/>
          </a:ln>
        </p:spPr>
      </p:sp>
      <p:sp>
        <p:nvSpPr>
          <p:cNvPr id="4" name="anim|1|rise|with|"/>
          <p:cNvSpPr txBox="1"/>
          <p:nvPr/>
        </p:nvSpPr>
        <p:spPr>
          <a:xfrm>
            <a:off x="777240" y="1645920"/>
            <a:ext cx="2194560" cy="868680"/>
          </a:xfrm>
          <a:prstGeom prst="rect">
            <a:avLst/>
          </a:prstGeom>
          <a:noFill/>
          <a:ln/>
        </p:spPr>
        <p:txBody>
          <a:bodyPr wrap="square" lIns="0" tIns="0" rIns="0" bIns="0" rtlCol="0" anchor="ctr"/>
          <a:lstStyle/>
          <a:p>
            <a:pPr marL="0" indent="0">
              <a:buNone/>
            </a:pPr>
            <a:r>
              <a:rPr lang="en-US" sz="4000" b="1" dirty="0">
                <a:solidFill>
                  <a:srgbClr val="F2A541"/>
                </a:solidFill>
                <a:latin typeface="Calibri" pitchFamily="34" charset="0"/>
                <a:ea typeface="Calibri" pitchFamily="34" charset="-122"/>
                <a:cs typeface="Calibri" pitchFamily="34" charset="-120"/>
              </a:rPr>
              <a:t>8M+</a:t>
            </a:r>
            <a:endParaRPr lang="en-US" sz="4000" dirty="0"/>
          </a:p>
        </p:txBody>
      </p:sp>
      <p:sp>
        <p:nvSpPr>
          <p:cNvPr id="5" name="anim|1|rise|with|"/>
          <p:cNvSpPr txBox="1"/>
          <p:nvPr/>
        </p:nvSpPr>
        <p:spPr>
          <a:xfrm>
            <a:off x="777240" y="2560320"/>
            <a:ext cx="2194560" cy="1463040"/>
          </a:xfrm>
          <a:prstGeom prst="rect">
            <a:avLst/>
          </a:prstGeom>
          <a:noFill/>
          <a:ln/>
        </p:spPr>
        <p:txBody>
          <a:bodyPr wrap="square" lIns="0" tIns="0" rIns="0" bIns="0" rtlCol="0" anchor="t"/>
          <a:lstStyle/>
          <a:p>
            <a:pPr marL="0" indent="0">
              <a:buNone/>
            </a:pPr>
            <a:r>
              <a:rPr lang="en-US" sz="1500" dirty="0">
                <a:solidFill>
                  <a:srgbClr val="F4F1EA"/>
                </a:solidFill>
                <a:latin typeface="Calibri" pitchFamily="34" charset="0"/>
                <a:ea typeface="Calibri" pitchFamily="34" charset="-122"/>
                <a:cs typeface="Calibri" pitchFamily="34" charset="-120"/>
              </a:rPr>
              <a:t>Americans rely on insulin to survive</a:t>
            </a:r>
            <a:endParaRPr lang="en-US" sz="1500" dirty="0"/>
          </a:p>
        </p:txBody>
      </p:sp>
      <p:sp>
        <p:nvSpPr>
          <p:cNvPr id="6" name="anim|1|rise|with|"/>
          <p:cNvSpPr txBox="1"/>
          <p:nvPr/>
        </p:nvSpPr>
        <p:spPr>
          <a:xfrm>
            <a:off x="777240" y="4206240"/>
            <a:ext cx="2194560" cy="457200"/>
          </a:xfrm>
          <a:prstGeom prst="rect">
            <a:avLst/>
          </a:prstGeom>
          <a:noFill/>
          <a:ln/>
        </p:spPr>
        <p:txBody>
          <a:bodyPr wrap="square" lIns="0" tIns="0" rIns="0" bIns="0" rtlCol="0" anchor="t"/>
          <a:lstStyle/>
          <a:p>
            <a:pPr marL="0" indent="0">
              <a:buNone/>
            </a:pPr>
            <a:r>
              <a:rPr lang="en-US" sz="1100" i="1" dirty="0">
                <a:solidFill>
                  <a:srgbClr val="B9C4BF"/>
                </a:solidFill>
                <a:latin typeface="Calibri" pitchFamily="34" charset="0"/>
                <a:ea typeface="Calibri" pitchFamily="34" charset="-122"/>
                <a:cs typeface="Calibri" pitchFamily="34" charset="-120"/>
              </a:rPr>
              <a:t>American Diabetes Association, Mar 2026</a:t>
            </a:r>
            <a:endParaRPr lang="en-US" sz="1100" dirty="0"/>
          </a:p>
        </p:txBody>
      </p:sp>
      <p:sp>
        <p:nvSpPr>
          <p:cNvPr id="7" name="anim|2|rise|click|"/>
          <p:cNvSpPr/>
          <p:nvPr/>
        </p:nvSpPr>
        <p:spPr>
          <a:xfrm>
            <a:off x="3364992" y="1417320"/>
            <a:ext cx="2606040" cy="3429000"/>
          </a:xfrm>
          <a:prstGeom prst="roundRect">
            <a:avLst>
              <a:gd name="adj" fmla="val 4211"/>
            </a:avLst>
          </a:prstGeom>
          <a:solidFill>
            <a:srgbClr val="2B2F31"/>
          </a:solidFill>
          <a:ln w="9525">
            <a:solidFill>
              <a:srgbClr val="45504C"/>
            </a:solidFill>
            <a:prstDash val="solid"/>
          </a:ln>
        </p:spPr>
      </p:sp>
      <p:sp>
        <p:nvSpPr>
          <p:cNvPr id="8" name="anim|2|rise|with|"/>
          <p:cNvSpPr txBox="1"/>
          <p:nvPr/>
        </p:nvSpPr>
        <p:spPr>
          <a:xfrm>
            <a:off x="3593592" y="1645920"/>
            <a:ext cx="2194560" cy="868680"/>
          </a:xfrm>
          <a:prstGeom prst="rect">
            <a:avLst/>
          </a:prstGeom>
          <a:noFill/>
          <a:ln/>
        </p:spPr>
        <p:txBody>
          <a:bodyPr wrap="square" lIns="0" tIns="0" rIns="0" bIns="0" rtlCol="0" anchor="ctr"/>
          <a:lstStyle/>
          <a:p>
            <a:pPr marL="0" indent="0">
              <a:buNone/>
            </a:pPr>
            <a:r>
              <a:rPr lang="en-US" sz="4000" b="1" dirty="0">
                <a:solidFill>
                  <a:srgbClr val="F2A541"/>
                </a:solidFill>
                <a:latin typeface="Calibri" pitchFamily="34" charset="0"/>
                <a:ea typeface="Calibri" pitchFamily="34" charset="-122"/>
                <a:cs typeface="Calibri" pitchFamily="34" charset="-120"/>
              </a:rPr>
              <a:t>1 in 8</a:t>
            </a:r>
            <a:endParaRPr lang="en-US" sz="4000" dirty="0"/>
          </a:p>
        </p:txBody>
      </p:sp>
      <p:sp>
        <p:nvSpPr>
          <p:cNvPr id="9" name="anim|2|rise|with|"/>
          <p:cNvSpPr txBox="1"/>
          <p:nvPr/>
        </p:nvSpPr>
        <p:spPr>
          <a:xfrm>
            <a:off x="3593592" y="2560320"/>
            <a:ext cx="2194560" cy="1463040"/>
          </a:xfrm>
          <a:prstGeom prst="rect">
            <a:avLst/>
          </a:prstGeom>
          <a:noFill/>
          <a:ln/>
        </p:spPr>
        <p:txBody>
          <a:bodyPr wrap="square" lIns="0" tIns="0" rIns="0" bIns="0" rtlCol="0" anchor="t"/>
          <a:lstStyle/>
          <a:p>
            <a:pPr marL="0" indent="0">
              <a:buNone/>
            </a:pPr>
            <a:r>
              <a:rPr lang="en-US" sz="1500" dirty="0">
                <a:solidFill>
                  <a:srgbClr val="F4F1EA"/>
                </a:solidFill>
                <a:latin typeface="Calibri" pitchFamily="34" charset="0"/>
                <a:ea typeface="Calibri" pitchFamily="34" charset="-122"/>
                <a:cs typeface="Calibri" pitchFamily="34" charset="-120"/>
              </a:rPr>
              <a:t>U.S. adults currently take a GLP-1 drug</a:t>
            </a:r>
            <a:endParaRPr lang="en-US" sz="1500" dirty="0"/>
          </a:p>
        </p:txBody>
      </p:sp>
      <p:sp>
        <p:nvSpPr>
          <p:cNvPr id="10" name="anim|2|rise|with|"/>
          <p:cNvSpPr txBox="1"/>
          <p:nvPr/>
        </p:nvSpPr>
        <p:spPr>
          <a:xfrm>
            <a:off x="3593592" y="4206240"/>
            <a:ext cx="2194560" cy="457200"/>
          </a:xfrm>
          <a:prstGeom prst="rect">
            <a:avLst/>
          </a:prstGeom>
          <a:noFill/>
          <a:ln/>
        </p:spPr>
        <p:txBody>
          <a:bodyPr wrap="square" lIns="0" tIns="0" rIns="0" bIns="0" rtlCol="0" anchor="t"/>
          <a:lstStyle/>
          <a:p>
            <a:pPr marL="0" indent="0">
              <a:buNone/>
            </a:pPr>
            <a:r>
              <a:rPr lang="en-US" sz="1100" i="1" dirty="0">
                <a:solidFill>
                  <a:srgbClr val="B9C4BF"/>
                </a:solidFill>
                <a:latin typeface="Calibri" pitchFamily="34" charset="0"/>
                <a:ea typeface="Calibri" pitchFamily="34" charset="-122"/>
                <a:cs typeface="Calibri" pitchFamily="34" charset="-120"/>
              </a:rPr>
              <a:t>KFF Health Tracking Poll, Nov 2025</a:t>
            </a:r>
            <a:endParaRPr lang="en-US" sz="1100" dirty="0"/>
          </a:p>
        </p:txBody>
      </p:sp>
      <p:sp>
        <p:nvSpPr>
          <p:cNvPr id="11" name="anim|3|rise|click|"/>
          <p:cNvSpPr/>
          <p:nvPr/>
        </p:nvSpPr>
        <p:spPr>
          <a:xfrm>
            <a:off x="6181344" y="1417320"/>
            <a:ext cx="2606040" cy="3429000"/>
          </a:xfrm>
          <a:prstGeom prst="roundRect">
            <a:avLst>
              <a:gd name="adj" fmla="val 4211"/>
            </a:avLst>
          </a:prstGeom>
          <a:solidFill>
            <a:srgbClr val="2B2F31"/>
          </a:solidFill>
          <a:ln w="9525">
            <a:solidFill>
              <a:srgbClr val="45504C"/>
            </a:solidFill>
            <a:prstDash val="solid"/>
          </a:ln>
        </p:spPr>
      </p:sp>
      <p:sp>
        <p:nvSpPr>
          <p:cNvPr id="12" name="anim|3|rise|with|"/>
          <p:cNvSpPr txBox="1"/>
          <p:nvPr/>
        </p:nvSpPr>
        <p:spPr>
          <a:xfrm>
            <a:off x="6409944" y="1645920"/>
            <a:ext cx="2194560" cy="868680"/>
          </a:xfrm>
          <a:prstGeom prst="rect">
            <a:avLst/>
          </a:prstGeom>
          <a:noFill/>
          <a:ln/>
        </p:spPr>
        <p:txBody>
          <a:bodyPr wrap="square" lIns="0" tIns="0" rIns="0" bIns="0" rtlCol="0" anchor="ctr"/>
          <a:lstStyle/>
          <a:p>
            <a:pPr marL="0" indent="0">
              <a:buNone/>
            </a:pPr>
            <a:r>
              <a:rPr lang="en-US" sz="4000" b="1" dirty="0">
                <a:solidFill>
                  <a:srgbClr val="F2A541"/>
                </a:solidFill>
                <a:latin typeface="Calibri" pitchFamily="34" charset="0"/>
                <a:ea typeface="Calibri" pitchFamily="34" charset="-122"/>
                <a:cs typeface="Calibri" pitchFamily="34" charset="-120"/>
              </a:rPr>
              <a:t>11 h</a:t>
            </a:r>
            <a:endParaRPr lang="en-US" sz="4000" dirty="0"/>
          </a:p>
        </p:txBody>
      </p:sp>
      <p:sp>
        <p:nvSpPr>
          <p:cNvPr id="13" name="anim|3|rise|with|"/>
          <p:cNvSpPr txBox="1"/>
          <p:nvPr/>
        </p:nvSpPr>
        <p:spPr>
          <a:xfrm>
            <a:off x="6409944" y="2560320"/>
            <a:ext cx="2194560" cy="1463040"/>
          </a:xfrm>
          <a:prstGeom prst="rect">
            <a:avLst/>
          </a:prstGeom>
          <a:noFill/>
          <a:ln/>
        </p:spPr>
        <p:txBody>
          <a:bodyPr wrap="square" lIns="0" tIns="0" rIns="0" bIns="0" rtlCol="0" anchor="t"/>
          <a:lstStyle/>
          <a:p>
            <a:pPr marL="0" indent="0">
              <a:buNone/>
            </a:pPr>
            <a:r>
              <a:rPr lang="en-US" sz="1500" dirty="0">
                <a:solidFill>
                  <a:srgbClr val="F4F1EA"/>
                </a:solidFill>
                <a:latin typeface="Calibri" pitchFamily="34" charset="0"/>
                <a:ea typeface="Calibri" pitchFamily="34" charset="-122"/>
                <a:cs typeface="Calibri" pitchFamily="34" charset="-120"/>
              </a:rPr>
              <a:t>average power interruption per U.S. customer in 2024, nearly 2× the decade before</a:t>
            </a:r>
            <a:endParaRPr lang="en-US" sz="1500" dirty="0"/>
          </a:p>
        </p:txBody>
      </p:sp>
      <p:sp>
        <p:nvSpPr>
          <p:cNvPr id="14" name="anim|3|rise|with|"/>
          <p:cNvSpPr txBox="1"/>
          <p:nvPr/>
        </p:nvSpPr>
        <p:spPr>
          <a:xfrm>
            <a:off x="6409944" y="4206240"/>
            <a:ext cx="2194560" cy="457200"/>
          </a:xfrm>
          <a:prstGeom prst="rect">
            <a:avLst/>
          </a:prstGeom>
          <a:noFill/>
          <a:ln/>
        </p:spPr>
        <p:txBody>
          <a:bodyPr wrap="square" lIns="0" tIns="0" rIns="0" bIns="0" rtlCol="0" anchor="t"/>
          <a:lstStyle/>
          <a:p>
            <a:pPr marL="0" indent="0">
              <a:buNone/>
            </a:pPr>
            <a:r>
              <a:rPr lang="en-US" sz="1100" i="1" dirty="0">
                <a:solidFill>
                  <a:srgbClr val="B9C4BF"/>
                </a:solidFill>
                <a:latin typeface="Calibri" pitchFamily="34" charset="0"/>
                <a:ea typeface="Calibri" pitchFamily="34" charset="-122"/>
                <a:cs typeface="Calibri" pitchFamily="34" charset="-120"/>
              </a:rPr>
              <a:t>U.S. EIA, Dec 2025</a:t>
            </a:r>
            <a:endParaRPr lang="en-US" sz="1100" dirty="0"/>
          </a:p>
        </p:txBody>
      </p:sp>
      <p:sp>
        <p:nvSpPr>
          <p:cNvPr id="15" name="anim|4|rise|click|"/>
          <p:cNvSpPr/>
          <p:nvPr/>
        </p:nvSpPr>
        <p:spPr>
          <a:xfrm>
            <a:off x="8997696" y="1417320"/>
            <a:ext cx="2606040" cy="3429000"/>
          </a:xfrm>
          <a:prstGeom prst="roundRect">
            <a:avLst>
              <a:gd name="adj" fmla="val 4211"/>
            </a:avLst>
          </a:prstGeom>
          <a:solidFill>
            <a:srgbClr val="2B2F31"/>
          </a:solidFill>
          <a:ln w="9525">
            <a:solidFill>
              <a:srgbClr val="45504C"/>
            </a:solidFill>
            <a:prstDash val="solid"/>
          </a:ln>
        </p:spPr>
      </p:sp>
      <p:sp>
        <p:nvSpPr>
          <p:cNvPr id="16" name="anim|4|rise|with|"/>
          <p:cNvSpPr txBox="1"/>
          <p:nvPr/>
        </p:nvSpPr>
        <p:spPr>
          <a:xfrm>
            <a:off x="9226296" y="1645920"/>
            <a:ext cx="2194560" cy="868680"/>
          </a:xfrm>
          <a:prstGeom prst="rect">
            <a:avLst/>
          </a:prstGeom>
          <a:noFill/>
          <a:ln/>
        </p:spPr>
        <p:txBody>
          <a:bodyPr wrap="square" lIns="0" tIns="0" rIns="0" bIns="0" rtlCol="0" anchor="ctr"/>
          <a:lstStyle/>
          <a:p>
            <a:pPr marL="0" indent="0">
              <a:buNone/>
            </a:pPr>
            <a:r>
              <a:rPr lang="en-US" sz="4000" b="1" dirty="0">
                <a:solidFill>
                  <a:srgbClr val="F2A541"/>
                </a:solidFill>
                <a:latin typeface="Calibri" pitchFamily="34" charset="0"/>
                <a:ea typeface="Calibri" pitchFamily="34" charset="-122"/>
                <a:cs typeface="Calibri" pitchFamily="34" charset="-120"/>
              </a:rPr>
              <a:t>48 of 48</a:t>
            </a:r>
            <a:endParaRPr lang="en-US" sz="4000" dirty="0"/>
          </a:p>
        </p:txBody>
      </p:sp>
      <p:sp>
        <p:nvSpPr>
          <p:cNvPr id="17" name="anim|4|rise|with|"/>
          <p:cNvSpPr txBox="1"/>
          <p:nvPr/>
        </p:nvSpPr>
        <p:spPr>
          <a:xfrm>
            <a:off x="9226296" y="2560320"/>
            <a:ext cx="2194560" cy="1463040"/>
          </a:xfrm>
          <a:prstGeom prst="rect">
            <a:avLst/>
          </a:prstGeom>
          <a:noFill/>
          <a:ln/>
        </p:spPr>
        <p:txBody>
          <a:bodyPr wrap="square" lIns="0" tIns="0" rIns="0" bIns="0" rtlCol="0" anchor="t"/>
          <a:lstStyle/>
          <a:p>
            <a:pPr marL="0" indent="0">
              <a:buNone/>
            </a:pPr>
            <a:r>
              <a:rPr lang="en-US" sz="1500" dirty="0">
                <a:solidFill>
                  <a:srgbClr val="F4F1EA"/>
                </a:solidFill>
                <a:latin typeface="Calibri" pitchFamily="34" charset="0"/>
                <a:ea typeface="Calibri" pitchFamily="34" charset="-122"/>
                <a:cs typeface="Calibri" pitchFamily="34" charset="-120"/>
              </a:rPr>
              <a:t>mail-order test packages left the labeled range in transit (27–54% of the time in summer)</a:t>
            </a:r>
            <a:endParaRPr lang="en-US" sz="1500" dirty="0"/>
          </a:p>
        </p:txBody>
      </p:sp>
      <p:sp>
        <p:nvSpPr>
          <p:cNvPr id="18" name="anim|4|rise|with|"/>
          <p:cNvSpPr txBox="1"/>
          <p:nvPr/>
        </p:nvSpPr>
        <p:spPr>
          <a:xfrm>
            <a:off x="9226296" y="4206240"/>
            <a:ext cx="2194560" cy="457200"/>
          </a:xfrm>
          <a:prstGeom prst="rect">
            <a:avLst/>
          </a:prstGeom>
          <a:noFill/>
          <a:ln/>
        </p:spPr>
        <p:txBody>
          <a:bodyPr wrap="square" lIns="0" tIns="0" rIns="0" bIns="0" rtlCol="0" anchor="t"/>
          <a:lstStyle/>
          <a:p>
            <a:pPr marL="0" indent="0">
              <a:buNone/>
            </a:pPr>
            <a:r>
              <a:rPr lang="en-US" sz="1100" i="1" dirty="0">
                <a:solidFill>
                  <a:srgbClr val="B9C4BF"/>
                </a:solidFill>
                <a:latin typeface="Calibri" pitchFamily="34" charset="0"/>
                <a:ea typeface="Calibri" pitchFamily="34" charset="-122"/>
                <a:cs typeface="Calibri" pitchFamily="34" charset="-120"/>
              </a:rPr>
              <a:t>ASHP Midyear 2020, Univ. of Utah</a:t>
            </a:r>
            <a:endParaRPr lang="en-US" sz="1100" dirty="0"/>
          </a:p>
        </p:txBody>
      </p:sp>
      <p:sp>
        <p:nvSpPr>
          <p:cNvPr id="19" name="anim|5|fade|click|"/>
          <p:cNvSpPr/>
          <p:nvPr/>
        </p:nvSpPr>
        <p:spPr>
          <a:xfrm>
            <a:off x="548640" y="5120640"/>
            <a:ext cx="11064240" cy="960120"/>
          </a:xfrm>
          <a:prstGeom prst="roundRect">
            <a:avLst>
              <a:gd name="adj" fmla="val 11429"/>
            </a:avLst>
          </a:prstGeom>
          <a:solidFill>
            <a:srgbClr val="23352F"/>
          </a:solidFill>
          <a:ln w="9525">
            <a:solidFill>
              <a:srgbClr val="6FA391"/>
            </a:solidFill>
            <a:prstDash val="solid"/>
          </a:ln>
        </p:spPr>
      </p:sp>
      <p:sp>
        <p:nvSpPr>
          <p:cNvPr id="20" name="anim|5|fade|with|"/>
          <p:cNvSpPr txBox="1"/>
          <p:nvPr/>
        </p:nvSpPr>
        <p:spPr>
          <a:xfrm>
            <a:off x="822960" y="5120640"/>
            <a:ext cx="10515600" cy="960120"/>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Add biologics, migraine and bone injectables, EpiPens and glucagon: every one leaves the cold chain at the pharmacy door, and nobody tracks it after that.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ripple/>
        <p:sndAc>
          <p:stSnd>
            <p:snd r:embed="rId3" name="chime.wav"/>
          </p:stSnd>
        </p:sndAc>
      </p:transition>
    </mc:Choice>
    <mc:Fallback>
      <p:transition spd="slow">
        <p:fade/>
        <p:sndAc>
          <p:stSnd>
            <p:snd r:embed="rId3" name="chim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450" decel="100000" fill="hold"/>
                                        <p:tgtEl>
                                          <p:spTgt spid="3"/>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450" decel="100000" fill="hold"/>
                                        <p:tgtEl>
                                          <p:spTgt spid="4"/>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450" decel="100000" fill="hold"/>
                                        <p:tgtEl>
                                          <p:spTgt spid="5"/>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450" decel="100000" fill="hold"/>
                                        <p:tgtEl>
                                          <p:spTgt spid="6"/>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7"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fill="hold"/>
                                        <p:tgtEl>
                                          <p:spTgt spid="7"/>
                                        </p:tgtEl>
                                        <p:attrNameLst>
                                          <p:attrName>ppt_x</p:attrName>
                                        </p:attrNameLst>
                                      </p:cBhvr>
                                      <p:tavLst>
                                        <p:tav tm="0">
                                          <p:val>
                                            <p:strVal val="#ppt_x"/>
                                          </p:val>
                                        </p:tav>
                                        <p:tav tm="100000">
                                          <p:val>
                                            <p:strVal val="#ppt_x"/>
                                          </p:val>
                                        </p:tav>
                                      </p:tavLst>
                                    </p:anim>
                                    <p:anim calcmode="lin" valueType="num">
                                      <p:cBhvr>
                                        <p:cTn id="35" dur="450" decel="100000" fill="hold"/>
                                        <p:tgtEl>
                                          <p:spTgt spid="7"/>
                                        </p:tgtEl>
                                        <p:attrNameLst>
                                          <p:attrName>ppt_y</p:attrName>
                                        </p:attrNameLst>
                                      </p:cBhvr>
                                      <p:tavLst>
                                        <p:tav tm="0">
                                          <p:val>
                                            <p:strVal val="#ppt_y+1"/>
                                          </p:val>
                                        </p:tav>
                                        <p:tav tm="100000">
                                          <p:val>
                                            <p:strVal val="#ppt_y-.03"/>
                                          </p:val>
                                        </p:tav>
                                      </p:tavLst>
                                    </p:anim>
                                    <p:anim calcmode="lin" valueType="num">
                                      <p:cBhvr>
                                        <p:cTn id="36"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7" presetID="37"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anim calcmode="lin" valueType="num">
                                      <p:cBhvr>
                                        <p:cTn id="40" dur="500" fill="hold"/>
                                        <p:tgtEl>
                                          <p:spTgt spid="8"/>
                                        </p:tgtEl>
                                        <p:attrNameLst>
                                          <p:attrName>ppt_x</p:attrName>
                                        </p:attrNameLst>
                                      </p:cBhvr>
                                      <p:tavLst>
                                        <p:tav tm="0">
                                          <p:val>
                                            <p:strVal val="#ppt_x"/>
                                          </p:val>
                                        </p:tav>
                                        <p:tav tm="100000">
                                          <p:val>
                                            <p:strVal val="#ppt_x"/>
                                          </p:val>
                                        </p:tav>
                                      </p:tavLst>
                                    </p:anim>
                                    <p:anim calcmode="lin" valueType="num">
                                      <p:cBhvr>
                                        <p:cTn id="41" dur="450" decel="100000" fill="hold"/>
                                        <p:tgtEl>
                                          <p:spTgt spid="8"/>
                                        </p:tgtEl>
                                        <p:attrNameLst>
                                          <p:attrName>ppt_y</p:attrName>
                                        </p:attrNameLst>
                                      </p:cBhvr>
                                      <p:tavLst>
                                        <p:tav tm="0">
                                          <p:val>
                                            <p:strVal val="#ppt_y+1"/>
                                          </p:val>
                                        </p:tav>
                                        <p:tav tm="100000">
                                          <p:val>
                                            <p:strVal val="#ppt_y-.03"/>
                                          </p:val>
                                        </p:tav>
                                      </p:tavLst>
                                    </p:anim>
                                    <p:anim calcmode="lin" valueType="num">
                                      <p:cBhvr>
                                        <p:cTn id="42"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par>
                                <p:cTn id="43" presetID="37"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450" decel="100000" fill="hold"/>
                                        <p:tgtEl>
                                          <p:spTgt spid="9"/>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450" decel="100000" fill="hold"/>
                                        <p:tgtEl>
                                          <p:spTgt spid="10"/>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37" presetClass="entr" presetSubtype="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anim calcmode="lin" valueType="num">
                                      <p:cBhvr>
                                        <p:cTn id="60" dur="500" fill="hold"/>
                                        <p:tgtEl>
                                          <p:spTgt spid="11"/>
                                        </p:tgtEl>
                                        <p:attrNameLst>
                                          <p:attrName>ppt_x</p:attrName>
                                        </p:attrNameLst>
                                      </p:cBhvr>
                                      <p:tavLst>
                                        <p:tav tm="0">
                                          <p:val>
                                            <p:strVal val="#ppt_x"/>
                                          </p:val>
                                        </p:tav>
                                        <p:tav tm="100000">
                                          <p:val>
                                            <p:strVal val="#ppt_x"/>
                                          </p:val>
                                        </p:tav>
                                      </p:tavLst>
                                    </p:anim>
                                    <p:anim calcmode="lin" valueType="num">
                                      <p:cBhvr>
                                        <p:cTn id="61" dur="450" decel="100000" fill="hold"/>
                                        <p:tgtEl>
                                          <p:spTgt spid="11"/>
                                        </p:tgtEl>
                                        <p:attrNameLst>
                                          <p:attrName>ppt_y</p:attrName>
                                        </p:attrNameLst>
                                      </p:cBhvr>
                                      <p:tavLst>
                                        <p:tav tm="0">
                                          <p:val>
                                            <p:strVal val="#ppt_y+1"/>
                                          </p:val>
                                        </p:tav>
                                        <p:tav tm="100000">
                                          <p:val>
                                            <p:strVal val="#ppt_y-.03"/>
                                          </p:val>
                                        </p:tav>
                                      </p:tavLst>
                                    </p:anim>
                                    <p:anim calcmode="lin" valueType="num">
                                      <p:cBhvr>
                                        <p:cTn id="62"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3" presetID="37"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500"/>
                                        <p:tgtEl>
                                          <p:spTgt spid="12"/>
                                        </p:tgtEl>
                                      </p:cBhvr>
                                    </p:animEffect>
                                    <p:anim calcmode="lin" valueType="num">
                                      <p:cBhvr>
                                        <p:cTn id="66" dur="500" fill="hold"/>
                                        <p:tgtEl>
                                          <p:spTgt spid="12"/>
                                        </p:tgtEl>
                                        <p:attrNameLst>
                                          <p:attrName>ppt_x</p:attrName>
                                        </p:attrNameLst>
                                      </p:cBhvr>
                                      <p:tavLst>
                                        <p:tav tm="0">
                                          <p:val>
                                            <p:strVal val="#ppt_x"/>
                                          </p:val>
                                        </p:tav>
                                        <p:tav tm="100000">
                                          <p:val>
                                            <p:strVal val="#ppt_x"/>
                                          </p:val>
                                        </p:tav>
                                      </p:tavLst>
                                    </p:anim>
                                    <p:anim calcmode="lin" valueType="num">
                                      <p:cBhvr>
                                        <p:cTn id="67" dur="450" decel="100000" fill="hold"/>
                                        <p:tgtEl>
                                          <p:spTgt spid="12"/>
                                        </p:tgtEl>
                                        <p:attrNameLst>
                                          <p:attrName>ppt_y</p:attrName>
                                        </p:attrNameLst>
                                      </p:cBhvr>
                                      <p:tavLst>
                                        <p:tav tm="0">
                                          <p:val>
                                            <p:strVal val="#ppt_y+1"/>
                                          </p:val>
                                        </p:tav>
                                        <p:tav tm="100000">
                                          <p:val>
                                            <p:strVal val="#ppt_y-.03"/>
                                          </p:val>
                                        </p:tav>
                                      </p:tavLst>
                                    </p:anim>
                                    <p:anim calcmode="lin" valueType="num">
                                      <p:cBhvr>
                                        <p:cTn id="68"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9" presetID="37"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anim calcmode="lin" valueType="num">
                                      <p:cBhvr>
                                        <p:cTn id="72" dur="500" fill="hold"/>
                                        <p:tgtEl>
                                          <p:spTgt spid="13"/>
                                        </p:tgtEl>
                                        <p:attrNameLst>
                                          <p:attrName>ppt_x</p:attrName>
                                        </p:attrNameLst>
                                      </p:cBhvr>
                                      <p:tavLst>
                                        <p:tav tm="0">
                                          <p:val>
                                            <p:strVal val="#ppt_x"/>
                                          </p:val>
                                        </p:tav>
                                        <p:tav tm="100000">
                                          <p:val>
                                            <p:strVal val="#ppt_x"/>
                                          </p:val>
                                        </p:tav>
                                      </p:tavLst>
                                    </p:anim>
                                    <p:anim calcmode="lin" valueType="num">
                                      <p:cBhvr>
                                        <p:cTn id="73" dur="450" decel="100000" fill="hold"/>
                                        <p:tgtEl>
                                          <p:spTgt spid="13"/>
                                        </p:tgtEl>
                                        <p:attrNameLst>
                                          <p:attrName>ppt_y</p:attrName>
                                        </p:attrNameLst>
                                      </p:cBhvr>
                                      <p:tavLst>
                                        <p:tav tm="0">
                                          <p:val>
                                            <p:strVal val="#ppt_y+1"/>
                                          </p:val>
                                        </p:tav>
                                        <p:tav tm="100000">
                                          <p:val>
                                            <p:strVal val="#ppt_y-.03"/>
                                          </p:val>
                                        </p:tav>
                                      </p:tavLst>
                                    </p:anim>
                                    <p:anim calcmode="lin" valueType="num">
                                      <p:cBhvr>
                                        <p:cTn id="74"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75" presetID="37" presetClass="entr" presetSubtype="0"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500"/>
                                        <p:tgtEl>
                                          <p:spTgt spid="14"/>
                                        </p:tgtEl>
                                      </p:cBhvr>
                                    </p:animEffect>
                                    <p:anim calcmode="lin" valueType="num">
                                      <p:cBhvr>
                                        <p:cTn id="78" dur="500" fill="hold"/>
                                        <p:tgtEl>
                                          <p:spTgt spid="14"/>
                                        </p:tgtEl>
                                        <p:attrNameLst>
                                          <p:attrName>ppt_x</p:attrName>
                                        </p:attrNameLst>
                                      </p:cBhvr>
                                      <p:tavLst>
                                        <p:tav tm="0">
                                          <p:val>
                                            <p:strVal val="#ppt_x"/>
                                          </p:val>
                                        </p:tav>
                                        <p:tav tm="100000">
                                          <p:val>
                                            <p:strVal val="#ppt_x"/>
                                          </p:val>
                                        </p:tav>
                                      </p:tavLst>
                                    </p:anim>
                                    <p:anim calcmode="lin" valueType="num">
                                      <p:cBhvr>
                                        <p:cTn id="79" dur="450" decel="100000" fill="hold"/>
                                        <p:tgtEl>
                                          <p:spTgt spid="14"/>
                                        </p:tgtEl>
                                        <p:attrNameLst>
                                          <p:attrName>ppt_y</p:attrName>
                                        </p:attrNameLst>
                                      </p:cBhvr>
                                      <p:tavLst>
                                        <p:tav tm="0">
                                          <p:val>
                                            <p:strVal val="#ppt_y+1"/>
                                          </p:val>
                                        </p:tav>
                                        <p:tav tm="100000">
                                          <p:val>
                                            <p:strVal val="#ppt_y-.03"/>
                                          </p:val>
                                        </p:tav>
                                      </p:tavLst>
                                    </p:anim>
                                    <p:anim calcmode="lin" valueType="num">
                                      <p:cBhvr>
                                        <p:cTn id="80"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37" presetClass="entr" presetSubtype="0" fill="hold" nodeType="click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500"/>
                                        <p:tgtEl>
                                          <p:spTgt spid="15"/>
                                        </p:tgtEl>
                                      </p:cBhvr>
                                    </p:animEffect>
                                    <p:anim calcmode="lin" valueType="num">
                                      <p:cBhvr>
                                        <p:cTn id="86" dur="500" fill="hold"/>
                                        <p:tgtEl>
                                          <p:spTgt spid="15"/>
                                        </p:tgtEl>
                                        <p:attrNameLst>
                                          <p:attrName>ppt_x</p:attrName>
                                        </p:attrNameLst>
                                      </p:cBhvr>
                                      <p:tavLst>
                                        <p:tav tm="0">
                                          <p:val>
                                            <p:strVal val="#ppt_x"/>
                                          </p:val>
                                        </p:tav>
                                        <p:tav tm="100000">
                                          <p:val>
                                            <p:strVal val="#ppt_x"/>
                                          </p:val>
                                        </p:tav>
                                      </p:tavLst>
                                    </p:anim>
                                    <p:anim calcmode="lin" valueType="num">
                                      <p:cBhvr>
                                        <p:cTn id="87" dur="450" decel="100000" fill="hold"/>
                                        <p:tgtEl>
                                          <p:spTgt spid="15"/>
                                        </p:tgtEl>
                                        <p:attrNameLst>
                                          <p:attrName>ppt_y</p:attrName>
                                        </p:attrNameLst>
                                      </p:cBhvr>
                                      <p:tavLst>
                                        <p:tav tm="0">
                                          <p:val>
                                            <p:strVal val="#ppt_y+1"/>
                                          </p:val>
                                        </p:tav>
                                        <p:tav tm="100000">
                                          <p:val>
                                            <p:strVal val="#ppt_y-.03"/>
                                          </p:val>
                                        </p:tav>
                                      </p:tavLst>
                                    </p:anim>
                                    <p:anim calcmode="lin" valueType="num">
                                      <p:cBhvr>
                                        <p:cTn id="88"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9" presetID="37" presetClass="entr" presetSubtype="0" fill="hold" grpId="0" nodeType="with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500"/>
                                        <p:tgtEl>
                                          <p:spTgt spid="16"/>
                                        </p:tgtEl>
                                      </p:cBhvr>
                                    </p:animEffect>
                                    <p:anim calcmode="lin" valueType="num">
                                      <p:cBhvr>
                                        <p:cTn id="92" dur="500" fill="hold"/>
                                        <p:tgtEl>
                                          <p:spTgt spid="16"/>
                                        </p:tgtEl>
                                        <p:attrNameLst>
                                          <p:attrName>ppt_x</p:attrName>
                                        </p:attrNameLst>
                                      </p:cBhvr>
                                      <p:tavLst>
                                        <p:tav tm="0">
                                          <p:val>
                                            <p:strVal val="#ppt_x"/>
                                          </p:val>
                                        </p:tav>
                                        <p:tav tm="100000">
                                          <p:val>
                                            <p:strVal val="#ppt_x"/>
                                          </p:val>
                                        </p:tav>
                                      </p:tavLst>
                                    </p:anim>
                                    <p:anim calcmode="lin" valueType="num">
                                      <p:cBhvr>
                                        <p:cTn id="93" dur="450" decel="100000" fill="hold"/>
                                        <p:tgtEl>
                                          <p:spTgt spid="16"/>
                                        </p:tgtEl>
                                        <p:attrNameLst>
                                          <p:attrName>ppt_y</p:attrName>
                                        </p:attrNameLst>
                                      </p:cBhvr>
                                      <p:tavLst>
                                        <p:tav tm="0">
                                          <p:val>
                                            <p:strVal val="#ppt_y+1"/>
                                          </p:val>
                                        </p:tav>
                                        <p:tav tm="100000">
                                          <p:val>
                                            <p:strVal val="#ppt_y-.03"/>
                                          </p:val>
                                        </p:tav>
                                      </p:tavLst>
                                    </p:anim>
                                    <p:anim calcmode="lin" valueType="num">
                                      <p:cBhvr>
                                        <p:cTn id="94"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5" presetID="37" presetClass="entr" presetSubtype="0" fill="hold" grpId="0" nodeType="with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fade">
                                      <p:cBhvr>
                                        <p:cTn id="97" dur="500"/>
                                        <p:tgtEl>
                                          <p:spTgt spid="17"/>
                                        </p:tgtEl>
                                      </p:cBhvr>
                                    </p:animEffect>
                                    <p:anim calcmode="lin" valueType="num">
                                      <p:cBhvr>
                                        <p:cTn id="98" dur="500" fill="hold"/>
                                        <p:tgtEl>
                                          <p:spTgt spid="17"/>
                                        </p:tgtEl>
                                        <p:attrNameLst>
                                          <p:attrName>ppt_x</p:attrName>
                                        </p:attrNameLst>
                                      </p:cBhvr>
                                      <p:tavLst>
                                        <p:tav tm="0">
                                          <p:val>
                                            <p:strVal val="#ppt_x"/>
                                          </p:val>
                                        </p:tav>
                                        <p:tav tm="100000">
                                          <p:val>
                                            <p:strVal val="#ppt_x"/>
                                          </p:val>
                                        </p:tav>
                                      </p:tavLst>
                                    </p:anim>
                                    <p:anim calcmode="lin" valueType="num">
                                      <p:cBhvr>
                                        <p:cTn id="99" dur="450" decel="100000" fill="hold"/>
                                        <p:tgtEl>
                                          <p:spTgt spid="17"/>
                                        </p:tgtEl>
                                        <p:attrNameLst>
                                          <p:attrName>ppt_y</p:attrName>
                                        </p:attrNameLst>
                                      </p:cBhvr>
                                      <p:tavLst>
                                        <p:tav tm="0">
                                          <p:val>
                                            <p:strVal val="#ppt_y+1"/>
                                          </p:val>
                                        </p:tav>
                                        <p:tav tm="100000">
                                          <p:val>
                                            <p:strVal val="#ppt_y-.03"/>
                                          </p:val>
                                        </p:tav>
                                      </p:tavLst>
                                    </p:anim>
                                    <p:anim calcmode="lin" valueType="num">
                                      <p:cBhvr>
                                        <p:cTn id="100"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101" presetID="37" presetClass="entr" presetSubtype="0" fill="hold" grpId="0"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500"/>
                                        <p:tgtEl>
                                          <p:spTgt spid="18"/>
                                        </p:tgtEl>
                                      </p:cBhvr>
                                    </p:animEffect>
                                    <p:anim calcmode="lin" valueType="num">
                                      <p:cBhvr>
                                        <p:cTn id="104" dur="500" fill="hold"/>
                                        <p:tgtEl>
                                          <p:spTgt spid="18"/>
                                        </p:tgtEl>
                                        <p:attrNameLst>
                                          <p:attrName>ppt_x</p:attrName>
                                        </p:attrNameLst>
                                      </p:cBhvr>
                                      <p:tavLst>
                                        <p:tav tm="0">
                                          <p:val>
                                            <p:strVal val="#ppt_x"/>
                                          </p:val>
                                        </p:tav>
                                        <p:tav tm="100000">
                                          <p:val>
                                            <p:strVal val="#ppt_x"/>
                                          </p:val>
                                        </p:tav>
                                      </p:tavLst>
                                    </p:anim>
                                    <p:anim calcmode="lin" valueType="num">
                                      <p:cBhvr>
                                        <p:cTn id="105" dur="450" decel="100000" fill="hold"/>
                                        <p:tgtEl>
                                          <p:spTgt spid="18"/>
                                        </p:tgtEl>
                                        <p:attrNameLst>
                                          <p:attrName>ppt_y</p:attrName>
                                        </p:attrNameLst>
                                      </p:cBhvr>
                                      <p:tavLst>
                                        <p:tav tm="0">
                                          <p:val>
                                            <p:strVal val="#ppt_y+1"/>
                                          </p:val>
                                        </p:tav>
                                        <p:tav tm="100000">
                                          <p:val>
                                            <p:strVal val="#ppt_y-.03"/>
                                          </p:val>
                                        </p:tav>
                                      </p:tavLst>
                                    </p:anim>
                                    <p:anim calcmode="lin" valueType="num">
                                      <p:cBhvr>
                                        <p:cTn id="106"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500"/>
                                        <p:tgtEl>
                                          <p:spTgt spid="1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Meet LIFELOG</a:t>
            </a:r>
            <a:endParaRPr lang="en-US" sz="3200" dirty="0"/>
          </a:p>
        </p:txBody>
      </p:sp>
      <p:sp>
        <p:nvSpPr>
          <p:cNvPr id="3" name="anim|1|fade|after|"/>
          <p:cNvSpPr/>
          <p:nvPr/>
        </p:nvSpPr>
        <p:spPr>
          <a:xfrm>
            <a:off x="493776" y="1316736"/>
            <a:ext cx="7059168" cy="4453128"/>
          </a:xfrm>
          <a:prstGeom prst="roundRect">
            <a:avLst>
              <a:gd name="adj" fmla="val 2464"/>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desk-epipen.png"/>
          <p:cNvPicPr>
            <a:picLocks noChangeAspect="1"/>
          </p:cNvPicPr>
          <p:nvPr/>
        </p:nvPicPr>
        <p:blipFill>
          <a:blip r:embed="rId4"/>
          <a:stretch>
            <a:fillRect/>
          </a:stretch>
        </p:blipFill>
        <p:spPr>
          <a:xfrm>
            <a:off x="548640" y="1371600"/>
            <a:ext cx="6949440" cy="4343400"/>
          </a:xfrm>
          <a:prstGeom prst="rect">
            <a:avLst/>
          </a:prstGeom>
        </p:spPr>
      </p:pic>
      <p:sp>
        <p:nvSpPr>
          <p:cNvPr id="5" name="anim|2|rise|click|"/>
          <p:cNvSpPr/>
          <p:nvPr/>
        </p:nvSpPr>
        <p:spPr>
          <a:xfrm>
            <a:off x="6254496" y="2139696"/>
            <a:ext cx="2029968" cy="4105656"/>
          </a:xfrm>
          <a:prstGeom prst="roundRect">
            <a:avLst>
              <a:gd name="adj" fmla="val 5405"/>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6" name="anim|2|rise|click|" descr="C:\Users\manog\AppData\Local\Temp\claude\D--HackDearborn5\a0a981a9-7044-4bcc-95cc-4043289afdb4\scratchpad\deck\phone-epipen.png"/>
          <p:cNvPicPr>
            <a:picLocks noChangeAspect="1"/>
          </p:cNvPicPr>
          <p:nvPr/>
        </p:nvPicPr>
        <p:blipFill>
          <a:blip r:embed="rId5"/>
          <a:stretch>
            <a:fillRect/>
          </a:stretch>
        </p:blipFill>
        <p:spPr>
          <a:xfrm>
            <a:off x="6309360" y="2194560"/>
            <a:ext cx="1920240" cy="3995928"/>
          </a:xfrm>
          <a:prstGeom prst="rect">
            <a:avLst/>
          </a:prstGeom>
        </p:spPr>
      </p:pic>
      <p:sp>
        <p:nvSpPr>
          <p:cNvPr id="7" name="anim|3|wipe|click|"/>
          <p:cNvSpPr/>
          <p:nvPr/>
        </p:nvSpPr>
        <p:spPr>
          <a:xfrm>
            <a:off x="8641080" y="1463040"/>
            <a:ext cx="685800" cy="685800"/>
          </a:xfrm>
          <a:prstGeom prst="ellipse">
            <a:avLst/>
          </a:prstGeom>
          <a:solidFill>
            <a:srgbClr val="343A3C"/>
          </a:solidFill>
          <a:ln/>
        </p:spPr>
      </p:sp>
      <p:pic>
        <p:nvPicPr>
          <p:cNvPr id="8" name="anim|3|wipe|click|" descr="preencoded.png"/>
          <p:cNvPicPr>
            <a:picLocks noChangeAspect="1"/>
          </p:cNvPicPr>
          <p:nvPr/>
        </p:nvPicPr>
        <p:blipFill>
          <a:blip r:embed="rId6"/>
          <a:stretch>
            <a:fillRect/>
          </a:stretch>
        </p:blipFill>
        <p:spPr>
          <a:xfrm>
            <a:off x="8791956" y="1613916"/>
            <a:ext cx="384048" cy="384048"/>
          </a:xfrm>
          <a:prstGeom prst="rect">
            <a:avLst/>
          </a:prstGeom>
        </p:spPr>
      </p:pic>
      <p:sp>
        <p:nvSpPr>
          <p:cNvPr id="9" name="anim|3|wipe|with|"/>
          <p:cNvSpPr txBox="1"/>
          <p:nvPr/>
        </p:nvSpPr>
        <p:spPr>
          <a:xfrm>
            <a:off x="9464040" y="1463040"/>
            <a:ext cx="2240280" cy="41148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Plain-word status</a:t>
            </a:r>
            <a:endParaRPr lang="en-US" sz="1800" dirty="0"/>
          </a:p>
        </p:txBody>
      </p:sp>
      <p:sp>
        <p:nvSpPr>
          <p:cNvPr id="10" name="anim|3|wipe|with|"/>
          <p:cNvSpPr txBox="1"/>
          <p:nvPr/>
        </p:nvSpPr>
        <p:spPr>
          <a:xfrm>
            <a:off x="9464040" y="1901952"/>
            <a:ext cx="2240280" cy="91440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Safe to use · Act soon · Check on it · Do not use</a:t>
            </a:r>
            <a:endParaRPr lang="en-US" sz="1400" dirty="0"/>
          </a:p>
        </p:txBody>
      </p:sp>
      <p:sp>
        <p:nvSpPr>
          <p:cNvPr id="11" name="anim|4|wipe|click|"/>
          <p:cNvSpPr/>
          <p:nvPr/>
        </p:nvSpPr>
        <p:spPr>
          <a:xfrm>
            <a:off x="8641080" y="3063240"/>
            <a:ext cx="685800" cy="685800"/>
          </a:xfrm>
          <a:prstGeom prst="ellipse">
            <a:avLst/>
          </a:prstGeom>
          <a:solidFill>
            <a:srgbClr val="343A3C"/>
          </a:solidFill>
          <a:ln/>
        </p:spPr>
      </p:sp>
      <p:pic>
        <p:nvPicPr>
          <p:cNvPr id="12" name="anim|4|wipe|click|" descr="preencoded.png"/>
          <p:cNvPicPr>
            <a:picLocks noChangeAspect="1"/>
          </p:cNvPicPr>
          <p:nvPr/>
        </p:nvPicPr>
        <p:blipFill>
          <a:blip r:embed="rId7"/>
          <a:stretch>
            <a:fillRect/>
          </a:stretch>
        </p:blipFill>
        <p:spPr>
          <a:xfrm>
            <a:off x="8791956" y="3214116"/>
            <a:ext cx="384048" cy="384048"/>
          </a:xfrm>
          <a:prstGeom prst="rect">
            <a:avLst/>
          </a:prstGeom>
        </p:spPr>
      </p:pic>
      <p:sp>
        <p:nvSpPr>
          <p:cNvPr id="13" name="anim|4|wipe|with|"/>
          <p:cNvSpPr txBox="1"/>
          <p:nvPr/>
        </p:nvSpPr>
        <p:spPr>
          <a:xfrm>
            <a:off x="9464040" y="3063240"/>
            <a:ext cx="2240280" cy="41148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Do this now</a:t>
            </a:r>
            <a:endParaRPr lang="en-US" sz="1800" dirty="0"/>
          </a:p>
        </p:txBody>
      </p:sp>
      <p:sp>
        <p:nvSpPr>
          <p:cNvPr id="14" name="anim|4|wipe|with|"/>
          <p:cNvSpPr txBox="1"/>
          <p:nvPr/>
        </p:nvSpPr>
        <p:spPr>
          <a:xfrm>
            <a:off x="9464040" y="3502152"/>
            <a:ext cx="2240280" cy="91440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The single best action, from the label and the situation</a:t>
            </a:r>
            <a:endParaRPr lang="en-US" sz="1400" dirty="0"/>
          </a:p>
        </p:txBody>
      </p:sp>
      <p:sp>
        <p:nvSpPr>
          <p:cNvPr id="15" name="anim|5|wipe|click|"/>
          <p:cNvSpPr/>
          <p:nvPr/>
        </p:nvSpPr>
        <p:spPr>
          <a:xfrm>
            <a:off x="8641080" y="4663440"/>
            <a:ext cx="685800" cy="685800"/>
          </a:xfrm>
          <a:prstGeom prst="ellipse">
            <a:avLst/>
          </a:prstGeom>
          <a:solidFill>
            <a:srgbClr val="343A3C"/>
          </a:solidFill>
          <a:ln/>
        </p:spPr>
      </p:sp>
      <p:pic>
        <p:nvPicPr>
          <p:cNvPr id="16" name="anim|5|wipe|click|" descr="preencoded.png"/>
          <p:cNvPicPr>
            <a:picLocks noChangeAspect="1"/>
          </p:cNvPicPr>
          <p:nvPr/>
        </p:nvPicPr>
        <p:blipFill>
          <a:blip r:embed="rId8"/>
          <a:stretch>
            <a:fillRect/>
          </a:stretch>
        </p:blipFill>
        <p:spPr>
          <a:xfrm>
            <a:off x="8791956" y="4814316"/>
            <a:ext cx="384048" cy="384048"/>
          </a:xfrm>
          <a:prstGeom prst="rect">
            <a:avLst/>
          </a:prstGeom>
        </p:spPr>
      </p:pic>
      <p:sp>
        <p:nvSpPr>
          <p:cNvPr id="17" name="anim|5|wipe|with|"/>
          <p:cNvSpPr txBox="1"/>
          <p:nvPr/>
        </p:nvSpPr>
        <p:spPr>
          <a:xfrm>
            <a:off x="9464040" y="4663440"/>
            <a:ext cx="2240280" cy="41148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Why, and what if</a:t>
            </a:r>
            <a:endParaRPr lang="en-US" sz="1800" dirty="0"/>
          </a:p>
        </p:txBody>
      </p:sp>
      <p:sp>
        <p:nvSpPr>
          <p:cNvPr id="18" name="anim|5|wipe|with|"/>
          <p:cNvSpPr txBox="1"/>
          <p:nvPr/>
        </p:nvSpPr>
        <p:spPr>
          <a:xfrm>
            <a:off x="9464040" y="5102352"/>
            <a:ext cx="2240280" cy="91440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What used the budget, and what each choice would save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900">
        <p:fade/>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450" decel="100000" fill="hold"/>
                                        <p:tgtEl>
                                          <p:spTgt spid="5"/>
                                        </p:tgtEl>
                                        <p:attrNameLst>
                                          <p:attrName>ppt_y</p:attrName>
                                        </p:attrNameLst>
                                      </p:cBhvr>
                                      <p:tavLst>
                                        <p:tav tm="0">
                                          <p:val>
                                            <p:strVal val="#ppt_y+1"/>
                                          </p:val>
                                        </p:tav>
                                        <p:tav tm="100000">
                                          <p:val>
                                            <p:strVal val="#ppt_y-.03"/>
                                          </p:val>
                                        </p:tav>
                                      </p:tavLst>
                                    </p:anim>
                                    <p:anim calcmode="lin" valueType="num">
                                      <p:cBhvr>
                                        <p:cTn id="19"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fill="hold"/>
                                        <p:tgtEl>
                                          <p:spTgt spid="6"/>
                                        </p:tgtEl>
                                        <p:attrNameLst>
                                          <p:attrName>ppt_x</p:attrName>
                                        </p:attrNameLst>
                                      </p:cBhvr>
                                      <p:tavLst>
                                        <p:tav tm="0">
                                          <p:val>
                                            <p:strVal val="#ppt_x"/>
                                          </p:val>
                                        </p:tav>
                                        <p:tav tm="100000">
                                          <p:val>
                                            <p:strVal val="#ppt_x"/>
                                          </p:val>
                                        </p:tav>
                                      </p:tavLst>
                                    </p:anim>
                                    <p:anim calcmode="lin" valueType="num">
                                      <p:cBhvr>
                                        <p:cTn id="24" dur="450" decel="100000" fill="hold"/>
                                        <p:tgtEl>
                                          <p:spTgt spid="6"/>
                                        </p:tgtEl>
                                        <p:attrNameLst>
                                          <p:attrName>ppt_y</p:attrName>
                                        </p:attrNameLst>
                                      </p:cBhvr>
                                      <p:tavLst>
                                        <p:tav tm="0">
                                          <p:val>
                                            <p:strVal val="#ppt_y+1"/>
                                          </p:val>
                                        </p:tav>
                                        <p:tav tm="100000">
                                          <p:val>
                                            <p:strVal val="#ppt_y-.03"/>
                                          </p:val>
                                        </p:tav>
                                      </p:tavLst>
                                    </p:anim>
                                    <p:anim calcmode="lin" valueType="num">
                                      <p:cBhvr>
                                        <p:cTn id="25"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22" presetClass="entr" presetSubtype="8"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par>
                                <p:cTn id="45" presetID="22" presetClass="entr" presetSubtype="8"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4"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24 real medicines, checked against their FDA labels</a:t>
            </a:r>
            <a:endParaRPr lang="en-US" sz="3200" dirty="0"/>
          </a:p>
        </p:txBody>
      </p:sp>
      <p:graphicFrame>
        <p:nvGraphicFramePr>
          <p:cNvPr id="7" name="anim|1|fade|click|"/>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66928">
                <a:tc>
                  <a:txBody>
                    <a:bodyPr/>
                    <a:lstStyle/>
                    <a:p>
                      <a:pPr marL="0" indent="0">
                        <a:buNone/>
                      </a:pPr>
                      <a:r>
                        <a:rPr lang="en-US" sz="1300" b="1" dirty="0">
                          <a:solidFill>
                            <a:srgbClr val="F2A541"/>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b="1" dirty="0">
                          <a:solidFill>
                            <a:srgbClr val="F2A541"/>
                          </a:solidFill>
                          <a:latin typeface="Calibri" pitchFamily="34" charset="0"/>
                          <a:ea typeface="Calibri" pitchFamily="34" charset="-122"/>
                          <a:cs typeface="Calibri" pitchFamily="34" charset="-120"/>
                        </a:rPr>
                        <a:t>Medicines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b="1" dirty="0">
                          <a:solidFill>
                            <a:srgbClr val="F2A541"/>
                          </a:solidFill>
                          <a:latin typeface="Calibri" pitchFamily="34" charset="0"/>
                          <a:ea typeface="Calibri" pitchFamily="34" charset="-122"/>
                          <a:cs typeface="Calibri" pitchFamily="34" charset="-120"/>
                        </a:rPr>
                        <a:t>Allowed outside the fridge</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Insulins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Lantus, NovoLog, Tresiba, Humalog, Toujeo</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≤30°C · 28 days (Tresiba, Toujeo 56)</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GLP-1 / GIP</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Mounjaro, Zepbound, Ozempic, Wegovy, Trulicity, Victoza</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≤30°C · 14–56 days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Biologics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Enbrel, Humira, Dupixent, Stelara</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≤25–30°C · 14–30 days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Heart, migraine, bone</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Repatha, Praluent, Aimovig, Emgality, Prolia, Forteo</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≤25–30°C · 7–30 days; Forteo: none</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Emergency</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EpiPen, Gvoke glucagon</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room temp; 15–30°C excursions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F4F1EA"/>
                          </a:solidFill>
                          <a:latin typeface="Calibri" pitchFamily="34" charset="0"/>
                          <a:ea typeface="Calibri" pitchFamily="34" charset="-122"/>
                          <a:cs typeface="Calibri" pitchFamily="34" charset="-120"/>
                        </a:rPr>
                        <a:t>Eye drops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Xalatan, opened</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300" dirty="0">
                          <a:solidFill>
                            <a:srgbClr val="F4F1EA"/>
                          </a:solidFill>
                          <a:latin typeface="Calibri" pitchFamily="34" charset="0"/>
                          <a:ea typeface="Calibri" pitchFamily="34" charset="-122"/>
                          <a:cs typeface="Calibri" pitchFamily="34" charset="-120"/>
                        </a:rPr>
                        <a:t>≤25°C · 6 weeks</a:t>
                      </a:r>
                      <a:endParaRPr lang="en-US" sz="13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6"/>
                  </a:ext>
                </a:extLst>
              </a:tr>
            </a:tbl>
          </a:graphicData>
        </a:graphic>
      </p:graphicFrame>
      <p:sp>
        <p:nvSpPr>
          <p:cNvPr id="4" name="anim|1|fade|with|"/>
          <p:cNvSpPr txBox="1"/>
          <p:nvPr/>
        </p:nvSpPr>
        <p:spPr>
          <a:xfrm>
            <a:off x="548640" y="5806440"/>
            <a:ext cx="7040880" cy="502920"/>
          </a:xfrm>
          <a:prstGeom prst="rect">
            <a:avLst/>
          </a:prstGeom>
          <a:noFill/>
          <a:ln/>
        </p:spPr>
        <p:txBody>
          <a:bodyPr wrap="square" lIns="0" tIns="0" rIns="0" bIns="0" rtlCol="0" anchor="ctr"/>
          <a:lstStyle/>
          <a:p>
            <a:pPr marL="0" indent="0">
              <a:buNone/>
            </a:pPr>
            <a:r>
              <a:rPr lang="en-US" sz="1200" i="1" dirty="0">
                <a:solidFill>
                  <a:srgbClr val="B9C4BF"/>
                </a:solidFill>
                <a:latin typeface="Calibri" pitchFamily="34" charset="0"/>
                <a:ea typeface="Calibri" pitchFamily="34" charset="-122"/>
                <a:cs typeface="Calibri" pitchFamily="34" charset="-120"/>
              </a:rPr>
              <a:t>Every quote is tested word-for-word against the saved label text, and every allowance's °C and days against its own quote. A script re-checks all 24 labels live (openFDA, DailyMed).</a:t>
            </a:r>
            <a:endParaRPr lang="en-US" sz="1200" dirty="0"/>
          </a:p>
        </p:txBody>
      </p:sp>
      <p:sp>
        <p:nvSpPr>
          <p:cNvPr id="5" name="anim|2|fade|click|"/>
          <p:cNvSpPr/>
          <p:nvPr/>
        </p:nvSpPr>
        <p:spPr>
          <a:xfrm>
            <a:off x="7909560" y="1371600"/>
            <a:ext cx="3749040" cy="4892040"/>
          </a:xfrm>
          <a:prstGeom prst="roundRect">
            <a:avLst>
              <a:gd name="adj" fmla="val 2927"/>
            </a:avLst>
          </a:prstGeom>
          <a:solidFill>
            <a:srgbClr val="2A2740"/>
          </a:solidFill>
          <a:ln w="19050">
            <a:solidFill>
              <a:srgbClr val="9C8CE0"/>
            </a:solidFill>
            <a:prstDash val="solid"/>
          </a:ln>
        </p:spPr>
      </p:sp>
      <p:sp>
        <p:nvSpPr>
          <p:cNvPr id="6" name="anim|2|fade|with|"/>
          <p:cNvSpPr txBox="1"/>
          <p:nvPr/>
        </p:nvSpPr>
        <p:spPr>
          <a:xfrm>
            <a:off x="8183880" y="1554480"/>
            <a:ext cx="3291840" cy="45720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Any other medicine, by name</a:t>
            </a:r>
            <a:endParaRPr lang="en-US" sz="1800" dirty="0"/>
          </a:p>
        </p:txBody>
      </p:sp>
      <p:sp>
        <p:nvSpPr>
          <p:cNvPr id="3" name="anim|3|wipe|click|"/>
          <p:cNvSpPr/>
          <p:nvPr/>
        </p:nvSpPr>
        <p:spPr>
          <a:xfrm>
            <a:off x="8183880" y="2240280"/>
            <a:ext cx="640080" cy="640080"/>
          </a:xfrm>
          <a:prstGeom prst="ellipse">
            <a:avLst/>
          </a:prstGeom>
          <a:solidFill>
            <a:srgbClr val="3A3458"/>
          </a:solidFill>
          <a:ln/>
        </p:spPr>
      </p:sp>
      <p:pic>
        <p:nvPicPr>
          <p:cNvPr id="8" name="anim|3|wipe|click|" descr="preencoded.png"/>
          <p:cNvPicPr>
            <a:picLocks noChangeAspect="1"/>
          </p:cNvPicPr>
          <p:nvPr/>
        </p:nvPicPr>
        <p:blipFill>
          <a:blip r:embed="rId3"/>
          <a:stretch>
            <a:fillRect/>
          </a:stretch>
        </p:blipFill>
        <p:spPr>
          <a:xfrm>
            <a:off x="8324698" y="2381098"/>
            <a:ext cx="358445" cy="358445"/>
          </a:xfrm>
          <a:prstGeom prst="rect">
            <a:avLst/>
          </a:prstGeom>
        </p:spPr>
      </p:pic>
      <p:sp>
        <p:nvSpPr>
          <p:cNvPr id="9" name="anim|3|wipe|with|"/>
          <p:cNvSpPr txBox="1"/>
          <p:nvPr/>
        </p:nvSpPr>
        <p:spPr>
          <a:xfrm>
            <a:off x="8961120" y="2240280"/>
            <a:ext cx="2560320" cy="41148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Official FDA label first</a:t>
            </a:r>
            <a:endParaRPr lang="en-US" sz="1500" dirty="0"/>
          </a:p>
        </p:txBody>
      </p:sp>
      <p:sp>
        <p:nvSpPr>
          <p:cNvPr id="10" name="anim|3|wipe|with|"/>
          <p:cNvSpPr txBox="1"/>
          <p:nvPr/>
        </p:nvSpPr>
        <p:spPr>
          <a:xfrm>
            <a:off x="8961120" y="2651760"/>
            <a:ext cx="2560320" cy="68580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openFDA: exact storage text, no guessing</a:t>
            </a:r>
            <a:endParaRPr lang="en-US" sz="1300" dirty="0"/>
          </a:p>
        </p:txBody>
      </p:sp>
      <p:sp>
        <p:nvSpPr>
          <p:cNvPr id="11" name="anim|4|wipe|click|"/>
          <p:cNvSpPr/>
          <p:nvPr/>
        </p:nvSpPr>
        <p:spPr>
          <a:xfrm>
            <a:off x="8183880" y="3520440"/>
            <a:ext cx="640080" cy="640080"/>
          </a:xfrm>
          <a:prstGeom prst="ellipse">
            <a:avLst/>
          </a:prstGeom>
          <a:solidFill>
            <a:srgbClr val="3A3458"/>
          </a:solidFill>
          <a:ln/>
        </p:spPr>
      </p:sp>
      <p:pic>
        <p:nvPicPr>
          <p:cNvPr id="12" name="anim|4|wipe|click|" descr="preencoded.png"/>
          <p:cNvPicPr>
            <a:picLocks noChangeAspect="1"/>
          </p:cNvPicPr>
          <p:nvPr/>
        </p:nvPicPr>
        <p:blipFill>
          <a:blip r:embed="rId4"/>
          <a:stretch>
            <a:fillRect/>
          </a:stretch>
        </p:blipFill>
        <p:spPr>
          <a:xfrm>
            <a:off x="8324698" y="3661258"/>
            <a:ext cx="358445" cy="358445"/>
          </a:xfrm>
          <a:prstGeom prst="rect">
            <a:avLst/>
          </a:prstGeom>
        </p:spPr>
      </p:pic>
      <p:sp>
        <p:nvSpPr>
          <p:cNvPr id="13" name="anim|4|wipe|with|"/>
          <p:cNvSpPr txBox="1"/>
          <p:nvPr/>
        </p:nvSpPr>
        <p:spPr>
          <a:xfrm>
            <a:off x="8961120" y="3520440"/>
            <a:ext cx="2560320" cy="41148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Gemini searches if needed</a:t>
            </a:r>
            <a:endParaRPr lang="en-US" sz="1500" dirty="0"/>
          </a:p>
        </p:txBody>
      </p:sp>
      <p:sp>
        <p:nvSpPr>
          <p:cNvPr id="14" name="anim|4|wipe|with|"/>
          <p:cNvSpPr txBox="1"/>
          <p:nvPr/>
        </p:nvSpPr>
        <p:spPr>
          <a:xfrm>
            <a:off x="8961120" y="3931920"/>
            <a:ext cx="2560320" cy="68580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Google Search + URL Context grounding</a:t>
            </a:r>
            <a:endParaRPr lang="en-US" sz="1300" dirty="0"/>
          </a:p>
        </p:txBody>
      </p:sp>
      <p:sp>
        <p:nvSpPr>
          <p:cNvPr id="15" name="anim|5|wipe|click|"/>
          <p:cNvSpPr/>
          <p:nvPr/>
        </p:nvSpPr>
        <p:spPr>
          <a:xfrm>
            <a:off x="8183880" y="4800600"/>
            <a:ext cx="640080" cy="640080"/>
          </a:xfrm>
          <a:prstGeom prst="ellipse">
            <a:avLst/>
          </a:prstGeom>
          <a:solidFill>
            <a:srgbClr val="3A3458"/>
          </a:solidFill>
          <a:ln/>
        </p:spPr>
      </p:sp>
      <p:pic>
        <p:nvPicPr>
          <p:cNvPr id="16" name="anim|5|wipe|click|" descr="preencoded.png"/>
          <p:cNvPicPr>
            <a:picLocks noChangeAspect="1"/>
          </p:cNvPicPr>
          <p:nvPr/>
        </p:nvPicPr>
        <p:blipFill>
          <a:blip r:embed="rId5"/>
          <a:stretch>
            <a:fillRect/>
          </a:stretch>
        </p:blipFill>
        <p:spPr>
          <a:xfrm>
            <a:off x="8324698" y="4941418"/>
            <a:ext cx="358445" cy="358445"/>
          </a:xfrm>
          <a:prstGeom prst="rect">
            <a:avLst/>
          </a:prstGeom>
        </p:spPr>
      </p:pic>
      <p:sp>
        <p:nvSpPr>
          <p:cNvPr id="17" name="anim|5|wipe|with|"/>
          <p:cNvSpPr txBox="1"/>
          <p:nvPr/>
        </p:nvSpPr>
        <p:spPr>
          <a:xfrm>
            <a:off x="8961120" y="4800600"/>
            <a:ext cx="2560320" cy="41148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Checked, then you confirm</a:t>
            </a:r>
            <a:endParaRPr lang="en-US" sz="1500" dirty="0"/>
          </a:p>
        </p:txBody>
      </p:sp>
      <p:sp>
        <p:nvSpPr>
          <p:cNvPr id="18" name="anim|5|wipe|with|"/>
          <p:cNvSpPr txBox="1"/>
          <p:nvPr/>
        </p:nvSpPr>
        <p:spPr>
          <a:xfrm>
            <a:off x="8961120" y="5212080"/>
            <a:ext cx="2560320" cy="68580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Quotes not found in the label are flagged before tracking</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par>
                                <p:cTn id="24" presetID="22" presetClass="entr" presetSubtype="8"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par>
                                <p:cTn id="38" presetID="22" presetClass="entr" presetSubtype="8"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22" presetClass="entr" presetSubtype="8"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left)">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0" grpId="0" animBg="1"/>
      <p:bldP spid="13" grpId="0" animBg="1"/>
      <p:bldP spid="14"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How it works</a:t>
            </a:r>
            <a:endParaRPr lang="en-US" sz="3200" dirty="0"/>
          </a:p>
        </p:txBody>
      </p:sp>
      <p:sp>
        <p:nvSpPr>
          <p:cNvPr id="3" name="anim|1|wipe|click|"/>
          <p:cNvSpPr/>
          <p:nvPr/>
        </p:nvSpPr>
        <p:spPr>
          <a:xfrm>
            <a:off x="548640" y="1691640"/>
            <a:ext cx="2011680" cy="3749040"/>
          </a:xfrm>
          <a:prstGeom prst="roundRect">
            <a:avLst>
              <a:gd name="adj" fmla="val 5455"/>
            </a:avLst>
          </a:prstGeom>
          <a:solidFill>
            <a:srgbClr val="2B2F31"/>
          </a:solidFill>
          <a:ln w="19050">
            <a:solidFill>
              <a:srgbClr val="B9C4BF"/>
            </a:solidFill>
            <a:prstDash val="solid"/>
          </a:ln>
        </p:spPr>
      </p:sp>
      <p:sp>
        <p:nvSpPr>
          <p:cNvPr id="4" name="anim|1|wipe|with|"/>
          <p:cNvSpPr txBox="1"/>
          <p:nvPr/>
        </p:nvSpPr>
        <p:spPr>
          <a:xfrm>
            <a:off x="731520" y="1874520"/>
            <a:ext cx="1645920" cy="457200"/>
          </a:xfrm>
          <a:prstGeom prst="rect">
            <a:avLst/>
          </a:prstGeom>
          <a:noFill/>
          <a:ln/>
        </p:spPr>
        <p:txBody>
          <a:bodyPr wrap="square" lIns="0" tIns="0" rIns="0" bIns="0" rtlCol="0" anchor="ctr"/>
          <a:lstStyle/>
          <a:p>
            <a:pPr marL="0" indent="0">
              <a:buNone/>
            </a:pPr>
            <a:r>
              <a:rPr lang="en-US" sz="1700" b="1" dirty="0">
                <a:solidFill>
                  <a:srgbClr val="B9C4BF"/>
                </a:solidFill>
                <a:latin typeface="Calibri" pitchFamily="34" charset="0"/>
                <a:ea typeface="Calibri" pitchFamily="34" charset="-122"/>
                <a:cs typeface="Calibri" pitchFamily="34" charset="-120"/>
              </a:rPr>
              <a:t>Inputs</a:t>
            </a:r>
            <a:endParaRPr lang="en-US" sz="1700" dirty="0"/>
          </a:p>
        </p:txBody>
      </p:sp>
      <p:sp>
        <p:nvSpPr>
          <p:cNvPr id="5" name="anim|1|wipe|with|"/>
          <p:cNvSpPr txBox="1"/>
          <p:nvPr/>
        </p:nvSpPr>
        <p:spPr>
          <a:xfrm>
            <a:off x="731520" y="2423160"/>
            <a:ext cx="1691640" cy="2834640"/>
          </a:xfrm>
          <a:prstGeom prst="rect">
            <a:avLst/>
          </a:prstGeom>
          <a:noFill/>
          <a:ln/>
        </p:spPr>
        <p:txBody>
          <a:bodyPr wrap="square" lIns="0" tIns="0" rIns="0" bIns="0" rtlCol="0" anchor="t"/>
          <a:lstStyle/>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Label photo or medicine name</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Voice report</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Temperature sensor</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Weather forecast</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Outage map</a:t>
            </a:r>
            <a:endParaRPr lang="en-US" sz="1400" dirty="0"/>
          </a:p>
        </p:txBody>
      </p:sp>
      <p:sp>
        <p:nvSpPr>
          <p:cNvPr id="6" name="anim|1|wipe|with|"/>
          <p:cNvSpPr/>
          <p:nvPr/>
        </p:nvSpPr>
        <p:spPr>
          <a:xfrm>
            <a:off x="2596896" y="3419856"/>
            <a:ext cx="155448" cy="292608"/>
          </a:xfrm>
          <a:prstGeom prst="rightArrow">
            <a:avLst/>
          </a:prstGeom>
          <a:solidFill>
            <a:srgbClr val="B9C4BF"/>
          </a:solidFill>
          <a:ln/>
        </p:spPr>
      </p:sp>
      <p:sp>
        <p:nvSpPr>
          <p:cNvPr id="7" name="anim|2|wipe|click|"/>
          <p:cNvSpPr/>
          <p:nvPr/>
        </p:nvSpPr>
        <p:spPr>
          <a:xfrm>
            <a:off x="2788920" y="1691640"/>
            <a:ext cx="2011680" cy="3749040"/>
          </a:xfrm>
          <a:prstGeom prst="roundRect">
            <a:avLst>
              <a:gd name="adj" fmla="val 5455"/>
            </a:avLst>
          </a:prstGeom>
          <a:solidFill>
            <a:srgbClr val="2B2F31"/>
          </a:solidFill>
          <a:ln w="19050">
            <a:solidFill>
              <a:srgbClr val="9C8CE0"/>
            </a:solidFill>
            <a:prstDash val="solid"/>
          </a:ln>
        </p:spPr>
      </p:sp>
      <p:sp>
        <p:nvSpPr>
          <p:cNvPr id="8" name="anim|2|wipe|with|"/>
          <p:cNvSpPr txBox="1"/>
          <p:nvPr/>
        </p:nvSpPr>
        <p:spPr>
          <a:xfrm>
            <a:off x="2971800" y="1874520"/>
            <a:ext cx="1645920" cy="457200"/>
          </a:xfrm>
          <a:prstGeom prst="rect">
            <a:avLst/>
          </a:prstGeom>
          <a:noFill/>
          <a:ln/>
        </p:spPr>
        <p:txBody>
          <a:bodyPr wrap="square" lIns="0" tIns="0" rIns="0" bIns="0" rtlCol="0" anchor="ctr"/>
          <a:lstStyle/>
          <a:p>
            <a:pPr marL="0" indent="0">
              <a:buNone/>
            </a:pPr>
            <a:r>
              <a:rPr lang="en-US" sz="1700" b="1" dirty="0">
                <a:solidFill>
                  <a:srgbClr val="9C8CE0"/>
                </a:solidFill>
                <a:latin typeface="Calibri" pitchFamily="34" charset="0"/>
                <a:ea typeface="Calibri" pitchFamily="34" charset="-122"/>
                <a:cs typeface="Calibri" pitchFamily="34" charset="-120"/>
              </a:rPr>
              <a:t>Gemini + ingest</a:t>
            </a:r>
            <a:endParaRPr lang="en-US" sz="1700" dirty="0"/>
          </a:p>
        </p:txBody>
      </p:sp>
      <p:sp>
        <p:nvSpPr>
          <p:cNvPr id="9" name="anim|2|wipe|with|"/>
          <p:cNvSpPr txBox="1"/>
          <p:nvPr/>
        </p:nvSpPr>
        <p:spPr>
          <a:xfrm>
            <a:off x="2971800" y="2423160"/>
            <a:ext cx="1691640" cy="2834640"/>
          </a:xfrm>
          <a:prstGeom prst="rect">
            <a:avLst/>
          </a:prstGeom>
          <a:noFill/>
          <a:ln/>
        </p:spPr>
        <p:txBody>
          <a:bodyPr wrap="square" lIns="0" tIns="0" rIns="0" bIns="0" rtlCol="0" anchor="t"/>
          <a:lstStyle/>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FDA label (openFDA) or Gemini search</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Gemini reads it into rules</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Gemini turns speech into readings</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Ingest rejects bad data, spots late uploads</a:t>
            </a:r>
            <a:endParaRPr lang="en-US" sz="1400" dirty="0"/>
          </a:p>
        </p:txBody>
      </p:sp>
      <p:sp>
        <p:nvSpPr>
          <p:cNvPr id="10" name="anim|2|wipe|with|"/>
          <p:cNvSpPr/>
          <p:nvPr/>
        </p:nvSpPr>
        <p:spPr>
          <a:xfrm>
            <a:off x="4837176" y="3419856"/>
            <a:ext cx="155448" cy="292608"/>
          </a:xfrm>
          <a:prstGeom prst="rightArrow">
            <a:avLst/>
          </a:prstGeom>
          <a:solidFill>
            <a:srgbClr val="B9C4BF"/>
          </a:solidFill>
          <a:ln/>
        </p:spPr>
      </p:sp>
      <p:sp>
        <p:nvSpPr>
          <p:cNvPr id="11" name="anim|3|wipe|click|"/>
          <p:cNvSpPr/>
          <p:nvPr/>
        </p:nvSpPr>
        <p:spPr>
          <a:xfrm>
            <a:off x="5029200" y="1691640"/>
            <a:ext cx="2606040" cy="3749040"/>
          </a:xfrm>
          <a:prstGeom prst="roundRect">
            <a:avLst>
              <a:gd name="adj" fmla="val 4211"/>
            </a:avLst>
          </a:prstGeom>
          <a:solidFill>
            <a:srgbClr val="2B2F31"/>
          </a:solidFill>
          <a:ln w="19050">
            <a:solidFill>
              <a:srgbClr val="F2A541"/>
            </a:solidFill>
            <a:prstDash val="solid"/>
          </a:ln>
        </p:spPr>
      </p:sp>
      <p:sp>
        <p:nvSpPr>
          <p:cNvPr id="12" name="anim|3|wipe|with|"/>
          <p:cNvSpPr txBox="1"/>
          <p:nvPr/>
        </p:nvSpPr>
        <p:spPr>
          <a:xfrm>
            <a:off x="5212080" y="1874520"/>
            <a:ext cx="2240280" cy="457200"/>
          </a:xfrm>
          <a:prstGeom prst="rect">
            <a:avLst/>
          </a:prstGeom>
          <a:noFill/>
          <a:ln/>
        </p:spPr>
        <p:txBody>
          <a:bodyPr wrap="square" lIns="0" tIns="0" rIns="0" bIns="0" rtlCol="0" anchor="ctr"/>
          <a:lstStyle/>
          <a:p>
            <a:pPr marL="0" indent="0">
              <a:buNone/>
            </a:pPr>
            <a:r>
              <a:rPr lang="en-US" sz="1700" b="1" dirty="0">
                <a:solidFill>
                  <a:srgbClr val="F2A541"/>
                </a:solidFill>
                <a:latin typeface="Calibri" pitchFamily="34" charset="0"/>
                <a:ea typeface="Calibri" pitchFamily="34" charset="-122"/>
                <a:cs typeface="Calibri" pitchFamily="34" charset="-120"/>
              </a:rPr>
              <a:t>Tiger Data</a:t>
            </a:r>
            <a:endParaRPr lang="en-US" sz="1700" dirty="0"/>
          </a:p>
        </p:txBody>
      </p:sp>
      <p:sp>
        <p:nvSpPr>
          <p:cNvPr id="13" name="anim|3|wipe|with|"/>
          <p:cNvSpPr txBox="1"/>
          <p:nvPr/>
        </p:nvSpPr>
        <p:spPr>
          <a:xfrm>
            <a:off x="5212080" y="2423160"/>
            <a:ext cx="2286000" cy="2834640"/>
          </a:xfrm>
          <a:prstGeom prst="rect">
            <a:avLst/>
          </a:prstGeom>
          <a:noFill/>
          <a:ln/>
        </p:spPr>
        <p:txBody>
          <a:bodyPr wrap="square" lIns="0" tIns="0" rIns="0" bIns="0" rtlCol="0" anchor="t"/>
          <a:lstStyle/>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Hypertable of every reading</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Continuous aggregate scores each reading</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Jobs: alerts, compression, retention</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Triggers push live updates</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pgvector · PostGIS · Toolkit</a:t>
            </a:r>
            <a:endParaRPr lang="en-US" sz="1400" dirty="0"/>
          </a:p>
        </p:txBody>
      </p:sp>
      <p:sp>
        <p:nvSpPr>
          <p:cNvPr id="14" name="anim|3|wipe|with|"/>
          <p:cNvSpPr/>
          <p:nvPr/>
        </p:nvSpPr>
        <p:spPr>
          <a:xfrm>
            <a:off x="7671816" y="3419856"/>
            <a:ext cx="155448" cy="292608"/>
          </a:xfrm>
          <a:prstGeom prst="rightArrow">
            <a:avLst/>
          </a:prstGeom>
          <a:solidFill>
            <a:srgbClr val="B9C4BF"/>
          </a:solidFill>
          <a:ln/>
        </p:spPr>
      </p:sp>
      <p:sp>
        <p:nvSpPr>
          <p:cNvPr id="15" name="anim|4|wipe|click|"/>
          <p:cNvSpPr/>
          <p:nvPr/>
        </p:nvSpPr>
        <p:spPr>
          <a:xfrm>
            <a:off x="7863840" y="1691640"/>
            <a:ext cx="1828800" cy="3749040"/>
          </a:xfrm>
          <a:prstGeom prst="roundRect">
            <a:avLst>
              <a:gd name="adj" fmla="val 6000"/>
            </a:avLst>
          </a:prstGeom>
          <a:solidFill>
            <a:srgbClr val="2B2F31"/>
          </a:solidFill>
          <a:ln w="19050">
            <a:solidFill>
              <a:srgbClr val="A8D5C2"/>
            </a:solidFill>
            <a:prstDash val="solid"/>
          </a:ln>
        </p:spPr>
      </p:sp>
      <p:sp>
        <p:nvSpPr>
          <p:cNvPr id="16" name="anim|4|wipe|with|"/>
          <p:cNvSpPr txBox="1"/>
          <p:nvPr/>
        </p:nvSpPr>
        <p:spPr>
          <a:xfrm>
            <a:off x="8046720" y="1874520"/>
            <a:ext cx="1463040" cy="457200"/>
          </a:xfrm>
          <a:prstGeom prst="rect">
            <a:avLst/>
          </a:prstGeom>
          <a:noFill/>
          <a:ln/>
        </p:spPr>
        <p:txBody>
          <a:bodyPr wrap="square" lIns="0" tIns="0" rIns="0" bIns="0" rtlCol="0" anchor="ctr"/>
          <a:lstStyle/>
          <a:p>
            <a:pPr marL="0" indent="0">
              <a:buNone/>
            </a:pPr>
            <a:r>
              <a:rPr lang="en-US" sz="1700" b="1" dirty="0">
                <a:solidFill>
                  <a:srgbClr val="A8D5C2"/>
                </a:solidFill>
                <a:latin typeface="Calibri" pitchFamily="34" charset="0"/>
                <a:ea typeface="Calibri" pitchFamily="34" charset="-122"/>
                <a:cs typeface="Calibri" pitchFamily="34" charset="-120"/>
              </a:rPr>
              <a:t>The engine</a:t>
            </a:r>
            <a:endParaRPr lang="en-US" sz="1700" dirty="0"/>
          </a:p>
        </p:txBody>
      </p:sp>
      <p:sp>
        <p:nvSpPr>
          <p:cNvPr id="17" name="anim|4|wipe|with|"/>
          <p:cNvSpPr txBox="1"/>
          <p:nvPr/>
        </p:nvSpPr>
        <p:spPr>
          <a:xfrm>
            <a:off x="8046720" y="2423160"/>
            <a:ext cx="1508760" cy="2834640"/>
          </a:xfrm>
          <a:prstGeom prst="rect">
            <a:avLst/>
          </a:prstGeom>
          <a:noFill/>
          <a:ln/>
        </p:spPr>
        <p:txBody>
          <a:bodyPr wrap="square" lIns="0" tIns="0" rIns="0" bIns="0" rtlCol="0" anchor="t"/>
          <a:lstStyle/>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Budget left</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What used it</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What if you act</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Outage projection</a:t>
            </a:r>
            <a:endParaRPr lang="en-US" sz="1400" dirty="0"/>
          </a:p>
        </p:txBody>
      </p:sp>
      <p:sp>
        <p:nvSpPr>
          <p:cNvPr id="18" name="anim|4|wipe|with|"/>
          <p:cNvSpPr/>
          <p:nvPr/>
        </p:nvSpPr>
        <p:spPr>
          <a:xfrm>
            <a:off x="9729216" y="3419856"/>
            <a:ext cx="155448" cy="292608"/>
          </a:xfrm>
          <a:prstGeom prst="rightArrow">
            <a:avLst/>
          </a:prstGeom>
          <a:solidFill>
            <a:srgbClr val="B9C4BF"/>
          </a:solidFill>
          <a:ln/>
        </p:spPr>
      </p:sp>
      <p:sp>
        <p:nvSpPr>
          <p:cNvPr id="19" name="anim|5|wipe|click|"/>
          <p:cNvSpPr/>
          <p:nvPr/>
        </p:nvSpPr>
        <p:spPr>
          <a:xfrm>
            <a:off x="9921240" y="1691640"/>
            <a:ext cx="1691640" cy="3749040"/>
          </a:xfrm>
          <a:prstGeom prst="roundRect">
            <a:avLst>
              <a:gd name="adj" fmla="val 6486"/>
            </a:avLst>
          </a:prstGeom>
          <a:solidFill>
            <a:srgbClr val="2B2F31"/>
          </a:solidFill>
          <a:ln w="19050">
            <a:solidFill>
              <a:srgbClr val="9C8CE0"/>
            </a:solidFill>
            <a:prstDash val="solid"/>
          </a:ln>
        </p:spPr>
      </p:sp>
      <p:sp>
        <p:nvSpPr>
          <p:cNvPr id="20" name="anim|5|wipe|with|"/>
          <p:cNvSpPr txBox="1"/>
          <p:nvPr/>
        </p:nvSpPr>
        <p:spPr>
          <a:xfrm>
            <a:off x="10104120" y="1874520"/>
            <a:ext cx="1325880" cy="457200"/>
          </a:xfrm>
          <a:prstGeom prst="rect">
            <a:avLst/>
          </a:prstGeom>
          <a:noFill/>
          <a:ln/>
        </p:spPr>
        <p:txBody>
          <a:bodyPr wrap="square" lIns="0" tIns="0" rIns="0" bIns="0" rtlCol="0" anchor="ctr"/>
          <a:lstStyle/>
          <a:p>
            <a:pPr marL="0" indent="0">
              <a:buNone/>
            </a:pPr>
            <a:r>
              <a:rPr lang="en-US" sz="1700" b="1" dirty="0">
                <a:solidFill>
                  <a:srgbClr val="9C8CE0"/>
                </a:solidFill>
                <a:latin typeface="Calibri" pitchFamily="34" charset="0"/>
                <a:ea typeface="Calibri" pitchFamily="34" charset="-122"/>
                <a:cs typeface="Calibri" pitchFamily="34" charset="-120"/>
              </a:rPr>
              <a:t>You see</a:t>
            </a:r>
            <a:endParaRPr lang="en-US" sz="1700" dirty="0"/>
          </a:p>
        </p:txBody>
      </p:sp>
      <p:sp>
        <p:nvSpPr>
          <p:cNvPr id="21" name="anim|5|wipe|with|"/>
          <p:cNvSpPr txBox="1"/>
          <p:nvPr/>
        </p:nvSpPr>
        <p:spPr>
          <a:xfrm>
            <a:off x="10104120" y="2423160"/>
            <a:ext cx="1371600" cy="2834640"/>
          </a:xfrm>
          <a:prstGeom prst="rect">
            <a:avLst/>
          </a:prstGeom>
          <a:noFill/>
          <a:ln/>
        </p:spPr>
        <p:txBody>
          <a:bodyPr wrap="square" lIns="0" tIns="0" rIns="0" bIns="0" rtlCol="0" anchor="t"/>
          <a:lstStyle/>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Status + action</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Gemini advice that cites the label</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Rescue plan</a:t>
            </a:r>
            <a:endParaRPr lang="en-US" sz="1400" dirty="0"/>
          </a:p>
          <a:p>
            <a:pPr marL="0" indent="0">
              <a:spcAft>
                <a:spcPts val="900"/>
              </a:spcAft>
              <a:buNone/>
            </a:pPr>
            <a:r>
              <a:rPr lang="en-US" sz="1400" dirty="0">
                <a:solidFill>
                  <a:srgbClr val="F4F1EA"/>
                </a:solidFill>
                <a:latin typeface="Calibri" pitchFamily="34" charset="0"/>
                <a:ea typeface="Calibri" pitchFamily="34" charset="-122"/>
                <a:cs typeface="Calibri" pitchFamily="34" charset="-120"/>
              </a:rPr>
              <a:t>Refill letter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900">
        <p:fade/>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par>
                                <p:cTn id="42" presetID="22" presetClass="entr" presetSubtype="8"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par>
                                <p:cTn id="56" presetID="22" presetClass="entr" presetSubtype="8"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ipe(left)">
                                      <p:cBhvr>
                                        <p:cTn id="66" dur="500"/>
                                        <p:tgtEl>
                                          <p:spTgt spid="20"/>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wipe(left)">
                                      <p:cBhvr>
                                        <p:cTn id="6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2" grpId="0" animBg="1"/>
      <p:bldP spid="13" grpId="0" animBg="1"/>
      <p:bldP spid="16" grpId="0" animBg="1"/>
      <p:bldP spid="17"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When the power goes out, who runs out first?</a:t>
            </a:r>
            <a:endParaRPr lang="en-US" sz="3200" dirty="0"/>
          </a:p>
        </p:txBody>
      </p:sp>
      <p:sp>
        <p:nvSpPr>
          <p:cNvPr id="3" name="anim|1|fade|after|"/>
          <p:cNvSpPr/>
          <p:nvPr/>
        </p:nvSpPr>
        <p:spPr>
          <a:xfrm>
            <a:off x="493776" y="1316736"/>
            <a:ext cx="6876288" cy="4334256"/>
          </a:xfrm>
          <a:prstGeom prst="roundRect">
            <a:avLst>
              <a:gd name="adj" fmla="val 2532"/>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desk-rescue.png"/>
          <p:cNvPicPr>
            <a:picLocks noChangeAspect="1"/>
          </p:cNvPicPr>
          <p:nvPr/>
        </p:nvPicPr>
        <p:blipFill>
          <a:blip r:embed="rId3"/>
          <a:stretch>
            <a:fillRect/>
          </a:stretch>
        </p:blipFill>
        <p:spPr>
          <a:xfrm>
            <a:off x="548640" y="1371600"/>
            <a:ext cx="6766560" cy="4224528"/>
          </a:xfrm>
          <a:prstGeom prst="rect">
            <a:avLst/>
          </a:prstGeom>
        </p:spPr>
      </p:pic>
      <p:sp>
        <p:nvSpPr>
          <p:cNvPr id="5" name="anim|2|wipe|click|"/>
          <p:cNvSpPr/>
          <p:nvPr/>
        </p:nvSpPr>
        <p:spPr>
          <a:xfrm>
            <a:off x="7726680" y="1417320"/>
            <a:ext cx="640080" cy="640080"/>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7867498" y="1558138"/>
            <a:ext cx="358445" cy="358445"/>
          </a:xfrm>
          <a:prstGeom prst="rect">
            <a:avLst/>
          </a:prstGeom>
        </p:spPr>
      </p:pic>
      <p:sp>
        <p:nvSpPr>
          <p:cNvPr id="7" name="anim|2|wipe|with|"/>
          <p:cNvSpPr txBox="1"/>
          <p:nvPr/>
        </p:nvSpPr>
        <p:spPr>
          <a:xfrm>
            <a:off x="8503920" y="1417320"/>
            <a:ext cx="3200400" cy="54864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Finds everyone in the outage</a:t>
            </a:r>
            <a:endParaRPr lang="en-US" sz="1600" dirty="0"/>
          </a:p>
        </p:txBody>
      </p:sp>
      <p:sp>
        <p:nvSpPr>
          <p:cNvPr id="8" name="anim|2|wipe|with|"/>
          <p:cNvSpPr txBox="1"/>
          <p:nvPr/>
        </p:nvSpPr>
        <p:spPr>
          <a:xfrm>
            <a:off x="8503920" y="1984248"/>
            <a:ext cx="3200400" cy="64008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PostGIS checks each home against the outage polygon</a:t>
            </a:r>
            <a:endParaRPr lang="en-US" sz="1300" dirty="0"/>
          </a:p>
        </p:txBody>
      </p:sp>
      <p:sp>
        <p:nvSpPr>
          <p:cNvPr id="9" name="anim|3|wipe|click|"/>
          <p:cNvSpPr/>
          <p:nvPr/>
        </p:nvSpPr>
        <p:spPr>
          <a:xfrm>
            <a:off x="7726680" y="2743200"/>
            <a:ext cx="640080" cy="640080"/>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7867498" y="2884018"/>
            <a:ext cx="358445" cy="358445"/>
          </a:xfrm>
          <a:prstGeom prst="rect">
            <a:avLst/>
          </a:prstGeom>
        </p:spPr>
      </p:pic>
      <p:sp>
        <p:nvSpPr>
          <p:cNvPr id="11" name="anim|3|wipe|with|"/>
          <p:cNvSpPr txBox="1"/>
          <p:nvPr/>
        </p:nvSpPr>
        <p:spPr>
          <a:xfrm>
            <a:off x="8503920" y="2743200"/>
            <a:ext cx="3200400" cy="54864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Ranks by hours left</a:t>
            </a:r>
            <a:endParaRPr lang="en-US" sz="1600" dirty="0"/>
          </a:p>
        </p:txBody>
      </p:sp>
      <p:sp>
        <p:nvSpPr>
          <p:cNvPr id="12" name="anim|3|wipe|with|"/>
          <p:cNvSpPr txBox="1"/>
          <p:nvPr/>
        </p:nvSpPr>
        <p:spPr>
          <a:xfrm>
            <a:off x="8503920" y="3310128"/>
            <a:ext cx="3200400" cy="64008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Hours of medicine left vs. hours until power returns</a:t>
            </a:r>
            <a:endParaRPr lang="en-US" sz="1300" dirty="0"/>
          </a:p>
        </p:txBody>
      </p:sp>
      <p:sp>
        <p:nvSpPr>
          <p:cNvPr id="13" name="anim|4|wipe|click|"/>
          <p:cNvSpPr/>
          <p:nvPr/>
        </p:nvSpPr>
        <p:spPr>
          <a:xfrm>
            <a:off x="7726680" y="4069080"/>
            <a:ext cx="640080" cy="640080"/>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7867498" y="4209898"/>
            <a:ext cx="358445" cy="358445"/>
          </a:xfrm>
          <a:prstGeom prst="rect">
            <a:avLst/>
          </a:prstGeom>
        </p:spPr>
      </p:pic>
      <p:sp>
        <p:nvSpPr>
          <p:cNvPr id="15" name="anim|4|wipe|with|"/>
          <p:cNvSpPr txBox="1"/>
          <p:nvPr/>
        </p:nvSpPr>
        <p:spPr>
          <a:xfrm>
            <a:off x="8503920" y="4069080"/>
            <a:ext cx="3200400" cy="54864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Sends them to power</a:t>
            </a:r>
            <a:endParaRPr lang="en-US" sz="1600" dirty="0"/>
          </a:p>
        </p:txBody>
      </p:sp>
      <p:sp>
        <p:nvSpPr>
          <p:cNvPr id="16" name="anim|4|wipe|with|"/>
          <p:cNvSpPr txBox="1"/>
          <p:nvPr/>
        </p:nvSpPr>
        <p:spPr>
          <a:xfrm>
            <a:off x="8503920" y="4636008"/>
            <a:ext cx="3200400" cy="64008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Nearest pharmacy, cooling center or neighbor who can host it</a:t>
            </a:r>
            <a:endParaRPr lang="en-US" sz="1300" dirty="0"/>
          </a:p>
        </p:txBody>
      </p:sp>
      <p:sp>
        <p:nvSpPr>
          <p:cNvPr id="17" name="anim|5|fadedzoom|click|"/>
          <p:cNvSpPr/>
          <p:nvPr/>
        </p:nvSpPr>
        <p:spPr>
          <a:xfrm>
            <a:off x="7726680" y="5440680"/>
            <a:ext cx="3931920" cy="685800"/>
          </a:xfrm>
          <a:prstGeom prst="roundRect">
            <a:avLst>
              <a:gd name="adj" fmla="val 16000"/>
            </a:avLst>
          </a:prstGeom>
          <a:solidFill>
            <a:srgbClr val="3A2622"/>
          </a:solidFill>
          <a:ln w="9525">
            <a:solidFill>
              <a:srgbClr val="E2705D"/>
            </a:solidFill>
            <a:prstDash val="solid"/>
          </a:ln>
        </p:spPr>
      </p:sp>
      <p:sp>
        <p:nvSpPr>
          <p:cNvPr id="18" name="anim|5|fadedzoom|with|"/>
          <p:cNvSpPr txBox="1"/>
          <p:nvPr/>
        </p:nvSpPr>
        <p:spPr>
          <a:xfrm>
            <a:off x="7909560" y="5440680"/>
            <a:ext cx="3657600" cy="685800"/>
          </a:xfrm>
          <a:prstGeom prst="rect">
            <a:avLst/>
          </a:prstGeom>
          <a:noFill/>
          <a:ln/>
        </p:spPr>
        <p:txBody>
          <a:bodyPr wrap="square" lIns="0" tIns="0" rIns="0" bIns="0" rtlCol="0" anchor="ctr"/>
          <a:lstStyle/>
          <a:p>
            <a:pPr marL="0" indent="0">
              <a:buNone/>
            </a:pPr>
            <a:r>
              <a:rPr lang="en-US" sz="1400" b="1" dirty="0">
                <a:solidFill>
                  <a:srgbClr val="F4F1EA"/>
                </a:solidFill>
                <a:latin typeface="Calibri" pitchFamily="34" charset="0"/>
                <a:ea typeface="Calibri" pitchFamily="34" charset="-122"/>
                <a:cs typeface="Calibri" pitchFamily="34" charset="-120"/>
              </a:rPr>
              <a:t>Demo: your hot-car EpiPen lasts 2.8 h; power is back in 12 h</a:t>
            </a:r>
            <a:endParaRPr lang="en-US" sz="1400" dirty="0"/>
          </a:p>
        </p:txBody>
      </p:sp>
      <p:sp>
        <p:nvSpPr>
          <p:cNvPr id="19" name="anim|6|fade|click|"/>
          <p:cNvSpPr txBox="1"/>
          <p:nvPr/>
        </p:nvSpPr>
        <p:spPr>
          <a:xfrm>
            <a:off x="548640" y="5806440"/>
            <a:ext cx="6766560" cy="365760"/>
          </a:xfrm>
          <a:prstGeom prst="rect">
            <a:avLst/>
          </a:prstGeom>
          <a:noFill/>
          <a:ln/>
        </p:spPr>
        <p:txBody>
          <a:bodyPr wrap="square" lIns="0" tIns="0" rIns="0" bIns="0" rtlCol="0" anchor="ctr"/>
          <a:lstStyle/>
          <a:p>
            <a:pPr marL="0" indent="0">
              <a:buNone/>
            </a:pPr>
            <a:r>
              <a:rPr lang="en-US" sz="1300" i="1" dirty="0">
                <a:solidFill>
                  <a:srgbClr val="A8D5C2"/>
                </a:solidFill>
                <a:latin typeface="Calibri" pitchFamily="34" charset="0"/>
                <a:ea typeface="Calibri" pitchFamily="34" charset="-122"/>
                <a:cs typeface="Calibri" pitchFamily="34" charset="-120"/>
              </a:rPr>
              <a:t>Demo storm shown here; the next slide is the live DTE feed.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p:cTn id="58" dur="600" fill="hold"/>
                                        <p:tgtEl>
                                          <p:spTgt spid="17"/>
                                        </p:tgtEl>
                                        <p:attrNameLst>
                                          <p:attrName>ppt_w</p:attrName>
                                        </p:attrNameLst>
                                      </p:cBhvr>
                                      <p:tavLst>
                                        <p:tav tm="0">
                                          <p:val>
                                            <p:fltVal val="0"/>
                                          </p:val>
                                        </p:tav>
                                        <p:tav tm="100000">
                                          <p:val>
                                            <p:strVal val="#ppt_w"/>
                                          </p:val>
                                        </p:tav>
                                      </p:tavLst>
                                    </p:anim>
                                    <p:anim calcmode="lin" valueType="num">
                                      <p:cBhvr>
                                        <p:cTn id="59" dur="600" fill="hold"/>
                                        <p:tgtEl>
                                          <p:spTgt spid="17"/>
                                        </p:tgtEl>
                                        <p:attrNameLst>
                                          <p:attrName>ppt_h</p:attrName>
                                        </p:attrNameLst>
                                      </p:cBhvr>
                                      <p:tavLst>
                                        <p:tav tm="0">
                                          <p:val>
                                            <p:fltVal val="0"/>
                                          </p:val>
                                        </p:tav>
                                        <p:tav tm="100000">
                                          <p:val>
                                            <p:strVal val="#ppt_h"/>
                                          </p:val>
                                        </p:tav>
                                      </p:tavLst>
                                    </p:anim>
                                    <p:animEffect transition="in" filter="fade">
                                      <p:cBhvr>
                                        <p:cTn id="60" dur="600"/>
                                        <p:tgtEl>
                                          <p:spTgt spid="17"/>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p:cTn id="63" dur="600" fill="hold"/>
                                        <p:tgtEl>
                                          <p:spTgt spid="18"/>
                                        </p:tgtEl>
                                        <p:attrNameLst>
                                          <p:attrName>ppt_w</p:attrName>
                                        </p:attrNameLst>
                                      </p:cBhvr>
                                      <p:tavLst>
                                        <p:tav tm="0">
                                          <p:val>
                                            <p:fltVal val="0"/>
                                          </p:val>
                                        </p:tav>
                                        <p:tav tm="100000">
                                          <p:val>
                                            <p:strVal val="#ppt_w"/>
                                          </p:val>
                                        </p:tav>
                                      </p:tavLst>
                                    </p:anim>
                                    <p:anim calcmode="lin" valueType="num">
                                      <p:cBhvr>
                                        <p:cTn id="64" dur="600" fill="hold"/>
                                        <p:tgtEl>
                                          <p:spTgt spid="18"/>
                                        </p:tgtEl>
                                        <p:attrNameLst>
                                          <p:attrName>ppt_h</p:attrName>
                                        </p:attrNameLst>
                                      </p:cBhvr>
                                      <p:tavLst>
                                        <p:tav tm="0">
                                          <p:val>
                                            <p:fltVal val="0"/>
                                          </p:val>
                                        </p:tav>
                                        <p:tav tm="100000">
                                          <p:val>
                                            <p:strVal val="#ppt_h"/>
                                          </p:val>
                                        </p:tav>
                                      </p:tavLst>
                                    </p:anim>
                                    <p:animEffect transition="in" filter="fade">
                                      <p:cBhvr>
                                        <p:cTn id="65" dur="6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Private by design, checked by a pharmacist</a:t>
            </a:r>
            <a:endParaRPr lang="en-US" sz="3200" dirty="0"/>
          </a:p>
        </p:txBody>
      </p:sp>
      <p:sp>
        <p:nvSpPr>
          <p:cNvPr id="3" name="anim|1|fade|after|"/>
          <p:cNvSpPr/>
          <p:nvPr/>
        </p:nvSpPr>
        <p:spPr>
          <a:xfrm>
            <a:off x="493776" y="1316736"/>
            <a:ext cx="5961888" cy="3264408"/>
          </a:xfrm>
          <a:prstGeom prst="roundRect">
            <a:avLst>
              <a:gd name="adj" fmla="val 3361"/>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review.png"/>
          <p:cNvPicPr>
            <a:picLocks noChangeAspect="1"/>
          </p:cNvPicPr>
          <p:nvPr/>
        </p:nvPicPr>
        <p:blipFill>
          <a:blip r:embed="rId3"/>
          <a:stretch>
            <a:fillRect/>
          </a:stretch>
        </p:blipFill>
        <p:spPr>
          <a:xfrm>
            <a:off x="548640" y="1371600"/>
            <a:ext cx="5852160" cy="3154680"/>
          </a:xfrm>
          <a:prstGeom prst="rect">
            <a:avLst/>
          </a:prstGeom>
        </p:spPr>
      </p:pic>
      <p:sp>
        <p:nvSpPr>
          <p:cNvPr id="5" name="anim|2|wipe|click|"/>
          <p:cNvSpPr/>
          <p:nvPr/>
        </p:nvSpPr>
        <p:spPr>
          <a:xfrm>
            <a:off x="6766560" y="1417320"/>
            <a:ext cx="603504" cy="603504"/>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6899331" y="1550091"/>
            <a:ext cx="337962" cy="337962"/>
          </a:xfrm>
          <a:prstGeom prst="rect">
            <a:avLst/>
          </a:prstGeom>
        </p:spPr>
      </p:pic>
      <p:sp>
        <p:nvSpPr>
          <p:cNvPr id="7" name="anim|2|wipe|with|"/>
          <p:cNvSpPr txBox="1"/>
          <p:nvPr/>
        </p:nvSpPr>
        <p:spPr>
          <a:xfrm>
            <a:off x="7498080" y="1399032"/>
            <a:ext cx="420624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Your data, enforced by Postgres</a:t>
            </a:r>
            <a:endParaRPr lang="en-US" sz="1650" dirty="0"/>
          </a:p>
        </p:txBody>
      </p:sp>
      <p:sp>
        <p:nvSpPr>
          <p:cNvPr id="8" name="anim|2|wipe|with|"/>
          <p:cNvSpPr txBox="1"/>
          <p:nvPr/>
        </p:nvSpPr>
        <p:spPr>
          <a:xfrm>
            <a:off x="7498080" y="1764792"/>
            <a:ext cx="4206240" cy="7315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Row-level security: each signed-in person's queries only ever return their own medicines, doses and receipts</a:t>
            </a:r>
            <a:endParaRPr lang="en-US" sz="1300" dirty="0"/>
          </a:p>
        </p:txBody>
      </p:sp>
      <p:sp>
        <p:nvSpPr>
          <p:cNvPr id="9" name="anim|3|wipe|click|"/>
          <p:cNvSpPr/>
          <p:nvPr/>
        </p:nvSpPr>
        <p:spPr>
          <a:xfrm>
            <a:off x="6766560" y="2560320"/>
            <a:ext cx="603504" cy="603504"/>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6899331" y="2693091"/>
            <a:ext cx="337962" cy="337962"/>
          </a:xfrm>
          <a:prstGeom prst="rect">
            <a:avLst/>
          </a:prstGeom>
        </p:spPr>
      </p:pic>
      <p:sp>
        <p:nvSpPr>
          <p:cNvPr id="11" name="anim|3|wipe|with|"/>
          <p:cNvSpPr txBox="1"/>
          <p:nvPr/>
        </p:nvSpPr>
        <p:spPr>
          <a:xfrm>
            <a:off x="7498080" y="2542032"/>
            <a:ext cx="420624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Pharmacist sign-off</a:t>
            </a:r>
            <a:endParaRPr lang="en-US" sz="1650" dirty="0"/>
          </a:p>
        </p:txBody>
      </p:sp>
      <p:sp>
        <p:nvSpPr>
          <p:cNvPr id="12" name="anim|3|wipe|with|"/>
          <p:cNvSpPr txBox="1"/>
          <p:nvPr/>
        </p:nvSpPr>
        <p:spPr>
          <a:xfrm>
            <a:off x="7498080" y="2907792"/>
            <a:ext cx="4206240" cy="7315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Rules and the exact care-checklist wording are approved before patients see "reviewed"</a:t>
            </a:r>
            <a:endParaRPr lang="en-US" sz="1300" dirty="0"/>
          </a:p>
        </p:txBody>
      </p:sp>
      <p:sp>
        <p:nvSpPr>
          <p:cNvPr id="13" name="anim|4|wipe|click|"/>
          <p:cNvSpPr/>
          <p:nvPr/>
        </p:nvSpPr>
        <p:spPr>
          <a:xfrm>
            <a:off x="6766560" y="3703320"/>
            <a:ext cx="603504" cy="603504"/>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6899331" y="3836091"/>
            <a:ext cx="337962" cy="337962"/>
          </a:xfrm>
          <a:prstGeom prst="rect">
            <a:avLst/>
          </a:prstGeom>
        </p:spPr>
      </p:pic>
      <p:sp>
        <p:nvSpPr>
          <p:cNvPr id="15" name="anim|4|wipe|with|"/>
          <p:cNvSpPr txBox="1"/>
          <p:nvPr/>
        </p:nvSpPr>
        <p:spPr>
          <a:xfrm>
            <a:off x="7498080" y="3685032"/>
            <a:ext cx="420624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Evidence replaces assumptions</a:t>
            </a:r>
            <a:endParaRPr lang="en-US" sz="1650" dirty="0"/>
          </a:p>
        </p:txBody>
      </p:sp>
      <p:sp>
        <p:nvSpPr>
          <p:cNvPr id="16" name="anim|4|wipe|with|"/>
          <p:cNvSpPr txBox="1"/>
          <p:nvPr/>
        </p:nvSpPr>
        <p:spPr>
          <a:xfrm>
            <a:off x="7498080" y="4050792"/>
            <a:ext cx="4206240" cy="7315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Cited studies for EpiPen, Lantus, NovoLog and Humalog, e.g. EpiPen 8 h → 10,752 h (Grant 1994)</a:t>
            </a:r>
            <a:endParaRPr lang="en-US" sz="1300" dirty="0"/>
          </a:p>
        </p:txBody>
      </p:sp>
      <p:sp>
        <p:nvSpPr>
          <p:cNvPr id="17" name="anim|5|wipe|click|"/>
          <p:cNvSpPr/>
          <p:nvPr/>
        </p:nvSpPr>
        <p:spPr>
          <a:xfrm>
            <a:off x="6766560" y="4846320"/>
            <a:ext cx="603504" cy="603504"/>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6899331" y="4979091"/>
            <a:ext cx="337962" cy="337962"/>
          </a:xfrm>
          <a:prstGeom prst="rect">
            <a:avLst/>
          </a:prstGeom>
        </p:spPr>
      </p:pic>
      <p:sp>
        <p:nvSpPr>
          <p:cNvPr id="19" name="anim|5|wipe|with|"/>
          <p:cNvSpPr txBox="1"/>
          <p:nvPr/>
        </p:nvSpPr>
        <p:spPr>
          <a:xfrm>
            <a:off x="7498080" y="4828032"/>
            <a:ext cx="420624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Approve → history recalculated</a:t>
            </a:r>
            <a:endParaRPr lang="en-US" sz="1650" dirty="0"/>
          </a:p>
        </p:txBody>
      </p:sp>
      <p:sp>
        <p:nvSpPr>
          <p:cNvPr id="20" name="anim|5|wipe|with|"/>
          <p:cNvSpPr txBox="1"/>
          <p:nvPr/>
        </p:nvSpPr>
        <p:spPr>
          <a:xfrm>
            <a:off x="7498080" y="5193792"/>
            <a:ext cx="4206240" cy="7315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Tiger Data refreshes every rollup; every decision is logged and shown on receipts</a:t>
            </a:r>
            <a:endParaRPr lang="en-US" sz="1300" dirty="0"/>
          </a:p>
        </p:txBody>
      </p:sp>
      <p:sp>
        <p:nvSpPr>
          <p:cNvPr id="21" name="anim|6|fade|click|"/>
          <p:cNvSpPr/>
          <p:nvPr/>
        </p:nvSpPr>
        <p:spPr>
          <a:xfrm>
            <a:off x="548640" y="4846320"/>
            <a:ext cx="5852160" cy="1234440"/>
          </a:xfrm>
          <a:prstGeom prst="roundRect">
            <a:avLst>
              <a:gd name="adj" fmla="val 8889"/>
            </a:avLst>
          </a:prstGeom>
          <a:solidFill>
            <a:srgbClr val="23352F"/>
          </a:solidFill>
          <a:ln w="9525">
            <a:solidFill>
              <a:srgbClr val="6FA391"/>
            </a:solidFill>
            <a:prstDash val="solid"/>
          </a:ln>
        </p:spPr>
      </p:sp>
      <p:sp>
        <p:nvSpPr>
          <p:cNvPr id="22" name="anim|6|fade|with|"/>
          <p:cNvSpPr txBox="1"/>
          <p:nvPr/>
        </p:nvSpPr>
        <p:spPr>
          <a:xfrm>
            <a:off x="777240" y="4846320"/>
            <a:ext cx="5440680" cy="123444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No number changes until a pharmacist approves it, and every derivation is shown, including our doubling-per-10°C rule.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Care that reaches the whole family</a:t>
            </a:r>
            <a:endParaRPr lang="en-US" sz="3200" dirty="0"/>
          </a:p>
        </p:txBody>
      </p:sp>
      <p:sp>
        <p:nvSpPr>
          <p:cNvPr id="3" name="anim|1|fade|after|"/>
          <p:cNvSpPr/>
          <p:nvPr/>
        </p:nvSpPr>
        <p:spPr>
          <a:xfrm>
            <a:off x="493776" y="1316736"/>
            <a:ext cx="4956048" cy="2194560"/>
          </a:xfrm>
          <a:prstGeom prst="roundRect">
            <a:avLst>
              <a:gd name="adj" fmla="val 5000"/>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family.png"/>
          <p:cNvPicPr>
            <a:picLocks noChangeAspect="1"/>
          </p:cNvPicPr>
          <p:nvPr/>
        </p:nvPicPr>
        <p:blipFill>
          <a:blip r:embed="rId3"/>
          <a:stretch>
            <a:fillRect/>
          </a:stretch>
        </p:blipFill>
        <p:spPr>
          <a:xfrm>
            <a:off x="548640" y="1371600"/>
            <a:ext cx="4846320" cy="2084832"/>
          </a:xfrm>
          <a:prstGeom prst="rect">
            <a:avLst/>
          </a:prstGeom>
        </p:spPr>
      </p:pic>
      <p:sp>
        <p:nvSpPr>
          <p:cNvPr id="5" name="anim|2|rise|click|"/>
          <p:cNvSpPr/>
          <p:nvPr/>
        </p:nvSpPr>
        <p:spPr>
          <a:xfrm>
            <a:off x="493776" y="3648456"/>
            <a:ext cx="4956048" cy="768096"/>
          </a:xfrm>
          <a:prstGeom prst="roundRect">
            <a:avLst>
              <a:gd name="adj" fmla="val 14286"/>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6" name="anim|2|rise|click|" descr="C:\Users\manog\AppData\Local\Temp\claude\D--HackDearborn5\a0a981a9-7044-4bcc-95cc-4043289afdb4\scratchpad\deck\crop-coming.png"/>
          <p:cNvPicPr>
            <a:picLocks noChangeAspect="1"/>
          </p:cNvPicPr>
          <p:nvPr/>
        </p:nvPicPr>
        <p:blipFill>
          <a:blip r:embed="rId4"/>
          <a:stretch>
            <a:fillRect/>
          </a:stretch>
        </p:blipFill>
        <p:spPr>
          <a:xfrm>
            <a:off x="548640" y="3703320"/>
            <a:ext cx="4846320" cy="658368"/>
          </a:xfrm>
          <a:prstGeom prst="rect">
            <a:avLst/>
          </a:prstGeom>
        </p:spPr>
      </p:pic>
      <p:sp>
        <p:nvSpPr>
          <p:cNvPr id="7" name="anim|2|rise|with|"/>
          <p:cNvSpPr/>
          <p:nvPr/>
        </p:nvSpPr>
        <p:spPr>
          <a:xfrm>
            <a:off x="548640" y="4663440"/>
            <a:ext cx="4846320" cy="1371600"/>
          </a:xfrm>
          <a:prstGeom prst="roundRect">
            <a:avLst>
              <a:gd name="adj" fmla="val 8000"/>
            </a:avLst>
          </a:prstGeom>
          <a:solidFill>
            <a:srgbClr val="23352F"/>
          </a:solidFill>
          <a:ln w="9525">
            <a:solidFill>
              <a:srgbClr val="6FA391"/>
            </a:solidFill>
            <a:prstDash val="solid"/>
          </a:ln>
        </p:spPr>
      </p:sp>
      <p:sp>
        <p:nvSpPr>
          <p:cNvPr id="8" name="anim|2|rise|with|"/>
          <p:cNvSpPr txBox="1"/>
          <p:nvPr/>
        </p:nvSpPr>
        <p:spPr>
          <a:xfrm>
            <a:off x="777240" y="4663440"/>
            <a:ext cx="4389120" cy="137160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Share links and receipt QR codes open on any phone, on any network.</a:t>
            </a:r>
            <a:endParaRPr lang="en-US" sz="1500" dirty="0"/>
          </a:p>
        </p:txBody>
      </p:sp>
      <p:sp>
        <p:nvSpPr>
          <p:cNvPr id="9" name="anim|3|wipe|click|"/>
          <p:cNvSpPr/>
          <p:nvPr/>
        </p:nvSpPr>
        <p:spPr>
          <a:xfrm>
            <a:off x="5760720" y="1417320"/>
            <a:ext cx="603504" cy="603504"/>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5893491" y="1550091"/>
            <a:ext cx="337962" cy="337962"/>
          </a:xfrm>
          <a:prstGeom prst="rect">
            <a:avLst/>
          </a:prstGeom>
        </p:spPr>
      </p:pic>
      <p:sp>
        <p:nvSpPr>
          <p:cNvPr id="11" name="anim|3|wipe|with|"/>
          <p:cNvSpPr txBox="1"/>
          <p:nvPr/>
        </p:nvSpPr>
        <p:spPr>
          <a:xfrm>
            <a:off x="6492240" y="1399032"/>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People I care for</a:t>
            </a:r>
            <a:endParaRPr lang="en-US" sz="1700" dirty="0"/>
          </a:p>
        </p:txBody>
      </p:sp>
      <p:sp>
        <p:nvSpPr>
          <p:cNvPr id="12" name="anim|3|wipe|with|"/>
          <p:cNvSpPr txBox="1"/>
          <p:nvPr/>
        </p:nvSpPr>
        <p:spPr>
          <a:xfrm>
            <a:off x="6492240" y="1783080"/>
            <a:ext cx="5212080" cy="68580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A caregiver sees each person's medicines and open alerts next to their own</a:t>
            </a:r>
            <a:endParaRPr lang="en-US" sz="1350" dirty="0"/>
          </a:p>
        </p:txBody>
      </p:sp>
      <p:sp>
        <p:nvSpPr>
          <p:cNvPr id="13" name="anim|4|wipe|click|"/>
          <p:cNvSpPr/>
          <p:nvPr/>
        </p:nvSpPr>
        <p:spPr>
          <a:xfrm>
            <a:off x="5760720" y="2587752"/>
            <a:ext cx="603504" cy="603504"/>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5893491" y="2720523"/>
            <a:ext cx="337962" cy="337962"/>
          </a:xfrm>
          <a:prstGeom prst="rect">
            <a:avLst/>
          </a:prstGeom>
        </p:spPr>
      </p:pic>
      <p:sp>
        <p:nvSpPr>
          <p:cNvPr id="15" name="anim|4|wipe|with|"/>
          <p:cNvSpPr txBox="1"/>
          <p:nvPr/>
        </p:nvSpPr>
        <p:spPr>
          <a:xfrm>
            <a:off x="6492240" y="2569464"/>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Refill reminders</a:t>
            </a:r>
            <a:endParaRPr lang="en-US" sz="1700" dirty="0"/>
          </a:p>
        </p:txBody>
      </p:sp>
      <p:sp>
        <p:nvSpPr>
          <p:cNvPr id="16" name="anim|4|wipe|with|"/>
          <p:cNvSpPr txBox="1"/>
          <p:nvPr/>
        </p:nvSpPr>
        <p:spPr>
          <a:xfrm>
            <a:off x="6492240" y="2953512"/>
            <a:ext cx="5212080" cy="68580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A "Coming up" list of use-by dates, with a refill letter drafted in one click</a:t>
            </a:r>
            <a:endParaRPr lang="en-US" sz="1350" dirty="0"/>
          </a:p>
        </p:txBody>
      </p:sp>
      <p:sp>
        <p:nvSpPr>
          <p:cNvPr id="17" name="anim|5|wipe|click|"/>
          <p:cNvSpPr/>
          <p:nvPr/>
        </p:nvSpPr>
        <p:spPr>
          <a:xfrm>
            <a:off x="5760720" y="3758184"/>
            <a:ext cx="603504" cy="603504"/>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5893491" y="3890955"/>
            <a:ext cx="337962" cy="337962"/>
          </a:xfrm>
          <a:prstGeom prst="rect">
            <a:avLst/>
          </a:prstGeom>
        </p:spPr>
      </p:pic>
      <p:sp>
        <p:nvSpPr>
          <p:cNvPr id="19" name="anim|5|wipe|with|"/>
          <p:cNvSpPr txBox="1"/>
          <p:nvPr/>
        </p:nvSpPr>
        <p:spPr>
          <a:xfrm>
            <a:off x="6492240" y="3739896"/>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Alerts on every screen</a:t>
            </a:r>
            <a:endParaRPr lang="en-US" sz="1700" dirty="0"/>
          </a:p>
        </p:txBody>
      </p:sp>
      <p:sp>
        <p:nvSpPr>
          <p:cNvPr id="20" name="anim|5|wipe|with|"/>
          <p:cNvSpPr txBox="1"/>
          <p:nvPr/>
        </p:nvSpPr>
        <p:spPr>
          <a:xfrm>
            <a:off x="6492240" y="4123944"/>
            <a:ext cx="5212080" cy="68580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Live in the app and as phone or desktop notifications, the moment the database raises them</a:t>
            </a:r>
            <a:endParaRPr lang="en-US" sz="1350" dirty="0"/>
          </a:p>
        </p:txBody>
      </p:sp>
      <p:sp>
        <p:nvSpPr>
          <p:cNvPr id="21" name="anim|6|wipe|click|"/>
          <p:cNvSpPr/>
          <p:nvPr/>
        </p:nvSpPr>
        <p:spPr>
          <a:xfrm>
            <a:off x="5760720" y="4928616"/>
            <a:ext cx="603504" cy="603504"/>
          </a:xfrm>
          <a:prstGeom prst="ellipse">
            <a:avLst/>
          </a:prstGeom>
          <a:solidFill>
            <a:srgbClr val="343A3C"/>
          </a:solidFill>
          <a:ln/>
        </p:spPr>
      </p:sp>
      <p:pic>
        <p:nvPicPr>
          <p:cNvPr id="22" name="anim|6|wipe|click|" descr="preencoded.png"/>
          <p:cNvPicPr>
            <a:picLocks noChangeAspect="1"/>
          </p:cNvPicPr>
          <p:nvPr/>
        </p:nvPicPr>
        <p:blipFill>
          <a:blip r:embed="rId8"/>
          <a:stretch>
            <a:fillRect/>
          </a:stretch>
        </p:blipFill>
        <p:spPr>
          <a:xfrm>
            <a:off x="5893491" y="5061387"/>
            <a:ext cx="337962" cy="337962"/>
          </a:xfrm>
          <a:prstGeom prst="rect">
            <a:avLst/>
          </a:prstGeom>
        </p:spPr>
      </p:pic>
      <p:sp>
        <p:nvSpPr>
          <p:cNvPr id="23" name="anim|6|wipe|with|"/>
          <p:cNvSpPr txBox="1"/>
          <p:nvPr/>
        </p:nvSpPr>
        <p:spPr>
          <a:xfrm>
            <a:off x="6492240" y="4910328"/>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"My power is out"</a:t>
            </a:r>
            <a:endParaRPr lang="en-US" sz="1700" dirty="0"/>
          </a:p>
        </p:txBody>
      </p:sp>
      <p:sp>
        <p:nvSpPr>
          <p:cNvPr id="24" name="anim|6|wipe|with|"/>
          <p:cNvSpPr txBox="1"/>
          <p:nvPr/>
        </p:nvSpPr>
        <p:spPr>
          <a:xfrm>
            <a:off x="6492240" y="5294376"/>
            <a:ext cx="5212080" cy="68580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One tap turns a ZIP-level utility report into a plan for your own fridge</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450" decel="100000" fill="hold"/>
                                        <p:tgtEl>
                                          <p:spTgt spid="5"/>
                                        </p:tgtEl>
                                        <p:attrNameLst>
                                          <p:attrName>ppt_y</p:attrName>
                                        </p:attrNameLst>
                                      </p:cBhvr>
                                      <p:tavLst>
                                        <p:tav tm="0">
                                          <p:val>
                                            <p:strVal val="#ppt_y+1"/>
                                          </p:val>
                                        </p:tav>
                                        <p:tav tm="100000">
                                          <p:val>
                                            <p:strVal val="#ppt_y-.03"/>
                                          </p:val>
                                        </p:tav>
                                      </p:tavLst>
                                    </p:anim>
                                    <p:anim calcmode="lin" valueType="num">
                                      <p:cBhvr>
                                        <p:cTn id="19"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fill="hold"/>
                                        <p:tgtEl>
                                          <p:spTgt spid="6"/>
                                        </p:tgtEl>
                                        <p:attrNameLst>
                                          <p:attrName>ppt_x</p:attrName>
                                        </p:attrNameLst>
                                      </p:cBhvr>
                                      <p:tavLst>
                                        <p:tav tm="0">
                                          <p:val>
                                            <p:strVal val="#ppt_x"/>
                                          </p:val>
                                        </p:tav>
                                        <p:tav tm="100000">
                                          <p:val>
                                            <p:strVal val="#ppt_x"/>
                                          </p:val>
                                        </p:tav>
                                      </p:tavLst>
                                    </p:anim>
                                    <p:anim calcmode="lin" valueType="num">
                                      <p:cBhvr>
                                        <p:cTn id="24" dur="450" decel="100000" fill="hold"/>
                                        <p:tgtEl>
                                          <p:spTgt spid="6"/>
                                        </p:tgtEl>
                                        <p:attrNameLst>
                                          <p:attrName>ppt_y</p:attrName>
                                        </p:attrNameLst>
                                      </p:cBhvr>
                                      <p:tavLst>
                                        <p:tav tm="0">
                                          <p:val>
                                            <p:strVal val="#ppt_y+1"/>
                                          </p:val>
                                        </p:tav>
                                        <p:tav tm="100000">
                                          <p:val>
                                            <p:strVal val="#ppt_y-.03"/>
                                          </p:val>
                                        </p:tav>
                                      </p:tavLst>
                                    </p:anim>
                                    <p:anim calcmode="lin" valueType="num">
                                      <p:cBhvr>
                                        <p:cTn id="25"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fill="hold"/>
                                        <p:tgtEl>
                                          <p:spTgt spid="7"/>
                                        </p:tgtEl>
                                        <p:attrNameLst>
                                          <p:attrName>ppt_x</p:attrName>
                                        </p:attrNameLst>
                                      </p:cBhvr>
                                      <p:tavLst>
                                        <p:tav tm="0">
                                          <p:val>
                                            <p:strVal val="#ppt_x"/>
                                          </p:val>
                                        </p:tav>
                                        <p:tav tm="100000">
                                          <p:val>
                                            <p:strVal val="#ppt_x"/>
                                          </p:val>
                                        </p:tav>
                                      </p:tavLst>
                                    </p:anim>
                                    <p:anim calcmode="lin" valueType="num">
                                      <p:cBhvr>
                                        <p:cTn id="30" dur="450" decel="100000" fill="hold"/>
                                        <p:tgtEl>
                                          <p:spTgt spid="7"/>
                                        </p:tgtEl>
                                        <p:attrNameLst>
                                          <p:attrName>ppt_y</p:attrName>
                                        </p:attrNameLst>
                                      </p:cBhvr>
                                      <p:tavLst>
                                        <p:tav tm="0">
                                          <p:val>
                                            <p:strVal val="#ppt_y+1"/>
                                          </p:val>
                                        </p:tav>
                                        <p:tav tm="100000">
                                          <p:val>
                                            <p:strVal val="#ppt_y-.03"/>
                                          </p:val>
                                        </p:tav>
                                      </p:tavLst>
                                    </p:anim>
                                    <p:anim calcmode="lin" valueType="num">
                                      <p:cBhvr>
                                        <p:cTn id="31"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fill="hold"/>
                                        <p:tgtEl>
                                          <p:spTgt spid="8"/>
                                        </p:tgtEl>
                                        <p:attrNameLst>
                                          <p:attrName>ppt_x</p:attrName>
                                        </p:attrNameLst>
                                      </p:cBhvr>
                                      <p:tavLst>
                                        <p:tav tm="0">
                                          <p:val>
                                            <p:strVal val="#ppt_x"/>
                                          </p:val>
                                        </p:tav>
                                        <p:tav tm="100000">
                                          <p:val>
                                            <p:strVal val="#ppt_x"/>
                                          </p:val>
                                        </p:tav>
                                      </p:tavLst>
                                    </p:anim>
                                    <p:anim calcmode="lin" valueType="num">
                                      <p:cBhvr>
                                        <p:cTn id="36" dur="450" decel="100000" fill="hold"/>
                                        <p:tgtEl>
                                          <p:spTgt spid="8"/>
                                        </p:tgtEl>
                                        <p:attrNameLst>
                                          <p:attrName>ppt_y</p:attrName>
                                        </p:attrNameLst>
                                      </p:cBhvr>
                                      <p:tavLst>
                                        <p:tav tm="0">
                                          <p:val>
                                            <p:strVal val="#ppt_y+1"/>
                                          </p:val>
                                        </p:tav>
                                        <p:tav tm="100000">
                                          <p:val>
                                            <p:strVal val="#ppt_y-.03"/>
                                          </p:val>
                                        </p:tav>
                                      </p:tavLst>
                                    </p:anim>
                                    <p:anim calcmode="lin" valueType="num">
                                      <p:cBhvr>
                                        <p:cTn id="37"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par>
                                <p:cTn id="43" presetID="22" presetClass="entr" presetSubtype="8"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left)">
                                      <p:cBhvr>
                                        <p:cTn id="56" dur="500"/>
                                        <p:tgtEl>
                                          <p:spTgt spid="13"/>
                                        </p:tgtEl>
                                      </p:cBhvr>
                                    </p:animEffect>
                                  </p:childTnLst>
                                </p:cTn>
                              </p:par>
                              <p:par>
                                <p:cTn id="57" presetID="22" presetClass="entr" presetSubtype="8"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wipe(left)">
                                      <p:cBhvr>
                                        <p:cTn id="65" dur="5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par>
                                <p:cTn id="71" presetID="22" presetClass="entr" presetSubtype="8" fill="hold"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ipe(left)">
                                      <p:cBhvr>
                                        <p:cTn id="76" dur="500"/>
                                        <p:tgtEl>
                                          <p:spTgt spid="19"/>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left)">
                                      <p:cBhvr>
                                        <p:cTn id="79" dur="500"/>
                                        <p:tgtEl>
                                          <p:spTgt spid="2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wipe(left)">
                                      <p:cBhvr>
                                        <p:cTn id="84" dur="500"/>
                                        <p:tgtEl>
                                          <p:spTgt spid="21"/>
                                        </p:tgtEl>
                                      </p:cBhvr>
                                    </p:animEffect>
                                  </p:childTnLst>
                                </p:cTn>
                              </p:par>
                              <p:par>
                                <p:cTn id="85" presetID="22" presetClass="entr" presetSubtype="8"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left)">
                                      <p:cBhvr>
                                        <p:cTn id="87" dur="500"/>
                                        <p:tgtEl>
                                          <p:spTgt spid="22"/>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wipe(left)">
                                      <p:cBhvr>
                                        <p:cTn id="90" dur="500"/>
                                        <p:tgtEl>
                                          <p:spTgt spid="23"/>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wipe(left)">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5" grpId="0" animBg="1"/>
      <p:bldP spid="16" grpId="0" animBg="1"/>
      <p:bldP spid="19" grpId="0" animBg="1"/>
      <p:bldP spid="20"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Who pays, and why</a:t>
            </a:r>
            <a:endParaRPr lang="en-US" sz="3200" dirty="0"/>
          </a:p>
        </p:txBody>
      </p:sp>
      <p:sp>
        <p:nvSpPr>
          <p:cNvPr id="3" name="anim|1|rise|click|"/>
          <p:cNvSpPr/>
          <p:nvPr/>
        </p:nvSpPr>
        <p:spPr>
          <a:xfrm>
            <a:off x="548640" y="1417320"/>
            <a:ext cx="2606040" cy="3657600"/>
          </a:xfrm>
          <a:prstGeom prst="roundRect">
            <a:avLst>
              <a:gd name="adj" fmla="val 4211"/>
            </a:avLst>
          </a:prstGeom>
          <a:solidFill>
            <a:srgbClr val="2B2F31"/>
          </a:solidFill>
          <a:ln w="9525">
            <a:solidFill>
              <a:srgbClr val="45504C"/>
            </a:solidFill>
            <a:prstDash val="solid"/>
          </a:ln>
        </p:spPr>
      </p:sp>
      <p:sp>
        <p:nvSpPr>
          <p:cNvPr id="4" name="anim|1|rise|with|"/>
          <p:cNvSpPr/>
          <p:nvPr/>
        </p:nvSpPr>
        <p:spPr>
          <a:xfrm>
            <a:off x="777240" y="1645920"/>
            <a:ext cx="640080" cy="640080"/>
          </a:xfrm>
          <a:prstGeom prst="ellipse">
            <a:avLst/>
          </a:prstGeom>
          <a:solidFill>
            <a:srgbClr val="343A3C"/>
          </a:solidFill>
          <a:ln/>
        </p:spPr>
      </p:sp>
      <p:pic>
        <p:nvPicPr>
          <p:cNvPr id="5" name="anim|1|rise|with|" descr="preencoded.png"/>
          <p:cNvPicPr>
            <a:picLocks noChangeAspect="1"/>
          </p:cNvPicPr>
          <p:nvPr/>
        </p:nvPicPr>
        <p:blipFill>
          <a:blip r:embed="rId4"/>
          <a:stretch>
            <a:fillRect/>
          </a:stretch>
        </p:blipFill>
        <p:spPr>
          <a:xfrm>
            <a:off x="918058" y="1786738"/>
            <a:ext cx="358445" cy="358445"/>
          </a:xfrm>
          <a:prstGeom prst="rect">
            <a:avLst/>
          </a:prstGeom>
        </p:spPr>
      </p:pic>
      <p:sp>
        <p:nvSpPr>
          <p:cNvPr id="6" name="anim|1|rise|with|"/>
          <p:cNvSpPr txBox="1"/>
          <p:nvPr/>
        </p:nvSpPr>
        <p:spPr>
          <a:xfrm>
            <a:off x="777240" y="2423160"/>
            <a:ext cx="2194560" cy="64008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Patients and caregivers</a:t>
            </a:r>
            <a:endParaRPr lang="en-US" sz="1600" dirty="0"/>
          </a:p>
        </p:txBody>
      </p:sp>
      <p:sp>
        <p:nvSpPr>
          <p:cNvPr id="7" name="anim|1|rise|with|"/>
          <p:cNvSpPr txBox="1"/>
          <p:nvPr/>
        </p:nvSpPr>
        <p:spPr>
          <a:xfrm>
            <a:off x="777240" y="3063240"/>
            <a:ext cx="2194560" cy="457200"/>
          </a:xfrm>
          <a:prstGeom prst="rect">
            <a:avLst/>
          </a:prstGeom>
          <a:noFill/>
          <a:ln/>
        </p:spPr>
        <p:txBody>
          <a:bodyPr wrap="square" lIns="0" tIns="0" rIns="0" bIns="0" rtlCol="0" anchor="t"/>
          <a:lstStyle/>
          <a:p>
            <a:pPr marL="0" indent="0">
              <a:buNone/>
            </a:pPr>
            <a:r>
              <a:rPr lang="en-US" sz="1400" b="1" dirty="0">
                <a:solidFill>
                  <a:srgbClr val="A8D5C2"/>
                </a:solidFill>
                <a:latin typeface="Calibri" pitchFamily="34" charset="0"/>
                <a:ea typeface="Calibri" pitchFamily="34" charset="-122"/>
                <a:cs typeface="Calibri" pitchFamily="34" charset="-120"/>
              </a:rPr>
              <a:t>Free</a:t>
            </a:r>
            <a:endParaRPr lang="en-US" sz="1400" dirty="0"/>
          </a:p>
        </p:txBody>
      </p:sp>
      <p:sp>
        <p:nvSpPr>
          <p:cNvPr id="8" name="anim|1|rise|with|"/>
          <p:cNvSpPr txBox="1"/>
          <p:nvPr/>
        </p:nvSpPr>
        <p:spPr>
          <a:xfrm>
            <a:off x="777240" y="3611880"/>
            <a:ext cx="2194560" cy="1371600"/>
          </a:xfrm>
          <a:prstGeom prst="rect">
            <a:avLst/>
          </a:prstGeom>
          <a:noFill/>
          <a:ln/>
        </p:spPr>
        <p:txBody>
          <a:bodyPr wrap="square" lIns="0" tIns="0" rIns="0" bIns="0" rtlCol="0" anchor="t"/>
          <a:lstStyle/>
          <a:p>
            <a:pPr marL="0" indent="0">
              <a:buNone/>
            </a:pPr>
            <a:r>
              <a:rPr lang="en-US" sz="1250" dirty="0">
                <a:solidFill>
                  <a:srgbClr val="B9C4BF"/>
                </a:solidFill>
                <a:latin typeface="Calibri" pitchFamily="34" charset="0"/>
                <a:ea typeface="Calibri" pitchFamily="34" charset="-122"/>
                <a:cs typeface="Calibri" pitchFamily="34" charset="-120"/>
              </a:rPr>
              <a:t>The app, reminders and the caregiver view. They bring the data and the network.</a:t>
            </a:r>
            <a:endParaRPr lang="en-US" sz="1250" dirty="0"/>
          </a:p>
        </p:txBody>
      </p:sp>
      <p:sp>
        <p:nvSpPr>
          <p:cNvPr id="9" name="anim|2|rise|click|"/>
          <p:cNvSpPr/>
          <p:nvPr/>
        </p:nvSpPr>
        <p:spPr>
          <a:xfrm>
            <a:off x="3364992" y="1417320"/>
            <a:ext cx="2606040" cy="3657600"/>
          </a:xfrm>
          <a:prstGeom prst="roundRect">
            <a:avLst>
              <a:gd name="adj" fmla="val 4211"/>
            </a:avLst>
          </a:prstGeom>
          <a:solidFill>
            <a:srgbClr val="2B2F31"/>
          </a:solidFill>
          <a:ln w="9525">
            <a:solidFill>
              <a:srgbClr val="45504C"/>
            </a:solidFill>
            <a:prstDash val="solid"/>
          </a:ln>
        </p:spPr>
      </p:sp>
      <p:sp>
        <p:nvSpPr>
          <p:cNvPr id="10" name="anim|2|rise|with|"/>
          <p:cNvSpPr/>
          <p:nvPr/>
        </p:nvSpPr>
        <p:spPr>
          <a:xfrm>
            <a:off x="3593592" y="1645920"/>
            <a:ext cx="640080" cy="640080"/>
          </a:xfrm>
          <a:prstGeom prst="ellipse">
            <a:avLst/>
          </a:prstGeom>
          <a:solidFill>
            <a:srgbClr val="343A3C"/>
          </a:solidFill>
          <a:ln/>
        </p:spPr>
      </p:sp>
      <p:pic>
        <p:nvPicPr>
          <p:cNvPr id="11" name="anim|2|rise|with|" descr="preencoded.png"/>
          <p:cNvPicPr>
            <a:picLocks noChangeAspect="1"/>
          </p:cNvPicPr>
          <p:nvPr/>
        </p:nvPicPr>
        <p:blipFill>
          <a:blip r:embed="rId5"/>
          <a:stretch>
            <a:fillRect/>
          </a:stretch>
        </p:blipFill>
        <p:spPr>
          <a:xfrm>
            <a:off x="3734410" y="1786738"/>
            <a:ext cx="358445" cy="358445"/>
          </a:xfrm>
          <a:prstGeom prst="rect">
            <a:avLst/>
          </a:prstGeom>
        </p:spPr>
      </p:pic>
      <p:sp>
        <p:nvSpPr>
          <p:cNvPr id="12" name="anim|2|rise|with|"/>
          <p:cNvSpPr txBox="1"/>
          <p:nvPr/>
        </p:nvSpPr>
        <p:spPr>
          <a:xfrm>
            <a:off x="3593592" y="2423160"/>
            <a:ext cx="2194560" cy="64008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Pharmacies and mail-order</a:t>
            </a:r>
            <a:endParaRPr lang="en-US" sz="1600" dirty="0"/>
          </a:p>
        </p:txBody>
      </p:sp>
      <p:sp>
        <p:nvSpPr>
          <p:cNvPr id="13" name="anim|2|rise|with|"/>
          <p:cNvSpPr txBox="1"/>
          <p:nvPr/>
        </p:nvSpPr>
        <p:spPr>
          <a:xfrm>
            <a:off x="3593592" y="3063240"/>
            <a:ext cx="2194560" cy="457200"/>
          </a:xfrm>
          <a:prstGeom prst="rect">
            <a:avLst/>
          </a:prstGeom>
          <a:noFill/>
          <a:ln/>
        </p:spPr>
        <p:txBody>
          <a:bodyPr wrap="square" lIns="0" tIns="0" rIns="0" bIns="0" rtlCol="0" anchor="t"/>
          <a:lstStyle/>
          <a:p>
            <a:pPr marL="0" indent="0">
              <a:buNone/>
            </a:pPr>
            <a:r>
              <a:rPr lang="en-US" sz="1400" b="1" dirty="0">
                <a:solidFill>
                  <a:srgbClr val="F2A541"/>
                </a:solidFill>
                <a:latin typeface="Calibri" pitchFamily="34" charset="0"/>
                <a:ea typeface="Calibri" pitchFamily="34" charset="-122"/>
                <a:cs typeface="Calibri" pitchFamily="34" charset="-120"/>
              </a:rPr>
              <a:t>Subscription per patient tracked</a:t>
            </a:r>
            <a:endParaRPr lang="en-US" sz="1400" dirty="0"/>
          </a:p>
        </p:txBody>
      </p:sp>
      <p:sp>
        <p:nvSpPr>
          <p:cNvPr id="14" name="anim|2|rise|with|"/>
          <p:cNvSpPr txBox="1"/>
          <p:nvPr/>
        </p:nvSpPr>
        <p:spPr>
          <a:xfrm>
            <a:off x="3593592" y="3611880"/>
            <a:ext cx="2194560" cy="1371600"/>
          </a:xfrm>
          <a:prstGeom prst="rect">
            <a:avLst/>
          </a:prstGeom>
          <a:noFill/>
          <a:ln/>
        </p:spPr>
        <p:txBody>
          <a:bodyPr wrap="square" lIns="0" tIns="0" rIns="0" bIns="0" rtlCol="0" anchor="t"/>
          <a:lstStyle/>
          <a:p>
            <a:pPr marL="0" indent="0">
              <a:buNone/>
            </a:pPr>
            <a:r>
              <a:rPr lang="en-US" sz="1250" dirty="0">
                <a:solidFill>
                  <a:srgbClr val="B9C4BF"/>
                </a:solidFill>
                <a:latin typeface="Calibri" pitchFamily="34" charset="0"/>
                <a:ea typeface="Calibri" pitchFamily="34" charset="-122"/>
                <a:cs typeface="Calibri" pitchFamily="34" charset="-120"/>
              </a:rPr>
              <a:t>Proof of storage for replacements, fewer heat-damaged shipments, refill reminders that bring patients back.</a:t>
            </a:r>
            <a:endParaRPr lang="en-US" sz="1250" dirty="0"/>
          </a:p>
        </p:txBody>
      </p:sp>
      <p:sp>
        <p:nvSpPr>
          <p:cNvPr id="15" name="anim|3|rise|click|"/>
          <p:cNvSpPr/>
          <p:nvPr/>
        </p:nvSpPr>
        <p:spPr>
          <a:xfrm>
            <a:off x="6181344" y="1417320"/>
            <a:ext cx="2606040" cy="3657600"/>
          </a:xfrm>
          <a:prstGeom prst="roundRect">
            <a:avLst>
              <a:gd name="adj" fmla="val 4211"/>
            </a:avLst>
          </a:prstGeom>
          <a:solidFill>
            <a:srgbClr val="2B2F31"/>
          </a:solidFill>
          <a:ln w="9525">
            <a:solidFill>
              <a:srgbClr val="45504C"/>
            </a:solidFill>
            <a:prstDash val="solid"/>
          </a:ln>
        </p:spPr>
      </p:sp>
      <p:sp>
        <p:nvSpPr>
          <p:cNvPr id="16" name="anim|3|rise|with|"/>
          <p:cNvSpPr/>
          <p:nvPr/>
        </p:nvSpPr>
        <p:spPr>
          <a:xfrm>
            <a:off x="6409944" y="1645920"/>
            <a:ext cx="640080" cy="640080"/>
          </a:xfrm>
          <a:prstGeom prst="ellipse">
            <a:avLst/>
          </a:prstGeom>
          <a:solidFill>
            <a:srgbClr val="343A3C"/>
          </a:solidFill>
          <a:ln/>
        </p:spPr>
      </p:sp>
      <p:pic>
        <p:nvPicPr>
          <p:cNvPr id="17" name="anim|3|rise|with|" descr="preencoded.png"/>
          <p:cNvPicPr>
            <a:picLocks noChangeAspect="1"/>
          </p:cNvPicPr>
          <p:nvPr/>
        </p:nvPicPr>
        <p:blipFill>
          <a:blip r:embed="rId6"/>
          <a:stretch>
            <a:fillRect/>
          </a:stretch>
        </p:blipFill>
        <p:spPr>
          <a:xfrm>
            <a:off x="6550762" y="1786738"/>
            <a:ext cx="358445" cy="358445"/>
          </a:xfrm>
          <a:prstGeom prst="rect">
            <a:avLst/>
          </a:prstGeom>
        </p:spPr>
      </p:pic>
      <p:sp>
        <p:nvSpPr>
          <p:cNvPr id="18" name="anim|3|rise|with|"/>
          <p:cNvSpPr txBox="1"/>
          <p:nvPr/>
        </p:nvSpPr>
        <p:spPr>
          <a:xfrm>
            <a:off x="6409944" y="2423160"/>
            <a:ext cx="2194560" cy="64008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Health plans and PBMs</a:t>
            </a:r>
            <a:endParaRPr lang="en-US" sz="1600" dirty="0"/>
          </a:p>
        </p:txBody>
      </p:sp>
      <p:sp>
        <p:nvSpPr>
          <p:cNvPr id="19" name="anim|3|rise|with|"/>
          <p:cNvSpPr txBox="1"/>
          <p:nvPr/>
        </p:nvSpPr>
        <p:spPr>
          <a:xfrm>
            <a:off x="6409944" y="3063240"/>
            <a:ext cx="2194560" cy="457200"/>
          </a:xfrm>
          <a:prstGeom prst="rect">
            <a:avLst/>
          </a:prstGeom>
          <a:noFill/>
          <a:ln/>
        </p:spPr>
        <p:txBody>
          <a:bodyPr wrap="square" lIns="0" tIns="0" rIns="0" bIns="0" rtlCol="0" anchor="t"/>
          <a:lstStyle/>
          <a:p>
            <a:pPr marL="0" indent="0">
              <a:buNone/>
            </a:pPr>
            <a:r>
              <a:rPr lang="en-US" sz="1400" b="1" dirty="0">
                <a:solidFill>
                  <a:srgbClr val="9C8CE0"/>
                </a:solidFill>
                <a:latin typeface="Calibri" pitchFamily="34" charset="0"/>
                <a:ea typeface="Calibri" pitchFamily="34" charset="-122"/>
                <a:cs typeface="Calibri" pitchFamily="34" charset="-120"/>
              </a:rPr>
              <a:t>Fee per verified receipt</a:t>
            </a:r>
            <a:endParaRPr lang="en-US" sz="1400" dirty="0"/>
          </a:p>
        </p:txBody>
      </p:sp>
      <p:sp>
        <p:nvSpPr>
          <p:cNvPr id="20" name="anim|3|rise|with|"/>
          <p:cNvSpPr txBox="1"/>
          <p:nvPr/>
        </p:nvSpPr>
        <p:spPr>
          <a:xfrm>
            <a:off x="6409944" y="3611880"/>
            <a:ext cx="2194560" cy="1371600"/>
          </a:xfrm>
          <a:prstGeom prst="rect">
            <a:avLst/>
          </a:prstGeom>
          <a:noFill/>
          <a:ln/>
        </p:spPr>
        <p:txBody>
          <a:bodyPr wrap="square" lIns="0" tIns="0" rIns="0" bIns="0" rtlCol="0" anchor="t"/>
          <a:lstStyle/>
          <a:p>
            <a:pPr marL="0" indent="0">
              <a:buNone/>
            </a:pPr>
            <a:r>
              <a:rPr lang="en-US" sz="1250" dirty="0">
                <a:solidFill>
                  <a:srgbClr val="B9C4BF"/>
                </a:solidFill>
                <a:latin typeface="Calibri" pitchFamily="34" charset="0"/>
                <a:ea typeface="Calibri" pitchFamily="34" charset="-122"/>
                <a:cs typeface="Calibri" pitchFamily="34" charset="-120"/>
              </a:rPr>
              <a:t>Pay for replacements with evidence instead of guesswork, and see where waste happens.</a:t>
            </a:r>
            <a:endParaRPr lang="en-US" sz="1250" dirty="0"/>
          </a:p>
        </p:txBody>
      </p:sp>
      <p:sp>
        <p:nvSpPr>
          <p:cNvPr id="21" name="anim|4|rise|click|"/>
          <p:cNvSpPr/>
          <p:nvPr/>
        </p:nvSpPr>
        <p:spPr>
          <a:xfrm>
            <a:off x="8997696" y="1417320"/>
            <a:ext cx="2606040" cy="3657600"/>
          </a:xfrm>
          <a:prstGeom prst="roundRect">
            <a:avLst>
              <a:gd name="adj" fmla="val 4211"/>
            </a:avLst>
          </a:prstGeom>
          <a:solidFill>
            <a:srgbClr val="2B2F31"/>
          </a:solidFill>
          <a:ln w="9525">
            <a:solidFill>
              <a:srgbClr val="45504C"/>
            </a:solidFill>
            <a:prstDash val="solid"/>
          </a:ln>
        </p:spPr>
      </p:sp>
      <p:sp>
        <p:nvSpPr>
          <p:cNvPr id="22" name="anim|4|rise|with|"/>
          <p:cNvSpPr/>
          <p:nvPr/>
        </p:nvSpPr>
        <p:spPr>
          <a:xfrm>
            <a:off x="9226296" y="1645920"/>
            <a:ext cx="640080" cy="640080"/>
          </a:xfrm>
          <a:prstGeom prst="ellipse">
            <a:avLst/>
          </a:prstGeom>
          <a:solidFill>
            <a:srgbClr val="343A3C"/>
          </a:solidFill>
          <a:ln/>
        </p:spPr>
      </p:sp>
      <p:pic>
        <p:nvPicPr>
          <p:cNvPr id="23" name="anim|4|rise|with|" descr="preencoded.png"/>
          <p:cNvPicPr>
            <a:picLocks noChangeAspect="1"/>
          </p:cNvPicPr>
          <p:nvPr/>
        </p:nvPicPr>
        <p:blipFill>
          <a:blip r:embed="rId7"/>
          <a:stretch>
            <a:fillRect/>
          </a:stretch>
        </p:blipFill>
        <p:spPr>
          <a:xfrm>
            <a:off x="9367114" y="1786738"/>
            <a:ext cx="358445" cy="358445"/>
          </a:xfrm>
          <a:prstGeom prst="rect">
            <a:avLst/>
          </a:prstGeom>
        </p:spPr>
      </p:pic>
      <p:sp>
        <p:nvSpPr>
          <p:cNvPr id="24" name="anim|4|rise|with|"/>
          <p:cNvSpPr txBox="1"/>
          <p:nvPr/>
        </p:nvSpPr>
        <p:spPr>
          <a:xfrm>
            <a:off x="9226296" y="2423160"/>
            <a:ext cx="2194560" cy="640080"/>
          </a:xfrm>
          <a:prstGeom prst="rect">
            <a:avLst/>
          </a:prstGeom>
          <a:noFill/>
          <a:ln/>
        </p:spPr>
        <p:txBody>
          <a:bodyPr wrap="square" lIns="0" tIns="0" rIns="0" bIns="0" rtlCol="0" anchor="t"/>
          <a:lstStyle/>
          <a:p>
            <a:pPr marL="0" indent="0">
              <a:buNone/>
            </a:pPr>
            <a:r>
              <a:rPr lang="en-US" sz="1600" b="1" dirty="0">
                <a:solidFill>
                  <a:srgbClr val="F4F1EA"/>
                </a:solidFill>
                <a:latin typeface="Calibri" pitchFamily="34" charset="0"/>
                <a:ea typeface="Calibri" pitchFamily="34" charset="-122"/>
                <a:cs typeface="Calibri" pitchFamily="34" charset="-120"/>
              </a:rPr>
              <a:t>Utilities and cities</a:t>
            </a:r>
            <a:endParaRPr lang="en-US" sz="1600" dirty="0"/>
          </a:p>
        </p:txBody>
      </p:sp>
      <p:sp>
        <p:nvSpPr>
          <p:cNvPr id="25" name="anim|4|rise|with|"/>
          <p:cNvSpPr txBox="1"/>
          <p:nvPr/>
        </p:nvSpPr>
        <p:spPr>
          <a:xfrm>
            <a:off x="9226296" y="3063240"/>
            <a:ext cx="2194560" cy="457200"/>
          </a:xfrm>
          <a:prstGeom prst="rect">
            <a:avLst/>
          </a:prstGeom>
          <a:noFill/>
          <a:ln/>
        </p:spPr>
        <p:txBody>
          <a:bodyPr wrap="square" lIns="0" tIns="0" rIns="0" bIns="0" rtlCol="0" anchor="t"/>
          <a:lstStyle/>
          <a:p>
            <a:pPr marL="0" indent="0">
              <a:buNone/>
            </a:pPr>
            <a:r>
              <a:rPr lang="en-US" sz="1400" b="1" dirty="0">
                <a:solidFill>
                  <a:srgbClr val="E2705D"/>
                </a:solidFill>
                <a:latin typeface="Calibri" pitchFamily="34" charset="0"/>
                <a:ea typeface="Calibri" pitchFamily="34" charset="-122"/>
                <a:cs typeface="Calibri" pitchFamily="34" charset="-120"/>
              </a:rPr>
              <a:t>License per service area</a:t>
            </a:r>
            <a:endParaRPr lang="en-US" sz="1400" dirty="0"/>
          </a:p>
        </p:txBody>
      </p:sp>
      <p:sp>
        <p:nvSpPr>
          <p:cNvPr id="26" name="anim|4|rise|with|"/>
          <p:cNvSpPr txBox="1"/>
          <p:nvPr/>
        </p:nvSpPr>
        <p:spPr>
          <a:xfrm>
            <a:off x="9226296" y="3611880"/>
            <a:ext cx="2194560" cy="1371600"/>
          </a:xfrm>
          <a:prstGeom prst="rect">
            <a:avLst/>
          </a:prstGeom>
          <a:noFill/>
          <a:ln/>
        </p:spPr>
        <p:txBody>
          <a:bodyPr wrap="square" lIns="0" tIns="0" rIns="0" bIns="0" rtlCol="0" anchor="t"/>
          <a:lstStyle/>
          <a:p>
            <a:pPr marL="0" indent="0">
              <a:buNone/>
            </a:pPr>
            <a:r>
              <a:rPr lang="en-US" sz="1250" dirty="0">
                <a:solidFill>
                  <a:srgbClr val="B9C4BF"/>
                </a:solidFill>
                <a:latin typeface="Calibri" pitchFamily="34" charset="0"/>
                <a:ea typeface="Calibri" pitchFamily="34" charset="-122"/>
                <a:cs typeface="Calibri" pitchFamily="34" charset="-120"/>
              </a:rPr>
              <a:t>Know which medical-needs homes to restore or check first in a storm.</a:t>
            </a:r>
            <a:endParaRPr lang="en-US" sz="1250" dirty="0"/>
          </a:p>
        </p:txBody>
      </p:sp>
      <p:sp>
        <p:nvSpPr>
          <p:cNvPr id="27" name="anim|5|fade|click|"/>
          <p:cNvSpPr/>
          <p:nvPr/>
        </p:nvSpPr>
        <p:spPr>
          <a:xfrm>
            <a:off x="548640" y="5303520"/>
            <a:ext cx="11064240" cy="777240"/>
          </a:xfrm>
          <a:prstGeom prst="roundRect">
            <a:avLst>
              <a:gd name="adj" fmla="val 14118"/>
            </a:avLst>
          </a:prstGeom>
          <a:solidFill>
            <a:srgbClr val="23352F"/>
          </a:solidFill>
          <a:ln w="9525">
            <a:solidFill>
              <a:srgbClr val="6FA391"/>
            </a:solidFill>
            <a:prstDash val="solid"/>
          </a:ln>
        </p:spPr>
      </p:sp>
      <p:sp>
        <p:nvSpPr>
          <p:cNvPr id="28" name="anim|5|fade|with|"/>
          <p:cNvSpPr txBox="1"/>
          <p:nvPr/>
        </p:nvSpPr>
        <p:spPr>
          <a:xfrm>
            <a:off x="822960" y="5303520"/>
            <a:ext cx="10515600" cy="777240"/>
          </a:xfrm>
          <a:prstGeom prst="rect">
            <a:avLst/>
          </a:prstGeom>
          <a:noFill/>
          <a:ln/>
        </p:spPr>
        <p:txBody>
          <a:bodyPr wrap="square" lIns="0" tIns="0" rIns="0" bIns="0" rtlCol="0" anchor="ctr"/>
          <a:lstStyle/>
          <a:p>
            <a:pPr marL="0" indent="0">
              <a:buNone/>
            </a:pPr>
            <a:r>
              <a:rPr lang="en-US" sz="1500" b="1" dirty="0">
                <a:solidFill>
                  <a:srgbClr val="A8D5C2"/>
                </a:solidFill>
                <a:latin typeface="Calibri" pitchFamily="34" charset="0"/>
                <a:ea typeface="Calibri" pitchFamily="34" charset="-122"/>
                <a:cs typeface="Calibri" pitchFamily="34" charset="-120"/>
              </a:rPr>
              <a:t>Low cost to run: </a:t>
            </a:r>
            <a:r>
              <a:rPr lang="en-US" sz="1500" dirty="0">
                <a:solidFill>
                  <a:srgbClr val="F4F1EA"/>
                </a:solidFill>
                <a:latin typeface="Calibri" pitchFamily="34" charset="0"/>
                <a:ea typeface="Calibri" pitchFamily="34" charset="-122"/>
                <a:cs typeface="Calibri" pitchFamily="34" charset="-120"/>
              </a:rPr>
              <a:t>every AI feature has a no-AI fallback, and Tiger Data compresses history 11.2×. Prices are hypotheses we test in the pilot.</a:t>
            </a:r>
            <a:endParaRPr lang="en-US" sz="1500" dirty="0"/>
          </a:p>
        </p:txBody>
      </p:sp>
      <p:sp>
        <p:nvSpPr>
          <p:cNvPr id="29"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ripple/>
        <p:sndAc>
          <p:stSnd>
            <p:snd r:embed="rId3" name="chime.wav"/>
          </p:stSnd>
        </p:sndAc>
      </p:transition>
    </mc:Choice>
    <mc:Fallback>
      <p:transition spd="slow">
        <p:fade/>
        <p:sndAc>
          <p:stSnd>
            <p:snd r:embed="rId3" name="chim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450" decel="100000" fill="hold"/>
                                        <p:tgtEl>
                                          <p:spTgt spid="3"/>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450" decel="100000" fill="hold"/>
                                        <p:tgtEl>
                                          <p:spTgt spid="4"/>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450" decel="100000" fill="hold"/>
                                        <p:tgtEl>
                                          <p:spTgt spid="5"/>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450" decel="100000" fill="hold"/>
                                        <p:tgtEl>
                                          <p:spTgt spid="6"/>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fill="hold"/>
                                        <p:tgtEl>
                                          <p:spTgt spid="7"/>
                                        </p:tgtEl>
                                        <p:attrNameLst>
                                          <p:attrName>ppt_x</p:attrName>
                                        </p:attrNameLst>
                                      </p:cBhvr>
                                      <p:tavLst>
                                        <p:tav tm="0">
                                          <p:val>
                                            <p:strVal val="#ppt_x"/>
                                          </p:val>
                                        </p:tav>
                                        <p:tav tm="100000">
                                          <p:val>
                                            <p:strVal val="#ppt_x"/>
                                          </p:val>
                                        </p:tav>
                                      </p:tavLst>
                                    </p:anim>
                                    <p:anim calcmode="lin" valueType="num">
                                      <p:cBhvr>
                                        <p:cTn id="33" dur="450" decel="100000" fill="hold"/>
                                        <p:tgtEl>
                                          <p:spTgt spid="7"/>
                                        </p:tgtEl>
                                        <p:attrNameLst>
                                          <p:attrName>ppt_y</p:attrName>
                                        </p:attrNameLst>
                                      </p:cBhvr>
                                      <p:tavLst>
                                        <p:tav tm="0">
                                          <p:val>
                                            <p:strVal val="#ppt_y+1"/>
                                          </p:val>
                                        </p:tav>
                                        <p:tav tm="100000">
                                          <p:val>
                                            <p:strVal val="#ppt_y-.03"/>
                                          </p:val>
                                        </p:tav>
                                      </p:tavLst>
                                    </p:anim>
                                    <p:anim calcmode="lin" valueType="num">
                                      <p:cBhvr>
                                        <p:cTn id="34"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p:cTn id="38" dur="500" fill="hold"/>
                                        <p:tgtEl>
                                          <p:spTgt spid="8"/>
                                        </p:tgtEl>
                                        <p:attrNameLst>
                                          <p:attrName>ppt_x</p:attrName>
                                        </p:attrNameLst>
                                      </p:cBhvr>
                                      <p:tavLst>
                                        <p:tav tm="0">
                                          <p:val>
                                            <p:strVal val="#ppt_x"/>
                                          </p:val>
                                        </p:tav>
                                        <p:tav tm="100000">
                                          <p:val>
                                            <p:strVal val="#ppt_x"/>
                                          </p:val>
                                        </p:tav>
                                      </p:tavLst>
                                    </p:anim>
                                    <p:anim calcmode="lin" valueType="num">
                                      <p:cBhvr>
                                        <p:cTn id="39" dur="450" decel="100000" fill="hold"/>
                                        <p:tgtEl>
                                          <p:spTgt spid="8"/>
                                        </p:tgtEl>
                                        <p:attrNameLst>
                                          <p:attrName>ppt_y</p:attrName>
                                        </p:attrNameLst>
                                      </p:cBhvr>
                                      <p:tavLst>
                                        <p:tav tm="0">
                                          <p:val>
                                            <p:strVal val="#ppt_y+1"/>
                                          </p:val>
                                        </p:tav>
                                        <p:tav tm="100000">
                                          <p:val>
                                            <p:strVal val="#ppt_y-.03"/>
                                          </p:val>
                                        </p:tav>
                                      </p:tavLst>
                                    </p:anim>
                                    <p:anim calcmode="lin" valueType="num">
                                      <p:cBhvr>
                                        <p:cTn id="40"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450" decel="100000" fill="hold"/>
                                        <p:tgtEl>
                                          <p:spTgt spid="9"/>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450" decel="100000" fill="hold"/>
                                        <p:tgtEl>
                                          <p:spTgt spid="10"/>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5" presetID="37"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anim calcmode="lin" valueType="num">
                                      <p:cBhvr>
                                        <p:cTn id="58" dur="500" fill="hold"/>
                                        <p:tgtEl>
                                          <p:spTgt spid="11"/>
                                        </p:tgtEl>
                                        <p:attrNameLst>
                                          <p:attrName>ppt_x</p:attrName>
                                        </p:attrNameLst>
                                      </p:cBhvr>
                                      <p:tavLst>
                                        <p:tav tm="0">
                                          <p:val>
                                            <p:strVal val="#ppt_x"/>
                                          </p:val>
                                        </p:tav>
                                        <p:tav tm="100000">
                                          <p:val>
                                            <p:strVal val="#ppt_x"/>
                                          </p:val>
                                        </p:tav>
                                      </p:tavLst>
                                    </p:anim>
                                    <p:anim calcmode="lin" valueType="num">
                                      <p:cBhvr>
                                        <p:cTn id="59" dur="450" decel="100000" fill="hold"/>
                                        <p:tgtEl>
                                          <p:spTgt spid="11"/>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anim calcmode="lin" valueType="num">
                                      <p:cBhvr>
                                        <p:cTn id="64" dur="500" fill="hold"/>
                                        <p:tgtEl>
                                          <p:spTgt spid="12"/>
                                        </p:tgtEl>
                                        <p:attrNameLst>
                                          <p:attrName>ppt_x</p:attrName>
                                        </p:attrNameLst>
                                      </p:cBhvr>
                                      <p:tavLst>
                                        <p:tav tm="0">
                                          <p:val>
                                            <p:strVal val="#ppt_x"/>
                                          </p:val>
                                        </p:tav>
                                        <p:tav tm="100000">
                                          <p:val>
                                            <p:strVal val="#ppt_x"/>
                                          </p:val>
                                        </p:tav>
                                      </p:tavLst>
                                    </p:anim>
                                    <p:anim calcmode="lin" valueType="num">
                                      <p:cBhvr>
                                        <p:cTn id="65" dur="450" decel="100000" fill="hold"/>
                                        <p:tgtEl>
                                          <p:spTgt spid="12"/>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anim calcmode="lin" valueType="num">
                                      <p:cBhvr>
                                        <p:cTn id="70" dur="500" fill="hold"/>
                                        <p:tgtEl>
                                          <p:spTgt spid="13"/>
                                        </p:tgtEl>
                                        <p:attrNameLst>
                                          <p:attrName>ppt_x</p:attrName>
                                        </p:attrNameLst>
                                      </p:cBhvr>
                                      <p:tavLst>
                                        <p:tav tm="0">
                                          <p:val>
                                            <p:strVal val="#ppt_x"/>
                                          </p:val>
                                        </p:tav>
                                        <p:tav tm="100000">
                                          <p:val>
                                            <p:strVal val="#ppt_x"/>
                                          </p:val>
                                        </p:tav>
                                      </p:tavLst>
                                    </p:anim>
                                    <p:anim calcmode="lin" valueType="num">
                                      <p:cBhvr>
                                        <p:cTn id="71" dur="450" decel="100000" fill="hold"/>
                                        <p:tgtEl>
                                          <p:spTgt spid="13"/>
                                        </p:tgtEl>
                                        <p:attrNameLst>
                                          <p:attrName>ppt_y</p:attrName>
                                        </p:attrNameLst>
                                      </p:cBhvr>
                                      <p:tavLst>
                                        <p:tav tm="0">
                                          <p:val>
                                            <p:strVal val="#ppt_y+1"/>
                                          </p:val>
                                        </p:tav>
                                        <p:tav tm="100000">
                                          <p:val>
                                            <p:strVal val="#ppt_y-.03"/>
                                          </p:val>
                                        </p:tav>
                                      </p:tavLst>
                                    </p:anim>
                                    <p:anim calcmode="lin" valueType="num">
                                      <p:cBhvr>
                                        <p:cTn id="72"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73" presetID="37"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500"/>
                                        <p:tgtEl>
                                          <p:spTgt spid="14"/>
                                        </p:tgtEl>
                                      </p:cBhvr>
                                    </p:animEffect>
                                    <p:anim calcmode="lin" valueType="num">
                                      <p:cBhvr>
                                        <p:cTn id="76" dur="500" fill="hold"/>
                                        <p:tgtEl>
                                          <p:spTgt spid="14"/>
                                        </p:tgtEl>
                                        <p:attrNameLst>
                                          <p:attrName>ppt_x</p:attrName>
                                        </p:attrNameLst>
                                      </p:cBhvr>
                                      <p:tavLst>
                                        <p:tav tm="0">
                                          <p:val>
                                            <p:strVal val="#ppt_x"/>
                                          </p:val>
                                        </p:tav>
                                        <p:tav tm="100000">
                                          <p:val>
                                            <p:strVal val="#ppt_x"/>
                                          </p:val>
                                        </p:tav>
                                      </p:tavLst>
                                    </p:anim>
                                    <p:anim calcmode="lin" valueType="num">
                                      <p:cBhvr>
                                        <p:cTn id="77" dur="450" decel="100000" fill="hold"/>
                                        <p:tgtEl>
                                          <p:spTgt spid="14"/>
                                        </p:tgtEl>
                                        <p:attrNameLst>
                                          <p:attrName>ppt_y</p:attrName>
                                        </p:attrNameLst>
                                      </p:cBhvr>
                                      <p:tavLst>
                                        <p:tav tm="0">
                                          <p:val>
                                            <p:strVal val="#ppt_y+1"/>
                                          </p:val>
                                        </p:tav>
                                        <p:tav tm="100000">
                                          <p:val>
                                            <p:strVal val="#ppt_y-.03"/>
                                          </p:val>
                                        </p:tav>
                                      </p:tavLst>
                                    </p:anim>
                                    <p:anim calcmode="lin" valueType="num">
                                      <p:cBhvr>
                                        <p:cTn id="78"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7" presetClass="entr" presetSubtype="0" fill="hold"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p:cTn id="84" dur="500" fill="hold"/>
                                        <p:tgtEl>
                                          <p:spTgt spid="15"/>
                                        </p:tgtEl>
                                        <p:attrNameLst>
                                          <p:attrName>ppt_x</p:attrName>
                                        </p:attrNameLst>
                                      </p:cBhvr>
                                      <p:tavLst>
                                        <p:tav tm="0">
                                          <p:val>
                                            <p:strVal val="#ppt_x"/>
                                          </p:val>
                                        </p:tav>
                                        <p:tav tm="100000">
                                          <p:val>
                                            <p:strVal val="#ppt_x"/>
                                          </p:val>
                                        </p:tav>
                                      </p:tavLst>
                                    </p:anim>
                                    <p:anim calcmode="lin" valueType="num">
                                      <p:cBhvr>
                                        <p:cTn id="85" dur="450" decel="100000" fill="hold"/>
                                        <p:tgtEl>
                                          <p:spTgt spid="15"/>
                                        </p:tgtEl>
                                        <p:attrNameLst>
                                          <p:attrName>ppt_y</p:attrName>
                                        </p:attrNameLst>
                                      </p:cBhvr>
                                      <p:tavLst>
                                        <p:tav tm="0">
                                          <p:val>
                                            <p:strVal val="#ppt_y+1"/>
                                          </p:val>
                                        </p:tav>
                                        <p:tav tm="100000">
                                          <p:val>
                                            <p:strVal val="#ppt_y-.03"/>
                                          </p:val>
                                        </p:tav>
                                      </p:tavLst>
                                    </p:anim>
                                    <p:anim calcmode="lin" valueType="num">
                                      <p:cBhvr>
                                        <p:cTn id="86"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7" presetID="37" presetClass="entr" presetSubtype="0" fill="hold"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anim calcmode="lin" valueType="num">
                                      <p:cBhvr>
                                        <p:cTn id="90" dur="500" fill="hold"/>
                                        <p:tgtEl>
                                          <p:spTgt spid="16"/>
                                        </p:tgtEl>
                                        <p:attrNameLst>
                                          <p:attrName>ppt_x</p:attrName>
                                        </p:attrNameLst>
                                      </p:cBhvr>
                                      <p:tavLst>
                                        <p:tav tm="0">
                                          <p:val>
                                            <p:strVal val="#ppt_x"/>
                                          </p:val>
                                        </p:tav>
                                        <p:tav tm="100000">
                                          <p:val>
                                            <p:strVal val="#ppt_x"/>
                                          </p:val>
                                        </p:tav>
                                      </p:tavLst>
                                    </p:anim>
                                    <p:anim calcmode="lin" valueType="num">
                                      <p:cBhvr>
                                        <p:cTn id="91" dur="450" decel="100000" fill="hold"/>
                                        <p:tgtEl>
                                          <p:spTgt spid="16"/>
                                        </p:tgtEl>
                                        <p:attrNameLst>
                                          <p:attrName>ppt_y</p:attrName>
                                        </p:attrNameLst>
                                      </p:cBhvr>
                                      <p:tavLst>
                                        <p:tav tm="0">
                                          <p:val>
                                            <p:strVal val="#ppt_y+1"/>
                                          </p:val>
                                        </p:tav>
                                        <p:tav tm="100000">
                                          <p:val>
                                            <p:strVal val="#ppt_y-.03"/>
                                          </p:val>
                                        </p:tav>
                                      </p:tavLst>
                                    </p:anim>
                                    <p:anim calcmode="lin" valueType="num">
                                      <p:cBhvr>
                                        <p:cTn id="92"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3" presetID="37" presetClass="entr" presetSubtype="0"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p:tgtEl>
                                          <p:spTgt spid="17"/>
                                        </p:tgtEl>
                                      </p:cBhvr>
                                    </p:animEffect>
                                    <p:anim calcmode="lin" valueType="num">
                                      <p:cBhvr>
                                        <p:cTn id="96" dur="500" fill="hold"/>
                                        <p:tgtEl>
                                          <p:spTgt spid="17"/>
                                        </p:tgtEl>
                                        <p:attrNameLst>
                                          <p:attrName>ppt_x</p:attrName>
                                        </p:attrNameLst>
                                      </p:cBhvr>
                                      <p:tavLst>
                                        <p:tav tm="0">
                                          <p:val>
                                            <p:strVal val="#ppt_x"/>
                                          </p:val>
                                        </p:tav>
                                        <p:tav tm="100000">
                                          <p:val>
                                            <p:strVal val="#ppt_x"/>
                                          </p:val>
                                        </p:tav>
                                      </p:tavLst>
                                    </p:anim>
                                    <p:anim calcmode="lin" valueType="num">
                                      <p:cBhvr>
                                        <p:cTn id="97" dur="450" decel="100000" fill="hold"/>
                                        <p:tgtEl>
                                          <p:spTgt spid="17"/>
                                        </p:tgtEl>
                                        <p:attrNameLst>
                                          <p:attrName>ppt_y</p:attrName>
                                        </p:attrNameLst>
                                      </p:cBhvr>
                                      <p:tavLst>
                                        <p:tav tm="0">
                                          <p:val>
                                            <p:strVal val="#ppt_y+1"/>
                                          </p:val>
                                        </p:tav>
                                        <p:tav tm="100000">
                                          <p:val>
                                            <p:strVal val="#ppt_y-.03"/>
                                          </p:val>
                                        </p:tav>
                                      </p:tavLst>
                                    </p:anim>
                                    <p:anim calcmode="lin" valueType="num">
                                      <p:cBhvr>
                                        <p:cTn id="98"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99" presetID="37"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anim calcmode="lin" valueType="num">
                                      <p:cBhvr>
                                        <p:cTn id="102" dur="500" fill="hold"/>
                                        <p:tgtEl>
                                          <p:spTgt spid="18"/>
                                        </p:tgtEl>
                                        <p:attrNameLst>
                                          <p:attrName>ppt_x</p:attrName>
                                        </p:attrNameLst>
                                      </p:cBhvr>
                                      <p:tavLst>
                                        <p:tav tm="0">
                                          <p:val>
                                            <p:strVal val="#ppt_x"/>
                                          </p:val>
                                        </p:tav>
                                        <p:tav tm="100000">
                                          <p:val>
                                            <p:strVal val="#ppt_x"/>
                                          </p:val>
                                        </p:tav>
                                      </p:tavLst>
                                    </p:anim>
                                    <p:anim calcmode="lin" valueType="num">
                                      <p:cBhvr>
                                        <p:cTn id="103" dur="450" decel="100000" fill="hold"/>
                                        <p:tgtEl>
                                          <p:spTgt spid="18"/>
                                        </p:tgtEl>
                                        <p:attrNameLst>
                                          <p:attrName>ppt_y</p:attrName>
                                        </p:attrNameLst>
                                      </p:cBhvr>
                                      <p:tavLst>
                                        <p:tav tm="0">
                                          <p:val>
                                            <p:strVal val="#ppt_y+1"/>
                                          </p:val>
                                        </p:tav>
                                        <p:tav tm="100000">
                                          <p:val>
                                            <p:strVal val="#ppt_y-.03"/>
                                          </p:val>
                                        </p:tav>
                                      </p:tavLst>
                                    </p:anim>
                                    <p:anim calcmode="lin" valueType="num">
                                      <p:cBhvr>
                                        <p:cTn id="104"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par>
                                <p:cTn id="105" presetID="37" presetClass="entr" presetSubtype="0" fill="hold" grpId="0" nodeType="withEffect">
                                  <p:stCondLst>
                                    <p:cond delay="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500"/>
                                        <p:tgtEl>
                                          <p:spTgt spid="19"/>
                                        </p:tgtEl>
                                      </p:cBhvr>
                                    </p:animEffect>
                                    <p:anim calcmode="lin" valueType="num">
                                      <p:cBhvr>
                                        <p:cTn id="108" dur="500" fill="hold"/>
                                        <p:tgtEl>
                                          <p:spTgt spid="19"/>
                                        </p:tgtEl>
                                        <p:attrNameLst>
                                          <p:attrName>ppt_x</p:attrName>
                                        </p:attrNameLst>
                                      </p:cBhvr>
                                      <p:tavLst>
                                        <p:tav tm="0">
                                          <p:val>
                                            <p:strVal val="#ppt_x"/>
                                          </p:val>
                                        </p:tav>
                                        <p:tav tm="100000">
                                          <p:val>
                                            <p:strVal val="#ppt_x"/>
                                          </p:val>
                                        </p:tav>
                                      </p:tavLst>
                                    </p:anim>
                                    <p:anim calcmode="lin" valueType="num">
                                      <p:cBhvr>
                                        <p:cTn id="109" dur="450" decel="100000" fill="hold"/>
                                        <p:tgtEl>
                                          <p:spTgt spid="19"/>
                                        </p:tgtEl>
                                        <p:attrNameLst>
                                          <p:attrName>ppt_y</p:attrName>
                                        </p:attrNameLst>
                                      </p:cBhvr>
                                      <p:tavLst>
                                        <p:tav tm="0">
                                          <p:val>
                                            <p:strVal val="#ppt_y+1"/>
                                          </p:val>
                                        </p:tav>
                                        <p:tav tm="100000">
                                          <p:val>
                                            <p:strVal val="#ppt_y-.03"/>
                                          </p:val>
                                        </p:tav>
                                      </p:tavLst>
                                    </p:anim>
                                    <p:anim calcmode="lin" valueType="num">
                                      <p:cBhvr>
                                        <p:cTn id="110"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par>
                                <p:cTn id="111" presetID="37" presetClass="entr" presetSubtype="0" fill="hold" grpId="0" nodeType="with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500"/>
                                        <p:tgtEl>
                                          <p:spTgt spid="20"/>
                                        </p:tgtEl>
                                      </p:cBhvr>
                                    </p:animEffect>
                                    <p:anim calcmode="lin" valueType="num">
                                      <p:cBhvr>
                                        <p:cTn id="114" dur="500" fill="hold"/>
                                        <p:tgtEl>
                                          <p:spTgt spid="20"/>
                                        </p:tgtEl>
                                        <p:attrNameLst>
                                          <p:attrName>ppt_x</p:attrName>
                                        </p:attrNameLst>
                                      </p:cBhvr>
                                      <p:tavLst>
                                        <p:tav tm="0">
                                          <p:val>
                                            <p:strVal val="#ppt_x"/>
                                          </p:val>
                                        </p:tav>
                                        <p:tav tm="100000">
                                          <p:val>
                                            <p:strVal val="#ppt_x"/>
                                          </p:val>
                                        </p:tav>
                                      </p:tavLst>
                                    </p:anim>
                                    <p:anim calcmode="lin" valueType="num">
                                      <p:cBhvr>
                                        <p:cTn id="115" dur="450" decel="100000" fill="hold"/>
                                        <p:tgtEl>
                                          <p:spTgt spid="20"/>
                                        </p:tgtEl>
                                        <p:attrNameLst>
                                          <p:attrName>ppt_y</p:attrName>
                                        </p:attrNameLst>
                                      </p:cBhvr>
                                      <p:tavLst>
                                        <p:tav tm="0">
                                          <p:val>
                                            <p:strVal val="#ppt_y+1"/>
                                          </p:val>
                                        </p:tav>
                                        <p:tav tm="100000">
                                          <p:val>
                                            <p:strVal val="#ppt_y-.03"/>
                                          </p:val>
                                        </p:tav>
                                      </p:tavLst>
                                    </p:anim>
                                    <p:anim calcmode="lin" valueType="num">
                                      <p:cBhvr>
                                        <p:cTn id="116" dur="50" accel="100000" fill="hold">
                                          <p:stCondLst>
                                            <p:cond delay="45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37" presetClass="entr" presetSubtype="0" fill="hold" nodeType="click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fade">
                                      <p:cBhvr>
                                        <p:cTn id="121" dur="500"/>
                                        <p:tgtEl>
                                          <p:spTgt spid="21"/>
                                        </p:tgtEl>
                                      </p:cBhvr>
                                    </p:animEffect>
                                    <p:anim calcmode="lin" valueType="num">
                                      <p:cBhvr>
                                        <p:cTn id="122" dur="500" fill="hold"/>
                                        <p:tgtEl>
                                          <p:spTgt spid="21"/>
                                        </p:tgtEl>
                                        <p:attrNameLst>
                                          <p:attrName>ppt_x</p:attrName>
                                        </p:attrNameLst>
                                      </p:cBhvr>
                                      <p:tavLst>
                                        <p:tav tm="0">
                                          <p:val>
                                            <p:strVal val="#ppt_x"/>
                                          </p:val>
                                        </p:tav>
                                        <p:tav tm="100000">
                                          <p:val>
                                            <p:strVal val="#ppt_x"/>
                                          </p:val>
                                        </p:tav>
                                      </p:tavLst>
                                    </p:anim>
                                    <p:anim calcmode="lin" valueType="num">
                                      <p:cBhvr>
                                        <p:cTn id="123" dur="450" decel="100000" fill="hold"/>
                                        <p:tgtEl>
                                          <p:spTgt spid="21"/>
                                        </p:tgtEl>
                                        <p:attrNameLst>
                                          <p:attrName>ppt_y</p:attrName>
                                        </p:attrNameLst>
                                      </p:cBhvr>
                                      <p:tavLst>
                                        <p:tav tm="0">
                                          <p:val>
                                            <p:strVal val="#ppt_y+1"/>
                                          </p:val>
                                        </p:tav>
                                        <p:tav tm="100000">
                                          <p:val>
                                            <p:strVal val="#ppt_y-.03"/>
                                          </p:val>
                                        </p:tav>
                                      </p:tavLst>
                                    </p:anim>
                                    <p:anim calcmode="lin" valueType="num">
                                      <p:cBhvr>
                                        <p:cTn id="124" dur="50" accel="100000" fill="hold">
                                          <p:stCondLst>
                                            <p:cond delay="450"/>
                                          </p:stCondLst>
                                        </p:cTn>
                                        <p:tgtEl>
                                          <p:spTgt spid="21"/>
                                        </p:tgtEl>
                                        <p:attrNameLst>
                                          <p:attrName>ppt_y</p:attrName>
                                        </p:attrNameLst>
                                      </p:cBhvr>
                                      <p:tavLst>
                                        <p:tav tm="0">
                                          <p:val>
                                            <p:strVal val="#ppt_y-.03"/>
                                          </p:val>
                                        </p:tav>
                                        <p:tav tm="100000">
                                          <p:val>
                                            <p:strVal val="#ppt_y"/>
                                          </p:val>
                                        </p:tav>
                                      </p:tavLst>
                                    </p:anim>
                                  </p:childTnLst>
                                </p:cTn>
                              </p:par>
                              <p:par>
                                <p:cTn id="125" presetID="37" presetClass="entr" presetSubtype="0" fill="hold" nodeType="with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500"/>
                                        <p:tgtEl>
                                          <p:spTgt spid="22"/>
                                        </p:tgtEl>
                                      </p:cBhvr>
                                    </p:animEffect>
                                    <p:anim calcmode="lin" valueType="num">
                                      <p:cBhvr>
                                        <p:cTn id="128" dur="500" fill="hold"/>
                                        <p:tgtEl>
                                          <p:spTgt spid="22"/>
                                        </p:tgtEl>
                                        <p:attrNameLst>
                                          <p:attrName>ppt_x</p:attrName>
                                        </p:attrNameLst>
                                      </p:cBhvr>
                                      <p:tavLst>
                                        <p:tav tm="0">
                                          <p:val>
                                            <p:strVal val="#ppt_x"/>
                                          </p:val>
                                        </p:tav>
                                        <p:tav tm="100000">
                                          <p:val>
                                            <p:strVal val="#ppt_x"/>
                                          </p:val>
                                        </p:tav>
                                      </p:tavLst>
                                    </p:anim>
                                    <p:anim calcmode="lin" valueType="num">
                                      <p:cBhvr>
                                        <p:cTn id="129" dur="450" decel="100000" fill="hold"/>
                                        <p:tgtEl>
                                          <p:spTgt spid="22"/>
                                        </p:tgtEl>
                                        <p:attrNameLst>
                                          <p:attrName>ppt_y</p:attrName>
                                        </p:attrNameLst>
                                      </p:cBhvr>
                                      <p:tavLst>
                                        <p:tav tm="0">
                                          <p:val>
                                            <p:strVal val="#ppt_y+1"/>
                                          </p:val>
                                        </p:tav>
                                        <p:tav tm="100000">
                                          <p:val>
                                            <p:strVal val="#ppt_y-.03"/>
                                          </p:val>
                                        </p:tav>
                                      </p:tavLst>
                                    </p:anim>
                                    <p:anim calcmode="lin" valueType="num">
                                      <p:cBhvr>
                                        <p:cTn id="130" dur="50" accel="100000" fill="hold">
                                          <p:stCondLst>
                                            <p:cond delay="450"/>
                                          </p:stCondLst>
                                        </p:cTn>
                                        <p:tgtEl>
                                          <p:spTgt spid="22"/>
                                        </p:tgtEl>
                                        <p:attrNameLst>
                                          <p:attrName>ppt_y</p:attrName>
                                        </p:attrNameLst>
                                      </p:cBhvr>
                                      <p:tavLst>
                                        <p:tav tm="0">
                                          <p:val>
                                            <p:strVal val="#ppt_y-.03"/>
                                          </p:val>
                                        </p:tav>
                                        <p:tav tm="100000">
                                          <p:val>
                                            <p:strVal val="#ppt_y"/>
                                          </p:val>
                                        </p:tav>
                                      </p:tavLst>
                                    </p:anim>
                                  </p:childTnLst>
                                </p:cTn>
                              </p:par>
                              <p:par>
                                <p:cTn id="131" presetID="37" presetClass="entr" presetSubtype="0" fill="hold" nodeType="with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fade">
                                      <p:cBhvr>
                                        <p:cTn id="133" dur="500"/>
                                        <p:tgtEl>
                                          <p:spTgt spid="23"/>
                                        </p:tgtEl>
                                      </p:cBhvr>
                                    </p:animEffect>
                                    <p:anim calcmode="lin" valueType="num">
                                      <p:cBhvr>
                                        <p:cTn id="134" dur="500" fill="hold"/>
                                        <p:tgtEl>
                                          <p:spTgt spid="23"/>
                                        </p:tgtEl>
                                        <p:attrNameLst>
                                          <p:attrName>ppt_x</p:attrName>
                                        </p:attrNameLst>
                                      </p:cBhvr>
                                      <p:tavLst>
                                        <p:tav tm="0">
                                          <p:val>
                                            <p:strVal val="#ppt_x"/>
                                          </p:val>
                                        </p:tav>
                                        <p:tav tm="100000">
                                          <p:val>
                                            <p:strVal val="#ppt_x"/>
                                          </p:val>
                                        </p:tav>
                                      </p:tavLst>
                                    </p:anim>
                                    <p:anim calcmode="lin" valueType="num">
                                      <p:cBhvr>
                                        <p:cTn id="135" dur="450" decel="100000" fill="hold"/>
                                        <p:tgtEl>
                                          <p:spTgt spid="23"/>
                                        </p:tgtEl>
                                        <p:attrNameLst>
                                          <p:attrName>ppt_y</p:attrName>
                                        </p:attrNameLst>
                                      </p:cBhvr>
                                      <p:tavLst>
                                        <p:tav tm="0">
                                          <p:val>
                                            <p:strVal val="#ppt_y+1"/>
                                          </p:val>
                                        </p:tav>
                                        <p:tav tm="100000">
                                          <p:val>
                                            <p:strVal val="#ppt_y-.03"/>
                                          </p:val>
                                        </p:tav>
                                      </p:tavLst>
                                    </p:anim>
                                    <p:anim calcmode="lin" valueType="num">
                                      <p:cBhvr>
                                        <p:cTn id="136" dur="50" accel="100000" fill="hold">
                                          <p:stCondLst>
                                            <p:cond delay="450"/>
                                          </p:stCondLst>
                                        </p:cTn>
                                        <p:tgtEl>
                                          <p:spTgt spid="23"/>
                                        </p:tgtEl>
                                        <p:attrNameLst>
                                          <p:attrName>ppt_y</p:attrName>
                                        </p:attrNameLst>
                                      </p:cBhvr>
                                      <p:tavLst>
                                        <p:tav tm="0">
                                          <p:val>
                                            <p:strVal val="#ppt_y-.03"/>
                                          </p:val>
                                        </p:tav>
                                        <p:tav tm="100000">
                                          <p:val>
                                            <p:strVal val="#ppt_y"/>
                                          </p:val>
                                        </p:tav>
                                      </p:tavLst>
                                    </p:anim>
                                  </p:childTnLst>
                                </p:cTn>
                              </p:par>
                              <p:par>
                                <p:cTn id="137" presetID="37" presetClass="entr" presetSubtype="0" fill="hold" grpId="0" nodeType="withEffect">
                                  <p:stCondLst>
                                    <p:cond delay="0"/>
                                  </p:stCondLst>
                                  <p:childTnLst>
                                    <p:set>
                                      <p:cBhvr>
                                        <p:cTn id="138" dur="1" fill="hold">
                                          <p:stCondLst>
                                            <p:cond delay="0"/>
                                          </p:stCondLst>
                                        </p:cTn>
                                        <p:tgtEl>
                                          <p:spTgt spid="24"/>
                                        </p:tgtEl>
                                        <p:attrNameLst>
                                          <p:attrName>style.visibility</p:attrName>
                                        </p:attrNameLst>
                                      </p:cBhvr>
                                      <p:to>
                                        <p:strVal val="visible"/>
                                      </p:to>
                                    </p:set>
                                    <p:animEffect transition="in" filter="fade">
                                      <p:cBhvr>
                                        <p:cTn id="139" dur="500"/>
                                        <p:tgtEl>
                                          <p:spTgt spid="24"/>
                                        </p:tgtEl>
                                      </p:cBhvr>
                                    </p:animEffect>
                                    <p:anim calcmode="lin" valueType="num">
                                      <p:cBhvr>
                                        <p:cTn id="140" dur="500" fill="hold"/>
                                        <p:tgtEl>
                                          <p:spTgt spid="24"/>
                                        </p:tgtEl>
                                        <p:attrNameLst>
                                          <p:attrName>ppt_x</p:attrName>
                                        </p:attrNameLst>
                                      </p:cBhvr>
                                      <p:tavLst>
                                        <p:tav tm="0">
                                          <p:val>
                                            <p:strVal val="#ppt_x"/>
                                          </p:val>
                                        </p:tav>
                                        <p:tav tm="100000">
                                          <p:val>
                                            <p:strVal val="#ppt_x"/>
                                          </p:val>
                                        </p:tav>
                                      </p:tavLst>
                                    </p:anim>
                                    <p:anim calcmode="lin" valueType="num">
                                      <p:cBhvr>
                                        <p:cTn id="141" dur="450" decel="100000" fill="hold"/>
                                        <p:tgtEl>
                                          <p:spTgt spid="24"/>
                                        </p:tgtEl>
                                        <p:attrNameLst>
                                          <p:attrName>ppt_y</p:attrName>
                                        </p:attrNameLst>
                                      </p:cBhvr>
                                      <p:tavLst>
                                        <p:tav tm="0">
                                          <p:val>
                                            <p:strVal val="#ppt_y+1"/>
                                          </p:val>
                                        </p:tav>
                                        <p:tav tm="100000">
                                          <p:val>
                                            <p:strVal val="#ppt_y-.03"/>
                                          </p:val>
                                        </p:tav>
                                      </p:tavLst>
                                    </p:anim>
                                    <p:anim calcmode="lin" valueType="num">
                                      <p:cBhvr>
                                        <p:cTn id="142" dur="50" accel="100000" fill="hold">
                                          <p:stCondLst>
                                            <p:cond delay="450"/>
                                          </p:stCondLst>
                                        </p:cTn>
                                        <p:tgtEl>
                                          <p:spTgt spid="24"/>
                                        </p:tgtEl>
                                        <p:attrNameLst>
                                          <p:attrName>ppt_y</p:attrName>
                                        </p:attrNameLst>
                                      </p:cBhvr>
                                      <p:tavLst>
                                        <p:tav tm="0">
                                          <p:val>
                                            <p:strVal val="#ppt_y-.03"/>
                                          </p:val>
                                        </p:tav>
                                        <p:tav tm="100000">
                                          <p:val>
                                            <p:strVal val="#ppt_y"/>
                                          </p:val>
                                        </p:tav>
                                      </p:tavLst>
                                    </p:anim>
                                  </p:childTnLst>
                                </p:cTn>
                              </p:par>
                              <p:par>
                                <p:cTn id="143" presetID="37" presetClass="entr" presetSubtype="0" fill="hold" grpId="0" nodeType="withEffect">
                                  <p:stCondLst>
                                    <p:cond delay="0"/>
                                  </p:stCondLst>
                                  <p:childTnLst>
                                    <p:set>
                                      <p:cBhvr>
                                        <p:cTn id="144" dur="1" fill="hold">
                                          <p:stCondLst>
                                            <p:cond delay="0"/>
                                          </p:stCondLst>
                                        </p:cTn>
                                        <p:tgtEl>
                                          <p:spTgt spid="25"/>
                                        </p:tgtEl>
                                        <p:attrNameLst>
                                          <p:attrName>style.visibility</p:attrName>
                                        </p:attrNameLst>
                                      </p:cBhvr>
                                      <p:to>
                                        <p:strVal val="visible"/>
                                      </p:to>
                                    </p:set>
                                    <p:animEffect transition="in" filter="fade">
                                      <p:cBhvr>
                                        <p:cTn id="145" dur="500"/>
                                        <p:tgtEl>
                                          <p:spTgt spid="25"/>
                                        </p:tgtEl>
                                      </p:cBhvr>
                                    </p:animEffect>
                                    <p:anim calcmode="lin" valueType="num">
                                      <p:cBhvr>
                                        <p:cTn id="146" dur="500" fill="hold"/>
                                        <p:tgtEl>
                                          <p:spTgt spid="25"/>
                                        </p:tgtEl>
                                        <p:attrNameLst>
                                          <p:attrName>ppt_x</p:attrName>
                                        </p:attrNameLst>
                                      </p:cBhvr>
                                      <p:tavLst>
                                        <p:tav tm="0">
                                          <p:val>
                                            <p:strVal val="#ppt_x"/>
                                          </p:val>
                                        </p:tav>
                                        <p:tav tm="100000">
                                          <p:val>
                                            <p:strVal val="#ppt_x"/>
                                          </p:val>
                                        </p:tav>
                                      </p:tavLst>
                                    </p:anim>
                                    <p:anim calcmode="lin" valueType="num">
                                      <p:cBhvr>
                                        <p:cTn id="147" dur="450" decel="100000" fill="hold"/>
                                        <p:tgtEl>
                                          <p:spTgt spid="25"/>
                                        </p:tgtEl>
                                        <p:attrNameLst>
                                          <p:attrName>ppt_y</p:attrName>
                                        </p:attrNameLst>
                                      </p:cBhvr>
                                      <p:tavLst>
                                        <p:tav tm="0">
                                          <p:val>
                                            <p:strVal val="#ppt_y+1"/>
                                          </p:val>
                                        </p:tav>
                                        <p:tav tm="100000">
                                          <p:val>
                                            <p:strVal val="#ppt_y-.03"/>
                                          </p:val>
                                        </p:tav>
                                      </p:tavLst>
                                    </p:anim>
                                    <p:anim calcmode="lin" valueType="num">
                                      <p:cBhvr>
                                        <p:cTn id="148" dur="50" accel="100000" fill="hold">
                                          <p:stCondLst>
                                            <p:cond delay="450"/>
                                          </p:stCondLst>
                                        </p:cTn>
                                        <p:tgtEl>
                                          <p:spTgt spid="25"/>
                                        </p:tgtEl>
                                        <p:attrNameLst>
                                          <p:attrName>ppt_y</p:attrName>
                                        </p:attrNameLst>
                                      </p:cBhvr>
                                      <p:tavLst>
                                        <p:tav tm="0">
                                          <p:val>
                                            <p:strVal val="#ppt_y-.03"/>
                                          </p:val>
                                        </p:tav>
                                        <p:tav tm="100000">
                                          <p:val>
                                            <p:strVal val="#ppt_y"/>
                                          </p:val>
                                        </p:tav>
                                      </p:tavLst>
                                    </p:anim>
                                  </p:childTnLst>
                                </p:cTn>
                              </p:par>
                              <p:par>
                                <p:cTn id="149" presetID="37" presetClass="entr" presetSubtype="0" fill="hold" grpId="0" nodeType="withEffect">
                                  <p:stCondLst>
                                    <p:cond delay="0"/>
                                  </p:stCondLst>
                                  <p:childTnLst>
                                    <p:set>
                                      <p:cBhvr>
                                        <p:cTn id="150" dur="1" fill="hold">
                                          <p:stCondLst>
                                            <p:cond delay="0"/>
                                          </p:stCondLst>
                                        </p:cTn>
                                        <p:tgtEl>
                                          <p:spTgt spid="26"/>
                                        </p:tgtEl>
                                        <p:attrNameLst>
                                          <p:attrName>style.visibility</p:attrName>
                                        </p:attrNameLst>
                                      </p:cBhvr>
                                      <p:to>
                                        <p:strVal val="visible"/>
                                      </p:to>
                                    </p:set>
                                    <p:animEffect transition="in" filter="fade">
                                      <p:cBhvr>
                                        <p:cTn id="151" dur="500"/>
                                        <p:tgtEl>
                                          <p:spTgt spid="26"/>
                                        </p:tgtEl>
                                      </p:cBhvr>
                                    </p:animEffect>
                                    <p:anim calcmode="lin" valueType="num">
                                      <p:cBhvr>
                                        <p:cTn id="152" dur="500" fill="hold"/>
                                        <p:tgtEl>
                                          <p:spTgt spid="26"/>
                                        </p:tgtEl>
                                        <p:attrNameLst>
                                          <p:attrName>ppt_x</p:attrName>
                                        </p:attrNameLst>
                                      </p:cBhvr>
                                      <p:tavLst>
                                        <p:tav tm="0">
                                          <p:val>
                                            <p:strVal val="#ppt_x"/>
                                          </p:val>
                                        </p:tav>
                                        <p:tav tm="100000">
                                          <p:val>
                                            <p:strVal val="#ppt_x"/>
                                          </p:val>
                                        </p:tav>
                                      </p:tavLst>
                                    </p:anim>
                                    <p:anim calcmode="lin" valueType="num">
                                      <p:cBhvr>
                                        <p:cTn id="153" dur="450" decel="100000" fill="hold"/>
                                        <p:tgtEl>
                                          <p:spTgt spid="26"/>
                                        </p:tgtEl>
                                        <p:attrNameLst>
                                          <p:attrName>ppt_y</p:attrName>
                                        </p:attrNameLst>
                                      </p:cBhvr>
                                      <p:tavLst>
                                        <p:tav tm="0">
                                          <p:val>
                                            <p:strVal val="#ppt_y+1"/>
                                          </p:val>
                                        </p:tav>
                                        <p:tav tm="100000">
                                          <p:val>
                                            <p:strVal val="#ppt_y-.03"/>
                                          </p:val>
                                        </p:tav>
                                      </p:tavLst>
                                    </p:anim>
                                    <p:anim calcmode="lin" valueType="num">
                                      <p:cBhvr>
                                        <p:cTn id="154" dur="50" accel="100000" fill="hold">
                                          <p:stCondLst>
                                            <p:cond delay="450"/>
                                          </p:stCondLst>
                                        </p:cTn>
                                        <p:tgtEl>
                                          <p:spTgt spid="26"/>
                                        </p:tgtEl>
                                        <p:attrNameLst>
                                          <p:attrName>ppt_y</p:attrName>
                                        </p:attrNameLst>
                                      </p:cBhvr>
                                      <p:tavLst>
                                        <p:tav tm="0">
                                          <p:val>
                                            <p:strVal val="#ppt_y-.03"/>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nodeType="clickEffect">
                                  <p:stCondLst>
                                    <p:cond delay="0"/>
                                  </p:stCondLst>
                                  <p:childTnLst>
                                    <p:set>
                                      <p:cBhvr>
                                        <p:cTn id="158" dur="1" fill="hold">
                                          <p:stCondLst>
                                            <p:cond delay="0"/>
                                          </p:stCondLst>
                                        </p:cTn>
                                        <p:tgtEl>
                                          <p:spTgt spid="27"/>
                                        </p:tgtEl>
                                        <p:attrNameLst>
                                          <p:attrName>style.visibility</p:attrName>
                                        </p:attrNameLst>
                                      </p:cBhvr>
                                      <p:to>
                                        <p:strVal val="visible"/>
                                      </p:to>
                                    </p:set>
                                    <p:animEffect transition="in" filter="fade">
                                      <p:cBhvr>
                                        <p:cTn id="159" dur="500"/>
                                        <p:tgtEl>
                                          <p:spTgt spid="27"/>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28"/>
                                        </p:tgtEl>
                                        <p:attrNameLst>
                                          <p:attrName>style.visibility</p:attrName>
                                        </p:attrNameLst>
                                      </p:cBhvr>
                                      <p:to>
                                        <p:strVal val="visible"/>
                                      </p:to>
                                    </p:set>
                                    <p:animEffect transition="in" filter="fade">
                                      <p:cBhvr>
                                        <p:cTn id="16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3" grpId="0" animBg="1"/>
      <p:bldP spid="14" grpId="0" animBg="1"/>
      <p:bldP spid="18" grpId="0" animBg="1"/>
      <p:bldP spid="19" grpId="0" animBg="1"/>
      <p:bldP spid="20" grpId="0" animBg="1"/>
      <p:bldP spid="24" grpId="0" animBg="1"/>
      <p:bldP spid="25" grpId="0" animBg="1"/>
      <p:bldP spid="26"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Go-to-market: start in Dearborn</a:t>
            </a:r>
            <a:endParaRPr lang="en-US" sz="3200" dirty="0"/>
          </a:p>
        </p:txBody>
      </p:sp>
      <p:sp>
        <p:nvSpPr>
          <p:cNvPr id="3" name="anim|1|wipe|after|"/>
          <p:cNvSpPr/>
          <p:nvPr/>
        </p:nvSpPr>
        <p:spPr>
          <a:xfrm>
            <a:off x="914400" y="2057400"/>
            <a:ext cx="10332720" cy="0"/>
          </a:xfrm>
          <a:prstGeom prst="line">
            <a:avLst/>
          </a:prstGeom>
          <a:noFill/>
          <a:ln w="25400">
            <a:solidFill>
              <a:srgbClr val="45504C"/>
            </a:solidFill>
            <a:prstDash val="dash"/>
          </a:ln>
        </p:spPr>
      </p:sp>
      <p:sp>
        <p:nvSpPr>
          <p:cNvPr id="4" name="anim|2|rise|click|"/>
          <p:cNvSpPr/>
          <p:nvPr/>
        </p:nvSpPr>
        <p:spPr>
          <a:xfrm>
            <a:off x="685800" y="1874520"/>
            <a:ext cx="365760" cy="365760"/>
          </a:xfrm>
          <a:prstGeom prst="ellipse">
            <a:avLst/>
          </a:prstGeom>
          <a:solidFill>
            <a:srgbClr val="F2A541"/>
          </a:solidFill>
          <a:ln w="12700">
            <a:solidFill>
              <a:srgbClr val="F2A541"/>
            </a:solidFill>
            <a:prstDash val="solid"/>
          </a:ln>
        </p:spPr>
      </p:sp>
      <p:sp>
        <p:nvSpPr>
          <p:cNvPr id="5" name="anim|2|rise|with|"/>
          <p:cNvSpPr txBox="1"/>
          <p:nvPr/>
        </p:nvSpPr>
        <p:spPr>
          <a:xfrm>
            <a:off x="594360" y="1325880"/>
            <a:ext cx="2926080" cy="457200"/>
          </a:xfrm>
          <a:prstGeom prst="rect">
            <a:avLst/>
          </a:prstGeom>
          <a:noFill/>
          <a:ln/>
        </p:spPr>
        <p:txBody>
          <a:bodyPr wrap="square" lIns="0" tIns="0" rIns="0" bIns="0" rtlCol="0" anchor="ctr"/>
          <a:lstStyle/>
          <a:p>
            <a:pPr marL="0" indent="0">
              <a:buNone/>
            </a:pPr>
            <a:r>
              <a:rPr lang="en-US" sz="1500" b="1" dirty="0">
                <a:solidFill>
                  <a:srgbClr val="B9C4BF"/>
                </a:solidFill>
                <a:latin typeface="Calibri" pitchFamily="34" charset="0"/>
                <a:ea typeface="Calibri" pitchFamily="34" charset="-122"/>
                <a:cs typeface="Calibri" pitchFamily="34" charset="-120"/>
              </a:rPr>
              <a:t>0–3 months</a:t>
            </a:r>
            <a:endParaRPr lang="en-US" sz="1500" dirty="0"/>
          </a:p>
        </p:txBody>
      </p:sp>
      <p:sp>
        <p:nvSpPr>
          <p:cNvPr id="6" name="anim|2|rise|with|"/>
          <p:cNvSpPr/>
          <p:nvPr/>
        </p:nvSpPr>
        <p:spPr>
          <a:xfrm>
            <a:off x="548640" y="2560320"/>
            <a:ext cx="3520440" cy="1874520"/>
          </a:xfrm>
          <a:prstGeom prst="roundRect">
            <a:avLst>
              <a:gd name="adj" fmla="val 5854"/>
            </a:avLst>
          </a:prstGeom>
          <a:solidFill>
            <a:srgbClr val="2B2F31"/>
          </a:solidFill>
          <a:ln w="9525">
            <a:solidFill>
              <a:srgbClr val="45504C"/>
            </a:solidFill>
            <a:prstDash val="solid"/>
          </a:ln>
        </p:spPr>
      </p:sp>
      <p:sp>
        <p:nvSpPr>
          <p:cNvPr id="7" name="anim|2|rise|with|"/>
          <p:cNvSpPr txBox="1"/>
          <p:nvPr/>
        </p:nvSpPr>
        <p:spPr>
          <a:xfrm>
            <a:off x="777240" y="2697480"/>
            <a:ext cx="3108960" cy="457200"/>
          </a:xfrm>
          <a:prstGeom prst="rect">
            <a:avLst/>
          </a:prstGeom>
          <a:noFill/>
          <a:ln/>
        </p:spPr>
        <p:txBody>
          <a:bodyPr wrap="square" lIns="0" tIns="0" rIns="0" bIns="0" rtlCol="0" anchor="ctr"/>
          <a:lstStyle/>
          <a:p>
            <a:pPr marL="0" indent="0">
              <a:buNone/>
            </a:pPr>
            <a:r>
              <a:rPr lang="en-US" sz="2000" b="1" dirty="0">
                <a:solidFill>
                  <a:srgbClr val="F2A541"/>
                </a:solidFill>
                <a:latin typeface="Calibri" pitchFamily="34" charset="0"/>
                <a:ea typeface="Calibri" pitchFamily="34" charset="-122"/>
                <a:cs typeface="Calibri" pitchFamily="34" charset="-120"/>
              </a:rPr>
              <a:t>Pilot</a:t>
            </a:r>
            <a:endParaRPr lang="en-US" sz="2000" dirty="0"/>
          </a:p>
        </p:txBody>
      </p:sp>
      <p:sp>
        <p:nvSpPr>
          <p:cNvPr id="8" name="anim|2|rise|with|"/>
          <p:cNvSpPr txBox="1"/>
          <p:nvPr/>
        </p:nvSpPr>
        <p:spPr>
          <a:xfrm>
            <a:off x="777240" y="3200400"/>
            <a:ext cx="3108960" cy="1188720"/>
          </a:xfrm>
          <a:prstGeom prst="rect">
            <a:avLst/>
          </a:prstGeom>
          <a:noFill/>
          <a:ln/>
        </p:spPr>
        <p:txBody>
          <a:bodyPr wrap="square" lIns="0" tIns="0" rIns="0" bIns="0" rtlCol="0" anchor="t"/>
          <a:lstStyle/>
          <a:p>
            <a:pPr marL="0" indent="0">
              <a:buNone/>
            </a:pPr>
            <a:r>
              <a:rPr lang="en-US" sz="1400" dirty="0">
                <a:solidFill>
                  <a:srgbClr val="F4F1EA"/>
                </a:solidFill>
                <a:latin typeface="Calibri" pitchFamily="34" charset="0"/>
                <a:ea typeface="Calibri" pitchFamily="34" charset="-122"/>
                <a:cs typeface="Calibri" pitchFamily="34" charset="-120"/>
              </a:rPr>
              <a:t>One independent Dearborn pharmacy, about 100 insulin and GLP-1 patients, in English and Arabic.</a:t>
            </a:r>
            <a:endParaRPr lang="en-US" sz="1400" dirty="0"/>
          </a:p>
        </p:txBody>
      </p:sp>
      <p:sp>
        <p:nvSpPr>
          <p:cNvPr id="9" name="anim|3|rise|click|"/>
          <p:cNvSpPr/>
          <p:nvPr/>
        </p:nvSpPr>
        <p:spPr>
          <a:xfrm>
            <a:off x="4462272" y="1874520"/>
            <a:ext cx="365760" cy="365760"/>
          </a:xfrm>
          <a:prstGeom prst="ellipse">
            <a:avLst/>
          </a:prstGeom>
          <a:solidFill>
            <a:srgbClr val="F2A541"/>
          </a:solidFill>
          <a:ln w="12700">
            <a:solidFill>
              <a:srgbClr val="F2A541"/>
            </a:solidFill>
            <a:prstDash val="solid"/>
          </a:ln>
        </p:spPr>
      </p:sp>
      <p:sp>
        <p:nvSpPr>
          <p:cNvPr id="10" name="anim|3|rise|with|"/>
          <p:cNvSpPr txBox="1"/>
          <p:nvPr/>
        </p:nvSpPr>
        <p:spPr>
          <a:xfrm>
            <a:off x="4370832" y="1325880"/>
            <a:ext cx="2926080" cy="457200"/>
          </a:xfrm>
          <a:prstGeom prst="rect">
            <a:avLst/>
          </a:prstGeom>
          <a:noFill/>
          <a:ln/>
        </p:spPr>
        <p:txBody>
          <a:bodyPr wrap="square" lIns="0" tIns="0" rIns="0" bIns="0" rtlCol="0" anchor="ctr"/>
          <a:lstStyle/>
          <a:p>
            <a:pPr marL="0" indent="0">
              <a:buNone/>
            </a:pPr>
            <a:r>
              <a:rPr lang="en-US" sz="1500" b="1" dirty="0">
                <a:solidFill>
                  <a:srgbClr val="B9C4BF"/>
                </a:solidFill>
                <a:latin typeface="Calibri" pitchFamily="34" charset="0"/>
                <a:ea typeface="Calibri" pitchFamily="34" charset="-122"/>
                <a:cs typeface="Calibri" pitchFamily="34" charset="-120"/>
              </a:rPr>
              <a:t>3–9 months</a:t>
            </a:r>
            <a:endParaRPr lang="en-US" sz="1500" dirty="0"/>
          </a:p>
        </p:txBody>
      </p:sp>
      <p:sp>
        <p:nvSpPr>
          <p:cNvPr id="11" name="anim|3|rise|with|"/>
          <p:cNvSpPr/>
          <p:nvPr/>
        </p:nvSpPr>
        <p:spPr>
          <a:xfrm>
            <a:off x="4325112" y="2560320"/>
            <a:ext cx="3520440" cy="1874520"/>
          </a:xfrm>
          <a:prstGeom prst="roundRect">
            <a:avLst>
              <a:gd name="adj" fmla="val 5854"/>
            </a:avLst>
          </a:prstGeom>
          <a:solidFill>
            <a:srgbClr val="2B2F31"/>
          </a:solidFill>
          <a:ln w="9525">
            <a:solidFill>
              <a:srgbClr val="45504C"/>
            </a:solidFill>
            <a:prstDash val="solid"/>
          </a:ln>
        </p:spPr>
      </p:sp>
      <p:sp>
        <p:nvSpPr>
          <p:cNvPr id="12" name="anim|3|rise|with|"/>
          <p:cNvSpPr txBox="1"/>
          <p:nvPr/>
        </p:nvSpPr>
        <p:spPr>
          <a:xfrm>
            <a:off x="4553712" y="2697480"/>
            <a:ext cx="3108960" cy="457200"/>
          </a:xfrm>
          <a:prstGeom prst="rect">
            <a:avLst/>
          </a:prstGeom>
          <a:noFill/>
          <a:ln/>
        </p:spPr>
        <p:txBody>
          <a:bodyPr wrap="square" lIns="0" tIns="0" rIns="0" bIns="0" rtlCol="0" anchor="ctr"/>
          <a:lstStyle/>
          <a:p>
            <a:pPr marL="0" indent="0">
              <a:buNone/>
            </a:pPr>
            <a:r>
              <a:rPr lang="en-US" sz="2000" b="1" dirty="0">
                <a:solidFill>
                  <a:srgbClr val="F2A541"/>
                </a:solidFill>
                <a:latin typeface="Calibri" pitchFamily="34" charset="0"/>
                <a:ea typeface="Calibri" pitchFamily="34" charset="-122"/>
                <a:cs typeface="Calibri" pitchFamily="34" charset="-120"/>
              </a:rPr>
              <a:t>Expand</a:t>
            </a:r>
            <a:endParaRPr lang="en-US" sz="2000" dirty="0"/>
          </a:p>
        </p:txBody>
      </p:sp>
      <p:sp>
        <p:nvSpPr>
          <p:cNvPr id="13" name="anim|3|rise|with|"/>
          <p:cNvSpPr txBox="1"/>
          <p:nvPr/>
        </p:nvSpPr>
        <p:spPr>
          <a:xfrm>
            <a:off x="4553712" y="3200400"/>
            <a:ext cx="3108960" cy="1188720"/>
          </a:xfrm>
          <a:prstGeom prst="rect">
            <a:avLst/>
          </a:prstGeom>
          <a:noFill/>
          <a:ln/>
        </p:spPr>
        <p:txBody>
          <a:bodyPr wrap="square" lIns="0" tIns="0" rIns="0" bIns="0" rtlCol="0" anchor="t"/>
          <a:lstStyle/>
          <a:p>
            <a:pPr marL="0" indent="0">
              <a:buNone/>
            </a:pPr>
            <a:r>
              <a:rPr lang="en-US" sz="1400" dirty="0">
                <a:solidFill>
                  <a:srgbClr val="F4F1EA"/>
                </a:solidFill>
                <a:latin typeface="Calibri" pitchFamily="34" charset="0"/>
                <a:ea typeface="Calibri" pitchFamily="34" charset="-122"/>
                <a:cs typeface="Calibri" pitchFamily="34" charset="-120"/>
              </a:rPr>
              <a:t>A mail-order or specialty pharmacy using receipts for replacements, and a utility partner for storm season.</a:t>
            </a:r>
            <a:endParaRPr lang="en-US" sz="1400" dirty="0"/>
          </a:p>
        </p:txBody>
      </p:sp>
      <p:sp>
        <p:nvSpPr>
          <p:cNvPr id="14" name="anim|4|rise|click|"/>
          <p:cNvSpPr/>
          <p:nvPr/>
        </p:nvSpPr>
        <p:spPr>
          <a:xfrm>
            <a:off x="8238744" y="1874520"/>
            <a:ext cx="365760" cy="365760"/>
          </a:xfrm>
          <a:prstGeom prst="ellipse">
            <a:avLst/>
          </a:prstGeom>
          <a:solidFill>
            <a:srgbClr val="F2A541"/>
          </a:solidFill>
          <a:ln w="12700">
            <a:solidFill>
              <a:srgbClr val="F2A541"/>
            </a:solidFill>
            <a:prstDash val="solid"/>
          </a:ln>
        </p:spPr>
      </p:sp>
      <p:sp>
        <p:nvSpPr>
          <p:cNvPr id="15" name="anim|4|rise|with|"/>
          <p:cNvSpPr txBox="1"/>
          <p:nvPr/>
        </p:nvSpPr>
        <p:spPr>
          <a:xfrm>
            <a:off x="8147304" y="1325880"/>
            <a:ext cx="2926080" cy="457200"/>
          </a:xfrm>
          <a:prstGeom prst="rect">
            <a:avLst/>
          </a:prstGeom>
          <a:noFill/>
          <a:ln/>
        </p:spPr>
        <p:txBody>
          <a:bodyPr wrap="square" lIns="0" tIns="0" rIns="0" bIns="0" rtlCol="0" anchor="ctr"/>
          <a:lstStyle/>
          <a:p>
            <a:pPr marL="0" indent="0">
              <a:buNone/>
            </a:pPr>
            <a:r>
              <a:rPr lang="en-US" sz="1500" b="1" dirty="0">
                <a:solidFill>
                  <a:srgbClr val="B9C4BF"/>
                </a:solidFill>
                <a:latin typeface="Calibri" pitchFamily="34" charset="0"/>
                <a:ea typeface="Calibri" pitchFamily="34" charset="-122"/>
                <a:cs typeface="Calibri" pitchFamily="34" charset="-120"/>
              </a:rPr>
              <a:t>9–18 months</a:t>
            </a:r>
            <a:endParaRPr lang="en-US" sz="1500" dirty="0"/>
          </a:p>
        </p:txBody>
      </p:sp>
      <p:sp>
        <p:nvSpPr>
          <p:cNvPr id="16" name="anim|4|rise|with|"/>
          <p:cNvSpPr/>
          <p:nvPr/>
        </p:nvSpPr>
        <p:spPr>
          <a:xfrm>
            <a:off x="8101584" y="2560320"/>
            <a:ext cx="3520440" cy="1874520"/>
          </a:xfrm>
          <a:prstGeom prst="roundRect">
            <a:avLst>
              <a:gd name="adj" fmla="val 5854"/>
            </a:avLst>
          </a:prstGeom>
          <a:solidFill>
            <a:srgbClr val="2B2F31"/>
          </a:solidFill>
          <a:ln w="9525">
            <a:solidFill>
              <a:srgbClr val="45504C"/>
            </a:solidFill>
            <a:prstDash val="solid"/>
          </a:ln>
        </p:spPr>
      </p:sp>
      <p:sp>
        <p:nvSpPr>
          <p:cNvPr id="17" name="anim|4|rise|with|"/>
          <p:cNvSpPr txBox="1"/>
          <p:nvPr/>
        </p:nvSpPr>
        <p:spPr>
          <a:xfrm>
            <a:off x="8330184" y="2697480"/>
            <a:ext cx="3108960" cy="457200"/>
          </a:xfrm>
          <a:prstGeom prst="rect">
            <a:avLst/>
          </a:prstGeom>
          <a:noFill/>
          <a:ln/>
        </p:spPr>
        <p:txBody>
          <a:bodyPr wrap="square" lIns="0" tIns="0" rIns="0" bIns="0" rtlCol="0" anchor="ctr"/>
          <a:lstStyle/>
          <a:p>
            <a:pPr marL="0" indent="0">
              <a:buNone/>
            </a:pPr>
            <a:r>
              <a:rPr lang="en-US" sz="2000" b="1" dirty="0">
                <a:solidFill>
                  <a:srgbClr val="F2A541"/>
                </a:solidFill>
                <a:latin typeface="Calibri" pitchFamily="34" charset="0"/>
                <a:ea typeface="Calibri" pitchFamily="34" charset="-122"/>
                <a:cs typeface="Calibri" pitchFamily="34" charset="-120"/>
              </a:rPr>
              <a:t>Scale</a:t>
            </a:r>
            <a:endParaRPr lang="en-US" sz="2000" dirty="0"/>
          </a:p>
        </p:txBody>
      </p:sp>
      <p:sp>
        <p:nvSpPr>
          <p:cNvPr id="18" name="anim|4|rise|with|"/>
          <p:cNvSpPr txBox="1"/>
          <p:nvPr/>
        </p:nvSpPr>
        <p:spPr>
          <a:xfrm>
            <a:off x="8330184" y="3200400"/>
            <a:ext cx="3108960" cy="1188720"/>
          </a:xfrm>
          <a:prstGeom prst="rect">
            <a:avLst/>
          </a:prstGeom>
          <a:noFill/>
          <a:ln/>
        </p:spPr>
        <p:txBody>
          <a:bodyPr wrap="square" lIns="0" tIns="0" rIns="0" bIns="0" rtlCol="0" anchor="t"/>
          <a:lstStyle/>
          <a:p>
            <a:pPr marL="0" indent="0">
              <a:buNone/>
            </a:pPr>
            <a:r>
              <a:rPr lang="en-US" sz="1400" dirty="0">
                <a:solidFill>
                  <a:srgbClr val="F4F1EA"/>
                </a:solidFill>
                <a:latin typeface="Calibri" pitchFamily="34" charset="0"/>
                <a:ea typeface="Calibri" pitchFamily="34" charset="-122"/>
                <a:cs typeface="Calibri" pitchFamily="34" charset="-120"/>
              </a:rPr>
              <a:t>A health-plan pilot, and the open API for sensor, cooler and smart-fridge makers.</a:t>
            </a:r>
            <a:endParaRPr lang="en-US" sz="1400" dirty="0"/>
          </a:p>
        </p:txBody>
      </p:sp>
      <p:sp>
        <p:nvSpPr>
          <p:cNvPr id="19" name="anim|5|fade|click|"/>
          <p:cNvSpPr/>
          <p:nvPr/>
        </p:nvSpPr>
        <p:spPr>
          <a:xfrm>
            <a:off x="548640" y="4663440"/>
            <a:ext cx="5394960" cy="1417320"/>
          </a:xfrm>
          <a:prstGeom prst="roundRect">
            <a:avLst>
              <a:gd name="adj" fmla="val 7742"/>
            </a:avLst>
          </a:prstGeom>
          <a:solidFill>
            <a:srgbClr val="2A2740"/>
          </a:solidFill>
          <a:ln w="9525">
            <a:solidFill>
              <a:srgbClr val="9C8CE0"/>
            </a:solidFill>
            <a:prstDash val="solid"/>
          </a:ln>
        </p:spPr>
      </p:sp>
      <p:sp>
        <p:nvSpPr>
          <p:cNvPr id="20" name="anim|5|fade|with|"/>
          <p:cNvSpPr txBox="1"/>
          <p:nvPr/>
        </p:nvSpPr>
        <p:spPr>
          <a:xfrm>
            <a:off x="777240" y="4709160"/>
            <a:ext cx="4983480" cy="1325880"/>
          </a:xfrm>
          <a:prstGeom prst="rect">
            <a:avLst/>
          </a:prstGeom>
          <a:noFill/>
          <a:ln/>
        </p:spPr>
        <p:txBody>
          <a:bodyPr wrap="square" lIns="0" tIns="0" rIns="0" bIns="0" rtlCol="0" anchor="ctr"/>
          <a:lstStyle/>
          <a:p>
            <a:pPr marL="0" indent="0">
              <a:buNone/>
            </a:pPr>
            <a:r>
              <a:rPr lang="en-US" sz="1400" b="1" dirty="0">
                <a:solidFill>
                  <a:srgbClr val="9C8CE0"/>
                </a:solidFill>
                <a:latin typeface="Calibri" pitchFamily="34" charset="0"/>
                <a:ea typeface="Calibri" pitchFamily="34" charset="-122"/>
                <a:cs typeface="Calibri" pitchFamily="34" charset="-120"/>
              </a:rPr>
              <a:t>What we measure
</a:t>
            </a:r>
            <a:endParaRPr lang="en-US" sz="1400" dirty="0"/>
          </a:p>
          <a:p>
            <a:pPr marL="0" indent="0">
              <a:buNone/>
            </a:pPr>
            <a:r>
              <a:rPr lang="en-US" sz="1400" dirty="0">
                <a:solidFill>
                  <a:srgbClr val="F4F1EA"/>
                </a:solidFill>
                <a:latin typeface="Calibri" pitchFamily="34" charset="0"/>
                <a:ea typeface="Calibri" pitchFamily="34" charset="-122"/>
                <a:cs typeface="Calibri" pitchFamily="34" charset="-120"/>
              </a:rPr>
              <a:t>Medicines saved from being thrown out, replacements backed by a receipt, and alerts acted on within the hour.</a:t>
            </a:r>
            <a:endParaRPr lang="en-US" sz="1400" dirty="0"/>
          </a:p>
        </p:txBody>
      </p:sp>
      <p:sp>
        <p:nvSpPr>
          <p:cNvPr id="21" name="anim|6|fade|click|"/>
          <p:cNvSpPr/>
          <p:nvPr/>
        </p:nvSpPr>
        <p:spPr>
          <a:xfrm>
            <a:off x="6217920" y="4663440"/>
            <a:ext cx="5394960" cy="1417320"/>
          </a:xfrm>
          <a:prstGeom prst="roundRect">
            <a:avLst>
              <a:gd name="adj" fmla="val 7742"/>
            </a:avLst>
          </a:prstGeom>
          <a:solidFill>
            <a:srgbClr val="23352F"/>
          </a:solidFill>
          <a:ln w="9525">
            <a:solidFill>
              <a:srgbClr val="6FA391"/>
            </a:solidFill>
            <a:prstDash val="solid"/>
          </a:ln>
        </p:spPr>
      </p:sp>
      <p:sp>
        <p:nvSpPr>
          <p:cNvPr id="22" name="anim|6|fade|with|"/>
          <p:cNvSpPr txBox="1"/>
          <p:nvPr/>
        </p:nvSpPr>
        <p:spPr>
          <a:xfrm>
            <a:off x="6446520" y="4709160"/>
            <a:ext cx="4983480" cy="1325880"/>
          </a:xfrm>
          <a:prstGeom prst="rect">
            <a:avLst/>
          </a:prstGeom>
          <a:noFill/>
          <a:ln/>
        </p:spPr>
        <p:txBody>
          <a:bodyPr wrap="square" lIns="0" tIns="0" rIns="0" bIns="0" rtlCol="0" anchor="ctr"/>
          <a:lstStyle/>
          <a:p>
            <a:pPr marL="0" indent="0">
              <a:buNone/>
            </a:pPr>
            <a:r>
              <a:rPr lang="en-US" sz="1400" b="1" dirty="0">
                <a:solidFill>
                  <a:srgbClr val="A8D5C2"/>
                </a:solidFill>
                <a:latin typeface="Calibri" pitchFamily="34" charset="0"/>
                <a:ea typeface="Calibri" pitchFamily="34" charset="-122"/>
                <a:cs typeface="Calibri" pitchFamily="34" charset="-120"/>
              </a:rPr>
              <a:t>Why it's hard to copy
</a:t>
            </a:r>
            <a:endParaRPr lang="en-US" sz="1400" dirty="0"/>
          </a:p>
          <a:p>
            <a:pPr marL="0" indent="0">
              <a:buNone/>
            </a:pPr>
            <a:r>
              <a:rPr lang="en-US" sz="1400" dirty="0">
                <a:solidFill>
                  <a:srgbClr val="F4F1EA"/>
                </a:solidFill>
                <a:latin typeface="Calibri" pitchFamily="34" charset="0"/>
                <a:ea typeface="Calibri" pitchFamily="34" charset="-122"/>
                <a:cs typeface="Calibri" pitchFamily="34" charset="-120"/>
              </a:rPr>
              <a:t>24 label-verified medicine rules, pharmacist review, and per-medicine history that a thermometer never builds.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450" decel="100000" fill="hold"/>
                                        <p:tgtEl>
                                          <p:spTgt spid="4"/>
                                        </p:tgtEl>
                                        <p:attrNameLst>
                                          <p:attrName>ppt_y</p:attrName>
                                        </p:attrNameLst>
                                      </p:cBhvr>
                                      <p:tavLst>
                                        <p:tav tm="0">
                                          <p:val>
                                            <p:strVal val="#ppt_y+1"/>
                                          </p:val>
                                        </p:tav>
                                        <p:tav tm="100000">
                                          <p:val>
                                            <p:strVal val="#ppt_y-.03"/>
                                          </p:val>
                                        </p:tav>
                                      </p:tavLst>
                                    </p:anim>
                                    <p:anim calcmode="lin" valueType="num">
                                      <p:cBhvr>
                                        <p:cTn id="15"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6" presetID="37"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p:cTn id="19" dur="500" fill="hold"/>
                                        <p:tgtEl>
                                          <p:spTgt spid="5"/>
                                        </p:tgtEl>
                                        <p:attrNameLst>
                                          <p:attrName>ppt_x</p:attrName>
                                        </p:attrNameLst>
                                      </p:cBhvr>
                                      <p:tavLst>
                                        <p:tav tm="0">
                                          <p:val>
                                            <p:strVal val="#ppt_x"/>
                                          </p:val>
                                        </p:tav>
                                        <p:tav tm="100000">
                                          <p:val>
                                            <p:strVal val="#ppt_x"/>
                                          </p:val>
                                        </p:tav>
                                      </p:tavLst>
                                    </p:anim>
                                    <p:anim calcmode="lin" valueType="num">
                                      <p:cBhvr>
                                        <p:cTn id="20" dur="450" decel="100000" fill="hold"/>
                                        <p:tgtEl>
                                          <p:spTgt spid="5"/>
                                        </p:tgtEl>
                                        <p:attrNameLst>
                                          <p:attrName>ppt_y</p:attrName>
                                        </p:attrNameLst>
                                      </p:cBhvr>
                                      <p:tavLst>
                                        <p:tav tm="0">
                                          <p:val>
                                            <p:strVal val="#ppt_y+1"/>
                                          </p:val>
                                        </p:tav>
                                        <p:tav tm="100000">
                                          <p:val>
                                            <p:strVal val="#ppt_y-.03"/>
                                          </p:val>
                                        </p:tav>
                                      </p:tavLst>
                                    </p:anim>
                                    <p:anim calcmode="lin" valueType="num">
                                      <p:cBhvr>
                                        <p:cTn id="21"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2" presetID="37"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fill="hold"/>
                                        <p:tgtEl>
                                          <p:spTgt spid="6"/>
                                        </p:tgtEl>
                                        <p:attrNameLst>
                                          <p:attrName>ppt_x</p:attrName>
                                        </p:attrNameLst>
                                      </p:cBhvr>
                                      <p:tavLst>
                                        <p:tav tm="0">
                                          <p:val>
                                            <p:strVal val="#ppt_x"/>
                                          </p:val>
                                        </p:tav>
                                        <p:tav tm="100000">
                                          <p:val>
                                            <p:strVal val="#ppt_x"/>
                                          </p:val>
                                        </p:tav>
                                      </p:tavLst>
                                    </p:anim>
                                    <p:anim calcmode="lin" valueType="num">
                                      <p:cBhvr>
                                        <p:cTn id="26" dur="450" decel="100000" fill="hold"/>
                                        <p:tgtEl>
                                          <p:spTgt spid="6"/>
                                        </p:tgtEl>
                                        <p:attrNameLst>
                                          <p:attrName>ppt_y</p:attrName>
                                        </p:attrNameLst>
                                      </p:cBhvr>
                                      <p:tavLst>
                                        <p:tav tm="0">
                                          <p:val>
                                            <p:strVal val="#ppt_y+1"/>
                                          </p:val>
                                        </p:tav>
                                        <p:tav tm="100000">
                                          <p:val>
                                            <p:strVal val="#ppt_y-.03"/>
                                          </p:val>
                                        </p:tav>
                                      </p:tavLst>
                                    </p:anim>
                                    <p:anim calcmode="lin" valueType="num">
                                      <p:cBhvr>
                                        <p:cTn id="27"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450" decel="100000" fill="hold"/>
                                        <p:tgtEl>
                                          <p:spTgt spid="7"/>
                                        </p:tgtEl>
                                        <p:attrNameLst>
                                          <p:attrName>ppt_y</p:attrName>
                                        </p:attrNameLst>
                                      </p:cBhvr>
                                      <p:tavLst>
                                        <p:tav tm="0">
                                          <p:val>
                                            <p:strVal val="#ppt_y+1"/>
                                          </p:val>
                                        </p:tav>
                                        <p:tav tm="100000">
                                          <p:val>
                                            <p:strVal val="#ppt_y-.03"/>
                                          </p:val>
                                        </p:tav>
                                      </p:tavLst>
                                    </p:anim>
                                    <p:anim calcmode="lin" valueType="num">
                                      <p:cBhvr>
                                        <p:cTn id="33"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4" presetID="37"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fill="hold"/>
                                        <p:tgtEl>
                                          <p:spTgt spid="8"/>
                                        </p:tgtEl>
                                        <p:attrNameLst>
                                          <p:attrName>ppt_x</p:attrName>
                                        </p:attrNameLst>
                                      </p:cBhvr>
                                      <p:tavLst>
                                        <p:tav tm="0">
                                          <p:val>
                                            <p:strVal val="#ppt_x"/>
                                          </p:val>
                                        </p:tav>
                                        <p:tav tm="100000">
                                          <p:val>
                                            <p:strVal val="#ppt_x"/>
                                          </p:val>
                                        </p:tav>
                                      </p:tavLst>
                                    </p:anim>
                                    <p:anim calcmode="lin" valueType="num">
                                      <p:cBhvr>
                                        <p:cTn id="38" dur="450" decel="100000" fill="hold"/>
                                        <p:tgtEl>
                                          <p:spTgt spid="8"/>
                                        </p:tgtEl>
                                        <p:attrNameLst>
                                          <p:attrName>ppt_y</p:attrName>
                                        </p:attrNameLst>
                                      </p:cBhvr>
                                      <p:tavLst>
                                        <p:tav tm="0">
                                          <p:val>
                                            <p:strVal val="#ppt_y+1"/>
                                          </p:val>
                                        </p:tav>
                                        <p:tav tm="100000">
                                          <p:val>
                                            <p:strVal val="#ppt_y-.03"/>
                                          </p:val>
                                        </p:tav>
                                      </p:tavLst>
                                    </p:anim>
                                    <p:anim calcmode="lin" valueType="num">
                                      <p:cBhvr>
                                        <p:cTn id="39"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7"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anim calcmode="lin" valueType="num">
                                      <p:cBhvr>
                                        <p:cTn id="45" dur="500" fill="hold"/>
                                        <p:tgtEl>
                                          <p:spTgt spid="9"/>
                                        </p:tgtEl>
                                        <p:attrNameLst>
                                          <p:attrName>ppt_x</p:attrName>
                                        </p:attrNameLst>
                                      </p:cBhvr>
                                      <p:tavLst>
                                        <p:tav tm="0">
                                          <p:val>
                                            <p:strVal val="#ppt_x"/>
                                          </p:val>
                                        </p:tav>
                                        <p:tav tm="100000">
                                          <p:val>
                                            <p:strVal val="#ppt_x"/>
                                          </p:val>
                                        </p:tav>
                                      </p:tavLst>
                                    </p:anim>
                                    <p:anim calcmode="lin" valueType="num">
                                      <p:cBhvr>
                                        <p:cTn id="46" dur="450" decel="100000" fill="hold"/>
                                        <p:tgtEl>
                                          <p:spTgt spid="9"/>
                                        </p:tgtEl>
                                        <p:attrNameLst>
                                          <p:attrName>ppt_y</p:attrName>
                                        </p:attrNameLst>
                                      </p:cBhvr>
                                      <p:tavLst>
                                        <p:tav tm="0">
                                          <p:val>
                                            <p:strVal val="#ppt_y+1"/>
                                          </p:val>
                                        </p:tav>
                                        <p:tav tm="100000">
                                          <p:val>
                                            <p:strVal val="#ppt_y-.03"/>
                                          </p:val>
                                        </p:tav>
                                      </p:tavLst>
                                    </p:anim>
                                    <p:anim calcmode="lin" valueType="num">
                                      <p:cBhvr>
                                        <p:cTn id="47"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8" presetID="37"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anim calcmode="lin" valueType="num">
                                      <p:cBhvr>
                                        <p:cTn id="51" dur="500" fill="hold"/>
                                        <p:tgtEl>
                                          <p:spTgt spid="10"/>
                                        </p:tgtEl>
                                        <p:attrNameLst>
                                          <p:attrName>ppt_x</p:attrName>
                                        </p:attrNameLst>
                                      </p:cBhvr>
                                      <p:tavLst>
                                        <p:tav tm="0">
                                          <p:val>
                                            <p:strVal val="#ppt_x"/>
                                          </p:val>
                                        </p:tav>
                                        <p:tav tm="100000">
                                          <p:val>
                                            <p:strVal val="#ppt_x"/>
                                          </p:val>
                                        </p:tav>
                                      </p:tavLst>
                                    </p:anim>
                                    <p:anim calcmode="lin" valueType="num">
                                      <p:cBhvr>
                                        <p:cTn id="52" dur="450" decel="100000" fill="hold"/>
                                        <p:tgtEl>
                                          <p:spTgt spid="10"/>
                                        </p:tgtEl>
                                        <p:attrNameLst>
                                          <p:attrName>ppt_y</p:attrName>
                                        </p:attrNameLst>
                                      </p:cBhvr>
                                      <p:tavLst>
                                        <p:tav tm="0">
                                          <p:val>
                                            <p:strVal val="#ppt_y+1"/>
                                          </p:val>
                                        </p:tav>
                                        <p:tav tm="100000">
                                          <p:val>
                                            <p:strVal val="#ppt_y-.03"/>
                                          </p:val>
                                        </p:tav>
                                      </p:tavLst>
                                    </p:anim>
                                    <p:anim calcmode="lin" valueType="num">
                                      <p:cBhvr>
                                        <p:cTn id="53"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4" presetID="37" presetClass="entr" presetSubtype="0"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anim calcmode="lin" valueType="num">
                                      <p:cBhvr>
                                        <p:cTn id="57" dur="500" fill="hold"/>
                                        <p:tgtEl>
                                          <p:spTgt spid="11"/>
                                        </p:tgtEl>
                                        <p:attrNameLst>
                                          <p:attrName>ppt_x</p:attrName>
                                        </p:attrNameLst>
                                      </p:cBhvr>
                                      <p:tavLst>
                                        <p:tav tm="0">
                                          <p:val>
                                            <p:strVal val="#ppt_x"/>
                                          </p:val>
                                        </p:tav>
                                        <p:tav tm="100000">
                                          <p:val>
                                            <p:strVal val="#ppt_x"/>
                                          </p:val>
                                        </p:tav>
                                      </p:tavLst>
                                    </p:anim>
                                    <p:anim calcmode="lin" valueType="num">
                                      <p:cBhvr>
                                        <p:cTn id="58" dur="450" decel="100000" fill="hold"/>
                                        <p:tgtEl>
                                          <p:spTgt spid="11"/>
                                        </p:tgtEl>
                                        <p:attrNameLst>
                                          <p:attrName>ppt_y</p:attrName>
                                        </p:attrNameLst>
                                      </p:cBhvr>
                                      <p:tavLst>
                                        <p:tav tm="0">
                                          <p:val>
                                            <p:strVal val="#ppt_y+1"/>
                                          </p:val>
                                        </p:tav>
                                        <p:tav tm="100000">
                                          <p:val>
                                            <p:strVal val="#ppt_y-.03"/>
                                          </p:val>
                                        </p:tav>
                                      </p:tavLst>
                                    </p:anim>
                                    <p:anim calcmode="lin" valueType="num">
                                      <p:cBhvr>
                                        <p:cTn id="59"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0" presetID="37"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anim calcmode="lin" valueType="num">
                                      <p:cBhvr>
                                        <p:cTn id="63" dur="500" fill="hold"/>
                                        <p:tgtEl>
                                          <p:spTgt spid="12"/>
                                        </p:tgtEl>
                                        <p:attrNameLst>
                                          <p:attrName>ppt_x</p:attrName>
                                        </p:attrNameLst>
                                      </p:cBhvr>
                                      <p:tavLst>
                                        <p:tav tm="0">
                                          <p:val>
                                            <p:strVal val="#ppt_x"/>
                                          </p:val>
                                        </p:tav>
                                        <p:tav tm="100000">
                                          <p:val>
                                            <p:strVal val="#ppt_x"/>
                                          </p:val>
                                        </p:tav>
                                      </p:tavLst>
                                    </p:anim>
                                    <p:anim calcmode="lin" valueType="num">
                                      <p:cBhvr>
                                        <p:cTn id="64" dur="450" decel="100000" fill="hold"/>
                                        <p:tgtEl>
                                          <p:spTgt spid="12"/>
                                        </p:tgtEl>
                                        <p:attrNameLst>
                                          <p:attrName>ppt_y</p:attrName>
                                        </p:attrNameLst>
                                      </p:cBhvr>
                                      <p:tavLst>
                                        <p:tav tm="0">
                                          <p:val>
                                            <p:strVal val="#ppt_y+1"/>
                                          </p:val>
                                        </p:tav>
                                        <p:tav tm="100000">
                                          <p:val>
                                            <p:strVal val="#ppt_y-.03"/>
                                          </p:val>
                                        </p:tav>
                                      </p:tavLst>
                                    </p:anim>
                                    <p:anim calcmode="lin" valueType="num">
                                      <p:cBhvr>
                                        <p:cTn id="65"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6" presetID="37" presetClass="entr" presetSubtype="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450" decel="100000" fill="hold"/>
                                        <p:tgtEl>
                                          <p:spTgt spid="13"/>
                                        </p:tgtEl>
                                        <p:attrNameLst>
                                          <p:attrName>ppt_y</p:attrName>
                                        </p:attrNameLst>
                                      </p:cBhvr>
                                      <p:tavLst>
                                        <p:tav tm="0">
                                          <p:val>
                                            <p:strVal val="#ppt_y+1"/>
                                          </p:val>
                                        </p:tav>
                                        <p:tav tm="100000">
                                          <p:val>
                                            <p:strVal val="#ppt_y-.03"/>
                                          </p:val>
                                        </p:tav>
                                      </p:tavLst>
                                    </p:anim>
                                    <p:anim calcmode="lin" valueType="num">
                                      <p:cBhvr>
                                        <p:cTn id="71"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37" presetClass="entr" presetSubtype="0" fill="hold" nodeType="click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anim calcmode="lin" valueType="num">
                                      <p:cBhvr>
                                        <p:cTn id="77" dur="500" fill="hold"/>
                                        <p:tgtEl>
                                          <p:spTgt spid="14"/>
                                        </p:tgtEl>
                                        <p:attrNameLst>
                                          <p:attrName>ppt_x</p:attrName>
                                        </p:attrNameLst>
                                      </p:cBhvr>
                                      <p:tavLst>
                                        <p:tav tm="0">
                                          <p:val>
                                            <p:strVal val="#ppt_x"/>
                                          </p:val>
                                        </p:tav>
                                        <p:tav tm="100000">
                                          <p:val>
                                            <p:strVal val="#ppt_x"/>
                                          </p:val>
                                        </p:tav>
                                      </p:tavLst>
                                    </p:anim>
                                    <p:anim calcmode="lin" valueType="num">
                                      <p:cBhvr>
                                        <p:cTn id="78" dur="450" decel="100000" fill="hold"/>
                                        <p:tgtEl>
                                          <p:spTgt spid="14"/>
                                        </p:tgtEl>
                                        <p:attrNameLst>
                                          <p:attrName>ppt_y</p:attrName>
                                        </p:attrNameLst>
                                      </p:cBhvr>
                                      <p:tavLst>
                                        <p:tav tm="0">
                                          <p:val>
                                            <p:strVal val="#ppt_y+1"/>
                                          </p:val>
                                        </p:tav>
                                        <p:tav tm="100000">
                                          <p:val>
                                            <p:strVal val="#ppt_y-.03"/>
                                          </p:val>
                                        </p:tav>
                                      </p:tavLst>
                                    </p:anim>
                                    <p:anim calcmode="lin" valueType="num">
                                      <p:cBhvr>
                                        <p:cTn id="79"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80" presetID="37" presetClass="entr" presetSubtype="0" fill="hold" grpId="0" nodeType="with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500"/>
                                        <p:tgtEl>
                                          <p:spTgt spid="15"/>
                                        </p:tgtEl>
                                      </p:cBhvr>
                                    </p:animEffect>
                                    <p:anim calcmode="lin" valueType="num">
                                      <p:cBhvr>
                                        <p:cTn id="83" dur="500" fill="hold"/>
                                        <p:tgtEl>
                                          <p:spTgt spid="15"/>
                                        </p:tgtEl>
                                        <p:attrNameLst>
                                          <p:attrName>ppt_x</p:attrName>
                                        </p:attrNameLst>
                                      </p:cBhvr>
                                      <p:tavLst>
                                        <p:tav tm="0">
                                          <p:val>
                                            <p:strVal val="#ppt_x"/>
                                          </p:val>
                                        </p:tav>
                                        <p:tav tm="100000">
                                          <p:val>
                                            <p:strVal val="#ppt_x"/>
                                          </p:val>
                                        </p:tav>
                                      </p:tavLst>
                                    </p:anim>
                                    <p:anim calcmode="lin" valueType="num">
                                      <p:cBhvr>
                                        <p:cTn id="84" dur="450" decel="100000" fill="hold"/>
                                        <p:tgtEl>
                                          <p:spTgt spid="15"/>
                                        </p:tgtEl>
                                        <p:attrNameLst>
                                          <p:attrName>ppt_y</p:attrName>
                                        </p:attrNameLst>
                                      </p:cBhvr>
                                      <p:tavLst>
                                        <p:tav tm="0">
                                          <p:val>
                                            <p:strVal val="#ppt_y+1"/>
                                          </p:val>
                                        </p:tav>
                                        <p:tav tm="100000">
                                          <p:val>
                                            <p:strVal val="#ppt_y-.03"/>
                                          </p:val>
                                        </p:tav>
                                      </p:tavLst>
                                    </p:anim>
                                    <p:anim calcmode="lin" valueType="num">
                                      <p:cBhvr>
                                        <p:cTn id="85"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6" presetID="37" presetClass="entr" presetSubtype="0" fill="hold"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anim calcmode="lin" valueType="num">
                                      <p:cBhvr>
                                        <p:cTn id="89" dur="500" fill="hold"/>
                                        <p:tgtEl>
                                          <p:spTgt spid="16"/>
                                        </p:tgtEl>
                                        <p:attrNameLst>
                                          <p:attrName>ppt_x</p:attrName>
                                        </p:attrNameLst>
                                      </p:cBhvr>
                                      <p:tavLst>
                                        <p:tav tm="0">
                                          <p:val>
                                            <p:strVal val="#ppt_x"/>
                                          </p:val>
                                        </p:tav>
                                        <p:tav tm="100000">
                                          <p:val>
                                            <p:strVal val="#ppt_x"/>
                                          </p:val>
                                        </p:tav>
                                      </p:tavLst>
                                    </p:anim>
                                    <p:anim calcmode="lin" valueType="num">
                                      <p:cBhvr>
                                        <p:cTn id="90" dur="450" decel="100000" fill="hold"/>
                                        <p:tgtEl>
                                          <p:spTgt spid="16"/>
                                        </p:tgtEl>
                                        <p:attrNameLst>
                                          <p:attrName>ppt_y</p:attrName>
                                        </p:attrNameLst>
                                      </p:cBhvr>
                                      <p:tavLst>
                                        <p:tav tm="0">
                                          <p:val>
                                            <p:strVal val="#ppt_y+1"/>
                                          </p:val>
                                        </p:tav>
                                        <p:tav tm="100000">
                                          <p:val>
                                            <p:strVal val="#ppt_y-.03"/>
                                          </p:val>
                                        </p:tav>
                                      </p:tavLst>
                                    </p:anim>
                                    <p:anim calcmode="lin" valueType="num">
                                      <p:cBhvr>
                                        <p:cTn id="91"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2" presetID="37" presetClass="entr" presetSubtype="0" fill="hold" grpId="0"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500"/>
                                        <p:tgtEl>
                                          <p:spTgt spid="17"/>
                                        </p:tgtEl>
                                      </p:cBhvr>
                                    </p:animEffect>
                                    <p:anim calcmode="lin" valueType="num">
                                      <p:cBhvr>
                                        <p:cTn id="95" dur="500" fill="hold"/>
                                        <p:tgtEl>
                                          <p:spTgt spid="17"/>
                                        </p:tgtEl>
                                        <p:attrNameLst>
                                          <p:attrName>ppt_x</p:attrName>
                                        </p:attrNameLst>
                                      </p:cBhvr>
                                      <p:tavLst>
                                        <p:tav tm="0">
                                          <p:val>
                                            <p:strVal val="#ppt_x"/>
                                          </p:val>
                                        </p:tav>
                                        <p:tav tm="100000">
                                          <p:val>
                                            <p:strVal val="#ppt_x"/>
                                          </p:val>
                                        </p:tav>
                                      </p:tavLst>
                                    </p:anim>
                                    <p:anim calcmode="lin" valueType="num">
                                      <p:cBhvr>
                                        <p:cTn id="96" dur="450" decel="100000" fill="hold"/>
                                        <p:tgtEl>
                                          <p:spTgt spid="17"/>
                                        </p:tgtEl>
                                        <p:attrNameLst>
                                          <p:attrName>ppt_y</p:attrName>
                                        </p:attrNameLst>
                                      </p:cBhvr>
                                      <p:tavLst>
                                        <p:tav tm="0">
                                          <p:val>
                                            <p:strVal val="#ppt_y+1"/>
                                          </p:val>
                                        </p:tav>
                                        <p:tav tm="100000">
                                          <p:val>
                                            <p:strVal val="#ppt_y-.03"/>
                                          </p:val>
                                        </p:tav>
                                      </p:tavLst>
                                    </p:anim>
                                    <p:anim calcmode="lin" valueType="num">
                                      <p:cBhvr>
                                        <p:cTn id="97"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98" presetID="37" presetClass="entr" presetSubtype="0" fill="hold" grpId="0" nodeType="with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500"/>
                                        <p:tgtEl>
                                          <p:spTgt spid="18"/>
                                        </p:tgtEl>
                                      </p:cBhvr>
                                    </p:animEffect>
                                    <p:anim calcmode="lin" valueType="num">
                                      <p:cBhvr>
                                        <p:cTn id="101" dur="500" fill="hold"/>
                                        <p:tgtEl>
                                          <p:spTgt spid="18"/>
                                        </p:tgtEl>
                                        <p:attrNameLst>
                                          <p:attrName>ppt_x</p:attrName>
                                        </p:attrNameLst>
                                      </p:cBhvr>
                                      <p:tavLst>
                                        <p:tav tm="0">
                                          <p:val>
                                            <p:strVal val="#ppt_x"/>
                                          </p:val>
                                        </p:tav>
                                        <p:tav tm="100000">
                                          <p:val>
                                            <p:strVal val="#ppt_x"/>
                                          </p:val>
                                        </p:tav>
                                      </p:tavLst>
                                    </p:anim>
                                    <p:anim calcmode="lin" valueType="num">
                                      <p:cBhvr>
                                        <p:cTn id="102" dur="450" decel="100000" fill="hold"/>
                                        <p:tgtEl>
                                          <p:spTgt spid="18"/>
                                        </p:tgtEl>
                                        <p:attrNameLst>
                                          <p:attrName>ppt_y</p:attrName>
                                        </p:attrNameLst>
                                      </p:cBhvr>
                                      <p:tavLst>
                                        <p:tav tm="0">
                                          <p:val>
                                            <p:strVal val="#ppt_y+1"/>
                                          </p:val>
                                        </p:tav>
                                        <p:tav tm="100000">
                                          <p:val>
                                            <p:strVal val="#ppt_y-.03"/>
                                          </p:val>
                                        </p:tav>
                                      </p:tavLst>
                                    </p:anim>
                                    <p:anim calcmode="lin" valueType="num">
                                      <p:cBhvr>
                                        <p:cTn id="103"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500"/>
                                        <p:tgtEl>
                                          <p:spTgt spid="1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1" dur="500"/>
                                        <p:tgtEl>
                                          <p:spTgt spid="20"/>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6" dur="500"/>
                                        <p:tgtEl>
                                          <p:spTgt spid="21"/>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22"/>
                                        </p:tgtEl>
                                        <p:attrNameLst>
                                          <p:attrName>style.visibility</p:attrName>
                                        </p:attrNameLst>
                                      </p:cBhvr>
                                      <p:to>
                                        <p:strVal val="visible"/>
                                      </p:to>
                                    </p:set>
                                    <p:animEffect transition="in" filter="fade">
                                      <p:cBhvr>
                                        <p:cTn id="1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2" grpId="0" animBg="1"/>
      <p:bldP spid="13" grpId="0" animBg="1"/>
      <p:bldP spid="15" grpId="0" animBg="1"/>
      <p:bldP spid="17" grpId="0" animBg="1"/>
      <p:bldP spid="18" grpId="0" animBg="1"/>
      <p:bldP spid="20"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anim|1|zoom|after|"/>
          <p:cNvSpPr/>
          <p:nvPr/>
        </p:nvSpPr>
        <p:spPr>
          <a:xfrm>
            <a:off x="914400" y="731520"/>
            <a:ext cx="274320" cy="274320"/>
          </a:xfrm>
          <a:prstGeom prst="star4">
            <a:avLst/>
          </a:prstGeom>
          <a:solidFill>
            <a:srgbClr val="F2A541"/>
          </a:solidFill>
          <a:ln/>
        </p:spPr>
      </p:sp>
      <p:sp>
        <p:nvSpPr>
          <p:cNvPr id="3" name="anim|1|zoom|with|"/>
          <p:cNvSpPr/>
          <p:nvPr/>
        </p:nvSpPr>
        <p:spPr>
          <a:xfrm>
            <a:off x="10881360" y="1097280"/>
            <a:ext cx="219456" cy="219456"/>
          </a:xfrm>
          <a:prstGeom prst="star4">
            <a:avLst/>
          </a:prstGeom>
          <a:solidFill>
            <a:srgbClr val="A8D5C2"/>
          </a:solidFill>
          <a:ln/>
        </p:spPr>
      </p:sp>
      <p:sp>
        <p:nvSpPr>
          <p:cNvPr id="4" name="anim|1|zoom|with|"/>
          <p:cNvSpPr/>
          <p:nvPr/>
        </p:nvSpPr>
        <p:spPr>
          <a:xfrm>
            <a:off x="10332720" y="5760720"/>
            <a:ext cx="292608" cy="292608"/>
          </a:xfrm>
          <a:prstGeom prst="star4">
            <a:avLst/>
          </a:prstGeom>
          <a:solidFill>
            <a:srgbClr val="F2A541"/>
          </a:solidFill>
          <a:ln/>
        </p:spPr>
      </p:sp>
      <p:sp>
        <p:nvSpPr>
          <p:cNvPr id="5" name="anim|1|zoom|with|"/>
          <p:cNvSpPr/>
          <p:nvPr/>
        </p:nvSpPr>
        <p:spPr>
          <a:xfrm>
            <a:off x="1463040" y="5852160"/>
            <a:ext cx="182880" cy="182880"/>
          </a:xfrm>
          <a:prstGeom prst="star4">
            <a:avLst/>
          </a:prstGeom>
          <a:solidFill>
            <a:srgbClr val="A8D5C2"/>
          </a:solidFill>
          <a:ln/>
        </p:spPr>
      </p:sp>
      <p:pic>
        <p:nvPicPr>
          <p:cNvPr id="6" name="anim|2|fadedzoom|after|" descr="preencoded.png"/>
          <p:cNvPicPr>
            <a:picLocks noChangeAspect="1"/>
          </p:cNvPicPr>
          <p:nvPr/>
        </p:nvPicPr>
        <p:blipFill>
          <a:blip r:embed="rId3"/>
          <a:stretch>
            <a:fillRect/>
          </a:stretch>
        </p:blipFill>
        <p:spPr>
          <a:xfrm>
            <a:off x="5550408" y="685800"/>
            <a:ext cx="1097280" cy="1097280"/>
          </a:xfrm>
          <a:prstGeom prst="rect">
            <a:avLst/>
          </a:prstGeom>
        </p:spPr>
      </p:pic>
      <p:sp>
        <p:nvSpPr>
          <p:cNvPr id="7" name="anim|3|fade|click|"/>
          <p:cNvSpPr txBox="1"/>
          <p:nvPr/>
        </p:nvSpPr>
        <p:spPr>
          <a:xfrm>
            <a:off x="731520" y="1965960"/>
            <a:ext cx="10698480" cy="731520"/>
          </a:xfrm>
          <a:prstGeom prst="rect">
            <a:avLst/>
          </a:prstGeom>
          <a:noFill/>
          <a:ln/>
        </p:spPr>
        <p:txBody>
          <a:bodyPr wrap="square" lIns="0" tIns="0" rIns="0" bIns="0" rtlCol="0" anchor="ctr"/>
          <a:lstStyle/>
          <a:p>
            <a:pPr marL="0" indent="0" algn="ctr">
              <a:buNone/>
            </a:pPr>
            <a:r>
              <a:rPr lang="en-US" sz="3000" dirty="0">
                <a:solidFill>
                  <a:srgbClr val="B9C4BF"/>
                </a:solidFill>
                <a:latin typeface="Bookman Old Style" pitchFamily="34" charset="0"/>
                <a:ea typeface="Bookman Old Style" pitchFamily="34" charset="-122"/>
                <a:cs typeface="Bookman Old Style" pitchFamily="34" charset="-120"/>
              </a:rPr>
              <a:t>We don't tell you if your medicine is cold right now.</a:t>
            </a:r>
            <a:endParaRPr lang="en-US" sz="3000" dirty="0"/>
          </a:p>
        </p:txBody>
      </p:sp>
      <p:sp>
        <p:nvSpPr>
          <p:cNvPr id="8" name="anim|4|fadedzoom|click|"/>
          <p:cNvSpPr txBox="1"/>
          <p:nvPr/>
        </p:nvSpPr>
        <p:spPr>
          <a:xfrm>
            <a:off x="731520" y="2697480"/>
            <a:ext cx="10698480" cy="822960"/>
          </a:xfrm>
          <a:prstGeom prst="rect">
            <a:avLst/>
          </a:prstGeom>
          <a:noFill/>
          <a:ln/>
        </p:spPr>
        <p:txBody>
          <a:bodyPr wrap="square" lIns="0" tIns="0" rIns="0" bIns="0" rtlCol="0" anchor="ctr"/>
          <a:lstStyle/>
          <a:p>
            <a:pPr marL="0" indent="0" algn="ctr">
              <a:buNone/>
            </a:pPr>
            <a:r>
              <a:rPr lang="en-US" sz="3400" dirty="0">
                <a:solidFill>
                  <a:srgbClr val="F4F1EA"/>
                </a:solidFill>
                <a:latin typeface="Bookman Old Style" pitchFamily="34" charset="0"/>
                <a:ea typeface="Bookman Old Style" pitchFamily="34" charset="-122"/>
                <a:cs typeface="Bookman Old Style" pitchFamily="34" charset="-120"/>
              </a:rPr>
              <a:t>We tell you how much safe life it has left.</a:t>
            </a:r>
            <a:endParaRPr lang="en-US" sz="3400" dirty="0"/>
          </a:p>
        </p:txBody>
      </p:sp>
      <p:sp>
        <p:nvSpPr>
          <p:cNvPr id="9" name="anim|5|fade|click|"/>
          <p:cNvSpPr txBox="1"/>
          <p:nvPr/>
        </p:nvSpPr>
        <p:spPr>
          <a:xfrm>
            <a:off x="731520" y="3977640"/>
            <a:ext cx="10698480" cy="365760"/>
          </a:xfrm>
          <a:prstGeom prst="rect">
            <a:avLst/>
          </a:prstGeom>
          <a:noFill/>
          <a:ln/>
        </p:spPr>
        <p:txBody>
          <a:bodyPr wrap="square" lIns="0" tIns="0" rIns="0" bIns="0" rtlCol="0" anchor="ctr"/>
          <a:lstStyle/>
          <a:p>
            <a:pPr marL="0" indent="0" algn="ctr">
              <a:buNone/>
            </a:pPr>
            <a:r>
              <a:rPr lang="en-US" sz="1300" b="1" kern="0" spc="400" dirty="0">
                <a:solidFill>
                  <a:srgbClr val="F2A541"/>
                </a:solidFill>
                <a:latin typeface="Calibri" pitchFamily="34" charset="0"/>
                <a:ea typeface="Calibri" pitchFamily="34" charset="-122"/>
                <a:cs typeface="Calibri" pitchFamily="34" charset="-120"/>
              </a:rPr>
              <a:t>WHAT WE ARE LOOKING FOR</a:t>
            </a:r>
            <a:endParaRPr lang="en-US" sz="1300" dirty="0"/>
          </a:p>
        </p:txBody>
      </p:sp>
      <p:sp>
        <p:nvSpPr>
          <p:cNvPr id="10" name="anim|5|rise|after|"/>
          <p:cNvSpPr/>
          <p:nvPr/>
        </p:nvSpPr>
        <p:spPr>
          <a:xfrm>
            <a:off x="731520" y="4434840"/>
            <a:ext cx="2514600" cy="548640"/>
          </a:xfrm>
          <a:prstGeom prst="roundRect">
            <a:avLst>
              <a:gd name="adj" fmla="val 50000"/>
            </a:avLst>
          </a:prstGeom>
          <a:solidFill>
            <a:srgbClr val="2B2F31"/>
          </a:solidFill>
          <a:ln w="12700">
            <a:solidFill>
              <a:srgbClr val="45504C"/>
            </a:solidFill>
            <a:prstDash val="solid"/>
          </a:ln>
        </p:spPr>
      </p:sp>
      <p:sp>
        <p:nvSpPr>
          <p:cNvPr id="11" name="anim|5|rise|with|"/>
          <p:cNvSpPr txBox="1"/>
          <p:nvPr/>
        </p:nvSpPr>
        <p:spPr>
          <a:xfrm>
            <a:off x="731520" y="4434840"/>
            <a:ext cx="2514600" cy="548640"/>
          </a:xfrm>
          <a:prstGeom prst="rect">
            <a:avLst/>
          </a:prstGeom>
          <a:noFill/>
          <a:ln/>
        </p:spPr>
        <p:txBody>
          <a:bodyPr wrap="square" lIns="0" tIns="0" rIns="0" bIns="0" rtlCol="0" anchor="ctr"/>
          <a:lstStyle/>
          <a:p>
            <a:pPr marL="0" indent="0" algn="ctr">
              <a:buNone/>
            </a:pPr>
            <a:r>
              <a:rPr lang="en-US" sz="1300" dirty="0">
                <a:solidFill>
                  <a:srgbClr val="F4F1EA"/>
                </a:solidFill>
                <a:latin typeface="Calibri" pitchFamily="34" charset="0"/>
                <a:ea typeface="Calibri" pitchFamily="34" charset="-122"/>
                <a:cs typeface="Calibri" pitchFamily="34" charset="-120"/>
              </a:rPr>
              <a:t>Dearborn pharmacy pilot</a:t>
            </a:r>
            <a:endParaRPr lang="en-US" sz="1300" dirty="0"/>
          </a:p>
        </p:txBody>
      </p:sp>
      <p:sp>
        <p:nvSpPr>
          <p:cNvPr id="12" name="anim|5|rise|after|"/>
          <p:cNvSpPr/>
          <p:nvPr/>
        </p:nvSpPr>
        <p:spPr>
          <a:xfrm>
            <a:off x="3429000" y="4434840"/>
            <a:ext cx="2514600" cy="548640"/>
          </a:xfrm>
          <a:prstGeom prst="roundRect">
            <a:avLst>
              <a:gd name="adj" fmla="val 50000"/>
            </a:avLst>
          </a:prstGeom>
          <a:solidFill>
            <a:srgbClr val="2B2F31"/>
          </a:solidFill>
          <a:ln w="12700">
            <a:solidFill>
              <a:srgbClr val="45504C"/>
            </a:solidFill>
            <a:prstDash val="solid"/>
          </a:ln>
        </p:spPr>
      </p:sp>
      <p:sp>
        <p:nvSpPr>
          <p:cNvPr id="13" name="anim|5|rise|with|"/>
          <p:cNvSpPr txBox="1"/>
          <p:nvPr/>
        </p:nvSpPr>
        <p:spPr>
          <a:xfrm>
            <a:off x="3429000" y="4434840"/>
            <a:ext cx="2514600" cy="548640"/>
          </a:xfrm>
          <a:prstGeom prst="rect">
            <a:avLst/>
          </a:prstGeom>
          <a:noFill/>
          <a:ln/>
        </p:spPr>
        <p:txBody>
          <a:bodyPr wrap="square" lIns="0" tIns="0" rIns="0" bIns="0" rtlCol="0" anchor="ctr"/>
          <a:lstStyle/>
          <a:p>
            <a:pPr marL="0" indent="0" algn="ctr">
              <a:buNone/>
            </a:pPr>
            <a:r>
              <a:rPr lang="en-US" sz="1300" dirty="0">
                <a:solidFill>
                  <a:srgbClr val="F4F1EA"/>
                </a:solidFill>
                <a:latin typeface="Calibri" pitchFamily="34" charset="0"/>
                <a:ea typeface="Calibri" pitchFamily="34" charset="-122"/>
                <a:cs typeface="Calibri" pitchFamily="34" charset="-120"/>
              </a:rPr>
              <a:t>Utility storm-season partner</a:t>
            </a:r>
            <a:endParaRPr lang="en-US" sz="1300" dirty="0"/>
          </a:p>
        </p:txBody>
      </p:sp>
      <p:sp>
        <p:nvSpPr>
          <p:cNvPr id="14" name="anim|5|rise|after|"/>
          <p:cNvSpPr/>
          <p:nvPr/>
        </p:nvSpPr>
        <p:spPr>
          <a:xfrm>
            <a:off x="6126480" y="4434840"/>
            <a:ext cx="2514600" cy="548640"/>
          </a:xfrm>
          <a:prstGeom prst="roundRect">
            <a:avLst>
              <a:gd name="adj" fmla="val 50000"/>
            </a:avLst>
          </a:prstGeom>
          <a:solidFill>
            <a:srgbClr val="2B2F31"/>
          </a:solidFill>
          <a:ln w="12700">
            <a:solidFill>
              <a:srgbClr val="45504C"/>
            </a:solidFill>
            <a:prstDash val="solid"/>
          </a:ln>
        </p:spPr>
      </p:sp>
      <p:sp>
        <p:nvSpPr>
          <p:cNvPr id="15" name="anim|5|rise|with|"/>
          <p:cNvSpPr txBox="1"/>
          <p:nvPr/>
        </p:nvSpPr>
        <p:spPr>
          <a:xfrm>
            <a:off x="6126480" y="4434840"/>
            <a:ext cx="2514600" cy="548640"/>
          </a:xfrm>
          <a:prstGeom prst="rect">
            <a:avLst/>
          </a:prstGeom>
          <a:noFill/>
          <a:ln/>
        </p:spPr>
        <p:txBody>
          <a:bodyPr wrap="square" lIns="0" tIns="0" rIns="0" bIns="0" rtlCol="0" anchor="ctr"/>
          <a:lstStyle/>
          <a:p>
            <a:pPr marL="0" indent="0" algn="ctr">
              <a:buNone/>
            </a:pPr>
            <a:r>
              <a:rPr lang="en-US" sz="1300" dirty="0">
                <a:solidFill>
                  <a:srgbClr val="F4F1EA"/>
                </a:solidFill>
                <a:latin typeface="Calibri" pitchFamily="34" charset="0"/>
                <a:ea typeface="Calibri" pitchFamily="34" charset="-122"/>
                <a:cs typeface="Calibri" pitchFamily="34" charset="-120"/>
              </a:rPr>
              <a:t>Health-plan receipts pilot</a:t>
            </a:r>
            <a:endParaRPr lang="en-US" sz="1300" dirty="0"/>
          </a:p>
        </p:txBody>
      </p:sp>
      <p:sp>
        <p:nvSpPr>
          <p:cNvPr id="16" name="anim|5|rise|after|"/>
          <p:cNvSpPr/>
          <p:nvPr/>
        </p:nvSpPr>
        <p:spPr>
          <a:xfrm>
            <a:off x="8823960" y="4434840"/>
            <a:ext cx="2514600" cy="548640"/>
          </a:xfrm>
          <a:prstGeom prst="roundRect">
            <a:avLst>
              <a:gd name="adj" fmla="val 50000"/>
            </a:avLst>
          </a:prstGeom>
          <a:solidFill>
            <a:srgbClr val="2B2F31"/>
          </a:solidFill>
          <a:ln w="12700">
            <a:solidFill>
              <a:srgbClr val="45504C"/>
            </a:solidFill>
            <a:prstDash val="solid"/>
          </a:ln>
        </p:spPr>
      </p:sp>
      <p:sp>
        <p:nvSpPr>
          <p:cNvPr id="17" name="anim|5|rise|with|"/>
          <p:cNvSpPr txBox="1"/>
          <p:nvPr/>
        </p:nvSpPr>
        <p:spPr>
          <a:xfrm>
            <a:off x="8823960" y="4434840"/>
            <a:ext cx="2514600" cy="548640"/>
          </a:xfrm>
          <a:prstGeom prst="rect">
            <a:avLst/>
          </a:prstGeom>
          <a:noFill/>
          <a:ln/>
        </p:spPr>
        <p:txBody>
          <a:bodyPr wrap="square" lIns="0" tIns="0" rIns="0" bIns="0" rtlCol="0" anchor="ctr"/>
          <a:lstStyle/>
          <a:p>
            <a:pPr marL="0" indent="0" algn="ctr">
              <a:buNone/>
            </a:pPr>
            <a:r>
              <a:rPr lang="en-US" sz="1300" dirty="0">
                <a:solidFill>
                  <a:srgbClr val="F4F1EA"/>
                </a:solidFill>
                <a:latin typeface="Calibri" pitchFamily="34" charset="0"/>
                <a:ea typeface="Calibri" pitchFamily="34" charset="-122"/>
                <a:cs typeface="Calibri" pitchFamily="34" charset="-120"/>
              </a:rPr>
              <a:t>Clinical validation study</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600" fill="hold"/>
                                        <p:tgtEl>
                                          <p:spTgt spid="2"/>
                                        </p:tgtEl>
                                        <p:attrNameLst>
                                          <p:attrName>ppt_w</p:attrName>
                                        </p:attrNameLst>
                                      </p:cBhvr>
                                      <p:tavLst>
                                        <p:tav tm="0">
                                          <p:val>
                                            <p:fltVal val="0"/>
                                          </p:val>
                                        </p:tav>
                                        <p:tav tm="100000">
                                          <p:val>
                                            <p:strVal val="#ppt_w"/>
                                          </p:val>
                                        </p:tav>
                                      </p:tavLst>
                                    </p:anim>
                                    <p:anim calcmode="lin" valueType="num">
                                      <p:cBhvr>
                                        <p:cTn id="8" dur="600" fill="hold"/>
                                        <p:tgtEl>
                                          <p:spTgt spid="2"/>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600" fill="hold"/>
                                        <p:tgtEl>
                                          <p:spTgt spid="3"/>
                                        </p:tgtEl>
                                        <p:attrNameLst>
                                          <p:attrName>ppt_w</p:attrName>
                                        </p:attrNameLst>
                                      </p:cBhvr>
                                      <p:tavLst>
                                        <p:tav tm="0">
                                          <p:val>
                                            <p:fltVal val="0"/>
                                          </p:val>
                                        </p:tav>
                                        <p:tav tm="100000">
                                          <p:val>
                                            <p:strVal val="#ppt_w"/>
                                          </p:val>
                                        </p:tav>
                                      </p:tavLst>
                                    </p:anim>
                                    <p:anim calcmode="lin" valueType="num">
                                      <p:cBhvr>
                                        <p:cTn id="12" dur="600" fill="hold"/>
                                        <p:tgtEl>
                                          <p:spTgt spid="3"/>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600" fill="hold"/>
                                        <p:tgtEl>
                                          <p:spTgt spid="4"/>
                                        </p:tgtEl>
                                        <p:attrNameLst>
                                          <p:attrName>ppt_w</p:attrName>
                                        </p:attrNameLst>
                                      </p:cBhvr>
                                      <p:tavLst>
                                        <p:tav tm="0">
                                          <p:val>
                                            <p:fltVal val="0"/>
                                          </p:val>
                                        </p:tav>
                                        <p:tav tm="100000">
                                          <p:val>
                                            <p:strVal val="#ppt_w"/>
                                          </p:val>
                                        </p:tav>
                                      </p:tavLst>
                                    </p:anim>
                                    <p:anim calcmode="lin" valueType="num">
                                      <p:cBhvr>
                                        <p:cTn id="16" dur="6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600" fill="hold"/>
                                        <p:tgtEl>
                                          <p:spTgt spid="5"/>
                                        </p:tgtEl>
                                        <p:attrNameLst>
                                          <p:attrName>ppt_w</p:attrName>
                                        </p:attrNameLst>
                                      </p:cBhvr>
                                      <p:tavLst>
                                        <p:tav tm="0">
                                          <p:val>
                                            <p:fltVal val="0"/>
                                          </p:val>
                                        </p:tav>
                                        <p:tav tm="100000">
                                          <p:val>
                                            <p:strVal val="#ppt_w"/>
                                          </p:val>
                                        </p:tav>
                                      </p:tavLst>
                                    </p:anim>
                                    <p:anim calcmode="lin" valueType="num">
                                      <p:cBhvr>
                                        <p:cTn id="20" dur="600" fill="hold"/>
                                        <p:tgtEl>
                                          <p:spTgt spid="5"/>
                                        </p:tgtEl>
                                        <p:attrNameLst>
                                          <p:attrName>ppt_h</p:attrName>
                                        </p:attrNameLst>
                                      </p:cBhvr>
                                      <p:tavLst>
                                        <p:tav tm="0">
                                          <p:val>
                                            <p:fltVal val="0"/>
                                          </p:val>
                                        </p:tav>
                                        <p:tav tm="100000">
                                          <p:val>
                                            <p:strVal val="#ppt_h"/>
                                          </p:val>
                                        </p:tav>
                                      </p:tavLst>
                                    </p:anim>
                                  </p:childTnLst>
                                </p:cTn>
                              </p:par>
                            </p:childTnLst>
                          </p:cTn>
                        </p:par>
                        <p:par>
                          <p:cTn id="21" fill="hold">
                            <p:stCondLst>
                              <p:cond delay="600"/>
                            </p:stCondLst>
                            <p:childTnLst>
                              <p:par>
                                <p:cTn id="22" presetID="53" presetClass="entr" presetSubtype="1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600" fill="hold"/>
                                        <p:tgtEl>
                                          <p:spTgt spid="6"/>
                                        </p:tgtEl>
                                        <p:attrNameLst>
                                          <p:attrName>ppt_w</p:attrName>
                                        </p:attrNameLst>
                                      </p:cBhvr>
                                      <p:tavLst>
                                        <p:tav tm="0">
                                          <p:val>
                                            <p:fltVal val="0"/>
                                          </p:val>
                                        </p:tav>
                                        <p:tav tm="100000">
                                          <p:val>
                                            <p:strVal val="#ppt_w"/>
                                          </p:val>
                                        </p:tav>
                                      </p:tavLst>
                                    </p:anim>
                                    <p:anim calcmode="lin" valueType="num">
                                      <p:cBhvr>
                                        <p:cTn id="25" dur="600" fill="hold"/>
                                        <p:tgtEl>
                                          <p:spTgt spid="6"/>
                                        </p:tgtEl>
                                        <p:attrNameLst>
                                          <p:attrName>ppt_h</p:attrName>
                                        </p:attrNameLst>
                                      </p:cBhvr>
                                      <p:tavLst>
                                        <p:tav tm="0">
                                          <p:val>
                                            <p:fltVal val="0"/>
                                          </p:val>
                                        </p:tav>
                                        <p:tav tm="100000">
                                          <p:val>
                                            <p:strVal val="#ppt_h"/>
                                          </p:val>
                                        </p:tav>
                                      </p:tavLst>
                                    </p:anim>
                                    <p:animEffect transition="in" filter="fade">
                                      <p:cBhvr>
                                        <p:cTn id="26" dur="6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600" fill="hold"/>
                                        <p:tgtEl>
                                          <p:spTgt spid="8"/>
                                        </p:tgtEl>
                                        <p:attrNameLst>
                                          <p:attrName>ppt_w</p:attrName>
                                        </p:attrNameLst>
                                      </p:cBhvr>
                                      <p:tavLst>
                                        <p:tav tm="0">
                                          <p:val>
                                            <p:fltVal val="0"/>
                                          </p:val>
                                        </p:tav>
                                        <p:tav tm="100000">
                                          <p:val>
                                            <p:strVal val="#ppt_w"/>
                                          </p:val>
                                        </p:tav>
                                      </p:tavLst>
                                    </p:anim>
                                    <p:anim calcmode="lin" valueType="num">
                                      <p:cBhvr>
                                        <p:cTn id="37" dur="600" fill="hold"/>
                                        <p:tgtEl>
                                          <p:spTgt spid="8"/>
                                        </p:tgtEl>
                                        <p:attrNameLst>
                                          <p:attrName>ppt_h</p:attrName>
                                        </p:attrNameLst>
                                      </p:cBhvr>
                                      <p:tavLst>
                                        <p:tav tm="0">
                                          <p:val>
                                            <p:fltVal val="0"/>
                                          </p:val>
                                        </p:tav>
                                        <p:tav tm="100000">
                                          <p:val>
                                            <p:strVal val="#ppt_h"/>
                                          </p:val>
                                        </p:tav>
                                      </p:tavLst>
                                    </p:anim>
                                    <p:animEffect transition="in" filter="fade">
                                      <p:cBhvr>
                                        <p:cTn id="38" dur="6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500"/>
                            </p:stCondLst>
                            <p:childTnLst>
                              <p:par>
                                <p:cTn id="45" presetID="37" presetClass="entr" presetSubtype="0" fill="hold" nodeType="afterEffect">
                                  <p:stCondLst>
                                    <p:cond delay="5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anim calcmode="lin" valueType="num">
                                      <p:cBhvr>
                                        <p:cTn id="48" dur="500" fill="hold"/>
                                        <p:tgtEl>
                                          <p:spTgt spid="10"/>
                                        </p:tgtEl>
                                        <p:attrNameLst>
                                          <p:attrName>ppt_x</p:attrName>
                                        </p:attrNameLst>
                                      </p:cBhvr>
                                      <p:tavLst>
                                        <p:tav tm="0">
                                          <p:val>
                                            <p:strVal val="#ppt_x"/>
                                          </p:val>
                                        </p:tav>
                                        <p:tav tm="100000">
                                          <p:val>
                                            <p:strVal val="#ppt_x"/>
                                          </p:val>
                                        </p:tav>
                                      </p:tavLst>
                                    </p:anim>
                                    <p:anim calcmode="lin" valueType="num">
                                      <p:cBhvr>
                                        <p:cTn id="49" dur="450" decel="100000" fill="hold"/>
                                        <p:tgtEl>
                                          <p:spTgt spid="10"/>
                                        </p:tgtEl>
                                        <p:attrNameLst>
                                          <p:attrName>ppt_y</p:attrName>
                                        </p:attrNameLst>
                                      </p:cBhvr>
                                      <p:tavLst>
                                        <p:tav tm="0">
                                          <p:val>
                                            <p:strVal val="#ppt_y+1"/>
                                          </p:val>
                                        </p:tav>
                                        <p:tav tm="100000">
                                          <p:val>
                                            <p:strVal val="#ppt_y-.03"/>
                                          </p:val>
                                        </p:tav>
                                      </p:tavLst>
                                    </p:anim>
                                    <p:anim calcmode="lin" valueType="num">
                                      <p:cBhvr>
                                        <p:cTn id="50"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1" presetID="37"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anim calcmode="lin" valueType="num">
                                      <p:cBhvr>
                                        <p:cTn id="54" dur="500" fill="hold"/>
                                        <p:tgtEl>
                                          <p:spTgt spid="11"/>
                                        </p:tgtEl>
                                        <p:attrNameLst>
                                          <p:attrName>ppt_x</p:attrName>
                                        </p:attrNameLst>
                                      </p:cBhvr>
                                      <p:tavLst>
                                        <p:tav tm="0">
                                          <p:val>
                                            <p:strVal val="#ppt_x"/>
                                          </p:val>
                                        </p:tav>
                                        <p:tav tm="100000">
                                          <p:val>
                                            <p:strVal val="#ppt_x"/>
                                          </p:val>
                                        </p:tav>
                                      </p:tavLst>
                                    </p:anim>
                                    <p:anim calcmode="lin" valueType="num">
                                      <p:cBhvr>
                                        <p:cTn id="55" dur="450" decel="100000" fill="hold"/>
                                        <p:tgtEl>
                                          <p:spTgt spid="11"/>
                                        </p:tgtEl>
                                        <p:attrNameLst>
                                          <p:attrName>ppt_y</p:attrName>
                                        </p:attrNameLst>
                                      </p:cBhvr>
                                      <p:tavLst>
                                        <p:tav tm="0">
                                          <p:val>
                                            <p:strVal val="#ppt_y+1"/>
                                          </p:val>
                                        </p:tav>
                                        <p:tav tm="100000">
                                          <p:val>
                                            <p:strVal val="#ppt_y-.03"/>
                                          </p:val>
                                        </p:tav>
                                      </p:tavLst>
                                    </p:anim>
                                    <p:anim calcmode="lin" valueType="num">
                                      <p:cBhvr>
                                        <p:cTn id="56"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childTnLst>
                          </p:cTn>
                        </p:par>
                        <p:par>
                          <p:cTn id="57" fill="hold">
                            <p:stCondLst>
                              <p:cond delay="1050"/>
                            </p:stCondLst>
                            <p:childTnLst>
                              <p:par>
                                <p:cTn id="58" presetID="37" presetClass="entr" presetSubtype="0" fill="hold" nodeType="afterEffect">
                                  <p:stCondLst>
                                    <p:cond delay="5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anim calcmode="lin" valueType="num">
                                      <p:cBhvr>
                                        <p:cTn id="61" dur="500" fill="hold"/>
                                        <p:tgtEl>
                                          <p:spTgt spid="12"/>
                                        </p:tgtEl>
                                        <p:attrNameLst>
                                          <p:attrName>ppt_x</p:attrName>
                                        </p:attrNameLst>
                                      </p:cBhvr>
                                      <p:tavLst>
                                        <p:tav tm="0">
                                          <p:val>
                                            <p:strVal val="#ppt_x"/>
                                          </p:val>
                                        </p:tav>
                                        <p:tav tm="100000">
                                          <p:val>
                                            <p:strVal val="#ppt_x"/>
                                          </p:val>
                                        </p:tav>
                                      </p:tavLst>
                                    </p:anim>
                                    <p:anim calcmode="lin" valueType="num">
                                      <p:cBhvr>
                                        <p:cTn id="62" dur="450" decel="100000" fill="hold"/>
                                        <p:tgtEl>
                                          <p:spTgt spid="12"/>
                                        </p:tgtEl>
                                        <p:attrNameLst>
                                          <p:attrName>ppt_y</p:attrName>
                                        </p:attrNameLst>
                                      </p:cBhvr>
                                      <p:tavLst>
                                        <p:tav tm="0">
                                          <p:val>
                                            <p:strVal val="#ppt_y+1"/>
                                          </p:val>
                                        </p:tav>
                                        <p:tav tm="100000">
                                          <p:val>
                                            <p:strVal val="#ppt_y-.03"/>
                                          </p:val>
                                        </p:tav>
                                      </p:tavLst>
                                    </p:anim>
                                    <p:anim calcmode="lin" valueType="num">
                                      <p:cBhvr>
                                        <p:cTn id="6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4" presetID="37"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anim calcmode="lin" valueType="num">
                                      <p:cBhvr>
                                        <p:cTn id="67" dur="500" fill="hold"/>
                                        <p:tgtEl>
                                          <p:spTgt spid="13"/>
                                        </p:tgtEl>
                                        <p:attrNameLst>
                                          <p:attrName>ppt_x</p:attrName>
                                        </p:attrNameLst>
                                      </p:cBhvr>
                                      <p:tavLst>
                                        <p:tav tm="0">
                                          <p:val>
                                            <p:strVal val="#ppt_x"/>
                                          </p:val>
                                        </p:tav>
                                        <p:tav tm="100000">
                                          <p:val>
                                            <p:strVal val="#ppt_x"/>
                                          </p:val>
                                        </p:tav>
                                      </p:tavLst>
                                    </p:anim>
                                    <p:anim calcmode="lin" valueType="num">
                                      <p:cBhvr>
                                        <p:cTn id="68" dur="450" decel="100000" fill="hold"/>
                                        <p:tgtEl>
                                          <p:spTgt spid="13"/>
                                        </p:tgtEl>
                                        <p:attrNameLst>
                                          <p:attrName>ppt_y</p:attrName>
                                        </p:attrNameLst>
                                      </p:cBhvr>
                                      <p:tavLst>
                                        <p:tav tm="0">
                                          <p:val>
                                            <p:strVal val="#ppt_y+1"/>
                                          </p:val>
                                        </p:tav>
                                        <p:tav tm="100000">
                                          <p:val>
                                            <p:strVal val="#ppt_y-.03"/>
                                          </p:val>
                                        </p:tav>
                                      </p:tavLst>
                                    </p:anim>
                                    <p:anim calcmode="lin" valueType="num">
                                      <p:cBhvr>
                                        <p:cTn id="69"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par>
                          <p:cTn id="70" fill="hold">
                            <p:stCondLst>
                              <p:cond delay="1600"/>
                            </p:stCondLst>
                            <p:childTnLst>
                              <p:par>
                                <p:cTn id="71" presetID="37" presetClass="entr" presetSubtype="0" fill="hold" nodeType="afterEffect">
                                  <p:stCondLst>
                                    <p:cond delay="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anim calcmode="lin" valueType="num">
                                      <p:cBhvr>
                                        <p:cTn id="74" dur="500" fill="hold"/>
                                        <p:tgtEl>
                                          <p:spTgt spid="14"/>
                                        </p:tgtEl>
                                        <p:attrNameLst>
                                          <p:attrName>ppt_x</p:attrName>
                                        </p:attrNameLst>
                                      </p:cBhvr>
                                      <p:tavLst>
                                        <p:tav tm="0">
                                          <p:val>
                                            <p:strVal val="#ppt_x"/>
                                          </p:val>
                                        </p:tav>
                                        <p:tav tm="100000">
                                          <p:val>
                                            <p:strVal val="#ppt_x"/>
                                          </p:val>
                                        </p:tav>
                                      </p:tavLst>
                                    </p:anim>
                                    <p:anim calcmode="lin" valueType="num">
                                      <p:cBhvr>
                                        <p:cTn id="75" dur="450" decel="100000" fill="hold"/>
                                        <p:tgtEl>
                                          <p:spTgt spid="14"/>
                                        </p:tgtEl>
                                        <p:attrNameLst>
                                          <p:attrName>ppt_y</p:attrName>
                                        </p:attrNameLst>
                                      </p:cBhvr>
                                      <p:tavLst>
                                        <p:tav tm="0">
                                          <p:val>
                                            <p:strVal val="#ppt_y+1"/>
                                          </p:val>
                                        </p:tav>
                                        <p:tav tm="100000">
                                          <p:val>
                                            <p:strVal val="#ppt_y-.03"/>
                                          </p:val>
                                        </p:tav>
                                      </p:tavLst>
                                    </p:anim>
                                    <p:anim calcmode="lin" valueType="num">
                                      <p:cBhvr>
                                        <p:cTn id="76"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77" presetID="37" presetClass="entr" presetSubtype="0" fill="hold" grpId="0" nodeType="with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anim calcmode="lin" valueType="num">
                                      <p:cBhvr>
                                        <p:cTn id="80" dur="500" fill="hold"/>
                                        <p:tgtEl>
                                          <p:spTgt spid="15"/>
                                        </p:tgtEl>
                                        <p:attrNameLst>
                                          <p:attrName>ppt_x</p:attrName>
                                        </p:attrNameLst>
                                      </p:cBhvr>
                                      <p:tavLst>
                                        <p:tav tm="0">
                                          <p:val>
                                            <p:strVal val="#ppt_x"/>
                                          </p:val>
                                        </p:tav>
                                        <p:tav tm="100000">
                                          <p:val>
                                            <p:strVal val="#ppt_x"/>
                                          </p:val>
                                        </p:tav>
                                      </p:tavLst>
                                    </p:anim>
                                    <p:anim calcmode="lin" valueType="num">
                                      <p:cBhvr>
                                        <p:cTn id="81" dur="450" decel="100000" fill="hold"/>
                                        <p:tgtEl>
                                          <p:spTgt spid="15"/>
                                        </p:tgtEl>
                                        <p:attrNameLst>
                                          <p:attrName>ppt_y</p:attrName>
                                        </p:attrNameLst>
                                      </p:cBhvr>
                                      <p:tavLst>
                                        <p:tav tm="0">
                                          <p:val>
                                            <p:strVal val="#ppt_y+1"/>
                                          </p:val>
                                        </p:tav>
                                        <p:tav tm="100000">
                                          <p:val>
                                            <p:strVal val="#ppt_y-.03"/>
                                          </p:val>
                                        </p:tav>
                                      </p:tavLst>
                                    </p:anim>
                                    <p:anim calcmode="lin" valueType="num">
                                      <p:cBhvr>
                                        <p:cTn id="82"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83" fill="hold">
                            <p:stCondLst>
                              <p:cond delay="2150"/>
                            </p:stCondLst>
                            <p:childTnLst>
                              <p:par>
                                <p:cTn id="84" presetID="37" presetClass="entr" presetSubtype="0" fill="hold" nodeType="afterEffect">
                                  <p:stCondLst>
                                    <p:cond delay="50"/>
                                  </p:stCondLst>
                                  <p:childTnLst>
                                    <p:set>
                                      <p:cBhvr>
                                        <p:cTn id="85" dur="1" fill="hold">
                                          <p:stCondLst>
                                            <p:cond delay="0"/>
                                          </p:stCondLst>
                                        </p:cTn>
                                        <p:tgtEl>
                                          <p:spTgt spid="16"/>
                                        </p:tgtEl>
                                        <p:attrNameLst>
                                          <p:attrName>style.visibility</p:attrName>
                                        </p:attrNameLst>
                                      </p:cBhvr>
                                      <p:to>
                                        <p:strVal val="visible"/>
                                      </p:to>
                                    </p:set>
                                    <p:animEffect transition="in" filter="fade">
                                      <p:cBhvr>
                                        <p:cTn id="86" dur="500"/>
                                        <p:tgtEl>
                                          <p:spTgt spid="16"/>
                                        </p:tgtEl>
                                      </p:cBhvr>
                                    </p:animEffect>
                                    <p:anim calcmode="lin" valueType="num">
                                      <p:cBhvr>
                                        <p:cTn id="87" dur="500" fill="hold"/>
                                        <p:tgtEl>
                                          <p:spTgt spid="16"/>
                                        </p:tgtEl>
                                        <p:attrNameLst>
                                          <p:attrName>ppt_x</p:attrName>
                                        </p:attrNameLst>
                                      </p:cBhvr>
                                      <p:tavLst>
                                        <p:tav tm="0">
                                          <p:val>
                                            <p:strVal val="#ppt_x"/>
                                          </p:val>
                                        </p:tav>
                                        <p:tav tm="100000">
                                          <p:val>
                                            <p:strVal val="#ppt_x"/>
                                          </p:val>
                                        </p:tav>
                                      </p:tavLst>
                                    </p:anim>
                                    <p:anim calcmode="lin" valueType="num">
                                      <p:cBhvr>
                                        <p:cTn id="88" dur="450" decel="100000" fill="hold"/>
                                        <p:tgtEl>
                                          <p:spTgt spid="16"/>
                                        </p:tgtEl>
                                        <p:attrNameLst>
                                          <p:attrName>ppt_y</p:attrName>
                                        </p:attrNameLst>
                                      </p:cBhvr>
                                      <p:tavLst>
                                        <p:tav tm="0">
                                          <p:val>
                                            <p:strVal val="#ppt_y+1"/>
                                          </p:val>
                                        </p:tav>
                                        <p:tav tm="100000">
                                          <p:val>
                                            <p:strVal val="#ppt_y-.03"/>
                                          </p:val>
                                        </p:tav>
                                      </p:tavLst>
                                    </p:anim>
                                    <p:anim calcmode="lin" valueType="num">
                                      <p:cBhvr>
                                        <p:cTn id="89"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0" presetID="37" presetClass="entr" presetSubtype="0"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anim calcmode="lin" valueType="num">
                                      <p:cBhvr>
                                        <p:cTn id="93" dur="500" fill="hold"/>
                                        <p:tgtEl>
                                          <p:spTgt spid="17"/>
                                        </p:tgtEl>
                                        <p:attrNameLst>
                                          <p:attrName>ppt_x</p:attrName>
                                        </p:attrNameLst>
                                      </p:cBhvr>
                                      <p:tavLst>
                                        <p:tav tm="0">
                                          <p:val>
                                            <p:strVal val="#ppt_x"/>
                                          </p:val>
                                        </p:tav>
                                        <p:tav tm="100000">
                                          <p:val>
                                            <p:strVal val="#ppt_x"/>
                                          </p:val>
                                        </p:tav>
                                      </p:tavLst>
                                    </p:anim>
                                    <p:anim calcmode="lin" valueType="num">
                                      <p:cBhvr>
                                        <p:cTn id="94" dur="450" decel="100000" fill="hold"/>
                                        <p:tgtEl>
                                          <p:spTgt spid="17"/>
                                        </p:tgtEl>
                                        <p:attrNameLst>
                                          <p:attrName>ppt_y</p:attrName>
                                        </p:attrNameLst>
                                      </p:cBhvr>
                                      <p:tavLst>
                                        <p:tav tm="0">
                                          <p:val>
                                            <p:strVal val="#ppt_y+1"/>
                                          </p:val>
                                        </p:tav>
                                        <p:tav tm="100000">
                                          <p:val>
                                            <p:strVal val="#ppt_y-.03"/>
                                          </p:val>
                                        </p:tav>
                                      </p:tavLst>
                                    </p:anim>
                                    <p:anim calcmode="lin" valueType="num">
                                      <p:cBhvr>
                                        <p:cTn id="95"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3" grpId="0" animBg="1"/>
      <p:bldP spid="15"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lIns="0" tIns="0" rIns="0" bIns="0" rtlCol="0" anchor="ctr"/>
          <a:lstStyle/>
          <a:p>
            <a:pPr marL="0" indent="0" algn="ctr">
              <a:buNone/>
            </a:pPr>
            <a:r>
              <a:rPr lang="en-US" sz="3200" dirty="0">
                <a:solidFill>
                  <a:srgbClr val="F4F1EA"/>
                </a:solidFill>
                <a:latin typeface="Bookman Old Style" pitchFamily="34" charset="0"/>
                <a:ea typeface="Bookman Old Style" pitchFamily="34" charset="-122"/>
                <a:cs typeface="Bookman Old Style" pitchFamily="34" charset="-120"/>
              </a:rPr>
              <a:t>Appendix: backup slides for questions</a:t>
            </a:r>
            <a:endParaRPr lang="en-US" sz="3200" dirty="0"/>
          </a:p>
        </p:txBody>
      </p:sp>
      <p:sp>
        <p:nvSpPr>
          <p:cNvPr id="3" name="Text 1"/>
          <p:cNvSpPr txBox="1"/>
          <p:nvPr/>
        </p:nvSpPr>
        <p:spPr>
          <a:xfrm>
            <a:off x="731520" y="1234440"/>
            <a:ext cx="10698480" cy="411480"/>
          </a:xfrm>
          <a:prstGeom prst="rect">
            <a:avLst/>
          </a:prstGeom>
          <a:noFill/>
          <a:ln/>
        </p:spPr>
        <p:txBody>
          <a:bodyPr wrap="square" lIns="0" tIns="0" rIns="0" bIns="0" rtlCol="0" anchor="ctr"/>
          <a:lstStyle/>
          <a:p>
            <a:pPr marL="0" indent="0" algn="ctr">
              <a:buNone/>
            </a:pPr>
            <a:r>
              <a:rPr lang="en-US" sz="1500" dirty="0">
                <a:solidFill>
                  <a:srgbClr val="B9C4BF"/>
                </a:solidFill>
                <a:latin typeface="Calibri" pitchFamily="34" charset="0"/>
                <a:ea typeface="Calibri" pitchFamily="34" charset="-122"/>
                <a:cs typeface="Calibri" pitchFamily="34" charset="-120"/>
              </a:rPr>
              <a:t>Hidden in the slideshow. To open one while presenting, type its number and press Enter.</a:t>
            </a:r>
            <a:endParaRPr lang="en-US" sz="1500" dirty="0"/>
          </a:p>
        </p:txBody>
      </p:sp>
      <p:sp>
        <p:nvSpPr>
          <p:cNvPr id="4" name="Text 2"/>
          <p:cNvSpPr txBox="1"/>
          <p:nvPr/>
        </p:nvSpPr>
        <p:spPr>
          <a:xfrm>
            <a:off x="822960" y="192024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15</a:t>
            </a:r>
            <a:endParaRPr lang="en-US" sz="1800" dirty="0"/>
          </a:p>
        </p:txBody>
      </p:sp>
      <p:sp>
        <p:nvSpPr>
          <p:cNvPr id="5" name="Text 3"/>
          <p:cNvSpPr txBox="1"/>
          <p:nvPr/>
        </p:nvSpPr>
        <p:spPr>
          <a:xfrm>
            <a:off x="1463040" y="192024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Everyone watches medicine until it reaches you</a:t>
            </a:r>
            <a:endParaRPr lang="en-US" sz="1500" dirty="0"/>
          </a:p>
        </p:txBody>
      </p:sp>
      <p:sp>
        <p:nvSpPr>
          <p:cNvPr id="6" name="Text 4"/>
          <p:cNvSpPr txBox="1"/>
          <p:nvPr/>
        </p:nvSpPr>
        <p:spPr>
          <a:xfrm>
            <a:off x="822960" y="246888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16</a:t>
            </a:r>
            <a:endParaRPr lang="en-US" sz="1800" dirty="0"/>
          </a:p>
        </p:txBody>
      </p:sp>
      <p:sp>
        <p:nvSpPr>
          <p:cNvPr id="7" name="Text 5"/>
          <p:cNvSpPr txBox="1"/>
          <p:nvPr/>
        </p:nvSpPr>
        <p:spPr>
          <a:xfrm>
            <a:off x="1463040" y="246888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What's new here</a:t>
            </a:r>
            <a:endParaRPr lang="en-US" sz="1500" dirty="0"/>
          </a:p>
        </p:txBody>
      </p:sp>
      <p:sp>
        <p:nvSpPr>
          <p:cNvPr id="8" name="Text 6"/>
          <p:cNvSpPr txBox="1"/>
          <p:nvPr/>
        </p:nvSpPr>
        <p:spPr>
          <a:xfrm>
            <a:off x="822960" y="301752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17</a:t>
            </a:r>
            <a:endParaRPr lang="en-US" sz="1800" dirty="0"/>
          </a:p>
        </p:txBody>
      </p:sp>
      <p:sp>
        <p:nvSpPr>
          <p:cNvPr id="9" name="Text 7"/>
          <p:cNvSpPr txBox="1"/>
          <p:nvPr/>
        </p:nvSpPr>
        <p:spPr>
          <a:xfrm>
            <a:off x="1463040" y="301752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Tiger Data does the heavy lifting</a:t>
            </a:r>
            <a:endParaRPr lang="en-US" sz="1500" dirty="0"/>
          </a:p>
        </p:txBody>
      </p:sp>
      <p:sp>
        <p:nvSpPr>
          <p:cNvPr id="10" name="Text 8"/>
          <p:cNvSpPr txBox="1"/>
          <p:nvPr/>
        </p:nvSpPr>
        <p:spPr>
          <a:xfrm>
            <a:off x="822960" y="356616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18</a:t>
            </a:r>
            <a:endParaRPr lang="en-US" sz="1800" dirty="0"/>
          </a:p>
        </p:txBody>
      </p:sp>
      <p:sp>
        <p:nvSpPr>
          <p:cNvPr id="11" name="Text 9"/>
          <p:cNvSpPr txBox="1"/>
          <p:nvPr/>
        </p:nvSpPr>
        <p:spPr>
          <a:xfrm>
            <a:off x="1463040" y="356616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Gemini: from messy reality to clear advice</a:t>
            </a:r>
            <a:endParaRPr lang="en-US" sz="1500" dirty="0"/>
          </a:p>
        </p:txBody>
      </p:sp>
      <p:sp>
        <p:nvSpPr>
          <p:cNvPr id="12" name="Text 10"/>
          <p:cNvSpPr txBox="1"/>
          <p:nvPr/>
        </p:nvSpPr>
        <p:spPr>
          <a:xfrm>
            <a:off x="822960" y="411480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19</a:t>
            </a:r>
            <a:endParaRPr lang="en-US" sz="1800" dirty="0"/>
          </a:p>
        </p:txBody>
      </p:sp>
      <p:sp>
        <p:nvSpPr>
          <p:cNvPr id="13" name="Text 11"/>
          <p:cNvSpPr txBox="1"/>
          <p:nvPr/>
        </p:nvSpPr>
        <p:spPr>
          <a:xfrm>
            <a:off x="1463040" y="411480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A forecast trained for each medicine</a:t>
            </a:r>
            <a:endParaRPr lang="en-US" sz="1500" dirty="0"/>
          </a:p>
        </p:txBody>
      </p:sp>
      <p:sp>
        <p:nvSpPr>
          <p:cNvPr id="14" name="Text 12"/>
          <p:cNvSpPr txBox="1"/>
          <p:nvPr/>
        </p:nvSpPr>
        <p:spPr>
          <a:xfrm>
            <a:off x="822960" y="466344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20</a:t>
            </a:r>
            <a:endParaRPr lang="en-US" sz="1800" dirty="0"/>
          </a:p>
        </p:txBody>
      </p:sp>
      <p:sp>
        <p:nvSpPr>
          <p:cNvPr id="15" name="Text 13"/>
          <p:cNvSpPr txBox="1"/>
          <p:nvPr/>
        </p:nvSpPr>
        <p:spPr>
          <a:xfrm>
            <a:off x="1463040" y="466344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Real outages, live from DTE</a:t>
            </a:r>
            <a:endParaRPr lang="en-US" sz="1500" dirty="0"/>
          </a:p>
        </p:txBody>
      </p:sp>
      <p:sp>
        <p:nvSpPr>
          <p:cNvPr id="16" name="Text 14"/>
          <p:cNvSpPr txBox="1"/>
          <p:nvPr/>
        </p:nvSpPr>
        <p:spPr>
          <a:xfrm>
            <a:off x="822960" y="521208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21</a:t>
            </a:r>
            <a:endParaRPr lang="en-US" sz="1800" dirty="0"/>
          </a:p>
        </p:txBody>
      </p:sp>
      <p:sp>
        <p:nvSpPr>
          <p:cNvPr id="17" name="Text 15"/>
          <p:cNvSpPr txBox="1"/>
          <p:nvPr/>
        </p:nvSpPr>
        <p:spPr>
          <a:xfrm>
            <a:off x="1463040" y="521208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Numbers you can trust, and limits we show</a:t>
            </a:r>
            <a:endParaRPr lang="en-US" sz="1500" dirty="0"/>
          </a:p>
        </p:txBody>
      </p:sp>
      <p:sp>
        <p:nvSpPr>
          <p:cNvPr id="18" name="Text 16"/>
          <p:cNvSpPr txBox="1"/>
          <p:nvPr/>
        </p:nvSpPr>
        <p:spPr>
          <a:xfrm>
            <a:off x="822960" y="576072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22</a:t>
            </a:r>
            <a:endParaRPr lang="en-US" sz="1800" dirty="0"/>
          </a:p>
        </p:txBody>
      </p:sp>
      <p:sp>
        <p:nvSpPr>
          <p:cNvPr id="19" name="Text 17"/>
          <p:cNvSpPr txBox="1"/>
          <p:nvPr/>
        </p:nvSpPr>
        <p:spPr>
          <a:xfrm>
            <a:off x="1463040" y="576072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Records a pharmacist can verify</a:t>
            </a:r>
            <a:endParaRPr lang="en-US" sz="1500" dirty="0"/>
          </a:p>
        </p:txBody>
      </p:sp>
      <p:sp>
        <p:nvSpPr>
          <p:cNvPr id="20" name="Text 18"/>
          <p:cNvSpPr txBox="1"/>
          <p:nvPr/>
        </p:nvSpPr>
        <p:spPr>
          <a:xfrm>
            <a:off x="6400800" y="192024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23</a:t>
            </a:r>
            <a:endParaRPr lang="en-US" sz="1800" dirty="0"/>
          </a:p>
        </p:txBody>
      </p:sp>
      <p:sp>
        <p:nvSpPr>
          <p:cNvPr id="21" name="Text 19"/>
          <p:cNvSpPr txBox="1"/>
          <p:nvPr/>
        </p:nvSpPr>
        <p:spPr>
          <a:xfrm>
            <a:off x="7040880" y="192024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Was the dose I took last Tuesday still good?</a:t>
            </a:r>
            <a:endParaRPr lang="en-US" sz="1500" dirty="0"/>
          </a:p>
        </p:txBody>
      </p:sp>
      <p:sp>
        <p:nvSpPr>
          <p:cNvPr id="22" name="Text 20"/>
          <p:cNvSpPr txBox="1"/>
          <p:nvPr/>
        </p:nvSpPr>
        <p:spPr>
          <a:xfrm>
            <a:off x="6400800" y="246888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24</a:t>
            </a:r>
            <a:endParaRPr lang="en-US" sz="1800" dirty="0"/>
          </a:p>
        </p:txBody>
      </p:sp>
      <p:sp>
        <p:nvSpPr>
          <p:cNvPr id="23" name="Text 21"/>
          <p:cNvSpPr txBox="1"/>
          <p:nvPr/>
        </p:nvSpPr>
        <p:spPr>
          <a:xfrm>
            <a:off x="7040880" y="246888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In your language, with your data in your hands</a:t>
            </a:r>
            <a:endParaRPr lang="en-US" sz="1500" dirty="0"/>
          </a:p>
        </p:txBody>
      </p:sp>
      <p:sp>
        <p:nvSpPr>
          <p:cNvPr id="24" name="Text 22"/>
          <p:cNvSpPr txBox="1"/>
          <p:nvPr/>
        </p:nvSpPr>
        <p:spPr>
          <a:xfrm>
            <a:off x="6400800" y="301752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25</a:t>
            </a:r>
            <a:endParaRPr lang="en-US" sz="1800" dirty="0"/>
          </a:p>
        </p:txBody>
      </p:sp>
      <p:sp>
        <p:nvSpPr>
          <p:cNvPr id="25" name="Text 23"/>
          <p:cNvSpPr txBox="1"/>
          <p:nvPr/>
        </p:nvSpPr>
        <p:spPr>
          <a:xfrm>
            <a:off x="7040880" y="301752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Works with or without AI</a:t>
            </a:r>
            <a:endParaRPr lang="en-US" sz="1500" dirty="0"/>
          </a:p>
        </p:txBody>
      </p:sp>
      <p:sp>
        <p:nvSpPr>
          <p:cNvPr id="26" name="Text 24"/>
          <p:cNvSpPr txBox="1"/>
          <p:nvPr/>
        </p:nvSpPr>
        <p:spPr>
          <a:xfrm>
            <a:off x="6400800" y="356616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26</a:t>
            </a:r>
            <a:endParaRPr lang="en-US" sz="1800" dirty="0"/>
          </a:p>
        </p:txBody>
      </p:sp>
      <p:sp>
        <p:nvSpPr>
          <p:cNvPr id="27" name="Text 25"/>
          <p:cNvSpPr txBox="1"/>
          <p:nvPr/>
        </p:nvSpPr>
        <p:spPr>
          <a:xfrm>
            <a:off x="7040880" y="356616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Build on LIFELOG (developers)</a:t>
            </a:r>
            <a:endParaRPr lang="en-US" sz="1500" dirty="0"/>
          </a:p>
        </p:txBody>
      </p:sp>
      <p:sp>
        <p:nvSpPr>
          <p:cNvPr id="28" name="Text 26"/>
          <p:cNvSpPr txBox="1"/>
          <p:nvPr/>
        </p:nvSpPr>
        <p:spPr>
          <a:xfrm>
            <a:off x="6400800" y="411480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27</a:t>
            </a:r>
            <a:endParaRPr lang="en-US" sz="1800" dirty="0"/>
          </a:p>
        </p:txBody>
      </p:sp>
      <p:sp>
        <p:nvSpPr>
          <p:cNvPr id="29" name="Text 27"/>
          <p:cNvSpPr txBox="1"/>
          <p:nvPr/>
        </p:nvSpPr>
        <p:spPr>
          <a:xfrm>
            <a:off x="7040880" y="411480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Try it three ways (demo accounts)</a:t>
            </a:r>
            <a:endParaRPr lang="en-US" sz="1500" dirty="0"/>
          </a:p>
        </p:txBody>
      </p:sp>
      <p:sp>
        <p:nvSpPr>
          <p:cNvPr id="30" name="Text 28"/>
          <p:cNvSpPr txBox="1"/>
          <p:nvPr/>
        </p:nvSpPr>
        <p:spPr>
          <a:xfrm>
            <a:off x="6400800" y="466344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28</a:t>
            </a:r>
            <a:endParaRPr lang="en-US" sz="1800" dirty="0"/>
          </a:p>
        </p:txBody>
      </p:sp>
      <p:sp>
        <p:nvSpPr>
          <p:cNvPr id="31" name="Text 29"/>
          <p:cNvSpPr txBox="1"/>
          <p:nvPr/>
        </p:nvSpPr>
        <p:spPr>
          <a:xfrm>
            <a:off x="7040880" y="466344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What you'll see in the live demo</a:t>
            </a:r>
            <a:endParaRPr lang="en-US" sz="1500" dirty="0"/>
          </a:p>
        </p:txBody>
      </p:sp>
      <p:sp>
        <p:nvSpPr>
          <p:cNvPr id="32" name="Text 30"/>
          <p:cNvSpPr txBox="1"/>
          <p:nvPr/>
        </p:nvSpPr>
        <p:spPr>
          <a:xfrm>
            <a:off x="6400800" y="521208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29</a:t>
            </a:r>
            <a:endParaRPr lang="en-US" sz="1800" dirty="0"/>
          </a:p>
        </p:txBody>
      </p:sp>
      <p:sp>
        <p:nvSpPr>
          <p:cNvPr id="33" name="Text 31"/>
          <p:cNvSpPr txBox="1"/>
          <p:nvPr/>
        </p:nvSpPr>
        <p:spPr>
          <a:xfrm>
            <a:off x="7040880" y="521208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Who it helps</a:t>
            </a:r>
            <a:endParaRPr lang="en-US" sz="1500" dirty="0"/>
          </a:p>
        </p:txBody>
      </p:sp>
      <p:sp>
        <p:nvSpPr>
          <p:cNvPr id="34" name="Text 32"/>
          <p:cNvSpPr txBox="1"/>
          <p:nvPr/>
        </p:nvSpPr>
        <p:spPr>
          <a:xfrm>
            <a:off x="6400800" y="5760720"/>
            <a:ext cx="548640" cy="457200"/>
          </a:xfrm>
          <a:prstGeom prst="rect">
            <a:avLst/>
          </a:prstGeom>
          <a:noFill/>
          <a:ln/>
        </p:spPr>
        <p:txBody>
          <a:bodyPr wrap="square" lIns="0" tIns="0" rIns="0" bIns="0" rtlCol="0" anchor="ctr"/>
          <a:lstStyle/>
          <a:p>
            <a:pPr marL="0" indent="0">
              <a:buNone/>
            </a:pPr>
            <a:r>
              <a:rPr lang="en-US" sz="1800" b="1" dirty="0">
                <a:solidFill>
                  <a:srgbClr val="F2A541"/>
                </a:solidFill>
                <a:latin typeface="Calibri" pitchFamily="34" charset="0"/>
                <a:ea typeface="Calibri" pitchFamily="34" charset="-122"/>
                <a:cs typeface="Calibri" pitchFamily="34" charset="-120"/>
              </a:rPr>
              <a:t>30</a:t>
            </a:r>
            <a:endParaRPr lang="en-US" sz="1800" dirty="0"/>
          </a:p>
        </p:txBody>
      </p:sp>
      <p:sp>
        <p:nvSpPr>
          <p:cNvPr id="35" name="Text 33"/>
          <p:cNvSpPr txBox="1"/>
          <p:nvPr/>
        </p:nvSpPr>
        <p:spPr>
          <a:xfrm>
            <a:off x="7040880" y="5760720"/>
            <a:ext cx="4754880" cy="457200"/>
          </a:xfrm>
          <a:prstGeom prst="rect">
            <a:avLst/>
          </a:prstGeom>
          <a:noFill/>
          <a:ln/>
        </p:spPr>
        <p:txBody>
          <a:bodyPr wrap="square" lIns="0" tIns="0" rIns="0" bIns="0" rtlCol="0" anchor="ctr"/>
          <a:lstStyle/>
          <a:p>
            <a:pPr marL="0" indent="0">
              <a:buNone/>
            </a:pPr>
            <a:r>
              <a:rPr lang="en-US" sz="1500" dirty="0">
                <a:solidFill>
                  <a:srgbClr val="F4F1EA"/>
                </a:solidFill>
                <a:latin typeface="Calibri" pitchFamily="34" charset="0"/>
                <a:ea typeface="Calibri" pitchFamily="34" charset="-122"/>
                <a:cs typeface="Calibri" pitchFamily="34" charset="-120"/>
              </a:rPr>
              <a:t>Tested end to end, and what's still open</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900">
        <p:fade/>
        <p:sndAc>
          <p:stSnd>
            <p:snd r:embed="rId3" name="whoosh.wav"/>
          </p:stSnd>
        </p:sndAc>
      </p:transition>
    </mc:Choice>
    <mc:Fallback>
      <p:transition spd="slow">
        <p:fade/>
        <p:sndAc>
          <p:stSnd>
            <p:snd r:embed="rId3" name="whoosh.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Everyone watches medicine until it reaches you</a:t>
            </a:r>
            <a:endParaRPr lang="en-US" sz="3200" dirty="0"/>
          </a:p>
        </p:txBody>
      </p:sp>
      <p:sp>
        <p:nvSpPr>
          <p:cNvPr id="3" name="anim|1|rise|click|"/>
          <p:cNvSpPr/>
          <p:nvPr/>
        </p:nvSpPr>
        <p:spPr>
          <a:xfrm>
            <a:off x="548640" y="1417320"/>
            <a:ext cx="2606040" cy="4480560"/>
          </a:xfrm>
          <a:prstGeom prst="roundRect">
            <a:avLst>
              <a:gd name="adj" fmla="val 4211"/>
            </a:avLst>
          </a:prstGeom>
          <a:solidFill>
            <a:srgbClr val="2B2F31"/>
          </a:solidFill>
          <a:ln w="9525">
            <a:solidFill>
              <a:srgbClr val="45504C"/>
            </a:solidFill>
            <a:prstDash val="solid"/>
          </a:ln>
        </p:spPr>
      </p:sp>
      <p:sp>
        <p:nvSpPr>
          <p:cNvPr id="4" name="anim|1|rise|with|"/>
          <p:cNvSpPr/>
          <p:nvPr/>
        </p:nvSpPr>
        <p:spPr>
          <a:xfrm>
            <a:off x="822960" y="1691640"/>
            <a:ext cx="777240" cy="777240"/>
          </a:xfrm>
          <a:prstGeom prst="ellipse">
            <a:avLst/>
          </a:prstGeom>
          <a:solidFill>
            <a:srgbClr val="343A3C"/>
          </a:solidFill>
          <a:ln/>
        </p:spPr>
      </p:sp>
      <p:pic>
        <p:nvPicPr>
          <p:cNvPr id="5" name="anim|1|rise|with|" descr="preencoded.png"/>
          <p:cNvPicPr>
            <a:picLocks noChangeAspect="1"/>
          </p:cNvPicPr>
          <p:nvPr/>
        </p:nvPicPr>
        <p:blipFill>
          <a:blip r:embed="rId3"/>
          <a:stretch>
            <a:fillRect/>
          </a:stretch>
        </p:blipFill>
        <p:spPr>
          <a:xfrm>
            <a:off x="993953" y="1862633"/>
            <a:ext cx="435254" cy="435254"/>
          </a:xfrm>
          <a:prstGeom prst="rect">
            <a:avLst/>
          </a:prstGeom>
        </p:spPr>
      </p:pic>
      <p:sp>
        <p:nvSpPr>
          <p:cNvPr id="6" name="anim|1|rise|with|"/>
          <p:cNvSpPr txBox="1"/>
          <p:nvPr/>
        </p:nvSpPr>
        <p:spPr>
          <a:xfrm>
            <a:off x="822960" y="2651760"/>
            <a:ext cx="2148840" cy="68580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Warehouse trackers</a:t>
            </a:r>
            <a:endParaRPr lang="en-US" sz="1800" dirty="0"/>
          </a:p>
        </p:txBody>
      </p:sp>
      <p:sp>
        <p:nvSpPr>
          <p:cNvPr id="7" name="anim|1|rise|with|"/>
          <p:cNvSpPr txBox="1"/>
          <p:nvPr/>
        </p:nvSpPr>
        <p:spPr>
          <a:xfrm>
            <a:off x="822960" y="3337560"/>
            <a:ext cx="2148840" cy="365760"/>
          </a:xfrm>
          <a:prstGeom prst="rect">
            <a:avLst/>
          </a:prstGeom>
          <a:noFill/>
          <a:ln/>
        </p:spPr>
        <p:txBody>
          <a:bodyPr wrap="square" lIns="0" tIns="0" rIns="0" bIns="0" rtlCol="0" anchor="ctr"/>
          <a:lstStyle/>
          <a:p>
            <a:pPr marL="0" indent="0">
              <a:buNone/>
            </a:pPr>
            <a:r>
              <a:rPr lang="en-US" sz="1300" i="1" dirty="0">
                <a:solidFill>
                  <a:srgbClr val="B9C4BF"/>
                </a:solidFill>
                <a:latin typeface="Calibri" pitchFamily="34" charset="0"/>
                <a:ea typeface="Calibri" pitchFamily="34" charset="-122"/>
                <a:cs typeface="Calibri" pitchFamily="34" charset="-120"/>
              </a:rPr>
              <a:t>e.g. Controlant, Zest Labs</a:t>
            </a:r>
            <a:endParaRPr lang="en-US" sz="1300" dirty="0"/>
          </a:p>
        </p:txBody>
      </p:sp>
      <p:sp>
        <p:nvSpPr>
          <p:cNvPr id="8" name="anim|1|rise|with|"/>
          <p:cNvSpPr txBox="1"/>
          <p:nvPr/>
        </p:nvSpPr>
        <p:spPr>
          <a:xfrm>
            <a:off x="822960" y="3794760"/>
            <a:ext cx="21945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Track pallets and shelf life</a:t>
            </a:r>
            <a:endParaRPr lang="en-US" sz="1500" dirty="0"/>
          </a:p>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Stop at delivery</a:t>
            </a:r>
            <a:endParaRPr lang="en-US" sz="1500" dirty="0"/>
          </a:p>
        </p:txBody>
      </p:sp>
      <p:sp>
        <p:nvSpPr>
          <p:cNvPr id="9" name="anim|2|rise|click|"/>
          <p:cNvSpPr/>
          <p:nvPr/>
        </p:nvSpPr>
        <p:spPr>
          <a:xfrm>
            <a:off x="3364992" y="1417320"/>
            <a:ext cx="2606040" cy="4480560"/>
          </a:xfrm>
          <a:prstGeom prst="roundRect">
            <a:avLst>
              <a:gd name="adj" fmla="val 4211"/>
            </a:avLst>
          </a:prstGeom>
          <a:solidFill>
            <a:srgbClr val="2B2F31"/>
          </a:solidFill>
          <a:ln w="9525">
            <a:solidFill>
              <a:srgbClr val="45504C"/>
            </a:solidFill>
            <a:prstDash val="solid"/>
          </a:ln>
        </p:spPr>
      </p:sp>
      <p:sp>
        <p:nvSpPr>
          <p:cNvPr id="10" name="anim|2|rise|with|"/>
          <p:cNvSpPr/>
          <p:nvPr/>
        </p:nvSpPr>
        <p:spPr>
          <a:xfrm>
            <a:off x="3639312" y="1691640"/>
            <a:ext cx="777240" cy="777240"/>
          </a:xfrm>
          <a:prstGeom prst="ellipse">
            <a:avLst/>
          </a:prstGeom>
          <a:solidFill>
            <a:srgbClr val="343A3C"/>
          </a:solidFill>
          <a:ln/>
        </p:spPr>
      </p:sp>
      <p:pic>
        <p:nvPicPr>
          <p:cNvPr id="11" name="anim|2|rise|with|" descr="preencoded.png"/>
          <p:cNvPicPr>
            <a:picLocks noChangeAspect="1"/>
          </p:cNvPicPr>
          <p:nvPr/>
        </p:nvPicPr>
        <p:blipFill>
          <a:blip r:embed="rId4"/>
          <a:stretch>
            <a:fillRect/>
          </a:stretch>
        </p:blipFill>
        <p:spPr>
          <a:xfrm>
            <a:off x="3810305" y="1862633"/>
            <a:ext cx="435254" cy="435254"/>
          </a:xfrm>
          <a:prstGeom prst="rect">
            <a:avLst/>
          </a:prstGeom>
        </p:spPr>
      </p:pic>
      <p:sp>
        <p:nvSpPr>
          <p:cNvPr id="12" name="anim|2|rise|with|"/>
          <p:cNvSpPr txBox="1"/>
          <p:nvPr/>
        </p:nvSpPr>
        <p:spPr>
          <a:xfrm>
            <a:off x="3639312" y="2651760"/>
            <a:ext cx="2148840" cy="68580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Fridge thermometers</a:t>
            </a:r>
            <a:endParaRPr lang="en-US" sz="1800" dirty="0"/>
          </a:p>
        </p:txBody>
      </p:sp>
      <p:sp>
        <p:nvSpPr>
          <p:cNvPr id="13" name="anim|2|rise|with|"/>
          <p:cNvSpPr txBox="1"/>
          <p:nvPr/>
        </p:nvSpPr>
        <p:spPr>
          <a:xfrm>
            <a:off x="3639312" y="3337560"/>
            <a:ext cx="2148840" cy="365760"/>
          </a:xfrm>
          <a:prstGeom prst="rect">
            <a:avLst/>
          </a:prstGeom>
          <a:noFill/>
          <a:ln/>
        </p:spPr>
        <p:txBody>
          <a:bodyPr wrap="square" lIns="0" tIns="0" rIns="0" bIns="0" rtlCol="0" anchor="ctr"/>
          <a:lstStyle/>
          <a:p>
            <a:pPr marL="0" indent="0">
              <a:buNone/>
            </a:pPr>
            <a:r>
              <a:rPr lang="en-US" sz="1300" i="1" dirty="0">
                <a:solidFill>
                  <a:srgbClr val="B9C4BF"/>
                </a:solidFill>
                <a:latin typeface="Calibri" pitchFamily="34" charset="0"/>
                <a:ea typeface="Calibri" pitchFamily="34" charset="-122"/>
                <a:cs typeface="Calibri" pitchFamily="34" charset="-120"/>
              </a:rPr>
              <a:t>Alarms and loggers</a:t>
            </a:r>
            <a:endParaRPr lang="en-US" sz="1300" dirty="0"/>
          </a:p>
        </p:txBody>
      </p:sp>
      <p:sp>
        <p:nvSpPr>
          <p:cNvPr id="14" name="anim|2|rise|with|"/>
          <p:cNvSpPr txBox="1"/>
          <p:nvPr/>
        </p:nvSpPr>
        <p:spPr>
          <a:xfrm>
            <a:off x="3639312" y="3794760"/>
            <a:ext cx="21945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Beep at one threshold</a:t>
            </a:r>
            <a:endParaRPr lang="en-US" sz="1500" dirty="0"/>
          </a:p>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No memory, no label rules</a:t>
            </a:r>
            <a:endParaRPr lang="en-US" sz="1500" dirty="0"/>
          </a:p>
        </p:txBody>
      </p:sp>
      <p:sp>
        <p:nvSpPr>
          <p:cNvPr id="15" name="anim|3|rise|click|"/>
          <p:cNvSpPr/>
          <p:nvPr/>
        </p:nvSpPr>
        <p:spPr>
          <a:xfrm>
            <a:off x="6181344" y="1417320"/>
            <a:ext cx="2606040" cy="4480560"/>
          </a:xfrm>
          <a:prstGeom prst="roundRect">
            <a:avLst>
              <a:gd name="adj" fmla="val 4211"/>
            </a:avLst>
          </a:prstGeom>
          <a:solidFill>
            <a:srgbClr val="2B2F31"/>
          </a:solidFill>
          <a:ln w="9525">
            <a:solidFill>
              <a:srgbClr val="45504C"/>
            </a:solidFill>
            <a:prstDash val="solid"/>
          </a:ln>
        </p:spPr>
      </p:sp>
      <p:sp>
        <p:nvSpPr>
          <p:cNvPr id="16" name="anim|3|rise|with|"/>
          <p:cNvSpPr/>
          <p:nvPr/>
        </p:nvSpPr>
        <p:spPr>
          <a:xfrm>
            <a:off x="6455664" y="1691640"/>
            <a:ext cx="777240" cy="777240"/>
          </a:xfrm>
          <a:prstGeom prst="ellipse">
            <a:avLst/>
          </a:prstGeom>
          <a:solidFill>
            <a:srgbClr val="343A3C"/>
          </a:solidFill>
          <a:ln/>
        </p:spPr>
      </p:sp>
      <p:pic>
        <p:nvPicPr>
          <p:cNvPr id="17" name="anim|3|rise|with|" descr="preencoded.png"/>
          <p:cNvPicPr>
            <a:picLocks noChangeAspect="1"/>
          </p:cNvPicPr>
          <p:nvPr/>
        </p:nvPicPr>
        <p:blipFill>
          <a:blip r:embed="rId5"/>
          <a:stretch>
            <a:fillRect/>
          </a:stretch>
        </p:blipFill>
        <p:spPr>
          <a:xfrm>
            <a:off x="6626657" y="1862633"/>
            <a:ext cx="435254" cy="435254"/>
          </a:xfrm>
          <a:prstGeom prst="rect">
            <a:avLst/>
          </a:prstGeom>
        </p:spPr>
      </p:pic>
      <p:sp>
        <p:nvSpPr>
          <p:cNvPr id="18" name="anim|3|rise|with|"/>
          <p:cNvSpPr txBox="1"/>
          <p:nvPr/>
        </p:nvSpPr>
        <p:spPr>
          <a:xfrm>
            <a:off x="6455664" y="2651760"/>
            <a:ext cx="2148840" cy="68580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The label and pharmacist</a:t>
            </a:r>
            <a:endParaRPr lang="en-US" sz="1800" dirty="0"/>
          </a:p>
        </p:txBody>
      </p:sp>
      <p:sp>
        <p:nvSpPr>
          <p:cNvPr id="19" name="anim|3|rise|with|"/>
          <p:cNvSpPr txBox="1"/>
          <p:nvPr/>
        </p:nvSpPr>
        <p:spPr>
          <a:xfrm>
            <a:off x="6455664" y="3337560"/>
            <a:ext cx="2148840" cy="365760"/>
          </a:xfrm>
          <a:prstGeom prst="rect">
            <a:avLst/>
          </a:prstGeom>
          <a:noFill/>
          <a:ln/>
        </p:spPr>
        <p:txBody>
          <a:bodyPr wrap="square" lIns="0" tIns="0" rIns="0" bIns="0" rtlCol="0" anchor="ctr"/>
          <a:lstStyle/>
          <a:p>
            <a:pPr marL="0" indent="0">
              <a:buNone/>
            </a:pPr>
            <a:r>
              <a:rPr lang="en-US" sz="1300" i="1" dirty="0">
                <a:solidFill>
                  <a:srgbClr val="B9C4BF"/>
                </a:solidFill>
                <a:latin typeface="Calibri" pitchFamily="34" charset="0"/>
                <a:ea typeface="Calibri" pitchFamily="34" charset="-122"/>
                <a:cs typeface="Calibri" pitchFamily="34" charset="-120"/>
              </a:rPr>
              <a:t>The rules exist</a:t>
            </a:r>
            <a:endParaRPr lang="en-US" sz="1300" dirty="0"/>
          </a:p>
        </p:txBody>
      </p:sp>
      <p:sp>
        <p:nvSpPr>
          <p:cNvPr id="20" name="anim|3|rise|with|"/>
          <p:cNvSpPr txBox="1"/>
          <p:nvPr/>
        </p:nvSpPr>
        <p:spPr>
          <a:xfrm>
            <a:off x="6455664" y="3794760"/>
            <a:ext cx="21945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Know what's allowed</a:t>
            </a:r>
            <a:endParaRPr lang="en-US" sz="1500" dirty="0"/>
          </a:p>
          <a:p>
            <a:pPr marL="342900" indent="-342900">
              <a:spcAft>
                <a:spcPts val="600"/>
              </a:spcAft>
              <a:buSzPct val="100000"/>
              <a:buChar char="•"/>
            </a:pPr>
            <a:r>
              <a:rPr lang="en-US" sz="1500" dirty="0">
                <a:solidFill>
                  <a:srgbClr val="B9C4BF"/>
                </a:solidFill>
                <a:latin typeface="Calibri" pitchFamily="34" charset="0"/>
                <a:ea typeface="Calibri" pitchFamily="34" charset="-122"/>
                <a:cs typeface="Calibri" pitchFamily="34" charset="-120"/>
              </a:rPr>
              <a:t>Can't see what happened</a:t>
            </a:r>
            <a:endParaRPr lang="en-US" sz="1500" dirty="0"/>
          </a:p>
        </p:txBody>
      </p:sp>
      <p:sp>
        <p:nvSpPr>
          <p:cNvPr id="21" name="anim|4|fadedzoom|click|"/>
          <p:cNvSpPr/>
          <p:nvPr/>
        </p:nvSpPr>
        <p:spPr>
          <a:xfrm>
            <a:off x="8997696" y="1417320"/>
            <a:ext cx="2606040" cy="4480560"/>
          </a:xfrm>
          <a:prstGeom prst="roundRect">
            <a:avLst>
              <a:gd name="adj" fmla="val 4211"/>
            </a:avLst>
          </a:prstGeom>
          <a:solidFill>
            <a:srgbClr val="23352F"/>
          </a:solidFill>
          <a:ln w="25400">
            <a:solidFill>
              <a:srgbClr val="A8D5C2"/>
            </a:solidFill>
            <a:prstDash val="solid"/>
          </a:ln>
          <a:effectLst>
            <a:outerShdw blurRad="127000" dist="38100" dir="5400000" algn="bl" rotWithShape="0">
              <a:srgbClr val="000000">
                <a:alpha val="35000"/>
              </a:srgbClr>
            </a:outerShdw>
          </a:effectLst>
        </p:spPr>
      </p:sp>
      <p:sp>
        <p:nvSpPr>
          <p:cNvPr id="22" name="anim|4|rise|with|"/>
          <p:cNvSpPr/>
          <p:nvPr/>
        </p:nvSpPr>
        <p:spPr>
          <a:xfrm>
            <a:off x="9272016" y="1691640"/>
            <a:ext cx="777240" cy="777240"/>
          </a:xfrm>
          <a:prstGeom prst="ellipse">
            <a:avLst/>
          </a:prstGeom>
          <a:solidFill>
            <a:srgbClr val="6FA391"/>
          </a:solidFill>
          <a:ln/>
        </p:spPr>
      </p:sp>
      <p:pic>
        <p:nvPicPr>
          <p:cNvPr id="23" name="anim|4|rise|with|" descr="preencoded.png"/>
          <p:cNvPicPr>
            <a:picLocks noChangeAspect="1"/>
          </p:cNvPicPr>
          <p:nvPr/>
        </p:nvPicPr>
        <p:blipFill>
          <a:blip r:embed="rId6"/>
          <a:stretch>
            <a:fillRect/>
          </a:stretch>
        </p:blipFill>
        <p:spPr>
          <a:xfrm>
            <a:off x="9443009" y="1862633"/>
            <a:ext cx="435254" cy="435254"/>
          </a:xfrm>
          <a:prstGeom prst="rect">
            <a:avLst/>
          </a:prstGeom>
        </p:spPr>
      </p:pic>
      <p:sp>
        <p:nvSpPr>
          <p:cNvPr id="24" name="anim|4|rise|with|"/>
          <p:cNvSpPr txBox="1"/>
          <p:nvPr/>
        </p:nvSpPr>
        <p:spPr>
          <a:xfrm>
            <a:off x="9272016" y="2651760"/>
            <a:ext cx="2148840" cy="685800"/>
          </a:xfrm>
          <a:prstGeom prst="rect">
            <a:avLst/>
          </a:prstGeom>
          <a:noFill/>
          <a:ln/>
        </p:spPr>
        <p:txBody>
          <a:bodyPr wrap="square" lIns="0" tIns="0" rIns="0" bIns="0" rtlCol="0" anchor="t"/>
          <a:lstStyle/>
          <a:p>
            <a:pPr marL="0" indent="0">
              <a:buNone/>
            </a:pPr>
            <a:r>
              <a:rPr lang="en-US" sz="2200" b="1" dirty="0">
                <a:solidFill>
                  <a:srgbClr val="F4F1EA"/>
                </a:solidFill>
                <a:latin typeface="Bookman Old Style" pitchFamily="34" charset="0"/>
                <a:ea typeface="Bookman Old Style" pitchFamily="34" charset="-122"/>
                <a:cs typeface="Bookman Old Style" pitchFamily="34" charset="-120"/>
              </a:rPr>
              <a:t>LIFELOG</a:t>
            </a:r>
            <a:endParaRPr lang="en-US" sz="2200" dirty="0"/>
          </a:p>
        </p:txBody>
      </p:sp>
      <p:sp>
        <p:nvSpPr>
          <p:cNvPr id="25" name="anim|4|rise|with|"/>
          <p:cNvSpPr txBox="1"/>
          <p:nvPr/>
        </p:nvSpPr>
        <p:spPr>
          <a:xfrm>
            <a:off x="9272016" y="3337560"/>
            <a:ext cx="2148840" cy="365760"/>
          </a:xfrm>
          <a:prstGeom prst="rect">
            <a:avLst/>
          </a:prstGeom>
          <a:noFill/>
          <a:ln/>
        </p:spPr>
        <p:txBody>
          <a:bodyPr wrap="square" lIns="0" tIns="0" rIns="0" bIns="0" rtlCol="0" anchor="ctr"/>
          <a:lstStyle/>
          <a:p>
            <a:pPr marL="0" indent="0">
              <a:buNone/>
            </a:pPr>
            <a:r>
              <a:rPr lang="en-US" sz="1300" i="1" dirty="0">
                <a:solidFill>
                  <a:srgbClr val="F2A541"/>
                </a:solidFill>
                <a:latin typeface="Calibri" pitchFamily="34" charset="0"/>
                <a:ea typeface="Calibri" pitchFamily="34" charset="-122"/>
                <a:cs typeface="Calibri" pitchFamily="34" charset="-120"/>
              </a:rPr>
              <a:t>Patient-side, live</a:t>
            </a:r>
            <a:endParaRPr lang="en-US" sz="1300" dirty="0"/>
          </a:p>
        </p:txBody>
      </p:sp>
      <p:sp>
        <p:nvSpPr>
          <p:cNvPr id="26" name="anim|4|rise|with|"/>
          <p:cNvSpPr txBox="1"/>
          <p:nvPr/>
        </p:nvSpPr>
        <p:spPr>
          <a:xfrm>
            <a:off x="9272016" y="3794760"/>
            <a:ext cx="21945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Reads the label for you</a:t>
            </a:r>
            <a:endParaRPr lang="en-US" sz="1500" dirty="0"/>
          </a:p>
          <a:p>
            <a:pPr marL="342900" indent="-3429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Remembers every reading</a:t>
            </a:r>
            <a:endParaRPr lang="en-US" sz="1500" dirty="0"/>
          </a:p>
          <a:p>
            <a:pPr marL="342900" indent="-342900">
              <a:spcAft>
                <a:spcPts val="600"/>
              </a:spcAft>
              <a:buSzPct val="100000"/>
              <a:buChar char="•"/>
            </a:pPr>
            <a:r>
              <a:rPr lang="en-US" sz="1500" dirty="0">
                <a:solidFill>
                  <a:srgbClr val="F4F1EA"/>
                </a:solidFill>
                <a:latin typeface="Calibri" pitchFamily="34" charset="0"/>
                <a:ea typeface="Calibri" pitchFamily="34" charset="-122"/>
                <a:cs typeface="Calibri" pitchFamily="34" charset="-120"/>
              </a:rPr>
              <a:t>Tells you what to do</a:t>
            </a:r>
            <a:endParaRPr lang="en-US" sz="1500" dirty="0"/>
          </a:p>
        </p:txBody>
      </p:sp>
      <p:sp>
        <p:nvSpPr>
          <p:cNvPr id="27"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450" decel="100000" fill="hold"/>
                                        <p:tgtEl>
                                          <p:spTgt spid="3"/>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450" decel="100000" fill="hold"/>
                                        <p:tgtEl>
                                          <p:spTgt spid="4"/>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450" decel="100000" fill="hold"/>
                                        <p:tgtEl>
                                          <p:spTgt spid="5"/>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450" decel="100000" fill="hold"/>
                                        <p:tgtEl>
                                          <p:spTgt spid="6"/>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fill="hold"/>
                                        <p:tgtEl>
                                          <p:spTgt spid="7"/>
                                        </p:tgtEl>
                                        <p:attrNameLst>
                                          <p:attrName>ppt_x</p:attrName>
                                        </p:attrNameLst>
                                      </p:cBhvr>
                                      <p:tavLst>
                                        <p:tav tm="0">
                                          <p:val>
                                            <p:strVal val="#ppt_x"/>
                                          </p:val>
                                        </p:tav>
                                        <p:tav tm="100000">
                                          <p:val>
                                            <p:strVal val="#ppt_x"/>
                                          </p:val>
                                        </p:tav>
                                      </p:tavLst>
                                    </p:anim>
                                    <p:anim calcmode="lin" valueType="num">
                                      <p:cBhvr>
                                        <p:cTn id="33" dur="450" decel="100000" fill="hold"/>
                                        <p:tgtEl>
                                          <p:spTgt spid="7"/>
                                        </p:tgtEl>
                                        <p:attrNameLst>
                                          <p:attrName>ppt_y</p:attrName>
                                        </p:attrNameLst>
                                      </p:cBhvr>
                                      <p:tavLst>
                                        <p:tav tm="0">
                                          <p:val>
                                            <p:strVal val="#ppt_y+1"/>
                                          </p:val>
                                        </p:tav>
                                        <p:tav tm="100000">
                                          <p:val>
                                            <p:strVal val="#ppt_y-.03"/>
                                          </p:val>
                                        </p:tav>
                                      </p:tavLst>
                                    </p:anim>
                                    <p:anim calcmode="lin" valueType="num">
                                      <p:cBhvr>
                                        <p:cTn id="34"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p:cTn id="38" dur="500" fill="hold"/>
                                        <p:tgtEl>
                                          <p:spTgt spid="8"/>
                                        </p:tgtEl>
                                        <p:attrNameLst>
                                          <p:attrName>ppt_x</p:attrName>
                                        </p:attrNameLst>
                                      </p:cBhvr>
                                      <p:tavLst>
                                        <p:tav tm="0">
                                          <p:val>
                                            <p:strVal val="#ppt_x"/>
                                          </p:val>
                                        </p:tav>
                                        <p:tav tm="100000">
                                          <p:val>
                                            <p:strVal val="#ppt_x"/>
                                          </p:val>
                                        </p:tav>
                                      </p:tavLst>
                                    </p:anim>
                                    <p:anim calcmode="lin" valueType="num">
                                      <p:cBhvr>
                                        <p:cTn id="39" dur="450" decel="100000" fill="hold"/>
                                        <p:tgtEl>
                                          <p:spTgt spid="8"/>
                                        </p:tgtEl>
                                        <p:attrNameLst>
                                          <p:attrName>ppt_y</p:attrName>
                                        </p:attrNameLst>
                                      </p:cBhvr>
                                      <p:tavLst>
                                        <p:tav tm="0">
                                          <p:val>
                                            <p:strVal val="#ppt_y+1"/>
                                          </p:val>
                                        </p:tav>
                                        <p:tav tm="100000">
                                          <p:val>
                                            <p:strVal val="#ppt_y-.03"/>
                                          </p:val>
                                        </p:tav>
                                      </p:tavLst>
                                    </p:anim>
                                    <p:anim calcmode="lin" valueType="num">
                                      <p:cBhvr>
                                        <p:cTn id="40"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450" decel="100000" fill="hold"/>
                                        <p:tgtEl>
                                          <p:spTgt spid="9"/>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450" decel="100000" fill="hold"/>
                                        <p:tgtEl>
                                          <p:spTgt spid="10"/>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5" presetID="37"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anim calcmode="lin" valueType="num">
                                      <p:cBhvr>
                                        <p:cTn id="58" dur="500" fill="hold"/>
                                        <p:tgtEl>
                                          <p:spTgt spid="11"/>
                                        </p:tgtEl>
                                        <p:attrNameLst>
                                          <p:attrName>ppt_x</p:attrName>
                                        </p:attrNameLst>
                                      </p:cBhvr>
                                      <p:tavLst>
                                        <p:tav tm="0">
                                          <p:val>
                                            <p:strVal val="#ppt_x"/>
                                          </p:val>
                                        </p:tav>
                                        <p:tav tm="100000">
                                          <p:val>
                                            <p:strVal val="#ppt_x"/>
                                          </p:val>
                                        </p:tav>
                                      </p:tavLst>
                                    </p:anim>
                                    <p:anim calcmode="lin" valueType="num">
                                      <p:cBhvr>
                                        <p:cTn id="59" dur="450" decel="100000" fill="hold"/>
                                        <p:tgtEl>
                                          <p:spTgt spid="11"/>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anim calcmode="lin" valueType="num">
                                      <p:cBhvr>
                                        <p:cTn id="64" dur="500" fill="hold"/>
                                        <p:tgtEl>
                                          <p:spTgt spid="12"/>
                                        </p:tgtEl>
                                        <p:attrNameLst>
                                          <p:attrName>ppt_x</p:attrName>
                                        </p:attrNameLst>
                                      </p:cBhvr>
                                      <p:tavLst>
                                        <p:tav tm="0">
                                          <p:val>
                                            <p:strVal val="#ppt_x"/>
                                          </p:val>
                                        </p:tav>
                                        <p:tav tm="100000">
                                          <p:val>
                                            <p:strVal val="#ppt_x"/>
                                          </p:val>
                                        </p:tav>
                                      </p:tavLst>
                                    </p:anim>
                                    <p:anim calcmode="lin" valueType="num">
                                      <p:cBhvr>
                                        <p:cTn id="65" dur="450" decel="100000" fill="hold"/>
                                        <p:tgtEl>
                                          <p:spTgt spid="12"/>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anim calcmode="lin" valueType="num">
                                      <p:cBhvr>
                                        <p:cTn id="70" dur="500" fill="hold"/>
                                        <p:tgtEl>
                                          <p:spTgt spid="13"/>
                                        </p:tgtEl>
                                        <p:attrNameLst>
                                          <p:attrName>ppt_x</p:attrName>
                                        </p:attrNameLst>
                                      </p:cBhvr>
                                      <p:tavLst>
                                        <p:tav tm="0">
                                          <p:val>
                                            <p:strVal val="#ppt_x"/>
                                          </p:val>
                                        </p:tav>
                                        <p:tav tm="100000">
                                          <p:val>
                                            <p:strVal val="#ppt_x"/>
                                          </p:val>
                                        </p:tav>
                                      </p:tavLst>
                                    </p:anim>
                                    <p:anim calcmode="lin" valueType="num">
                                      <p:cBhvr>
                                        <p:cTn id="71" dur="450" decel="100000" fill="hold"/>
                                        <p:tgtEl>
                                          <p:spTgt spid="13"/>
                                        </p:tgtEl>
                                        <p:attrNameLst>
                                          <p:attrName>ppt_y</p:attrName>
                                        </p:attrNameLst>
                                      </p:cBhvr>
                                      <p:tavLst>
                                        <p:tav tm="0">
                                          <p:val>
                                            <p:strVal val="#ppt_y+1"/>
                                          </p:val>
                                        </p:tav>
                                        <p:tav tm="100000">
                                          <p:val>
                                            <p:strVal val="#ppt_y-.03"/>
                                          </p:val>
                                        </p:tav>
                                      </p:tavLst>
                                    </p:anim>
                                    <p:anim calcmode="lin" valueType="num">
                                      <p:cBhvr>
                                        <p:cTn id="72"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73" presetID="37"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500"/>
                                        <p:tgtEl>
                                          <p:spTgt spid="14"/>
                                        </p:tgtEl>
                                      </p:cBhvr>
                                    </p:animEffect>
                                    <p:anim calcmode="lin" valueType="num">
                                      <p:cBhvr>
                                        <p:cTn id="76" dur="500" fill="hold"/>
                                        <p:tgtEl>
                                          <p:spTgt spid="14"/>
                                        </p:tgtEl>
                                        <p:attrNameLst>
                                          <p:attrName>ppt_x</p:attrName>
                                        </p:attrNameLst>
                                      </p:cBhvr>
                                      <p:tavLst>
                                        <p:tav tm="0">
                                          <p:val>
                                            <p:strVal val="#ppt_x"/>
                                          </p:val>
                                        </p:tav>
                                        <p:tav tm="100000">
                                          <p:val>
                                            <p:strVal val="#ppt_x"/>
                                          </p:val>
                                        </p:tav>
                                      </p:tavLst>
                                    </p:anim>
                                    <p:anim calcmode="lin" valueType="num">
                                      <p:cBhvr>
                                        <p:cTn id="77" dur="450" decel="100000" fill="hold"/>
                                        <p:tgtEl>
                                          <p:spTgt spid="14"/>
                                        </p:tgtEl>
                                        <p:attrNameLst>
                                          <p:attrName>ppt_y</p:attrName>
                                        </p:attrNameLst>
                                      </p:cBhvr>
                                      <p:tavLst>
                                        <p:tav tm="0">
                                          <p:val>
                                            <p:strVal val="#ppt_y+1"/>
                                          </p:val>
                                        </p:tav>
                                        <p:tav tm="100000">
                                          <p:val>
                                            <p:strVal val="#ppt_y-.03"/>
                                          </p:val>
                                        </p:tav>
                                      </p:tavLst>
                                    </p:anim>
                                    <p:anim calcmode="lin" valueType="num">
                                      <p:cBhvr>
                                        <p:cTn id="78"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7" presetClass="entr" presetSubtype="0" fill="hold"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p:cTn id="84" dur="500" fill="hold"/>
                                        <p:tgtEl>
                                          <p:spTgt spid="15"/>
                                        </p:tgtEl>
                                        <p:attrNameLst>
                                          <p:attrName>ppt_x</p:attrName>
                                        </p:attrNameLst>
                                      </p:cBhvr>
                                      <p:tavLst>
                                        <p:tav tm="0">
                                          <p:val>
                                            <p:strVal val="#ppt_x"/>
                                          </p:val>
                                        </p:tav>
                                        <p:tav tm="100000">
                                          <p:val>
                                            <p:strVal val="#ppt_x"/>
                                          </p:val>
                                        </p:tav>
                                      </p:tavLst>
                                    </p:anim>
                                    <p:anim calcmode="lin" valueType="num">
                                      <p:cBhvr>
                                        <p:cTn id="85" dur="450" decel="100000" fill="hold"/>
                                        <p:tgtEl>
                                          <p:spTgt spid="15"/>
                                        </p:tgtEl>
                                        <p:attrNameLst>
                                          <p:attrName>ppt_y</p:attrName>
                                        </p:attrNameLst>
                                      </p:cBhvr>
                                      <p:tavLst>
                                        <p:tav tm="0">
                                          <p:val>
                                            <p:strVal val="#ppt_y+1"/>
                                          </p:val>
                                        </p:tav>
                                        <p:tav tm="100000">
                                          <p:val>
                                            <p:strVal val="#ppt_y-.03"/>
                                          </p:val>
                                        </p:tav>
                                      </p:tavLst>
                                    </p:anim>
                                    <p:anim calcmode="lin" valueType="num">
                                      <p:cBhvr>
                                        <p:cTn id="86"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7" presetID="37" presetClass="entr" presetSubtype="0" fill="hold"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anim calcmode="lin" valueType="num">
                                      <p:cBhvr>
                                        <p:cTn id="90" dur="500" fill="hold"/>
                                        <p:tgtEl>
                                          <p:spTgt spid="16"/>
                                        </p:tgtEl>
                                        <p:attrNameLst>
                                          <p:attrName>ppt_x</p:attrName>
                                        </p:attrNameLst>
                                      </p:cBhvr>
                                      <p:tavLst>
                                        <p:tav tm="0">
                                          <p:val>
                                            <p:strVal val="#ppt_x"/>
                                          </p:val>
                                        </p:tav>
                                        <p:tav tm="100000">
                                          <p:val>
                                            <p:strVal val="#ppt_x"/>
                                          </p:val>
                                        </p:tav>
                                      </p:tavLst>
                                    </p:anim>
                                    <p:anim calcmode="lin" valueType="num">
                                      <p:cBhvr>
                                        <p:cTn id="91" dur="450" decel="100000" fill="hold"/>
                                        <p:tgtEl>
                                          <p:spTgt spid="16"/>
                                        </p:tgtEl>
                                        <p:attrNameLst>
                                          <p:attrName>ppt_y</p:attrName>
                                        </p:attrNameLst>
                                      </p:cBhvr>
                                      <p:tavLst>
                                        <p:tav tm="0">
                                          <p:val>
                                            <p:strVal val="#ppt_y+1"/>
                                          </p:val>
                                        </p:tav>
                                        <p:tav tm="100000">
                                          <p:val>
                                            <p:strVal val="#ppt_y-.03"/>
                                          </p:val>
                                        </p:tav>
                                      </p:tavLst>
                                    </p:anim>
                                    <p:anim calcmode="lin" valueType="num">
                                      <p:cBhvr>
                                        <p:cTn id="92"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3" presetID="37" presetClass="entr" presetSubtype="0"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p:tgtEl>
                                          <p:spTgt spid="17"/>
                                        </p:tgtEl>
                                      </p:cBhvr>
                                    </p:animEffect>
                                    <p:anim calcmode="lin" valueType="num">
                                      <p:cBhvr>
                                        <p:cTn id="96" dur="500" fill="hold"/>
                                        <p:tgtEl>
                                          <p:spTgt spid="17"/>
                                        </p:tgtEl>
                                        <p:attrNameLst>
                                          <p:attrName>ppt_x</p:attrName>
                                        </p:attrNameLst>
                                      </p:cBhvr>
                                      <p:tavLst>
                                        <p:tav tm="0">
                                          <p:val>
                                            <p:strVal val="#ppt_x"/>
                                          </p:val>
                                        </p:tav>
                                        <p:tav tm="100000">
                                          <p:val>
                                            <p:strVal val="#ppt_x"/>
                                          </p:val>
                                        </p:tav>
                                      </p:tavLst>
                                    </p:anim>
                                    <p:anim calcmode="lin" valueType="num">
                                      <p:cBhvr>
                                        <p:cTn id="97" dur="450" decel="100000" fill="hold"/>
                                        <p:tgtEl>
                                          <p:spTgt spid="17"/>
                                        </p:tgtEl>
                                        <p:attrNameLst>
                                          <p:attrName>ppt_y</p:attrName>
                                        </p:attrNameLst>
                                      </p:cBhvr>
                                      <p:tavLst>
                                        <p:tav tm="0">
                                          <p:val>
                                            <p:strVal val="#ppt_y+1"/>
                                          </p:val>
                                        </p:tav>
                                        <p:tav tm="100000">
                                          <p:val>
                                            <p:strVal val="#ppt_y-.03"/>
                                          </p:val>
                                        </p:tav>
                                      </p:tavLst>
                                    </p:anim>
                                    <p:anim calcmode="lin" valueType="num">
                                      <p:cBhvr>
                                        <p:cTn id="98"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99" presetID="37"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anim calcmode="lin" valueType="num">
                                      <p:cBhvr>
                                        <p:cTn id="102" dur="500" fill="hold"/>
                                        <p:tgtEl>
                                          <p:spTgt spid="18"/>
                                        </p:tgtEl>
                                        <p:attrNameLst>
                                          <p:attrName>ppt_x</p:attrName>
                                        </p:attrNameLst>
                                      </p:cBhvr>
                                      <p:tavLst>
                                        <p:tav tm="0">
                                          <p:val>
                                            <p:strVal val="#ppt_x"/>
                                          </p:val>
                                        </p:tav>
                                        <p:tav tm="100000">
                                          <p:val>
                                            <p:strVal val="#ppt_x"/>
                                          </p:val>
                                        </p:tav>
                                      </p:tavLst>
                                    </p:anim>
                                    <p:anim calcmode="lin" valueType="num">
                                      <p:cBhvr>
                                        <p:cTn id="103" dur="450" decel="100000" fill="hold"/>
                                        <p:tgtEl>
                                          <p:spTgt spid="18"/>
                                        </p:tgtEl>
                                        <p:attrNameLst>
                                          <p:attrName>ppt_y</p:attrName>
                                        </p:attrNameLst>
                                      </p:cBhvr>
                                      <p:tavLst>
                                        <p:tav tm="0">
                                          <p:val>
                                            <p:strVal val="#ppt_y+1"/>
                                          </p:val>
                                        </p:tav>
                                        <p:tav tm="100000">
                                          <p:val>
                                            <p:strVal val="#ppt_y-.03"/>
                                          </p:val>
                                        </p:tav>
                                      </p:tavLst>
                                    </p:anim>
                                    <p:anim calcmode="lin" valueType="num">
                                      <p:cBhvr>
                                        <p:cTn id="104"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par>
                                <p:cTn id="105" presetID="37" presetClass="entr" presetSubtype="0" fill="hold" grpId="0" nodeType="withEffect">
                                  <p:stCondLst>
                                    <p:cond delay="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500"/>
                                        <p:tgtEl>
                                          <p:spTgt spid="19"/>
                                        </p:tgtEl>
                                      </p:cBhvr>
                                    </p:animEffect>
                                    <p:anim calcmode="lin" valueType="num">
                                      <p:cBhvr>
                                        <p:cTn id="108" dur="500" fill="hold"/>
                                        <p:tgtEl>
                                          <p:spTgt spid="19"/>
                                        </p:tgtEl>
                                        <p:attrNameLst>
                                          <p:attrName>ppt_x</p:attrName>
                                        </p:attrNameLst>
                                      </p:cBhvr>
                                      <p:tavLst>
                                        <p:tav tm="0">
                                          <p:val>
                                            <p:strVal val="#ppt_x"/>
                                          </p:val>
                                        </p:tav>
                                        <p:tav tm="100000">
                                          <p:val>
                                            <p:strVal val="#ppt_x"/>
                                          </p:val>
                                        </p:tav>
                                      </p:tavLst>
                                    </p:anim>
                                    <p:anim calcmode="lin" valueType="num">
                                      <p:cBhvr>
                                        <p:cTn id="109" dur="450" decel="100000" fill="hold"/>
                                        <p:tgtEl>
                                          <p:spTgt spid="19"/>
                                        </p:tgtEl>
                                        <p:attrNameLst>
                                          <p:attrName>ppt_y</p:attrName>
                                        </p:attrNameLst>
                                      </p:cBhvr>
                                      <p:tavLst>
                                        <p:tav tm="0">
                                          <p:val>
                                            <p:strVal val="#ppt_y+1"/>
                                          </p:val>
                                        </p:tav>
                                        <p:tav tm="100000">
                                          <p:val>
                                            <p:strVal val="#ppt_y-.03"/>
                                          </p:val>
                                        </p:tav>
                                      </p:tavLst>
                                    </p:anim>
                                    <p:anim calcmode="lin" valueType="num">
                                      <p:cBhvr>
                                        <p:cTn id="110"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par>
                                <p:cTn id="111" presetID="37" presetClass="entr" presetSubtype="0" fill="hold" grpId="0" nodeType="with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500"/>
                                        <p:tgtEl>
                                          <p:spTgt spid="20"/>
                                        </p:tgtEl>
                                      </p:cBhvr>
                                    </p:animEffect>
                                    <p:anim calcmode="lin" valueType="num">
                                      <p:cBhvr>
                                        <p:cTn id="114" dur="500" fill="hold"/>
                                        <p:tgtEl>
                                          <p:spTgt spid="20"/>
                                        </p:tgtEl>
                                        <p:attrNameLst>
                                          <p:attrName>ppt_x</p:attrName>
                                        </p:attrNameLst>
                                      </p:cBhvr>
                                      <p:tavLst>
                                        <p:tav tm="0">
                                          <p:val>
                                            <p:strVal val="#ppt_x"/>
                                          </p:val>
                                        </p:tav>
                                        <p:tav tm="100000">
                                          <p:val>
                                            <p:strVal val="#ppt_x"/>
                                          </p:val>
                                        </p:tav>
                                      </p:tavLst>
                                    </p:anim>
                                    <p:anim calcmode="lin" valueType="num">
                                      <p:cBhvr>
                                        <p:cTn id="115" dur="450" decel="100000" fill="hold"/>
                                        <p:tgtEl>
                                          <p:spTgt spid="20"/>
                                        </p:tgtEl>
                                        <p:attrNameLst>
                                          <p:attrName>ppt_y</p:attrName>
                                        </p:attrNameLst>
                                      </p:cBhvr>
                                      <p:tavLst>
                                        <p:tav tm="0">
                                          <p:val>
                                            <p:strVal val="#ppt_y+1"/>
                                          </p:val>
                                        </p:tav>
                                        <p:tav tm="100000">
                                          <p:val>
                                            <p:strVal val="#ppt_y-.03"/>
                                          </p:val>
                                        </p:tav>
                                      </p:tavLst>
                                    </p:anim>
                                    <p:anim calcmode="lin" valueType="num">
                                      <p:cBhvr>
                                        <p:cTn id="116" dur="50" accel="100000" fill="hold">
                                          <p:stCondLst>
                                            <p:cond delay="45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nodeType="clickEffect">
                                  <p:stCondLst>
                                    <p:cond delay="0"/>
                                  </p:stCondLst>
                                  <p:childTnLst>
                                    <p:set>
                                      <p:cBhvr>
                                        <p:cTn id="120" dur="1" fill="hold">
                                          <p:stCondLst>
                                            <p:cond delay="0"/>
                                          </p:stCondLst>
                                        </p:cTn>
                                        <p:tgtEl>
                                          <p:spTgt spid="21"/>
                                        </p:tgtEl>
                                        <p:attrNameLst>
                                          <p:attrName>style.visibility</p:attrName>
                                        </p:attrNameLst>
                                      </p:cBhvr>
                                      <p:to>
                                        <p:strVal val="visible"/>
                                      </p:to>
                                    </p:set>
                                    <p:anim calcmode="lin" valueType="num">
                                      <p:cBhvr>
                                        <p:cTn id="121" dur="600" fill="hold"/>
                                        <p:tgtEl>
                                          <p:spTgt spid="21"/>
                                        </p:tgtEl>
                                        <p:attrNameLst>
                                          <p:attrName>ppt_w</p:attrName>
                                        </p:attrNameLst>
                                      </p:cBhvr>
                                      <p:tavLst>
                                        <p:tav tm="0">
                                          <p:val>
                                            <p:fltVal val="0"/>
                                          </p:val>
                                        </p:tav>
                                        <p:tav tm="100000">
                                          <p:val>
                                            <p:strVal val="#ppt_w"/>
                                          </p:val>
                                        </p:tav>
                                      </p:tavLst>
                                    </p:anim>
                                    <p:anim calcmode="lin" valueType="num">
                                      <p:cBhvr>
                                        <p:cTn id="122" dur="600" fill="hold"/>
                                        <p:tgtEl>
                                          <p:spTgt spid="21"/>
                                        </p:tgtEl>
                                        <p:attrNameLst>
                                          <p:attrName>ppt_h</p:attrName>
                                        </p:attrNameLst>
                                      </p:cBhvr>
                                      <p:tavLst>
                                        <p:tav tm="0">
                                          <p:val>
                                            <p:fltVal val="0"/>
                                          </p:val>
                                        </p:tav>
                                        <p:tav tm="100000">
                                          <p:val>
                                            <p:strVal val="#ppt_h"/>
                                          </p:val>
                                        </p:tav>
                                      </p:tavLst>
                                    </p:anim>
                                    <p:animEffect transition="in" filter="fade">
                                      <p:cBhvr>
                                        <p:cTn id="123" dur="600"/>
                                        <p:tgtEl>
                                          <p:spTgt spid="21"/>
                                        </p:tgtEl>
                                      </p:cBhvr>
                                    </p:animEffect>
                                  </p:childTnLst>
                                </p:cTn>
                              </p:par>
                              <p:par>
                                <p:cTn id="124" presetID="37" presetClass="entr" presetSubtype="0" fill="hold" nodeType="withEffect">
                                  <p:stCondLst>
                                    <p:cond delay="0"/>
                                  </p:stCondLst>
                                  <p:childTnLst>
                                    <p:set>
                                      <p:cBhvr>
                                        <p:cTn id="125" dur="1" fill="hold">
                                          <p:stCondLst>
                                            <p:cond delay="0"/>
                                          </p:stCondLst>
                                        </p:cTn>
                                        <p:tgtEl>
                                          <p:spTgt spid="22"/>
                                        </p:tgtEl>
                                        <p:attrNameLst>
                                          <p:attrName>style.visibility</p:attrName>
                                        </p:attrNameLst>
                                      </p:cBhvr>
                                      <p:to>
                                        <p:strVal val="visible"/>
                                      </p:to>
                                    </p:set>
                                    <p:animEffect transition="in" filter="fade">
                                      <p:cBhvr>
                                        <p:cTn id="126" dur="500"/>
                                        <p:tgtEl>
                                          <p:spTgt spid="22"/>
                                        </p:tgtEl>
                                      </p:cBhvr>
                                    </p:animEffect>
                                    <p:anim calcmode="lin" valueType="num">
                                      <p:cBhvr>
                                        <p:cTn id="127" dur="500" fill="hold"/>
                                        <p:tgtEl>
                                          <p:spTgt spid="22"/>
                                        </p:tgtEl>
                                        <p:attrNameLst>
                                          <p:attrName>ppt_x</p:attrName>
                                        </p:attrNameLst>
                                      </p:cBhvr>
                                      <p:tavLst>
                                        <p:tav tm="0">
                                          <p:val>
                                            <p:strVal val="#ppt_x"/>
                                          </p:val>
                                        </p:tav>
                                        <p:tav tm="100000">
                                          <p:val>
                                            <p:strVal val="#ppt_x"/>
                                          </p:val>
                                        </p:tav>
                                      </p:tavLst>
                                    </p:anim>
                                    <p:anim calcmode="lin" valueType="num">
                                      <p:cBhvr>
                                        <p:cTn id="128" dur="450" decel="100000" fill="hold"/>
                                        <p:tgtEl>
                                          <p:spTgt spid="22"/>
                                        </p:tgtEl>
                                        <p:attrNameLst>
                                          <p:attrName>ppt_y</p:attrName>
                                        </p:attrNameLst>
                                      </p:cBhvr>
                                      <p:tavLst>
                                        <p:tav tm="0">
                                          <p:val>
                                            <p:strVal val="#ppt_y+1"/>
                                          </p:val>
                                        </p:tav>
                                        <p:tav tm="100000">
                                          <p:val>
                                            <p:strVal val="#ppt_y-.03"/>
                                          </p:val>
                                        </p:tav>
                                      </p:tavLst>
                                    </p:anim>
                                    <p:anim calcmode="lin" valueType="num">
                                      <p:cBhvr>
                                        <p:cTn id="129" dur="50" accel="100000" fill="hold">
                                          <p:stCondLst>
                                            <p:cond delay="450"/>
                                          </p:stCondLst>
                                        </p:cTn>
                                        <p:tgtEl>
                                          <p:spTgt spid="22"/>
                                        </p:tgtEl>
                                        <p:attrNameLst>
                                          <p:attrName>ppt_y</p:attrName>
                                        </p:attrNameLst>
                                      </p:cBhvr>
                                      <p:tavLst>
                                        <p:tav tm="0">
                                          <p:val>
                                            <p:strVal val="#ppt_y-.03"/>
                                          </p:val>
                                        </p:tav>
                                        <p:tav tm="100000">
                                          <p:val>
                                            <p:strVal val="#ppt_y"/>
                                          </p:val>
                                        </p:tav>
                                      </p:tavLst>
                                    </p:anim>
                                  </p:childTnLst>
                                </p:cTn>
                              </p:par>
                              <p:par>
                                <p:cTn id="130" presetID="37" presetClass="entr" presetSubtype="0" fill="hold" nodeType="with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500"/>
                                        <p:tgtEl>
                                          <p:spTgt spid="23"/>
                                        </p:tgtEl>
                                      </p:cBhvr>
                                    </p:animEffect>
                                    <p:anim calcmode="lin" valueType="num">
                                      <p:cBhvr>
                                        <p:cTn id="133" dur="500" fill="hold"/>
                                        <p:tgtEl>
                                          <p:spTgt spid="23"/>
                                        </p:tgtEl>
                                        <p:attrNameLst>
                                          <p:attrName>ppt_x</p:attrName>
                                        </p:attrNameLst>
                                      </p:cBhvr>
                                      <p:tavLst>
                                        <p:tav tm="0">
                                          <p:val>
                                            <p:strVal val="#ppt_x"/>
                                          </p:val>
                                        </p:tav>
                                        <p:tav tm="100000">
                                          <p:val>
                                            <p:strVal val="#ppt_x"/>
                                          </p:val>
                                        </p:tav>
                                      </p:tavLst>
                                    </p:anim>
                                    <p:anim calcmode="lin" valueType="num">
                                      <p:cBhvr>
                                        <p:cTn id="134" dur="450" decel="100000" fill="hold"/>
                                        <p:tgtEl>
                                          <p:spTgt spid="23"/>
                                        </p:tgtEl>
                                        <p:attrNameLst>
                                          <p:attrName>ppt_y</p:attrName>
                                        </p:attrNameLst>
                                      </p:cBhvr>
                                      <p:tavLst>
                                        <p:tav tm="0">
                                          <p:val>
                                            <p:strVal val="#ppt_y+1"/>
                                          </p:val>
                                        </p:tav>
                                        <p:tav tm="100000">
                                          <p:val>
                                            <p:strVal val="#ppt_y-.03"/>
                                          </p:val>
                                        </p:tav>
                                      </p:tavLst>
                                    </p:anim>
                                    <p:anim calcmode="lin" valueType="num">
                                      <p:cBhvr>
                                        <p:cTn id="135" dur="50" accel="100000" fill="hold">
                                          <p:stCondLst>
                                            <p:cond delay="450"/>
                                          </p:stCondLst>
                                        </p:cTn>
                                        <p:tgtEl>
                                          <p:spTgt spid="23"/>
                                        </p:tgtEl>
                                        <p:attrNameLst>
                                          <p:attrName>ppt_y</p:attrName>
                                        </p:attrNameLst>
                                      </p:cBhvr>
                                      <p:tavLst>
                                        <p:tav tm="0">
                                          <p:val>
                                            <p:strVal val="#ppt_y-.03"/>
                                          </p:val>
                                        </p:tav>
                                        <p:tav tm="100000">
                                          <p:val>
                                            <p:strVal val="#ppt_y"/>
                                          </p:val>
                                        </p:tav>
                                      </p:tavLst>
                                    </p:anim>
                                  </p:childTnLst>
                                </p:cTn>
                              </p:par>
                              <p:par>
                                <p:cTn id="136" presetID="37" presetClass="entr" presetSubtype="0" fill="hold" grpId="0" nodeType="with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500"/>
                                        <p:tgtEl>
                                          <p:spTgt spid="24"/>
                                        </p:tgtEl>
                                      </p:cBhvr>
                                    </p:animEffect>
                                    <p:anim calcmode="lin" valueType="num">
                                      <p:cBhvr>
                                        <p:cTn id="139" dur="500" fill="hold"/>
                                        <p:tgtEl>
                                          <p:spTgt spid="24"/>
                                        </p:tgtEl>
                                        <p:attrNameLst>
                                          <p:attrName>ppt_x</p:attrName>
                                        </p:attrNameLst>
                                      </p:cBhvr>
                                      <p:tavLst>
                                        <p:tav tm="0">
                                          <p:val>
                                            <p:strVal val="#ppt_x"/>
                                          </p:val>
                                        </p:tav>
                                        <p:tav tm="100000">
                                          <p:val>
                                            <p:strVal val="#ppt_x"/>
                                          </p:val>
                                        </p:tav>
                                      </p:tavLst>
                                    </p:anim>
                                    <p:anim calcmode="lin" valueType="num">
                                      <p:cBhvr>
                                        <p:cTn id="140" dur="450" decel="100000" fill="hold"/>
                                        <p:tgtEl>
                                          <p:spTgt spid="24"/>
                                        </p:tgtEl>
                                        <p:attrNameLst>
                                          <p:attrName>ppt_y</p:attrName>
                                        </p:attrNameLst>
                                      </p:cBhvr>
                                      <p:tavLst>
                                        <p:tav tm="0">
                                          <p:val>
                                            <p:strVal val="#ppt_y+1"/>
                                          </p:val>
                                        </p:tav>
                                        <p:tav tm="100000">
                                          <p:val>
                                            <p:strVal val="#ppt_y-.03"/>
                                          </p:val>
                                        </p:tav>
                                      </p:tavLst>
                                    </p:anim>
                                    <p:anim calcmode="lin" valueType="num">
                                      <p:cBhvr>
                                        <p:cTn id="141" dur="50" accel="100000" fill="hold">
                                          <p:stCondLst>
                                            <p:cond delay="450"/>
                                          </p:stCondLst>
                                        </p:cTn>
                                        <p:tgtEl>
                                          <p:spTgt spid="24"/>
                                        </p:tgtEl>
                                        <p:attrNameLst>
                                          <p:attrName>ppt_y</p:attrName>
                                        </p:attrNameLst>
                                      </p:cBhvr>
                                      <p:tavLst>
                                        <p:tav tm="0">
                                          <p:val>
                                            <p:strVal val="#ppt_y-.03"/>
                                          </p:val>
                                        </p:tav>
                                        <p:tav tm="100000">
                                          <p:val>
                                            <p:strVal val="#ppt_y"/>
                                          </p:val>
                                        </p:tav>
                                      </p:tavLst>
                                    </p:anim>
                                  </p:childTnLst>
                                </p:cTn>
                              </p:par>
                              <p:par>
                                <p:cTn id="142" presetID="37" presetClass="entr" presetSubtype="0" fill="hold" grpId="0" nodeType="withEffect">
                                  <p:stCondLst>
                                    <p:cond delay="0"/>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500"/>
                                        <p:tgtEl>
                                          <p:spTgt spid="25"/>
                                        </p:tgtEl>
                                      </p:cBhvr>
                                    </p:animEffect>
                                    <p:anim calcmode="lin" valueType="num">
                                      <p:cBhvr>
                                        <p:cTn id="145" dur="500" fill="hold"/>
                                        <p:tgtEl>
                                          <p:spTgt spid="25"/>
                                        </p:tgtEl>
                                        <p:attrNameLst>
                                          <p:attrName>ppt_x</p:attrName>
                                        </p:attrNameLst>
                                      </p:cBhvr>
                                      <p:tavLst>
                                        <p:tav tm="0">
                                          <p:val>
                                            <p:strVal val="#ppt_x"/>
                                          </p:val>
                                        </p:tav>
                                        <p:tav tm="100000">
                                          <p:val>
                                            <p:strVal val="#ppt_x"/>
                                          </p:val>
                                        </p:tav>
                                      </p:tavLst>
                                    </p:anim>
                                    <p:anim calcmode="lin" valueType="num">
                                      <p:cBhvr>
                                        <p:cTn id="146" dur="450" decel="100000" fill="hold"/>
                                        <p:tgtEl>
                                          <p:spTgt spid="25"/>
                                        </p:tgtEl>
                                        <p:attrNameLst>
                                          <p:attrName>ppt_y</p:attrName>
                                        </p:attrNameLst>
                                      </p:cBhvr>
                                      <p:tavLst>
                                        <p:tav tm="0">
                                          <p:val>
                                            <p:strVal val="#ppt_y+1"/>
                                          </p:val>
                                        </p:tav>
                                        <p:tav tm="100000">
                                          <p:val>
                                            <p:strVal val="#ppt_y-.03"/>
                                          </p:val>
                                        </p:tav>
                                      </p:tavLst>
                                    </p:anim>
                                    <p:anim calcmode="lin" valueType="num">
                                      <p:cBhvr>
                                        <p:cTn id="147" dur="50" accel="100000" fill="hold">
                                          <p:stCondLst>
                                            <p:cond delay="450"/>
                                          </p:stCondLst>
                                        </p:cTn>
                                        <p:tgtEl>
                                          <p:spTgt spid="25"/>
                                        </p:tgtEl>
                                        <p:attrNameLst>
                                          <p:attrName>ppt_y</p:attrName>
                                        </p:attrNameLst>
                                      </p:cBhvr>
                                      <p:tavLst>
                                        <p:tav tm="0">
                                          <p:val>
                                            <p:strVal val="#ppt_y-.03"/>
                                          </p:val>
                                        </p:tav>
                                        <p:tav tm="100000">
                                          <p:val>
                                            <p:strVal val="#ppt_y"/>
                                          </p:val>
                                        </p:tav>
                                      </p:tavLst>
                                    </p:anim>
                                  </p:childTnLst>
                                </p:cTn>
                              </p:par>
                              <p:par>
                                <p:cTn id="148" presetID="37" presetClass="entr" presetSubtype="0" fill="hold" grpId="0" nodeType="withEffect">
                                  <p:stCondLst>
                                    <p:cond delay="0"/>
                                  </p:stCondLst>
                                  <p:childTnLst>
                                    <p:set>
                                      <p:cBhvr>
                                        <p:cTn id="149" dur="1" fill="hold">
                                          <p:stCondLst>
                                            <p:cond delay="0"/>
                                          </p:stCondLst>
                                        </p:cTn>
                                        <p:tgtEl>
                                          <p:spTgt spid="26"/>
                                        </p:tgtEl>
                                        <p:attrNameLst>
                                          <p:attrName>style.visibility</p:attrName>
                                        </p:attrNameLst>
                                      </p:cBhvr>
                                      <p:to>
                                        <p:strVal val="visible"/>
                                      </p:to>
                                    </p:set>
                                    <p:animEffect transition="in" filter="fade">
                                      <p:cBhvr>
                                        <p:cTn id="150" dur="500"/>
                                        <p:tgtEl>
                                          <p:spTgt spid="26"/>
                                        </p:tgtEl>
                                      </p:cBhvr>
                                    </p:animEffect>
                                    <p:anim calcmode="lin" valueType="num">
                                      <p:cBhvr>
                                        <p:cTn id="151" dur="500" fill="hold"/>
                                        <p:tgtEl>
                                          <p:spTgt spid="26"/>
                                        </p:tgtEl>
                                        <p:attrNameLst>
                                          <p:attrName>ppt_x</p:attrName>
                                        </p:attrNameLst>
                                      </p:cBhvr>
                                      <p:tavLst>
                                        <p:tav tm="0">
                                          <p:val>
                                            <p:strVal val="#ppt_x"/>
                                          </p:val>
                                        </p:tav>
                                        <p:tav tm="100000">
                                          <p:val>
                                            <p:strVal val="#ppt_x"/>
                                          </p:val>
                                        </p:tav>
                                      </p:tavLst>
                                    </p:anim>
                                    <p:anim calcmode="lin" valueType="num">
                                      <p:cBhvr>
                                        <p:cTn id="152" dur="450" decel="100000" fill="hold"/>
                                        <p:tgtEl>
                                          <p:spTgt spid="26"/>
                                        </p:tgtEl>
                                        <p:attrNameLst>
                                          <p:attrName>ppt_y</p:attrName>
                                        </p:attrNameLst>
                                      </p:cBhvr>
                                      <p:tavLst>
                                        <p:tav tm="0">
                                          <p:val>
                                            <p:strVal val="#ppt_y+1"/>
                                          </p:val>
                                        </p:tav>
                                        <p:tav tm="100000">
                                          <p:val>
                                            <p:strVal val="#ppt_y-.03"/>
                                          </p:val>
                                        </p:tav>
                                      </p:tavLst>
                                    </p:anim>
                                    <p:anim calcmode="lin" valueType="num">
                                      <p:cBhvr>
                                        <p:cTn id="153" dur="50" accel="100000" fill="hold">
                                          <p:stCondLst>
                                            <p:cond delay="450"/>
                                          </p:stCondLst>
                                        </p:cTn>
                                        <p:tgtEl>
                                          <p:spTgt spid="2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3" grpId="0" animBg="1"/>
      <p:bldP spid="14" grpId="0" animBg="1"/>
      <p:bldP spid="18" grpId="0" animBg="1"/>
      <p:bldP spid="19" grpId="0" animBg="1"/>
      <p:bldP spid="20" grpId="0" animBg="1"/>
      <p:bldP spid="24"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What's new here</a:t>
            </a:r>
            <a:endParaRPr lang="en-US" sz="3200" dirty="0"/>
          </a:p>
        </p:txBody>
      </p:sp>
      <p:sp>
        <p:nvSpPr>
          <p:cNvPr id="3" name="anim|1|fly|click|"/>
          <p:cNvSpPr/>
          <p:nvPr/>
        </p:nvSpPr>
        <p:spPr>
          <a:xfrm>
            <a:off x="548640" y="1417320"/>
            <a:ext cx="5440680" cy="2148840"/>
          </a:xfrm>
          <a:prstGeom prst="roundRect">
            <a:avLst>
              <a:gd name="adj" fmla="val 5106"/>
            </a:avLst>
          </a:prstGeom>
          <a:solidFill>
            <a:srgbClr val="2B2F31"/>
          </a:solidFill>
          <a:ln w="9525">
            <a:solidFill>
              <a:srgbClr val="45504C"/>
            </a:solidFill>
            <a:prstDash val="solid"/>
          </a:ln>
        </p:spPr>
      </p:sp>
      <p:sp>
        <p:nvSpPr>
          <p:cNvPr id="4" name="anim|1|fly|with|"/>
          <p:cNvSpPr txBox="1"/>
          <p:nvPr/>
        </p:nvSpPr>
        <p:spPr>
          <a:xfrm>
            <a:off x="822960" y="1645920"/>
            <a:ext cx="822960" cy="914400"/>
          </a:xfrm>
          <a:prstGeom prst="rect">
            <a:avLst/>
          </a:prstGeom>
          <a:noFill/>
          <a:ln/>
        </p:spPr>
        <p:txBody>
          <a:bodyPr wrap="square" lIns="0" tIns="0" rIns="0" bIns="0" rtlCol="0" anchor="ctr"/>
          <a:lstStyle/>
          <a:p>
            <a:pPr marL="0" indent="0">
              <a:buNone/>
            </a:pPr>
            <a:r>
              <a:rPr lang="en-US" sz="4800" dirty="0">
                <a:solidFill>
                  <a:srgbClr val="F2A541"/>
                </a:solidFill>
                <a:latin typeface="Bookman Old Style" pitchFamily="34" charset="0"/>
                <a:ea typeface="Bookman Old Style" pitchFamily="34" charset="-122"/>
                <a:cs typeface="Bookman Old Style" pitchFamily="34" charset="-120"/>
              </a:rPr>
              <a:t>1</a:t>
            </a:r>
            <a:endParaRPr lang="en-US" sz="4800" dirty="0"/>
          </a:p>
        </p:txBody>
      </p:sp>
      <p:sp>
        <p:nvSpPr>
          <p:cNvPr id="5" name="anim|1|fly|with|"/>
          <p:cNvSpPr txBox="1"/>
          <p:nvPr/>
        </p:nvSpPr>
        <p:spPr>
          <a:xfrm>
            <a:off x="1737360" y="1691640"/>
            <a:ext cx="4023360" cy="50292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Any label becomes a model</a:t>
            </a:r>
            <a:endParaRPr lang="en-US" sz="2100" dirty="0"/>
          </a:p>
        </p:txBody>
      </p:sp>
      <p:sp>
        <p:nvSpPr>
          <p:cNvPr id="6" name="anim|1|fly|with|"/>
          <p:cNvSpPr txBox="1"/>
          <p:nvPr/>
        </p:nvSpPr>
        <p:spPr>
          <a:xfrm>
            <a:off x="1737360" y="2240280"/>
            <a:ext cx="4023360" cy="118872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Snap the box, or just type the name: LIFELOG fetches the official FDA label and Gemini turns it into rules, quoting it word for word.</a:t>
            </a:r>
            <a:endParaRPr lang="en-US" sz="1500" dirty="0"/>
          </a:p>
        </p:txBody>
      </p:sp>
      <p:sp>
        <p:nvSpPr>
          <p:cNvPr id="7" name="anim|2|fly|click|"/>
          <p:cNvSpPr/>
          <p:nvPr/>
        </p:nvSpPr>
        <p:spPr>
          <a:xfrm>
            <a:off x="6172200" y="1417320"/>
            <a:ext cx="5440680" cy="2148840"/>
          </a:xfrm>
          <a:prstGeom prst="roundRect">
            <a:avLst>
              <a:gd name="adj" fmla="val 5106"/>
            </a:avLst>
          </a:prstGeom>
          <a:solidFill>
            <a:srgbClr val="2B2F31"/>
          </a:solidFill>
          <a:ln w="9525">
            <a:solidFill>
              <a:srgbClr val="45504C"/>
            </a:solidFill>
            <a:prstDash val="solid"/>
          </a:ln>
        </p:spPr>
      </p:sp>
      <p:sp>
        <p:nvSpPr>
          <p:cNvPr id="8" name="anim|2|fly|with|"/>
          <p:cNvSpPr txBox="1"/>
          <p:nvPr/>
        </p:nvSpPr>
        <p:spPr>
          <a:xfrm>
            <a:off x="6446520" y="1645920"/>
            <a:ext cx="822960" cy="914400"/>
          </a:xfrm>
          <a:prstGeom prst="rect">
            <a:avLst/>
          </a:prstGeom>
          <a:noFill/>
          <a:ln/>
        </p:spPr>
        <p:txBody>
          <a:bodyPr wrap="square" lIns="0" tIns="0" rIns="0" bIns="0" rtlCol="0" anchor="ctr"/>
          <a:lstStyle/>
          <a:p>
            <a:pPr marL="0" indent="0">
              <a:buNone/>
            </a:pPr>
            <a:r>
              <a:rPr lang="en-US" sz="4800" dirty="0">
                <a:solidFill>
                  <a:srgbClr val="F2A541"/>
                </a:solidFill>
                <a:latin typeface="Bookman Old Style" pitchFamily="34" charset="0"/>
                <a:ea typeface="Bookman Old Style" pitchFamily="34" charset="-122"/>
                <a:cs typeface="Bookman Old Style" pitchFamily="34" charset="-120"/>
              </a:rPr>
              <a:t>2</a:t>
            </a:r>
            <a:endParaRPr lang="en-US" sz="4800" dirty="0"/>
          </a:p>
        </p:txBody>
      </p:sp>
      <p:sp>
        <p:nvSpPr>
          <p:cNvPr id="9" name="anim|2|fly|with|"/>
          <p:cNvSpPr txBox="1"/>
          <p:nvPr/>
        </p:nvSpPr>
        <p:spPr>
          <a:xfrm>
            <a:off x="7360920" y="1691640"/>
            <a:ext cx="4023360" cy="50292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Built for patients, not pallets</a:t>
            </a:r>
            <a:endParaRPr lang="en-US" sz="2100" dirty="0"/>
          </a:p>
        </p:txBody>
      </p:sp>
      <p:sp>
        <p:nvSpPr>
          <p:cNvPr id="10" name="anim|2|fly|with|"/>
          <p:cNvSpPr txBox="1"/>
          <p:nvPr/>
        </p:nvSpPr>
        <p:spPr>
          <a:xfrm>
            <a:off x="7360920" y="2240280"/>
            <a:ext cx="4023360" cy="118872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Cumulative and scored on every single reading, with an honest range when the sensor goes quiet.</a:t>
            </a:r>
            <a:endParaRPr lang="en-US" sz="1500" dirty="0"/>
          </a:p>
        </p:txBody>
      </p:sp>
      <p:sp>
        <p:nvSpPr>
          <p:cNvPr id="11" name="anim|3|fly|click|"/>
          <p:cNvSpPr/>
          <p:nvPr/>
        </p:nvSpPr>
        <p:spPr>
          <a:xfrm>
            <a:off x="548640" y="3794760"/>
            <a:ext cx="5440680" cy="2148840"/>
          </a:xfrm>
          <a:prstGeom prst="roundRect">
            <a:avLst>
              <a:gd name="adj" fmla="val 5106"/>
            </a:avLst>
          </a:prstGeom>
          <a:solidFill>
            <a:srgbClr val="2B2F31"/>
          </a:solidFill>
          <a:ln w="9525">
            <a:solidFill>
              <a:srgbClr val="45504C"/>
            </a:solidFill>
            <a:prstDash val="solid"/>
          </a:ln>
        </p:spPr>
      </p:sp>
      <p:sp>
        <p:nvSpPr>
          <p:cNvPr id="12" name="anim|3|fly|with|"/>
          <p:cNvSpPr txBox="1"/>
          <p:nvPr/>
        </p:nvSpPr>
        <p:spPr>
          <a:xfrm>
            <a:off x="822960" y="4023360"/>
            <a:ext cx="822960" cy="914400"/>
          </a:xfrm>
          <a:prstGeom prst="rect">
            <a:avLst/>
          </a:prstGeom>
          <a:noFill/>
          <a:ln/>
        </p:spPr>
        <p:txBody>
          <a:bodyPr wrap="square" lIns="0" tIns="0" rIns="0" bIns="0" rtlCol="0" anchor="ctr"/>
          <a:lstStyle/>
          <a:p>
            <a:pPr marL="0" indent="0">
              <a:buNone/>
            </a:pPr>
            <a:r>
              <a:rPr lang="en-US" sz="4800" dirty="0">
                <a:solidFill>
                  <a:srgbClr val="F2A541"/>
                </a:solidFill>
                <a:latin typeface="Bookman Old Style" pitchFamily="34" charset="0"/>
                <a:ea typeface="Bookman Old Style" pitchFamily="34" charset="-122"/>
                <a:cs typeface="Bookman Old Style" pitchFamily="34" charset="-120"/>
              </a:rPr>
              <a:t>3</a:t>
            </a:r>
            <a:endParaRPr lang="en-US" sz="4800" dirty="0"/>
          </a:p>
        </p:txBody>
      </p:sp>
      <p:sp>
        <p:nvSpPr>
          <p:cNvPr id="13" name="anim|3|fly|with|"/>
          <p:cNvSpPr txBox="1"/>
          <p:nvPr/>
        </p:nvSpPr>
        <p:spPr>
          <a:xfrm>
            <a:off x="1737360" y="4069080"/>
            <a:ext cx="4023360" cy="50292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From one fridge to a neighborhood</a:t>
            </a:r>
            <a:endParaRPr lang="en-US" sz="2100" dirty="0"/>
          </a:p>
        </p:txBody>
      </p:sp>
      <p:sp>
        <p:nvSpPr>
          <p:cNvPr id="14" name="anim|3|fly|with|"/>
          <p:cNvSpPr txBox="1"/>
          <p:nvPr/>
        </p:nvSpPr>
        <p:spPr>
          <a:xfrm>
            <a:off x="1737360" y="4617720"/>
            <a:ext cx="4023360" cy="118872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In an outage, everyone's budgets become a ranked rescue list, each person sent to the nearest place that still has power.</a:t>
            </a:r>
            <a:endParaRPr lang="en-US" sz="1500" dirty="0"/>
          </a:p>
        </p:txBody>
      </p:sp>
      <p:sp>
        <p:nvSpPr>
          <p:cNvPr id="15" name="anim|4|fly|click|"/>
          <p:cNvSpPr/>
          <p:nvPr/>
        </p:nvSpPr>
        <p:spPr>
          <a:xfrm>
            <a:off x="6172200" y="3794760"/>
            <a:ext cx="5440680" cy="2148840"/>
          </a:xfrm>
          <a:prstGeom prst="roundRect">
            <a:avLst>
              <a:gd name="adj" fmla="val 5106"/>
            </a:avLst>
          </a:prstGeom>
          <a:solidFill>
            <a:srgbClr val="2B2F31"/>
          </a:solidFill>
          <a:ln w="9525">
            <a:solidFill>
              <a:srgbClr val="45504C"/>
            </a:solidFill>
            <a:prstDash val="solid"/>
          </a:ln>
        </p:spPr>
      </p:sp>
      <p:sp>
        <p:nvSpPr>
          <p:cNvPr id="16" name="anim|4|fly|with|"/>
          <p:cNvSpPr txBox="1"/>
          <p:nvPr/>
        </p:nvSpPr>
        <p:spPr>
          <a:xfrm>
            <a:off x="6446520" y="4023360"/>
            <a:ext cx="822960" cy="914400"/>
          </a:xfrm>
          <a:prstGeom prst="rect">
            <a:avLst/>
          </a:prstGeom>
          <a:noFill/>
          <a:ln/>
        </p:spPr>
        <p:txBody>
          <a:bodyPr wrap="square" lIns="0" tIns="0" rIns="0" bIns="0" rtlCol="0" anchor="ctr"/>
          <a:lstStyle/>
          <a:p>
            <a:pPr marL="0" indent="0">
              <a:buNone/>
            </a:pPr>
            <a:r>
              <a:rPr lang="en-US" sz="4800" dirty="0">
                <a:solidFill>
                  <a:srgbClr val="F2A541"/>
                </a:solidFill>
                <a:latin typeface="Bookman Old Style" pitchFamily="34" charset="0"/>
                <a:ea typeface="Bookman Old Style" pitchFamily="34" charset="-122"/>
                <a:cs typeface="Bookman Old Style" pitchFamily="34" charset="-120"/>
              </a:rPr>
              <a:t>4</a:t>
            </a:r>
            <a:endParaRPr lang="en-US" sz="4800" dirty="0"/>
          </a:p>
        </p:txBody>
      </p:sp>
      <p:sp>
        <p:nvSpPr>
          <p:cNvPr id="17" name="anim|4|fly|with|"/>
          <p:cNvSpPr txBox="1"/>
          <p:nvPr/>
        </p:nvSpPr>
        <p:spPr>
          <a:xfrm>
            <a:off x="7360920" y="4069080"/>
            <a:ext cx="4023360" cy="502920"/>
          </a:xfrm>
          <a:prstGeom prst="rect">
            <a:avLst/>
          </a:prstGeom>
          <a:noFill/>
          <a:ln/>
        </p:spPr>
        <p:txBody>
          <a:bodyPr wrap="square" lIns="0" tIns="0" rIns="0" bIns="0" rtlCol="0" anchor="ctr"/>
          <a:lstStyle/>
          <a:p>
            <a:pPr marL="0" indent="0">
              <a:buNone/>
            </a:pPr>
            <a:r>
              <a:rPr lang="en-US" sz="2100" b="1" dirty="0">
                <a:solidFill>
                  <a:srgbClr val="F4F1EA"/>
                </a:solidFill>
                <a:latin typeface="Calibri" pitchFamily="34" charset="0"/>
                <a:ea typeface="Calibri" pitchFamily="34" charset="-122"/>
                <a:cs typeface="Calibri" pitchFamily="34" charset="-120"/>
              </a:rPr>
              <a:t>The database does the thinking</a:t>
            </a:r>
            <a:endParaRPr lang="en-US" sz="2100" dirty="0"/>
          </a:p>
        </p:txBody>
      </p:sp>
      <p:sp>
        <p:nvSpPr>
          <p:cNvPr id="18" name="anim|4|fly|with|"/>
          <p:cNvSpPr txBox="1"/>
          <p:nvPr/>
        </p:nvSpPr>
        <p:spPr>
          <a:xfrm>
            <a:off x="7360920" y="4617720"/>
            <a:ext cx="4023360" cy="1188720"/>
          </a:xfrm>
          <a:prstGeom prst="rect">
            <a:avLst/>
          </a:prstGeom>
          <a:noFill/>
          <a:ln/>
        </p:spPr>
        <p:txBody>
          <a:bodyPr wrap="square" lIns="0" tIns="0" rIns="0" bIns="0" rtlCol="0" anchor="t"/>
          <a:lstStyle/>
          <a:p>
            <a:pPr marL="0" indent="0">
              <a:buNone/>
            </a:pPr>
            <a:r>
              <a:rPr lang="en-US" sz="1500" dirty="0">
                <a:solidFill>
                  <a:srgbClr val="B9C4BF"/>
                </a:solidFill>
                <a:latin typeface="Calibri" pitchFamily="34" charset="0"/>
                <a:ea typeface="Calibri" pitchFamily="34" charset="-122"/>
                <a:cs typeface="Calibri" pitchFamily="34" charset="-120"/>
              </a:rPr>
              <a:t>Alerts, live updates and late-data repair run inside Tiger Data as jobs, triggers and continuous aggregates.</a:t>
            </a:r>
            <a:endParaRPr lang="en-US" sz="1500" dirty="0"/>
          </a:p>
        </p:txBody>
      </p:sp>
      <p:sp>
        <p:nvSpPr>
          <p:cNvPr id="19" name="anim|5|zoom|after|"/>
          <p:cNvSpPr/>
          <p:nvPr/>
        </p:nvSpPr>
        <p:spPr>
          <a:xfrm>
            <a:off x="11292840" y="502920"/>
            <a:ext cx="256032" cy="256032"/>
          </a:xfrm>
          <a:prstGeom prst="star4">
            <a:avLst/>
          </a:prstGeom>
          <a:solidFill>
            <a:srgbClr val="F2A541"/>
          </a:solidFill>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additive="base">
                                        <p:cTn id="65" dur="500" fill="hold"/>
                                        <p:tgtEl>
                                          <p:spTgt spid="16"/>
                                        </p:tgtEl>
                                        <p:attrNameLst>
                                          <p:attrName>ppt_x</p:attrName>
                                        </p:attrNameLst>
                                      </p:cBhvr>
                                      <p:tavLst>
                                        <p:tav tm="0">
                                          <p:val>
                                            <p:strVal val="#ppt_x"/>
                                          </p:val>
                                        </p:tav>
                                        <p:tav tm="100000">
                                          <p:val>
                                            <p:strVal val="#ppt_x"/>
                                          </p:val>
                                        </p:tav>
                                      </p:tavLst>
                                    </p:anim>
                                    <p:anim calcmode="lin" valueType="num">
                                      <p:cBhvr additive="base">
                                        <p:cTn id="66" dur="500" fill="hold"/>
                                        <p:tgtEl>
                                          <p:spTgt spid="16"/>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childTnLst>
                          </p:cTn>
                        </p:par>
                        <p:par>
                          <p:cTn id="75" fill="hold">
                            <p:stCondLst>
                              <p:cond delay="500"/>
                            </p:stCondLst>
                            <p:childTnLst>
                              <p:par>
                                <p:cTn id="76" presetID="23" presetClass="entr" presetSubtype="16" fill="hold" nodeType="after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p:cTn id="78" dur="600" fill="hold"/>
                                        <p:tgtEl>
                                          <p:spTgt spid="19"/>
                                        </p:tgtEl>
                                        <p:attrNameLst>
                                          <p:attrName>ppt_w</p:attrName>
                                        </p:attrNameLst>
                                      </p:cBhvr>
                                      <p:tavLst>
                                        <p:tav tm="0">
                                          <p:val>
                                            <p:fltVal val="0"/>
                                          </p:val>
                                        </p:tav>
                                        <p:tav tm="100000">
                                          <p:val>
                                            <p:strVal val="#ppt_w"/>
                                          </p:val>
                                        </p:tav>
                                      </p:tavLst>
                                    </p:anim>
                                    <p:anim calcmode="lin" valueType="num">
                                      <p:cBhvr>
                                        <p:cTn id="79" dur="60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Tiger Data does the heavy lifting</a:t>
            </a:r>
            <a:endParaRPr lang="en-US" sz="3200" dirty="0"/>
          </a:p>
        </p:txBody>
      </p:sp>
      <p:sp>
        <p:nvSpPr>
          <p:cNvPr id="3" name="anim|1|fade|click|"/>
          <p:cNvSpPr/>
          <p:nvPr/>
        </p:nvSpPr>
        <p:spPr>
          <a:xfrm>
            <a:off x="548640" y="1463040"/>
            <a:ext cx="3291840" cy="1371600"/>
          </a:xfrm>
          <a:prstGeom prst="roundRect">
            <a:avLst>
              <a:gd name="adj" fmla="val 8000"/>
            </a:avLst>
          </a:prstGeom>
          <a:solidFill>
            <a:srgbClr val="2B2F31"/>
          </a:solidFill>
          <a:ln w="9525">
            <a:solidFill>
              <a:srgbClr val="45504C"/>
            </a:solidFill>
            <a:prstDash val="solid"/>
          </a:ln>
        </p:spPr>
      </p:sp>
      <p:sp>
        <p:nvSpPr>
          <p:cNvPr id="4" name="anim|1|fade|with|"/>
          <p:cNvSpPr txBox="1"/>
          <p:nvPr/>
        </p:nvSpPr>
        <p:spPr>
          <a:xfrm>
            <a:off x="777240" y="1600200"/>
            <a:ext cx="2926080" cy="685800"/>
          </a:xfrm>
          <a:prstGeom prst="rect">
            <a:avLst/>
          </a:prstGeom>
          <a:noFill/>
          <a:ln/>
        </p:spPr>
        <p:txBody>
          <a:bodyPr wrap="square" lIns="0" tIns="0" rIns="0" bIns="0" rtlCol="0" anchor="ctr"/>
          <a:lstStyle/>
          <a:p>
            <a:pPr marL="0" indent="0">
              <a:buNone/>
            </a:pPr>
            <a:r>
              <a:rPr lang="en-US" sz="3800" dirty="0">
                <a:solidFill>
                  <a:srgbClr val="F2A541"/>
                </a:solidFill>
                <a:latin typeface="Bookman Old Style" pitchFamily="34" charset="0"/>
                <a:ea typeface="Bookman Old Style" pitchFamily="34" charset="-122"/>
                <a:cs typeface="Bookman Old Style" pitchFamily="34" charset="-120"/>
              </a:rPr>
              <a:t>11.2×</a:t>
            </a:r>
            <a:endParaRPr lang="en-US" sz="3800" dirty="0"/>
          </a:p>
        </p:txBody>
      </p:sp>
      <p:sp>
        <p:nvSpPr>
          <p:cNvPr id="5" name="anim|1|fade|with|"/>
          <p:cNvSpPr txBox="1"/>
          <p:nvPr/>
        </p:nvSpPr>
        <p:spPr>
          <a:xfrm>
            <a:off x="777240" y="2267712"/>
            <a:ext cx="2926080" cy="45720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smaller history (columnstore compression)</a:t>
            </a:r>
            <a:endParaRPr lang="en-US" sz="1400" dirty="0"/>
          </a:p>
        </p:txBody>
      </p:sp>
      <p:sp>
        <p:nvSpPr>
          <p:cNvPr id="6" name="anim|1|fade|after|"/>
          <p:cNvSpPr/>
          <p:nvPr/>
        </p:nvSpPr>
        <p:spPr>
          <a:xfrm>
            <a:off x="548640" y="3063240"/>
            <a:ext cx="3291840" cy="1371600"/>
          </a:xfrm>
          <a:prstGeom prst="roundRect">
            <a:avLst>
              <a:gd name="adj" fmla="val 8000"/>
            </a:avLst>
          </a:prstGeom>
          <a:solidFill>
            <a:srgbClr val="2B2F31"/>
          </a:solidFill>
          <a:ln w="9525">
            <a:solidFill>
              <a:srgbClr val="45504C"/>
            </a:solidFill>
            <a:prstDash val="solid"/>
          </a:ln>
        </p:spPr>
      </p:sp>
      <p:sp>
        <p:nvSpPr>
          <p:cNvPr id="7" name="anim|1|fade|with|"/>
          <p:cNvSpPr txBox="1"/>
          <p:nvPr/>
        </p:nvSpPr>
        <p:spPr>
          <a:xfrm>
            <a:off x="777240" y="3200400"/>
            <a:ext cx="2926080" cy="685800"/>
          </a:xfrm>
          <a:prstGeom prst="rect">
            <a:avLst/>
          </a:prstGeom>
          <a:noFill/>
          <a:ln/>
        </p:spPr>
        <p:txBody>
          <a:bodyPr wrap="square" lIns="0" tIns="0" rIns="0" bIns="0" rtlCol="0" anchor="ctr"/>
          <a:lstStyle/>
          <a:p>
            <a:pPr marL="0" indent="0">
              <a:buNone/>
            </a:pPr>
            <a:r>
              <a:rPr lang="en-US" sz="3800" dirty="0">
                <a:solidFill>
                  <a:srgbClr val="F2A541"/>
                </a:solidFill>
                <a:latin typeface="Bookman Old Style" pitchFamily="34" charset="0"/>
                <a:ea typeface="Bookman Old Style" pitchFamily="34" charset="-122"/>
                <a:cs typeface="Bookman Old Style" pitchFamily="34" charset="-120"/>
              </a:rPr>
              <a:t>3 of 3</a:t>
            </a:r>
            <a:endParaRPr lang="en-US" sz="3800" dirty="0"/>
          </a:p>
        </p:txBody>
      </p:sp>
      <p:sp>
        <p:nvSpPr>
          <p:cNvPr id="8" name="anim|1|fade|with|"/>
          <p:cNvSpPr txBox="1"/>
          <p:nvPr/>
        </p:nvSpPr>
        <p:spPr>
          <a:xfrm>
            <a:off x="777240" y="3867912"/>
            <a:ext cx="2926080" cy="45720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independent calculations agree on every budget</a:t>
            </a:r>
            <a:endParaRPr lang="en-US" sz="1400" dirty="0"/>
          </a:p>
        </p:txBody>
      </p:sp>
      <p:sp>
        <p:nvSpPr>
          <p:cNvPr id="9" name="anim|1|fade|after|"/>
          <p:cNvSpPr/>
          <p:nvPr/>
        </p:nvSpPr>
        <p:spPr>
          <a:xfrm>
            <a:off x="548640" y="4663440"/>
            <a:ext cx="3291840" cy="1371600"/>
          </a:xfrm>
          <a:prstGeom prst="roundRect">
            <a:avLst>
              <a:gd name="adj" fmla="val 8000"/>
            </a:avLst>
          </a:prstGeom>
          <a:solidFill>
            <a:srgbClr val="2B2F31"/>
          </a:solidFill>
          <a:ln w="9525">
            <a:solidFill>
              <a:srgbClr val="45504C"/>
            </a:solidFill>
            <a:prstDash val="solid"/>
          </a:ln>
        </p:spPr>
      </p:sp>
      <p:sp>
        <p:nvSpPr>
          <p:cNvPr id="10" name="anim|1|fade|with|"/>
          <p:cNvSpPr txBox="1"/>
          <p:nvPr/>
        </p:nvSpPr>
        <p:spPr>
          <a:xfrm>
            <a:off x="777240" y="4800600"/>
            <a:ext cx="2926080" cy="685800"/>
          </a:xfrm>
          <a:prstGeom prst="rect">
            <a:avLst/>
          </a:prstGeom>
          <a:noFill/>
          <a:ln/>
        </p:spPr>
        <p:txBody>
          <a:bodyPr wrap="square" lIns="0" tIns="0" rIns="0" bIns="0" rtlCol="0" anchor="ctr"/>
          <a:lstStyle/>
          <a:p>
            <a:pPr marL="0" indent="0">
              <a:buNone/>
            </a:pPr>
            <a:r>
              <a:rPr lang="en-US" sz="3800" dirty="0">
                <a:solidFill>
                  <a:srgbClr val="F2A541"/>
                </a:solidFill>
                <a:latin typeface="Bookman Old Style" pitchFamily="34" charset="0"/>
                <a:ea typeface="Bookman Old Style" pitchFamily="34" charset="-122"/>
                <a:cs typeface="Bookman Old Style" pitchFamily="34" charset="-120"/>
              </a:rPr>
              <a:t>~2 s</a:t>
            </a:r>
            <a:endParaRPr lang="en-US" sz="3800" dirty="0"/>
          </a:p>
        </p:txBody>
      </p:sp>
      <p:sp>
        <p:nvSpPr>
          <p:cNvPr id="11" name="anim|1|fade|with|"/>
          <p:cNvSpPr txBox="1"/>
          <p:nvPr/>
        </p:nvSpPr>
        <p:spPr>
          <a:xfrm>
            <a:off x="777240" y="5468112"/>
            <a:ext cx="2926080" cy="45720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from a new reading to an alert on screen</a:t>
            </a:r>
            <a:endParaRPr lang="en-US" sz="1400" dirty="0"/>
          </a:p>
        </p:txBody>
      </p:sp>
      <p:sp>
        <p:nvSpPr>
          <p:cNvPr id="12" name="anim|2|rise|click|"/>
          <p:cNvSpPr/>
          <p:nvPr/>
        </p:nvSpPr>
        <p:spPr>
          <a:xfrm>
            <a:off x="4160520" y="1463040"/>
            <a:ext cx="3611880" cy="1024128"/>
          </a:xfrm>
          <a:prstGeom prst="roundRect">
            <a:avLst>
              <a:gd name="adj" fmla="val 10714"/>
            </a:avLst>
          </a:prstGeom>
          <a:solidFill>
            <a:srgbClr val="2B2F31"/>
          </a:solidFill>
          <a:ln w="9525">
            <a:solidFill>
              <a:srgbClr val="45504C"/>
            </a:solidFill>
            <a:prstDash val="solid"/>
          </a:ln>
        </p:spPr>
      </p:sp>
      <p:sp>
        <p:nvSpPr>
          <p:cNvPr id="13" name="anim|2|rise|with|"/>
          <p:cNvSpPr/>
          <p:nvPr/>
        </p:nvSpPr>
        <p:spPr>
          <a:xfrm>
            <a:off x="4361688" y="1645920"/>
            <a:ext cx="658368" cy="658368"/>
          </a:xfrm>
          <a:prstGeom prst="ellipse">
            <a:avLst/>
          </a:prstGeom>
          <a:solidFill>
            <a:srgbClr val="343A3C"/>
          </a:solidFill>
          <a:ln/>
        </p:spPr>
      </p:sp>
      <p:pic>
        <p:nvPicPr>
          <p:cNvPr id="14" name="anim|2|rise|with|" descr="preencoded.png"/>
          <p:cNvPicPr>
            <a:picLocks noChangeAspect="1"/>
          </p:cNvPicPr>
          <p:nvPr/>
        </p:nvPicPr>
        <p:blipFill>
          <a:blip r:embed="rId3"/>
          <a:stretch>
            <a:fillRect/>
          </a:stretch>
        </p:blipFill>
        <p:spPr>
          <a:xfrm>
            <a:off x="4506529" y="1790761"/>
            <a:ext cx="368686" cy="368686"/>
          </a:xfrm>
          <a:prstGeom prst="rect">
            <a:avLst/>
          </a:prstGeom>
        </p:spPr>
      </p:pic>
      <p:sp>
        <p:nvSpPr>
          <p:cNvPr id="15" name="anim|2|rise|with|"/>
          <p:cNvSpPr txBox="1"/>
          <p:nvPr/>
        </p:nvSpPr>
        <p:spPr>
          <a:xfrm>
            <a:off x="5166360" y="161848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Hypertables</a:t>
            </a:r>
            <a:endParaRPr lang="en-US" sz="1700" dirty="0"/>
          </a:p>
        </p:txBody>
      </p:sp>
      <p:sp>
        <p:nvSpPr>
          <p:cNvPr id="16" name="anim|2|rise|with|"/>
          <p:cNvSpPr txBox="1"/>
          <p:nvPr/>
        </p:nvSpPr>
        <p:spPr>
          <a:xfrm>
            <a:off x="5166360" y="198424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Every reading, time-partitioned, compressed</a:t>
            </a:r>
            <a:endParaRPr lang="en-US" sz="1400" dirty="0"/>
          </a:p>
        </p:txBody>
      </p:sp>
      <p:sp>
        <p:nvSpPr>
          <p:cNvPr id="17" name="anim|2|rise|with|"/>
          <p:cNvSpPr/>
          <p:nvPr/>
        </p:nvSpPr>
        <p:spPr>
          <a:xfrm>
            <a:off x="7909560" y="1463040"/>
            <a:ext cx="3611880" cy="1024128"/>
          </a:xfrm>
          <a:prstGeom prst="roundRect">
            <a:avLst>
              <a:gd name="adj" fmla="val 10714"/>
            </a:avLst>
          </a:prstGeom>
          <a:solidFill>
            <a:srgbClr val="2B2F31"/>
          </a:solidFill>
          <a:ln w="9525">
            <a:solidFill>
              <a:srgbClr val="45504C"/>
            </a:solidFill>
            <a:prstDash val="solid"/>
          </a:ln>
        </p:spPr>
      </p:sp>
      <p:sp>
        <p:nvSpPr>
          <p:cNvPr id="18" name="anim|2|rise|with|"/>
          <p:cNvSpPr/>
          <p:nvPr/>
        </p:nvSpPr>
        <p:spPr>
          <a:xfrm>
            <a:off x="8110728" y="1645920"/>
            <a:ext cx="658368" cy="658368"/>
          </a:xfrm>
          <a:prstGeom prst="ellipse">
            <a:avLst/>
          </a:prstGeom>
          <a:solidFill>
            <a:srgbClr val="343A3C"/>
          </a:solidFill>
          <a:ln/>
        </p:spPr>
      </p:sp>
      <p:pic>
        <p:nvPicPr>
          <p:cNvPr id="19" name="anim|2|rise|with|" descr="preencoded.png"/>
          <p:cNvPicPr>
            <a:picLocks noChangeAspect="1"/>
          </p:cNvPicPr>
          <p:nvPr/>
        </p:nvPicPr>
        <p:blipFill>
          <a:blip r:embed="rId4"/>
          <a:stretch>
            <a:fillRect/>
          </a:stretch>
        </p:blipFill>
        <p:spPr>
          <a:xfrm>
            <a:off x="8255569" y="1790761"/>
            <a:ext cx="368686" cy="368686"/>
          </a:xfrm>
          <a:prstGeom prst="rect">
            <a:avLst/>
          </a:prstGeom>
        </p:spPr>
      </p:pic>
      <p:sp>
        <p:nvSpPr>
          <p:cNvPr id="20" name="anim|2|rise|with|"/>
          <p:cNvSpPr txBox="1"/>
          <p:nvPr/>
        </p:nvSpPr>
        <p:spPr>
          <a:xfrm>
            <a:off x="8915400" y="161848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Continuous aggregate</a:t>
            </a:r>
            <a:endParaRPr lang="en-US" sz="1700" dirty="0"/>
          </a:p>
        </p:txBody>
      </p:sp>
      <p:sp>
        <p:nvSpPr>
          <p:cNvPr id="21" name="anim|2|rise|with|"/>
          <p:cNvSpPr txBox="1"/>
          <p:nvPr/>
        </p:nvSpPr>
        <p:spPr>
          <a:xfrm>
            <a:off x="8915400" y="198424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Scores each reading, live</a:t>
            </a:r>
            <a:endParaRPr lang="en-US" sz="1400" dirty="0"/>
          </a:p>
        </p:txBody>
      </p:sp>
      <p:sp>
        <p:nvSpPr>
          <p:cNvPr id="22" name="anim|3|rise|click|"/>
          <p:cNvSpPr/>
          <p:nvPr/>
        </p:nvSpPr>
        <p:spPr>
          <a:xfrm>
            <a:off x="4160520" y="2651760"/>
            <a:ext cx="3611880" cy="1024128"/>
          </a:xfrm>
          <a:prstGeom prst="roundRect">
            <a:avLst>
              <a:gd name="adj" fmla="val 10714"/>
            </a:avLst>
          </a:prstGeom>
          <a:solidFill>
            <a:srgbClr val="2B2F31"/>
          </a:solidFill>
          <a:ln w="9525">
            <a:solidFill>
              <a:srgbClr val="45504C"/>
            </a:solidFill>
            <a:prstDash val="solid"/>
          </a:ln>
        </p:spPr>
      </p:sp>
      <p:sp>
        <p:nvSpPr>
          <p:cNvPr id="23" name="anim|3|rise|with|"/>
          <p:cNvSpPr/>
          <p:nvPr/>
        </p:nvSpPr>
        <p:spPr>
          <a:xfrm>
            <a:off x="4361688" y="2834640"/>
            <a:ext cx="658368" cy="658368"/>
          </a:xfrm>
          <a:prstGeom prst="ellipse">
            <a:avLst/>
          </a:prstGeom>
          <a:solidFill>
            <a:srgbClr val="343A3C"/>
          </a:solidFill>
          <a:ln/>
        </p:spPr>
      </p:sp>
      <p:pic>
        <p:nvPicPr>
          <p:cNvPr id="24" name="anim|3|rise|with|" descr="preencoded.png"/>
          <p:cNvPicPr>
            <a:picLocks noChangeAspect="1"/>
          </p:cNvPicPr>
          <p:nvPr/>
        </p:nvPicPr>
        <p:blipFill>
          <a:blip r:embed="rId5"/>
          <a:stretch>
            <a:fillRect/>
          </a:stretch>
        </p:blipFill>
        <p:spPr>
          <a:xfrm>
            <a:off x="4506529" y="2979481"/>
            <a:ext cx="368686" cy="368686"/>
          </a:xfrm>
          <a:prstGeom prst="rect">
            <a:avLst/>
          </a:prstGeom>
        </p:spPr>
      </p:pic>
      <p:sp>
        <p:nvSpPr>
          <p:cNvPr id="25" name="anim|3|rise|with|"/>
          <p:cNvSpPr txBox="1"/>
          <p:nvPr/>
        </p:nvSpPr>
        <p:spPr>
          <a:xfrm>
            <a:off x="5166360" y="280720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Targeted refresh</a:t>
            </a:r>
            <a:endParaRPr lang="en-US" sz="1700" dirty="0"/>
          </a:p>
        </p:txBody>
      </p:sp>
      <p:sp>
        <p:nvSpPr>
          <p:cNvPr id="26" name="anim|3|rise|with|"/>
          <p:cNvSpPr txBox="1"/>
          <p:nvPr/>
        </p:nvSpPr>
        <p:spPr>
          <a:xfrm>
            <a:off x="5166360" y="317296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Repairs late sensor data</a:t>
            </a:r>
            <a:endParaRPr lang="en-US" sz="1400" dirty="0"/>
          </a:p>
        </p:txBody>
      </p:sp>
      <p:sp>
        <p:nvSpPr>
          <p:cNvPr id="27" name="anim|3|rise|with|"/>
          <p:cNvSpPr/>
          <p:nvPr/>
        </p:nvSpPr>
        <p:spPr>
          <a:xfrm>
            <a:off x="7909560" y="2651760"/>
            <a:ext cx="3611880" cy="1024128"/>
          </a:xfrm>
          <a:prstGeom prst="roundRect">
            <a:avLst>
              <a:gd name="adj" fmla="val 10714"/>
            </a:avLst>
          </a:prstGeom>
          <a:solidFill>
            <a:srgbClr val="2B2F31"/>
          </a:solidFill>
          <a:ln w="9525">
            <a:solidFill>
              <a:srgbClr val="45504C"/>
            </a:solidFill>
            <a:prstDash val="solid"/>
          </a:ln>
        </p:spPr>
      </p:sp>
      <p:sp>
        <p:nvSpPr>
          <p:cNvPr id="28" name="anim|3|rise|with|"/>
          <p:cNvSpPr/>
          <p:nvPr/>
        </p:nvSpPr>
        <p:spPr>
          <a:xfrm>
            <a:off x="8110728" y="2834640"/>
            <a:ext cx="658368" cy="658368"/>
          </a:xfrm>
          <a:prstGeom prst="ellipse">
            <a:avLst/>
          </a:prstGeom>
          <a:solidFill>
            <a:srgbClr val="343A3C"/>
          </a:solidFill>
          <a:ln/>
        </p:spPr>
      </p:sp>
      <p:pic>
        <p:nvPicPr>
          <p:cNvPr id="29" name="anim|3|rise|with|" descr="preencoded.png"/>
          <p:cNvPicPr>
            <a:picLocks noChangeAspect="1"/>
          </p:cNvPicPr>
          <p:nvPr/>
        </p:nvPicPr>
        <p:blipFill>
          <a:blip r:embed="rId6"/>
          <a:stretch>
            <a:fillRect/>
          </a:stretch>
        </p:blipFill>
        <p:spPr>
          <a:xfrm>
            <a:off x="8255569" y="2979481"/>
            <a:ext cx="368686" cy="368686"/>
          </a:xfrm>
          <a:prstGeom prst="rect">
            <a:avLst/>
          </a:prstGeom>
        </p:spPr>
      </p:pic>
      <p:sp>
        <p:nvSpPr>
          <p:cNvPr id="30" name="anim|3|rise|with|"/>
          <p:cNvSpPr txBox="1"/>
          <p:nvPr/>
        </p:nvSpPr>
        <p:spPr>
          <a:xfrm>
            <a:off x="8915400" y="280720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Scheduled jobs</a:t>
            </a:r>
            <a:endParaRPr lang="en-US" sz="1700" dirty="0"/>
          </a:p>
        </p:txBody>
      </p:sp>
      <p:sp>
        <p:nvSpPr>
          <p:cNvPr id="31" name="anim|3|rise|with|"/>
          <p:cNvSpPr txBox="1"/>
          <p:nvPr/>
        </p:nvSpPr>
        <p:spPr>
          <a:xfrm>
            <a:off x="8915400" y="317296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Alerts every minute, compression</a:t>
            </a:r>
            <a:endParaRPr lang="en-US" sz="1400" dirty="0"/>
          </a:p>
        </p:txBody>
      </p:sp>
      <p:sp>
        <p:nvSpPr>
          <p:cNvPr id="32" name="anim|4|rise|click|"/>
          <p:cNvSpPr/>
          <p:nvPr/>
        </p:nvSpPr>
        <p:spPr>
          <a:xfrm>
            <a:off x="4160520" y="3840480"/>
            <a:ext cx="3611880" cy="1024128"/>
          </a:xfrm>
          <a:prstGeom prst="roundRect">
            <a:avLst>
              <a:gd name="adj" fmla="val 10714"/>
            </a:avLst>
          </a:prstGeom>
          <a:solidFill>
            <a:srgbClr val="2B2F31"/>
          </a:solidFill>
          <a:ln w="9525">
            <a:solidFill>
              <a:srgbClr val="45504C"/>
            </a:solidFill>
            <a:prstDash val="solid"/>
          </a:ln>
        </p:spPr>
      </p:sp>
      <p:sp>
        <p:nvSpPr>
          <p:cNvPr id="33" name="anim|4|rise|with|"/>
          <p:cNvSpPr/>
          <p:nvPr/>
        </p:nvSpPr>
        <p:spPr>
          <a:xfrm>
            <a:off x="4361688" y="4023360"/>
            <a:ext cx="658368" cy="658368"/>
          </a:xfrm>
          <a:prstGeom prst="ellipse">
            <a:avLst/>
          </a:prstGeom>
          <a:solidFill>
            <a:srgbClr val="343A3C"/>
          </a:solidFill>
          <a:ln/>
        </p:spPr>
      </p:sp>
      <p:pic>
        <p:nvPicPr>
          <p:cNvPr id="34" name="anim|4|rise|with|" descr="preencoded.png"/>
          <p:cNvPicPr>
            <a:picLocks noChangeAspect="1"/>
          </p:cNvPicPr>
          <p:nvPr/>
        </p:nvPicPr>
        <p:blipFill>
          <a:blip r:embed="rId7"/>
          <a:stretch>
            <a:fillRect/>
          </a:stretch>
        </p:blipFill>
        <p:spPr>
          <a:xfrm>
            <a:off x="4506529" y="4168201"/>
            <a:ext cx="368686" cy="368686"/>
          </a:xfrm>
          <a:prstGeom prst="rect">
            <a:avLst/>
          </a:prstGeom>
        </p:spPr>
      </p:pic>
      <p:sp>
        <p:nvSpPr>
          <p:cNvPr id="35" name="anim|4|rise|with|"/>
          <p:cNvSpPr txBox="1"/>
          <p:nvPr/>
        </p:nvSpPr>
        <p:spPr>
          <a:xfrm>
            <a:off x="5166360" y="399592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LISTEN / NOTIFY</a:t>
            </a:r>
            <a:endParaRPr lang="en-US" sz="1700" dirty="0"/>
          </a:p>
        </p:txBody>
      </p:sp>
      <p:sp>
        <p:nvSpPr>
          <p:cNvPr id="36" name="anim|4|rise|with|"/>
          <p:cNvSpPr txBox="1"/>
          <p:nvPr/>
        </p:nvSpPr>
        <p:spPr>
          <a:xfrm>
            <a:off x="5166360" y="436168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Pushes live updates to phones</a:t>
            </a:r>
            <a:endParaRPr lang="en-US" sz="1400" dirty="0"/>
          </a:p>
        </p:txBody>
      </p:sp>
      <p:sp>
        <p:nvSpPr>
          <p:cNvPr id="37" name="anim|4|rise|with|"/>
          <p:cNvSpPr/>
          <p:nvPr/>
        </p:nvSpPr>
        <p:spPr>
          <a:xfrm>
            <a:off x="7909560" y="3840480"/>
            <a:ext cx="3611880" cy="1024128"/>
          </a:xfrm>
          <a:prstGeom prst="roundRect">
            <a:avLst>
              <a:gd name="adj" fmla="val 10714"/>
            </a:avLst>
          </a:prstGeom>
          <a:solidFill>
            <a:srgbClr val="2B2F31"/>
          </a:solidFill>
          <a:ln w="9525">
            <a:solidFill>
              <a:srgbClr val="45504C"/>
            </a:solidFill>
            <a:prstDash val="solid"/>
          </a:ln>
        </p:spPr>
      </p:sp>
      <p:sp>
        <p:nvSpPr>
          <p:cNvPr id="38" name="anim|4|rise|with|"/>
          <p:cNvSpPr/>
          <p:nvPr/>
        </p:nvSpPr>
        <p:spPr>
          <a:xfrm>
            <a:off x="8110728" y="4023360"/>
            <a:ext cx="658368" cy="658368"/>
          </a:xfrm>
          <a:prstGeom prst="ellipse">
            <a:avLst/>
          </a:prstGeom>
          <a:solidFill>
            <a:srgbClr val="343A3C"/>
          </a:solidFill>
          <a:ln/>
        </p:spPr>
      </p:sp>
      <p:pic>
        <p:nvPicPr>
          <p:cNvPr id="39" name="anim|4|rise|with|" descr="preencoded.png"/>
          <p:cNvPicPr>
            <a:picLocks noChangeAspect="1"/>
          </p:cNvPicPr>
          <p:nvPr/>
        </p:nvPicPr>
        <p:blipFill>
          <a:blip r:embed="rId8"/>
          <a:stretch>
            <a:fillRect/>
          </a:stretch>
        </p:blipFill>
        <p:spPr>
          <a:xfrm>
            <a:off x="8255569" y="4168201"/>
            <a:ext cx="368686" cy="368686"/>
          </a:xfrm>
          <a:prstGeom prst="rect">
            <a:avLst/>
          </a:prstGeom>
        </p:spPr>
      </p:pic>
      <p:sp>
        <p:nvSpPr>
          <p:cNvPr id="40" name="anim|4|rise|with|"/>
          <p:cNvSpPr txBox="1"/>
          <p:nvPr/>
        </p:nvSpPr>
        <p:spPr>
          <a:xfrm>
            <a:off x="8915400" y="399592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pgvector</a:t>
            </a:r>
            <a:endParaRPr lang="en-US" sz="1700" dirty="0"/>
          </a:p>
        </p:txBody>
      </p:sp>
      <p:sp>
        <p:nvSpPr>
          <p:cNvPr id="41" name="anim|4|rise|with|"/>
          <p:cNvSpPr txBox="1"/>
          <p:nvPr/>
        </p:nvSpPr>
        <p:spPr>
          <a:xfrm>
            <a:off x="8915400" y="436168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Finds similar exposure histories</a:t>
            </a:r>
            <a:endParaRPr lang="en-US" sz="1400" dirty="0"/>
          </a:p>
        </p:txBody>
      </p:sp>
      <p:sp>
        <p:nvSpPr>
          <p:cNvPr id="42" name="anim|5|rise|click|"/>
          <p:cNvSpPr/>
          <p:nvPr/>
        </p:nvSpPr>
        <p:spPr>
          <a:xfrm>
            <a:off x="4160520" y="5029200"/>
            <a:ext cx="3611880" cy="1024128"/>
          </a:xfrm>
          <a:prstGeom prst="roundRect">
            <a:avLst>
              <a:gd name="adj" fmla="val 10714"/>
            </a:avLst>
          </a:prstGeom>
          <a:solidFill>
            <a:srgbClr val="2B2F31"/>
          </a:solidFill>
          <a:ln w="9525">
            <a:solidFill>
              <a:srgbClr val="45504C"/>
            </a:solidFill>
            <a:prstDash val="solid"/>
          </a:ln>
        </p:spPr>
      </p:sp>
      <p:sp>
        <p:nvSpPr>
          <p:cNvPr id="43" name="anim|5|rise|with|"/>
          <p:cNvSpPr/>
          <p:nvPr/>
        </p:nvSpPr>
        <p:spPr>
          <a:xfrm>
            <a:off x="4361688" y="5212080"/>
            <a:ext cx="658368" cy="658368"/>
          </a:xfrm>
          <a:prstGeom prst="ellipse">
            <a:avLst/>
          </a:prstGeom>
          <a:solidFill>
            <a:srgbClr val="343A3C"/>
          </a:solidFill>
          <a:ln/>
        </p:spPr>
      </p:sp>
      <p:pic>
        <p:nvPicPr>
          <p:cNvPr id="44" name="anim|5|rise|with|" descr="preencoded.png"/>
          <p:cNvPicPr>
            <a:picLocks noChangeAspect="1"/>
          </p:cNvPicPr>
          <p:nvPr/>
        </p:nvPicPr>
        <p:blipFill>
          <a:blip r:embed="rId9"/>
          <a:stretch>
            <a:fillRect/>
          </a:stretch>
        </p:blipFill>
        <p:spPr>
          <a:xfrm>
            <a:off x="4506529" y="5356921"/>
            <a:ext cx="368686" cy="368686"/>
          </a:xfrm>
          <a:prstGeom prst="rect">
            <a:avLst/>
          </a:prstGeom>
        </p:spPr>
      </p:pic>
      <p:sp>
        <p:nvSpPr>
          <p:cNvPr id="45" name="anim|5|rise|with|"/>
          <p:cNvSpPr txBox="1"/>
          <p:nvPr/>
        </p:nvSpPr>
        <p:spPr>
          <a:xfrm>
            <a:off x="5166360" y="518464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PostGIS</a:t>
            </a:r>
            <a:endParaRPr lang="en-US" sz="1700" dirty="0"/>
          </a:p>
        </p:txBody>
      </p:sp>
      <p:sp>
        <p:nvSpPr>
          <p:cNvPr id="46" name="anim|5|rise|with|"/>
          <p:cNvSpPr txBox="1"/>
          <p:nvPr/>
        </p:nvSpPr>
        <p:spPr>
          <a:xfrm>
            <a:off x="5166360" y="555040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Who is inside the outage</a:t>
            </a:r>
            <a:endParaRPr lang="en-US" sz="1400" dirty="0"/>
          </a:p>
        </p:txBody>
      </p:sp>
      <p:sp>
        <p:nvSpPr>
          <p:cNvPr id="47" name="anim|5|rise|with|"/>
          <p:cNvSpPr/>
          <p:nvPr/>
        </p:nvSpPr>
        <p:spPr>
          <a:xfrm>
            <a:off x="7909560" y="5029200"/>
            <a:ext cx="3611880" cy="1024128"/>
          </a:xfrm>
          <a:prstGeom prst="roundRect">
            <a:avLst>
              <a:gd name="adj" fmla="val 10714"/>
            </a:avLst>
          </a:prstGeom>
          <a:solidFill>
            <a:srgbClr val="2B2F31"/>
          </a:solidFill>
          <a:ln w="9525">
            <a:solidFill>
              <a:srgbClr val="45504C"/>
            </a:solidFill>
            <a:prstDash val="solid"/>
          </a:ln>
        </p:spPr>
      </p:sp>
      <p:sp>
        <p:nvSpPr>
          <p:cNvPr id="48" name="anim|5|rise|with|"/>
          <p:cNvSpPr/>
          <p:nvPr/>
        </p:nvSpPr>
        <p:spPr>
          <a:xfrm>
            <a:off x="8110728" y="5212080"/>
            <a:ext cx="658368" cy="658368"/>
          </a:xfrm>
          <a:prstGeom prst="ellipse">
            <a:avLst/>
          </a:prstGeom>
          <a:solidFill>
            <a:srgbClr val="343A3C"/>
          </a:solidFill>
          <a:ln/>
        </p:spPr>
      </p:sp>
      <p:pic>
        <p:nvPicPr>
          <p:cNvPr id="49" name="anim|5|rise|with|" descr="preencoded.png"/>
          <p:cNvPicPr>
            <a:picLocks noChangeAspect="1"/>
          </p:cNvPicPr>
          <p:nvPr/>
        </p:nvPicPr>
        <p:blipFill>
          <a:blip r:embed="rId10"/>
          <a:stretch>
            <a:fillRect/>
          </a:stretch>
        </p:blipFill>
        <p:spPr>
          <a:xfrm>
            <a:off x="8255569" y="5356921"/>
            <a:ext cx="368686" cy="368686"/>
          </a:xfrm>
          <a:prstGeom prst="rect">
            <a:avLst/>
          </a:prstGeom>
        </p:spPr>
      </p:pic>
      <p:sp>
        <p:nvSpPr>
          <p:cNvPr id="50" name="anim|5|rise|with|"/>
          <p:cNvSpPr txBox="1"/>
          <p:nvPr/>
        </p:nvSpPr>
        <p:spPr>
          <a:xfrm>
            <a:off x="8915400" y="5184648"/>
            <a:ext cx="2514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Toolkit</a:t>
            </a:r>
            <a:endParaRPr lang="en-US" sz="1700" dirty="0"/>
          </a:p>
        </p:txBody>
      </p:sp>
      <p:sp>
        <p:nvSpPr>
          <p:cNvPr id="51" name="anim|5|rise|with|"/>
          <p:cNvSpPr txBox="1"/>
          <p:nvPr/>
        </p:nvSpPr>
        <p:spPr>
          <a:xfrm>
            <a:off x="8915400" y="5550408"/>
            <a:ext cx="2514600" cy="365760"/>
          </a:xfrm>
          <a:prstGeom prst="rect">
            <a:avLst/>
          </a:prstGeom>
          <a:noFill/>
          <a:ln/>
        </p:spPr>
        <p:txBody>
          <a:bodyPr wrap="square" lIns="0" tIns="0" rIns="0" bIns="0" rtlCol="0" anchor="ctr"/>
          <a:lstStyle/>
          <a:p>
            <a:pPr marL="0" indent="0">
              <a:buNone/>
            </a:pPr>
            <a:r>
              <a:rPr lang="en-US" sz="1400" dirty="0">
                <a:solidFill>
                  <a:srgbClr val="B9C4BF"/>
                </a:solidFill>
                <a:latin typeface="Calibri" pitchFamily="34" charset="0"/>
                <a:ea typeface="Calibri" pitchFamily="34" charset="-122"/>
                <a:cs typeface="Calibri" pitchFamily="34" charset="-120"/>
              </a:rPr>
              <a:t>Time-weighted temperatures</a:t>
            </a:r>
            <a:endParaRPr lang="en-US" sz="1400" dirty="0"/>
          </a:p>
        </p:txBody>
      </p:sp>
      <p:sp>
        <p:nvSpPr>
          <p:cNvPr id="52"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500"/>
                            </p:stCondLst>
                            <p:childTnLst>
                              <p:par>
                                <p:cTn id="15" presetID="10" presetClass="entr" presetSubtype="0" fill="hold" nodeType="afterEffect">
                                  <p:stCondLst>
                                    <p:cond delay="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1050"/>
                            </p:stCondLst>
                            <p:childTnLst>
                              <p:par>
                                <p:cTn id="25" presetID="10" presetClass="entr" presetSubtype="0" fill="hold" nodeType="afterEffect">
                                  <p:stCondLst>
                                    <p:cond delay="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37"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anim calcmode="lin" valueType="num">
                                      <p:cBhvr>
                                        <p:cTn id="39" dur="500" fill="hold"/>
                                        <p:tgtEl>
                                          <p:spTgt spid="12"/>
                                        </p:tgtEl>
                                        <p:attrNameLst>
                                          <p:attrName>ppt_x</p:attrName>
                                        </p:attrNameLst>
                                      </p:cBhvr>
                                      <p:tavLst>
                                        <p:tav tm="0">
                                          <p:val>
                                            <p:strVal val="#ppt_x"/>
                                          </p:val>
                                        </p:tav>
                                        <p:tav tm="100000">
                                          <p:val>
                                            <p:strVal val="#ppt_x"/>
                                          </p:val>
                                        </p:tav>
                                      </p:tavLst>
                                    </p:anim>
                                    <p:anim calcmode="lin" valueType="num">
                                      <p:cBhvr>
                                        <p:cTn id="40" dur="450" decel="100000" fill="hold"/>
                                        <p:tgtEl>
                                          <p:spTgt spid="12"/>
                                        </p:tgtEl>
                                        <p:attrNameLst>
                                          <p:attrName>ppt_y</p:attrName>
                                        </p:attrNameLst>
                                      </p:cBhvr>
                                      <p:tavLst>
                                        <p:tav tm="0">
                                          <p:val>
                                            <p:strVal val="#ppt_y+1"/>
                                          </p:val>
                                        </p:tav>
                                        <p:tav tm="100000">
                                          <p:val>
                                            <p:strVal val="#ppt_y-.03"/>
                                          </p:val>
                                        </p:tav>
                                      </p:tavLst>
                                    </p:anim>
                                    <p:anim calcmode="lin" valueType="num">
                                      <p:cBhvr>
                                        <p:cTn id="41"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42" presetID="37"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anim calcmode="lin" valueType="num">
                                      <p:cBhvr>
                                        <p:cTn id="45" dur="500" fill="hold"/>
                                        <p:tgtEl>
                                          <p:spTgt spid="13"/>
                                        </p:tgtEl>
                                        <p:attrNameLst>
                                          <p:attrName>ppt_x</p:attrName>
                                        </p:attrNameLst>
                                      </p:cBhvr>
                                      <p:tavLst>
                                        <p:tav tm="0">
                                          <p:val>
                                            <p:strVal val="#ppt_x"/>
                                          </p:val>
                                        </p:tav>
                                        <p:tav tm="100000">
                                          <p:val>
                                            <p:strVal val="#ppt_x"/>
                                          </p:val>
                                        </p:tav>
                                      </p:tavLst>
                                    </p:anim>
                                    <p:anim calcmode="lin" valueType="num">
                                      <p:cBhvr>
                                        <p:cTn id="46" dur="450" decel="100000" fill="hold"/>
                                        <p:tgtEl>
                                          <p:spTgt spid="13"/>
                                        </p:tgtEl>
                                        <p:attrNameLst>
                                          <p:attrName>ppt_y</p:attrName>
                                        </p:attrNameLst>
                                      </p:cBhvr>
                                      <p:tavLst>
                                        <p:tav tm="0">
                                          <p:val>
                                            <p:strVal val="#ppt_y+1"/>
                                          </p:val>
                                        </p:tav>
                                        <p:tav tm="100000">
                                          <p:val>
                                            <p:strVal val="#ppt_y-.03"/>
                                          </p:val>
                                        </p:tav>
                                      </p:tavLst>
                                    </p:anim>
                                    <p:anim calcmode="lin" valueType="num">
                                      <p:cBhvr>
                                        <p:cTn id="47"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48" presetID="37"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p:cTn id="51" dur="500" fill="hold"/>
                                        <p:tgtEl>
                                          <p:spTgt spid="14"/>
                                        </p:tgtEl>
                                        <p:attrNameLst>
                                          <p:attrName>ppt_x</p:attrName>
                                        </p:attrNameLst>
                                      </p:cBhvr>
                                      <p:tavLst>
                                        <p:tav tm="0">
                                          <p:val>
                                            <p:strVal val="#ppt_x"/>
                                          </p:val>
                                        </p:tav>
                                        <p:tav tm="100000">
                                          <p:val>
                                            <p:strVal val="#ppt_x"/>
                                          </p:val>
                                        </p:tav>
                                      </p:tavLst>
                                    </p:anim>
                                    <p:anim calcmode="lin" valueType="num">
                                      <p:cBhvr>
                                        <p:cTn id="52" dur="450" decel="100000" fill="hold"/>
                                        <p:tgtEl>
                                          <p:spTgt spid="14"/>
                                        </p:tgtEl>
                                        <p:attrNameLst>
                                          <p:attrName>ppt_y</p:attrName>
                                        </p:attrNameLst>
                                      </p:cBhvr>
                                      <p:tavLst>
                                        <p:tav tm="0">
                                          <p:val>
                                            <p:strVal val="#ppt_y+1"/>
                                          </p:val>
                                        </p:tav>
                                        <p:tav tm="100000">
                                          <p:val>
                                            <p:strVal val="#ppt_y-.03"/>
                                          </p:val>
                                        </p:tav>
                                      </p:tavLst>
                                    </p:anim>
                                    <p:anim calcmode="lin" valueType="num">
                                      <p:cBhvr>
                                        <p:cTn id="53"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54" presetID="37"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anim calcmode="lin" valueType="num">
                                      <p:cBhvr>
                                        <p:cTn id="57" dur="500" fill="hold"/>
                                        <p:tgtEl>
                                          <p:spTgt spid="15"/>
                                        </p:tgtEl>
                                        <p:attrNameLst>
                                          <p:attrName>ppt_x</p:attrName>
                                        </p:attrNameLst>
                                      </p:cBhvr>
                                      <p:tavLst>
                                        <p:tav tm="0">
                                          <p:val>
                                            <p:strVal val="#ppt_x"/>
                                          </p:val>
                                        </p:tav>
                                        <p:tav tm="100000">
                                          <p:val>
                                            <p:strVal val="#ppt_x"/>
                                          </p:val>
                                        </p:tav>
                                      </p:tavLst>
                                    </p:anim>
                                    <p:anim calcmode="lin" valueType="num">
                                      <p:cBhvr>
                                        <p:cTn id="58" dur="450" decel="100000" fill="hold"/>
                                        <p:tgtEl>
                                          <p:spTgt spid="15"/>
                                        </p:tgtEl>
                                        <p:attrNameLst>
                                          <p:attrName>ppt_y</p:attrName>
                                        </p:attrNameLst>
                                      </p:cBhvr>
                                      <p:tavLst>
                                        <p:tav tm="0">
                                          <p:val>
                                            <p:strVal val="#ppt_y+1"/>
                                          </p:val>
                                        </p:tav>
                                        <p:tav tm="100000">
                                          <p:val>
                                            <p:strVal val="#ppt_y-.03"/>
                                          </p:val>
                                        </p:tav>
                                      </p:tavLst>
                                    </p:anim>
                                    <p:anim calcmode="lin" valueType="num">
                                      <p:cBhvr>
                                        <p:cTn id="59"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60" presetID="37"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p:cTn id="63" dur="500" fill="hold"/>
                                        <p:tgtEl>
                                          <p:spTgt spid="16"/>
                                        </p:tgtEl>
                                        <p:attrNameLst>
                                          <p:attrName>ppt_x</p:attrName>
                                        </p:attrNameLst>
                                      </p:cBhvr>
                                      <p:tavLst>
                                        <p:tav tm="0">
                                          <p:val>
                                            <p:strVal val="#ppt_x"/>
                                          </p:val>
                                        </p:tav>
                                        <p:tav tm="100000">
                                          <p:val>
                                            <p:strVal val="#ppt_x"/>
                                          </p:val>
                                        </p:tav>
                                      </p:tavLst>
                                    </p:anim>
                                    <p:anim calcmode="lin" valueType="num">
                                      <p:cBhvr>
                                        <p:cTn id="64" dur="450" decel="100000" fill="hold"/>
                                        <p:tgtEl>
                                          <p:spTgt spid="16"/>
                                        </p:tgtEl>
                                        <p:attrNameLst>
                                          <p:attrName>ppt_y</p:attrName>
                                        </p:attrNameLst>
                                      </p:cBhvr>
                                      <p:tavLst>
                                        <p:tav tm="0">
                                          <p:val>
                                            <p:strVal val="#ppt_y+1"/>
                                          </p:val>
                                        </p:tav>
                                        <p:tav tm="100000">
                                          <p:val>
                                            <p:strVal val="#ppt_y-.03"/>
                                          </p:val>
                                        </p:tav>
                                      </p:tavLst>
                                    </p:anim>
                                    <p:anim calcmode="lin" valueType="num">
                                      <p:cBhvr>
                                        <p:cTn id="65"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66" presetID="37" presetClass="entr" presetSubtype="0"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p:cTn id="69" dur="500" fill="hold"/>
                                        <p:tgtEl>
                                          <p:spTgt spid="17"/>
                                        </p:tgtEl>
                                        <p:attrNameLst>
                                          <p:attrName>ppt_x</p:attrName>
                                        </p:attrNameLst>
                                      </p:cBhvr>
                                      <p:tavLst>
                                        <p:tav tm="0">
                                          <p:val>
                                            <p:strVal val="#ppt_x"/>
                                          </p:val>
                                        </p:tav>
                                        <p:tav tm="100000">
                                          <p:val>
                                            <p:strVal val="#ppt_x"/>
                                          </p:val>
                                        </p:tav>
                                      </p:tavLst>
                                    </p:anim>
                                    <p:anim calcmode="lin" valueType="num">
                                      <p:cBhvr>
                                        <p:cTn id="70" dur="450" decel="100000" fill="hold"/>
                                        <p:tgtEl>
                                          <p:spTgt spid="17"/>
                                        </p:tgtEl>
                                        <p:attrNameLst>
                                          <p:attrName>ppt_y</p:attrName>
                                        </p:attrNameLst>
                                      </p:cBhvr>
                                      <p:tavLst>
                                        <p:tav tm="0">
                                          <p:val>
                                            <p:strVal val="#ppt_y+1"/>
                                          </p:val>
                                        </p:tav>
                                        <p:tav tm="100000">
                                          <p:val>
                                            <p:strVal val="#ppt_y-.03"/>
                                          </p:val>
                                        </p:tav>
                                      </p:tavLst>
                                    </p:anim>
                                    <p:anim calcmode="lin" valueType="num">
                                      <p:cBhvr>
                                        <p:cTn id="71"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72" presetID="37" presetClass="entr" presetSubtype="0" fill="hold"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anim calcmode="lin" valueType="num">
                                      <p:cBhvr>
                                        <p:cTn id="75" dur="500" fill="hold"/>
                                        <p:tgtEl>
                                          <p:spTgt spid="18"/>
                                        </p:tgtEl>
                                        <p:attrNameLst>
                                          <p:attrName>ppt_x</p:attrName>
                                        </p:attrNameLst>
                                      </p:cBhvr>
                                      <p:tavLst>
                                        <p:tav tm="0">
                                          <p:val>
                                            <p:strVal val="#ppt_x"/>
                                          </p:val>
                                        </p:tav>
                                        <p:tav tm="100000">
                                          <p:val>
                                            <p:strVal val="#ppt_x"/>
                                          </p:val>
                                        </p:tav>
                                      </p:tavLst>
                                    </p:anim>
                                    <p:anim calcmode="lin" valueType="num">
                                      <p:cBhvr>
                                        <p:cTn id="76" dur="450" decel="100000" fill="hold"/>
                                        <p:tgtEl>
                                          <p:spTgt spid="18"/>
                                        </p:tgtEl>
                                        <p:attrNameLst>
                                          <p:attrName>ppt_y</p:attrName>
                                        </p:attrNameLst>
                                      </p:cBhvr>
                                      <p:tavLst>
                                        <p:tav tm="0">
                                          <p:val>
                                            <p:strVal val="#ppt_y+1"/>
                                          </p:val>
                                        </p:tav>
                                        <p:tav tm="100000">
                                          <p:val>
                                            <p:strVal val="#ppt_y-.03"/>
                                          </p:val>
                                        </p:tav>
                                      </p:tavLst>
                                    </p:anim>
                                    <p:anim calcmode="lin" valueType="num">
                                      <p:cBhvr>
                                        <p:cTn id="77"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par>
                                <p:cTn id="78" presetID="37" presetClass="entr" presetSubtype="0"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p:cTn id="81" dur="500" fill="hold"/>
                                        <p:tgtEl>
                                          <p:spTgt spid="19"/>
                                        </p:tgtEl>
                                        <p:attrNameLst>
                                          <p:attrName>ppt_x</p:attrName>
                                        </p:attrNameLst>
                                      </p:cBhvr>
                                      <p:tavLst>
                                        <p:tav tm="0">
                                          <p:val>
                                            <p:strVal val="#ppt_x"/>
                                          </p:val>
                                        </p:tav>
                                        <p:tav tm="100000">
                                          <p:val>
                                            <p:strVal val="#ppt_x"/>
                                          </p:val>
                                        </p:tav>
                                      </p:tavLst>
                                    </p:anim>
                                    <p:anim calcmode="lin" valueType="num">
                                      <p:cBhvr>
                                        <p:cTn id="82" dur="450" decel="100000" fill="hold"/>
                                        <p:tgtEl>
                                          <p:spTgt spid="19"/>
                                        </p:tgtEl>
                                        <p:attrNameLst>
                                          <p:attrName>ppt_y</p:attrName>
                                        </p:attrNameLst>
                                      </p:cBhvr>
                                      <p:tavLst>
                                        <p:tav tm="0">
                                          <p:val>
                                            <p:strVal val="#ppt_y+1"/>
                                          </p:val>
                                        </p:tav>
                                        <p:tav tm="100000">
                                          <p:val>
                                            <p:strVal val="#ppt_y-.03"/>
                                          </p:val>
                                        </p:tav>
                                      </p:tavLst>
                                    </p:anim>
                                    <p:anim calcmode="lin" valueType="num">
                                      <p:cBhvr>
                                        <p:cTn id="83"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par>
                                <p:cTn id="84" presetID="37" presetClass="entr" presetSubtype="0" fill="hold" grpId="0" nodeType="with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500"/>
                                        <p:tgtEl>
                                          <p:spTgt spid="20"/>
                                        </p:tgtEl>
                                      </p:cBhvr>
                                    </p:animEffect>
                                    <p:anim calcmode="lin" valueType="num">
                                      <p:cBhvr>
                                        <p:cTn id="87" dur="500" fill="hold"/>
                                        <p:tgtEl>
                                          <p:spTgt spid="20"/>
                                        </p:tgtEl>
                                        <p:attrNameLst>
                                          <p:attrName>ppt_x</p:attrName>
                                        </p:attrNameLst>
                                      </p:cBhvr>
                                      <p:tavLst>
                                        <p:tav tm="0">
                                          <p:val>
                                            <p:strVal val="#ppt_x"/>
                                          </p:val>
                                        </p:tav>
                                        <p:tav tm="100000">
                                          <p:val>
                                            <p:strVal val="#ppt_x"/>
                                          </p:val>
                                        </p:tav>
                                      </p:tavLst>
                                    </p:anim>
                                    <p:anim calcmode="lin" valueType="num">
                                      <p:cBhvr>
                                        <p:cTn id="88" dur="450" decel="100000" fill="hold"/>
                                        <p:tgtEl>
                                          <p:spTgt spid="20"/>
                                        </p:tgtEl>
                                        <p:attrNameLst>
                                          <p:attrName>ppt_y</p:attrName>
                                        </p:attrNameLst>
                                      </p:cBhvr>
                                      <p:tavLst>
                                        <p:tav tm="0">
                                          <p:val>
                                            <p:strVal val="#ppt_y+1"/>
                                          </p:val>
                                        </p:tav>
                                        <p:tav tm="100000">
                                          <p:val>
                                            <p:strVal val="#ppt_y-.03"/>
                                          </p:val>
                                        </p:tav>
                                      </p:tavLst>
                                    </p:anim>
                                    <p:anim calcmode="lin" valueType="num">
                                      <p:cBhvr>
                                        <p:cTn id="89" dur="50" accel="100000" fill="hold">
                                          <p:stCondLst>
                                            <p:cond delay="450"/>
                                          </p:stCondLst>
                                        </p:cTn>
                                        <p:tgtEl>
                                          <p:spTgt spid="20"/>
                                        </p:tgtEl>
                                        <p:attrNameLst>
                                          <p:attrName>ppt_y</p:attrName>
                                        </p:attrNameLst>
                                      </p:cBhvr>
                                      <p:tavLst>
                                        <p:tav tm="0">
                                          <p:val>
                                            <p:strVal val="#ppt_y-.03"/>
                                          </p:val>
                                        </p:tav>
                                        <p:tav tm="100000">
                                          <p:val>
                                            <p:strVal val="#ppt_y"/>
                                          </p:val>
                                        </p:tav>
                                      </p:tavLst>
                                    </p:anim>
                                  </p:childTnLst>
                                </p:cTn>
                              </p:par>
                              <p:par>
                                <p:cTn id="90" presetID="37"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450" decel="100000" fill="hold"/>
                                        <p:tgtEl>
                                          <p:spTgt spid="21"/>
                                        </p:tgtEl>
                                        <p:attrNameLst>
                                          <p:attrName>ppt_y</p:attrName>
                                        </p:attrNameLst>
                                      </p:cBhvr>
                                      <p:tavLst>
                                        <p:tav tm="0">
                                          <p:val>
                                            <p:strVal val="#ppt_y+1"/>
                                          </p:val>
                                        </p:tav>
                                        <p:tav tm="100000">
                                          <p:val>
                                            <p:strVal val="#ppt_y-.03"/>
                                          </p:val>
                                        </p:tav>
                                      </p:tavLst>
                                    </p:anim>
                                    <p:anim calcmode="lin" valueType="num">
                                      <p:cBhvr>
                                        <p:cTn id="95" dur="50" accel="100000" fill="hold">
                                          <p:stCondLst>
                                            <p:cond delay="45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37" presetClass="entr" presetSubtype="0"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00"/>
                                        <p:tgtEl>
                                          <p:spTgt spid="22"/>
                                        </p:tgtEl>
                                      </p:cBhvr>
                                    </p:animEffect>
                                    <p:anim calcmode="lin" valueType="num">
                                      <p:cBhvr>
                                        <p:cTn id="101" dur="500" fill="hold"/>
                                        <p:tgtEl>
                                          <p:spTgt spid="22"/>
                                        </p:tgtEl>
                                        <p:attrNameLst>
                                          <p:attrName>ppt_x</p:attrName>
                                        </p:attrNameLst>
                                      </p:cBhvr>
                                      <p:tavLst>
                                        <p:tav tm="0">
                                          <p:val>
                                            <p:strVal val="#ppt_x"/>
                                          </p:val>
                                        </p:tav>
                                        <p:tav tm="100000">
                                          <p:val>
                                            <p:strVal val="#ppt_x"/>
                                          </p:val>
                                        </p:tav>
                                      </p:tavLst>
                                    </p:anim>
                                    <p:anim calcmode="lin" valueType="num">
                                      <p:cBhvr>
                                        <p:cTn id="102" dur="450" decel="100000" fill="hold"/>
                                        <p:tgtEl>
                                          <p:spTgt spid="22"/>
                                        </p:tgtEl>
                                        <p:attrNameLst>
                                          <p:attrName>ppt_y</p:attrName>
                                        </p:attrNameLst>
                                      </p:cBhvr>
                                      <p:tavLst>
                                        <p:tav tm="0">
                                          <p:val>
                                            <p:strVal val="#ppt_y+1"/>
                                          </p:val>
                                        </p:tav>
                                        <p:tav tm="100000">
                                          <p:val>
                                            <p:strVal val="#ppt_y-.03"/>
                                          </p:val>
                                        </p:tav>
                                      </p:tavLst>
                                    </p:anim>
                                    <p:anim calcmode="lin" valueType="num">
                                      <p:cBhvr>
                                        <p:cTn id="103" dur="50" accel="100000" fill="hold">
                                          <p:stCondLst>
                                            <p:cond delay="450"/>
                                          </p:stCondLst>
                                        </p:cTn>
                                        <p:tgtEl>
                                          <p:spTgt spid="22"/>
                                        </p:tgtEl>
                                        <p:attrNameLst>
                                          <p:attrName>ppt_y</p:attrName>
                                        </p:attrNameLst>
                                      </p:cBhvr>
                                      <p:tavLst>
                                        <p:tav tm="0">
                                          <p:val>
                                            <p:strVal val="#ppt_y-.03"/>
                                          </p:val>
                                        </p:tav>
                                        <p:tav tm="100000">
                                          <p:val>
                                            <p:strVal val="#ppt_y"/>
                                          </p:val>
                                        </p:tav>
                                      </p:tavLst>
                                    </p:anim>
                                  </p:childTnLst>
                                </p:cTn>
                              </p:par>
                              <p:par>
                                <p:cTn id="104" presetID="37" presetClass="entr" presetSubtype="0" fill="hold" nodeType="with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500"/>
                                        <p:tgtEl>
                                          <p:spTgt spid="23"/>
                                        </p:tgtEl>
                                      </p:cBhvr>
                                    </p:animEffect>
                                    <p:anim calcmode="lin" valueType="num">
                                      <p:cBhvr>
                                        <p:cTn id="107" dur="500" fill="hold"/>
                                        <p:tgtEl>
                                          <p:spTgt spid="23"/>
                                        </p:tgtEl>
                                        <p:attrNameLst>
                                          <p:attrName>ppt_x</p:attrName>
                                        </p:attrNameLst>
                                      </p:cBhvr>
                                      <p:tavLst>
                                        <p:tav tm="0">
                                          <p:val>
                                            <p:strVal val="#ppt_x"/>
                                          </p:val>
                                        </p:tav>
                                        <p:tav tm="100000">
                                          <p:val>
                                            <p:strVal val="#ppt_x"/>
                                          </p:val>
                                        </p:tav>
                                      </p:tavLst>
                                    </p:anim>
                                    <p:anim calcmode="lin" valueType="num">
                                      <p:cBhvr>
                                        <p:cTn id="108" dur="450" decel="100000" fill="hold"/>
                                        <p:tgtEl>
                                          <p:spTgt spid="23"/>
                                        </p:tgtEl>
                                        <p:attrNameLst>
                                          <p:attrName>ppt_y</p:attrName>
                                        </p:attrNameLst>
                                      </p:cBhvr>
                                      <p:tavLst>
                                        <p:tav tm="0">
                                          <p:val>
                                            <p:strVal val="#ppt_y+1"/>
                                          </p:val>
                                        </p:tav>
                                        <p:tav tm="100000">
                                          <p:val>
                                            <p:strVal val="#ppt_y-.03"/>
                                          </p:val>
                                        </p:tav>
                                      </p:tavLst>
                                    </p:anim>
                                    <p:anim calcmode="lin" valueType="num">
                                      <p:cBhvr>
                                        <p:cTn id="109" dur="50" accel="100000" fill="hold">
                                          <p:stCondLst>
                                            <p:cond delay="450"/>
                                          </p:stCondLst>
                                        </p:cTn>
                                        <p:tgtEl>
                                          <p:spTgt spid="23"/>
                                        </p:tgtEl>
                                        <p:attrNameLst>
                                          <p:attrName>ppt_y</p:attrName>
                                        </p:attrNameLst>
                                      </p:cBhvr>
                                      <p:tavLst>
                                        <p:tav tm="0">
                                          <p:val>
                                            <p:strVal val="#ppt_y-.03"/>
                                          </p:val>
                                        </p:tav>
                                        <p:tav tm="100000">
                                          <p:val>
                                            <p:strVal val="#ppt_y"/>
                                          </p:val>
                                        </p:tav>
                                      </p:tavLst>
                                    </p:anim>
                                  </p:childTnLst>
                                </p:cTn>
                              </p:par>
                              <p:par>
                                <p:cTn id="110" presetID="37" presetClass="entr" presetSubtype="0" fill="hold" nodeType="withEffect">
                                  <p:stCondLst>
                                    <p:cond delay="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500"/>
                                        <p:tgtEl>
                                          <p:spTgt spid="24"/>
                                        </p:tgtEl>
                                      </p:cBhvr>
                                    </p:animEffect>
                                    <p:anim calcmode="lin" valueType="num">
                                      <p:cBhvr>
                                        <p:cTn id="113" dur="500" fill="hold"/>
                                        <p:tgtEl>
                                          <p:spTgt spid="24"/>
                                        </p:tgtEl>
                                        <p:attrNameLst>
                                          <p:attrName>ppt_x</p:attrName>
                                        </p:attrNameLst>
                                      </p:cBhvr>
                                      <p:tavLst>
                                        <p:tav tm="0">
                                          <p:val>
                                            <p:strVal val="#ppt_x"/>
                                          </p:val>
                                        </p:tav>
                                        <p:tav tm="100000">
                                          <p:val>
                                            <p:strVal val="#ppt_x"/>
                                          </p:val>
                                        </p:tav>
                                      </p:tavLst>
                                    </p:anim>
                                    <p:anim calcmode="lin" valueType="num">
                                      <p:cBhvr>
                                        <p:cTn id="114" dur="450" decel="100000" fill="hold"/>
                                        <p:tgtEl>
                                          <p:spTgt spid="24"/>
                                        </p:tgtEl>
                                        <p:attrNameLst>
                                          <p:attrName>ppt_y</p:attrName>
                                        </p:attrNameLst>
                                      </p:cBhvr>
                                      <p:tavLst>
                                        <p:tav tm="0">
                                          <p:val>
                                            <p:strVal val="#ppt_y+1"/>
                                          </p:val>
                                        </p:tav>
                                        <p:tav tm="100000">
                                          <p:val>
                                            <p:strVal val="#ppt_y-.03"/>
                                          </p:val>
                                        </p:tav>
                                      </p:tavLst>
                                    </p:anim>
                                    <p:anim calcmode="lin" valueType="num">
                                      <p:cBhvr>
                                        <p:cTn id="115" dur="50" accel="100000" fill="hold">
                                          <p:stCondLst>
                                            <p:cond delay="450"/>
                                          </p:stCondLst>
                                        </p:cTn>
                                        <p:tgtEl>
                                          <p:spTgt spid="24"/>
                                        </p:tgtEl>
                                        <p:attrNameLst>
                                          <p:attrName>ppt_y</p:attrName>
                                        </p:attrNameLst>
                                      </p:cBhvr>
                                      <p:tavLst>
                                        <p:tav tm="0">
                                          <p:val>
                                            <p:strVal val="#ppt_y-.03"/>
                                          </p:val>
                                        </p:tav>
                                        <p:tav tm="100000">
                                          <p:val>
                                            <p:strVal val="#ppt_y"/>
                                          </p:val>
                                        </p:tav>
                                      </p:tavLst>
                                    </p:anim>
                                  </p:childTnLst>
                                </p:cTn>
                              </p:par>
                              <p:par>
                                <p:cTn id="116" presetID="37" presetClass="entr" presetSubtype="0" fill="hold" grpId="0" nodeType="withEffect">
                                  <p:stCondLst>
                                    <p:cond delay="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anim calcmode="lin" valueType="num">
                                      <p:cBhvr>
                                        <p:cTn id="119" dur="500" fill="hold"/>
                                        <p:tgtEl>
                                          <p:spTgt spid="25"/>
                                        </p:tgtEl>
                                        <p:attrNameLst>
                                          <p:attrName>ppt_x</p:attrName>
                                        </p:attrNameLst>
                                      </p:cBhvr>
                                      <p:tavLst>
                                        <p:tav tm="0">
                                          <p:val>
                                            <p:strVal val="#ppt_x"/>
                                          </p:val>
                                        </p:tav>
                                        <p:tav tm="100000">
                                          <p:val>
                                            <p:strVal val="#ppt_x"/>
                                          </p:val>
                                        </p:tav>
                                      </p:tavLst>
                                    </p:anim>
                                    <p:anim calcmode="lin" valueType="num">
                                      <p:cBhvr>
                                        <p:cTn id="120" dur="450" decel="100000" fill="hold"/>
                                        <p:tgtEl>
                                          <p:spTgt spid="25"/>
                                        </p:tgtEl>
                                        <p:attrNameLst>
                                          <p:attrName>ppt_y</p:attrName>
                                        </p:attrNameLst>
                                      </p:cBhvr>
                                      <p:tavLst>
                                        <p:tav tm="0">
                                          <p:val>
                                            <p:strVal val="#ppt_y+1"/>
                                          </p:val>
                                        </p:tav>
                                        <p:tav tm="100000">
                                          <p:val>
                                            <p:strVal val="#ppt_y-.03"/>
                                          </p:val>
                                        </p:tav>
                                      </p:tavLst>
                                    </p:anim>
                                    <p:anim calcmode="lin" valueType="num">
                                      <p:cBhvr>
                                        <p:cTn id="121" dur="50" accel="100000" fill="hold">
                                          <p:stCondLst>
                                            <p:cond delay="450"/>
                                          </p:stCondLst>
                                        </p:cTn>
                                        <p:tgtEl>
                                          <p:spTgt spid="25"/>
                                        </p:tgtEl>
                                        <p:attrNameLst>
                                          <p:attrName>ppt_y</p:attrName>
                                        </p:attrNameLst>
                                      </p:cBhvr>
                                      <p:tavLst>
                                        <p:tav tm="0">
                                          <p:val>
                                            <p:strVal val="#ppt_y-.03"/>
                                          </p:val>
                                        </p:tav>
                                        <p:tav tm="100000">
                                          <p:val>
                                            <p:strVal val="#ppt_y"/>
                                          </p:val>
                                        </p:tav>
                                      </p:tavLst>
                                    </p:anim>
                                  </p:childTnLst>
                                </p:cTn>
                              </p:par>
                              <p:par>
                                <p:cTn id="122" presetID="37" presetClass="entr" presetSubtype="0"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500"/>
                                        <p:tgtEl>
                                          <p:spTgt spid="26"/>
                                        </p:tgtEl>
                                      </p:cBhvr>
                                    </p:animEffect>
                                    <p:anim calcmode="lin" valueType="num">
                                      <p:cBhvr>
                                        <p:cTn id="125" dur="500" fill="hold"/>
                                        <p:tgtEl>
                                          <p:spTgt spid="26"/>
                                        </p:tgtEl>
                                        <p:attrNameLst>
                                          <p:attrName>ppt_x</p:attrName>
                                        </p:attrNameLst>
                                      </p:cBhvr>
                                      <p:tavLst>
                                        <p:tav tm="0">
                                          <p:val>
                                            <p:strVal val="#ppt_x"/>
                                          </p:val>
                                        </p:tav>
                                        <p:tav tm="100000">
                                          <p:val>
                                            <p:strVal val="#ppt_x"/>
                                          </p:val>
                                        </p:tav>
                                      </p:tavLst>
                                    </p:anim>
                                    <p:anim calcmode="lin" valueType="num">
                                      <p:cBhvr>
                                        <p:cTn id="126" dur="450" decel="100000" fill="hold"/>
                                        <p:tgtEl>
                                          <p:spTgt spid="26"/>
                                        </p:tgtEl>
                                        <p:attrNameLst>
                                          <p:attrName>ppt_y</p:attrName>
                                        </p:attrNameLst>
                                      </p:cBhvr>
                                      <p:tavLst>
                                        <p:tav tm="0">
                                          <p:val>
                                            <p:strVal val="#ppt_y+1"/>
                                          </p:val>
                                        </p:tav>
                                        <p:tav tm="100000">
                                          <p:val>
                                            <p:strVal val="#ppt_y-.03"/>
                                          </p:val>
                                        </p:tav>
                                      </p:tavLst>
                                    </p:anim>
                                    <p:anim calcmode="lin" valueType="num">
                                      <p:cBhvr>
                                        <p:cTn id="127" dur="50" accel="100000" fill="hold">
                                          <p:stCondLst>
                                            <p:cond delay="450"/>
                                          </p:stCondLst>
                                        </p:cTn>
                                        <p:tgtEl>
                                          <p:spTgt spid="26"/>
                                        </p:tgtEl>
                                        <p:attrNameLst>
                                          <p:attrName>ppt_y</p:attrName>
                                        </p:attrNameLst>
                                      </p:cBhvr>
                                      <p:tavLst>
                                        <p:tav tm="0">
                                          <p:val>
                                            <p:strVal val="#ppt_y-.03"/>
                                          </p:val>
                                        </p:tav>
                                        <p:tav tm="100000">
                                          <p:val>
                                            <p:strVal val="#ppt_y"/>
                                          </p:val>
                                        </p:tav>
                                      </p:tavLst>
                                    </p:anim>
                                  </p:childTnLst>
                                </p:cTn>
                              </p:par>
                              <p:par>
                                <p:cTn id="128" presetID="37" presetClass="entr" presetSubtype="0" fill="hold" nodeType="with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fade">
                                      <p:cBhvr>
                                        <p:cTn id="130" dur="500"/>
                                        <p:tgtEl>
                                          <p:spTgt spid="27"/>
                                        </p:tgtEl>
                                      </p:cBhvr>
                                    </p:animEffect>
                                    <p:anim calcmode="lin" valueType="num">
                                      <p:cBhvr>
                                        <p:cTn id="131" dur="500" fill="hold"/>
                                        <p:tgtEl>
                                          <p:spTgt spid="27"/>
                                        </p:tgtEl>
                                        <p:attrNameLst>
                                          <p:attrName>ppt_x</p:attrName>
                                        </p:attrNameLst>
                                      </p:cBhvr>
                                      <p:tavLst>
                                        <p:tav tm="0">
                                          <p:val>
                                            <p:strVal val="#ppt_x"/>
                                          </p:val>
                                        </p:tav>
                                        <p:tav tm="100000">
                                          <p:val>
                                            <p:strVal val="#ppt_x"/>
                                          </p:val>
                                        </p:tav>
                                      </p:tavLst>
                                    </p:anim>
                                    <p:anim calcmode="lin" valueType="num">
                                      <p:cBhvr>
                                        <p:cTn id="132" dur="450" decel="100000" fill="hold"/>
                                        <p:tgtEl>
                                          <p:spTgt spid="27"/>
                                        </p:tgtEl>
                                        <p:attrNameLst>
                                          <p:attrName>ppt_y</p:attrName>
                                        </p:attrNameLst>
                                      </p:cBhvr>
                                      <p:tavLst>
                                        <p:tav tm="0">
                                          <p:val>
                                            <p:strVal val="#ppt_y+1"/>
                                          </p:val>
                                        </p:tav>
                                        <p:tav tm="100000">
                                          <p:val>
                                            <p:strVal val="#ppt_y-.03"/>
                                          </p:val>
                                        </p:tav>
                                      </p:tavLst>
                                    </p:anim>
                                    <p:anim calcmode="lin" valueType="num">
                                      <p:cBhvr>
                                        <p:cTn id="133" dur="50" accel="100000" fill="hold">
                                          <p:stCondLst>
                                            <p:cond delay="450"/>
                                          </p:stCondLst>
                                        </p:cTn>
                                        <p:tgtEl>
                                          <p:spTgt spid="27"/>
                                        </p:tgtEl>
                                        <p:attrNameLst>
                                          <p:attrName>ppt_y</p:attrName>
                                        </p:attrNameLst>
                                      </p:cBhvr>
                                      <p:tavLst>
                                        <p:tav tm="0">
                                          <p:val>
                                            <p:strVal val="#ppt_y-.03"/>
                                          </p:val>
                                        </p:tav>
                                        <p:tav tm="100000">
                                          <p:val>
                                            <p:strVal val="#ppt_y"/>
                                          </p:val>
                                        </p:tav>
                                      </p:tavLst>
                                    </p:anim>
                                  </p:childTnLst>
                                </p:cTn>
                              </p:par>
                              <p:par>
                                <p:cTn id="134" presetID="37" presetClass="entr" presetSubtype="0" fill="hold" nodeType="withEffect">
                                  <p:stCondLst>
                                    <p:cond delay="0"/>
                                  </p:stCondLst>
                                  <p:childTnLst>
                                    <p:set>
                                      <p:cBhvr>
                                        <p:cTn id="135" dur="1" fill="hold">
                                          <p:stCondLst>
                                            <p:cond delay="0"/>
                                          </p:stCondLst>
                                        </p:cTn>
                                        <p:tgtEl>
                                          <p:spTgt spid="28"/>
                                        </p:tgtEl>
                                        <p:attrNameLst>
                                          <p:attrName>style.visibility</p:attrName>
                                        </p:attrNameLst>
                                      </p:cBhvr>
                                      <p:to>
                                        <p:strVal val="visible"/>
                                      </p:to>
                                    </p:set>
                                    <p:animEffect transition="in" filter="fade">
                                      <p:cBhvr>
                                        <p:cTn id="136" dur="500"/>
                                        <p:tgtEl>
                                          <p:spTgt spid="28"/>
                                        </p:tgtEl>
                                      </p:cBhvr>
                                    </p:animEffect>
                                    <p:anim calcmode="lin" valueType="num">
                                      <p:cBhvr>
                                        <p:cTn id="137" dur="500" fill="hold"/>
                                        <p:tgtEl>
                                          <p:spTgt spid="28"/>
                                        </p:tgtEl>
                                        <p:attrNameLst>
                                          <p:attrName>ppt_x</p:attrName>
                                        </p:attrNameLst>
                                      </p:cBhvr>
                                      <p:tavLst>
                                        <p:tav tm="0">
                                          <p:val>
                                            <p:strVal val="#ppt_x"/>
                                          </p:val>
                                        </p:tav>
                                        <p:tav tm="100000">
                                          <p:val>
                                            <p:strVal val="#ppt_x"/>
                                          </p:val>
                                        </p:tav>
                                      </p:tavLst>
                                    </p:anim>
                                    <p:anim calcmode="lin" valueType="num">
                                      <p:cBhvr>
                                        <p:cTn id="138" dur="450" decel="100000" fill="hold"/>
                                        <p:tgtEl>
                                          <p:spTgt spid="28"/>
                                        </p:tgtEl>
                                        <p:attrNameLst>
                                          <p:attrName>ppt_y</p:attrName>
                                        </p:attrNameLst>
                                      </p:cBhvr>
                                      <p:tavLst>
                                        <p:tav tm="0">
                                          <p:val>
                                            <p:strVal val="#ppt_y+1"/>
                                          </p:val>
                                        </p:tav>
                                        <p:tav tm="100000">
                                          <p:val>
                                            <p:strVal val="#ppt_y-.03"/>
                                          </p:val>
                                        </p:tav>
                                      </p:tavLst>
                                    </p:anim>
                                    <p:anim calcmode="lin" valueType="num">
                                      <p:cBhvr>
                                        <p:cTn id="139" dur="50" accel="100000" fill="hold">
                                          <p:stCondLst>
                                            <p:cond delay="450"/>
                                          </p:stCondLst>
                                        </p:cTn>
                                        <p:tgtEl>
                                          <p:spTgt spid="28"/>
                                        </p:tgtEl>
                                        <p:attrNameLst>
                                          <p:attrName>ppt_y</p:attrName>
                                        </p:attrNameLst>
                                      </p:cBhvr>
                                      <p:tavLst>
                                        <p:tav tm="0">
                                          <p:val>
                                            <p:strVal val="#ppt_y-.03"/>
                                          </p:val>
                                        </p:tav>
                                        <p:tav tm="100000">
                                          <p:val>
                                            <p:strVal val="#ppt_y"/>
                                          </p:val>
                                        </p:tav>
                                      </p:tavLst>
                                    </p:anim>
                                  </p:childTnLst>
                                </p:cTn>
                              </p:par>
                              <p:par>
                                <p:cTn id="140" presetID="37" presetClass="entr" presetSubtype="0" fill="hold"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500"/>
                                        <p:tgtEl>
                                          <p:spTgt spid="29"/>
                                        </p:tgtEl>
                                      </p:cBhvr>
                                    </p:animEffect>
                                    <p:anim calcmode="lin" valueType="num">
                                      <p:cBhvr>
                                        <p:cTn id="143" dur="500" fill="hold"/>
                                        <p:tgtEl>
                                          <p:spTgt spid="29"/>
                                        </p:tgtEl>
                                        <p:attrNameLst>
                                          <p:attrName>ppt_x</p:attrName>
                                        </p:attrNameLst>
                                      </p:cBhvr>
                                      <p:tavLst>
                                        <p:tav tm="0">
                                          <p:val>
                                            <p:strVal val="#ppt_x"/>
                                          </p:val>
                                        </p:tav>
                                        <p:tav tm="100000">
                                          <p:val>
                                            <p:strVal val="#ppt_x"/>
                                          </p:val>
                                        </p:tav>
                                      </p:tavLst>
                                    </p:anim>
                                    <p:anim calcmode="lin" valueType="num">
                                      <p:cBhvr>
                                        <p:cTn id="144" dur="450" decel="100000" fill="hold"/>
                                        <p:tgtEl>
                                          <p:spTgt spid="29"/>
                                        </p:tgtEl>
                                        <p:attrNameLst>
                                          <p:attrName>ppt_y</p:attrName>
                                        </p:attrNameLst>
                                      </p:cBhvr>
                                      <p:tavLst>
                                        <p:tav tm="0">
                                          <p:val>
                                            <p:strVal val="#ppt_y+1"/>
                                          </p:val>
                                        </p:tav>
                                        <p:tav tm="100000">
                                          <p:val>
                                            <p:strVal val="#ppt_y-.03"/>
                                          </p:val>
                                        </p:tav>
                                      </p:tavLst>
                                    </p:anim>
                                    <p:anim calcmode="lin" valueType="num">
                                      <p:cBhvr>
                                        <p:cTn id="145" dur="50" accel="100000" fill="hold">
                                          <p:stCondLst>
                                            <p:cond delay="450"/>
                                          </p:stCondLst>
                                        </p:cTn>
                                        <p:tgtEl>
                                          <p:spTgt spid="29"/>
                                        </p:tgtEl>
                                        <p:attrNameLst>
                                          <p:attrName>ppt_y</p:attrName>
                                        </p:attrNameLst>
                                      </p:cBhvr>
                                      <p:tavLst>
                                        <p:tav tm="0">
                                          <p:val>
                                            <p:strVal val="#ppt_y-.03"/>
                                          </p:val>
                                        </p:tav>
                                        <p:tav tm="100000">
                                          <p:val>
                                            <p:strVal val="#ppt_y"/>
                                          </p:val>
                                        </p:tav>
                                      </p:tavLst>
                                    </p:anim>
                                  </p:childTnLst>
                                </p:cTn>
                              </p:par>
                              <p:par>
                                <p:cTn id="146" presetID="37" presetClass="entr" presetSubtype="0" fill="hold" grpId="0" nodeType="withEffect">
                                  <p:stCondLst>
                                    <p:cond delay="0"/>
                                  </p:stCondLst>
                                  <p:childTnLst>
                                    <p:set>
                                      <p:cBhvr>
                                        <p:cTn id="147" dur="1" fill="hold">
                                          <p:stCondLst>
                                            <p:cond delay="0"/>
                                          </p:stCondLst>
                                        </p:cTn>
                                        <p:tgtEl>
                                          <p:spTgt spid="30"/>
                                        </p:tgtEl>
                                        <p:attrNameLst>
                                          <p:attrName>style.visibility</p:attrName>
                                        </p:attrNameLst>
                                      </p:cBhvr>
                                      <p:to>
                                        <p:strVal val="visible"/>
                                      </p:to>
                                    </p:set>
                                    <p:animEffect transition="in" filter="fade">
                                      <p:cBhvr>
                                        <p:cTn id="148" dur="500"/>
                                        <p:tgtEl>
                                          <p:spTgt spid="30"/>
                                        </p:tgtEl>
                                      </p:cBhvr>
                                    </p:animEffect>
                                    <p:anim calcmode="lin" valueType="num">
                                      <p:cBhvr>
                                        <p:cTn id="149" dur="500" fill="hold"/>
                                        <p:tgtEl>
                                          <p:spTgt spid="30"/>
                                        </p:tgtEl>
                                        <p:attrNameLst>
                                          <p:attrName>ppt_x</p:attrName>
                                        </p:attrNameLst>
                                      </p:cBhvr>
                                      <p:tavLst>
                                        <p:tav tm="0">
                                          <p:val>
                                            <p:strVal val="#ppt_x"/>
                                          </p:val>
                                        </p:tav>
                                        <p:tav tm="100000">
                                          <p:val>
                                            <p:strVal val="#ppt_x"/>
                                          </p:val>
                                        </p:tav>
                                      </p:tavLst>
                                    </p:anim>
                                    <p:anim calcmode="lin" valueType="num">
                                      <p:cBhvr>
                                        <p:cTn id="150" dur="450" decel="100000" fill="hold"/>
                                        <p:tgtEl>
                                          <p:spTgt spid="30"/>
                                        </p:tgtEl>
                                        <p:attrNameLst>
                                          <p:attrName>ppt_y</p:attrName>
                                        </p:attrNameLst>
                                      </p:cBhvr>
                                      <p:tavLst>
                                        <p:tav tm="0">
                                          <p:val>
                                            <p:strVal val="#ppt_y+1"/>
                                          </p:val>
                                        </p:tav>
                                        <p:tav tm="100000">
                                          <p:val>
                                            <p:strVal val="#ppt_y-.03"/>
                                          </p:val>
                                        </p:tav>
                                      </p:tavLst>
                                    </p:anim>
                                    <p:anim calcmode="lin" valueType="num">
                                      <p:cBhvr>
                                        <p:cTn id="151" dur="50" accel="100000" fill="hold">
                                          <p:stCondLst>
                                            <p:cond delay="450"/>
                                          </p:stCondLst>
                                        </p:cTn>
                                        <p:tgtEl>
                                          <p:spTgt spid="30"/>
                                        </p:tgtEl>
                                        <p:attrNameLst>
                                          <p:attrName>ppt_y</p:attrName>
                                        </p:attrNameLst>
                                      </p:cBhvr>
                                      <p:tavLst>
                                        <p:tav tm="0">
                                          <p:val>
                                            <p:strVal val="#ppt_y-.03"/>
                                          </p:val>
                                        </p:tav>
                                        <p:tav tm="100000">
                                          <p:val>
                                            <p:strVal val="#ppt_y"/>
                                          </p:val>
                                        </p:tav>
                                      </p:tavLst>
                                    </p:anim>
                                  </p:childTnLst>
                                </p:cTn>
                              </p:par>
                              <p:par>
                                <p:cTn id="152" presetID="37" presetClass="entr" presetSubtype="0" fill="hold" grpId="0" nodeType="withEffect">
                                  <p:stCondLst>
                                    <p:cond delay="0"/>
                                  </p:stCondLst>
                                  <p:childTnLst>
                                    <p:set>
                                      <p:cBhvr>
                                        <p:cTn id="153" dur="1" fill="hold">
                                          <p:stCondLst>
                                            <p:cond delay="0"/>
                                          </p:stCondLst>
                                        </p:cTn>
                                        <p:tgtEl>
                                          <p:spTgt spid="31"/>
                                        </p:tgtEl>
                                        <p:attrNameLst>
                                          <p:attrName>style.visibility</p:attrName>
                                        </p:attrNameLst>
                                      </p:cBhvr>
                                      <p:to>
                                        <p:strVal val="visible"/>
                                      </p:to>
                                    </p:set>
                                    <p:animEffect transition="in" filter="fade">
                                      <p:cBhvr>
                                        <p:cTn id="154" dur="500"/>
                                        <p:tgtEl>
                                          <p:spTgt spid="31"/>
                                        </p:tgtEl>
                                      </p:cBhvr>
                                    </p:animEffect>
                                    <p:anim calcmode="lin" valueType="num">
                                      <p:cBhvr>
                                        <p:cTn id="155" dur="500" fill="hold"/>
                                        <p:tgtEl>
                                          <p:spTgt spid="31"/>
                                        </p:tgtEl>
                                        <p:attrNameLst>
                                          <p:attrName>ppt_x</p:attrName>
                                        </p:attrNameLst>
                                      </p:cBhvr>
                                      <p:tavLst>
                                        <p:tav tm="0">
                                          <p:val>
                                            <p:strVal val="#ppt_x"/>
                                          </p:val>
                                        </p:tav>
                                        <p:tav tm="100000">
                                          <p:val>
                                            <p:strVal val="#ppt_x"/>
                                          </p:val>
                                        </p:tav>
                                      </p:tavLst>
                                    </p:anim>
                                    <p:anim calcmode="lin" valueType="num">
                                      <p:cBhvr>
                                        <p:cTn id="156" dur="450" decel="100000" fill="hold"/>
                                        <p:tgtEl>
                                          <p:spTgt spid="31"/>
                                        </p:tgtEl>
                                        <p:attrNameLst>
                                          <p:attrName>ppt_y</p:attrName>
                                        </p:attrNameLst>
                                      </p:cBhvr>
                                      <p:tavLst>
                                        <p:tav tm="0">
                                          <p:val>
                                            <p:strVal val="#ppt_y+1"/>
                                          </p:val>
                                        </p:tav>
                                        <p:tav tm="100000">
                                          <p:val>
                                            <p:strVal val="#ppt_y-.03"/>
                                          </p:val>
                                        </p:tav>
                                      </p:tavLst>
                                    </p:anim>
                                    <p:anim calcmode="lin" valueType="num">
                                      <p:cBhvr>
                                        <p:cTn id="157" dur="50" accel="100000" fill="hold">
                                          <p:stCondLst>
                                            <p:cond delay="450"/>
                                          </p:stCondLst>
                                        </p:cTn>
                                        <p:tgtEl>
                                          <p:spTgt spid="31"/>
                                        </p:tgtEl>
                                        <p:attrNameLst>
                                          <p:attrName>ppt_y</p:attrName>
                                        </p:attrNameLst>
                                      </p:cBhvr>
                                      <p:tavLst>
                                        <p:tav tm="0">
                                          <p:val>
                                            <p:strVal val="#ppt_y-.03"/>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37" presetClass="entr" presetSubtype="0" fill="hold" nodeType="clickEffect">
                                  <p:stCondLst>
                                    <p:cond delay="0"/>
                                  </p:stCondLst>
                                  <p:childTnLst>
                                    <p:set>
                                      <p:cBhvr>
                                        <p:cTn id="161" dur="1" fill="hold">
                                          <p:stCondLst>
                                            <p:cond delay="0"/>
                                          </p:stCondLst>
                                        </p:cTn>
                                        <p:tgtEl>
                                          <p:spTgt spid="32"/>
                                        </p:tgtEl>
                                        <p:attrNameLst>
                                          <p:attrName>style.visibility</p:attrName>
                                        </p:attrNameLst>
                                      </p:cBhvr>
                                      <p:to>
                                        <p:strVal val="visible"/>
                                      </p:to>
                                    </p:set>
                                    <p:animEffect transition="in" filter="fade">
                                      <p:cBhvr>
                                        <p:cTn id="162" dur="500"/>
                                        <p:tgtEl>
                                          <p:spTgt spid="32"/>
                                        </p:tgtEl>
                                      </p:cBhvr>
                                    </p:animEffect>
                                    <p:anim calcmode="lin" valueType="num">
                                      <p:cBhvr>
                                        <p:cTn id="163" dur="500" fill="hold"/>
                                        <p:tgtEl>
                                          <p:spTgt spid="32"/>
                                        </p:tgtEl>
                                        <p:attrNameLst>
                                          <p:attrName>ppt_x</p:attrName>
                                        </p:attrNameLst>
                                      </p:cBhvr>
                                      <p:tavLst>
                                        <p:tav tm="0">
                                          <p:val>
                                            <p:strVal val="#ppt_x"/>
                                          </p:val>
                                        </p:tav>
                                        <p:tav tm="100000">
                                          <p:val>
                                            <p:strVal val="#ppt_x"/>
                                          </p:val>
                                        </p:tav>
                                      </p:tavLst>
                                    </p:anim>
                                    <p:anim calcmode="lin" valueType="num">
                                      <p:cBhvr>
                                        <p:cTn id="164" dur="450" decel="100000" fill="hold"/>
                                        <p:tgtEl>
                                          <p:spTgt spid="32"/>
                                        </p:tgtEl>
                                        <p:attrNameLst>
                                          <p:attrName>ppt_y</p:attrName>
                                        </p:attrNameLst>
                                      </p:cBhvr>
                                      <p:tavLst>
                                        <p:tav tm="0">
                                          <p:val>
                                            <p:strVal val="#ppt_y+1"/>
                                          </p:val>
                                        </p:tav>
                                        <p:tav tm="100000">
                                          <p:val>
                                            <p:strVal val="#ppt_y-.03"/>
                                          </p:val>
                                        </p:tav>
                                      </p:tavLst>
                                    </p:anim>
                                    <p:anim calcmode="lin" valueType="num">
                                      <p:cBhvr>
                                        <p:cTn id="165" dur="50" accel="100000" fill="hold">
                                          <p:stCondLst>
                                            <p:cond delay="450"/>
                                          </p:stCondLst>
                                        </p:cTn>
                                        <p:tgtEl>
                                          <p:spTgt spid="32"/>
                                        </p:tgtEl>
                                        <p:attrNameLst>
                                          <p:attrName>ppt_y</p:attrName>
                                        </p:attrNameLst>
                                      </p:cBhvr>
                                      <p:tavLst>
                                        <p:tav tm="0">
                                          <p:val>
                                            <p:strVal val="#ppt_y-.03"/>
                                          </p:val>
                                        </p:tav>
                                        <p:tav tm="100000">
                                          <p:val>
                                            <p:strVal val="#ppt_y"/>
                                          </p:val>
                                        </p:tav>
                                      </p:tavLst>
                                    </p:anim>
                                  </p:childTnLst>
                                </p:cTn>
                              </p:par>
                              <p:par>
                                <p:cTn id="166" presetID="37" presetClass="entr" presetSubtype="0" fill="hold" nodeType="withEffect">
                                  <p:stCondLst>
                                    <p:cond delay="0"/>
                                  </p:stCondLst>
                                  <p:childTnLst>
                                    <p:set>
                                      <p:cBhvr>
                                        <p:cTn id="167" dur="1" fill="hold">
                                          <p:stCondLst>
                                            <p:cond delay="0"/>
                                          </p:stCondLst>
                                        </p:cTn>
                                        <p:tgtEl>
                                          <p:spTgt spid="33"/>
                                        </p:tgtEl>
                                        <p:attrNameLst>
                                          <p:attrName>style.visibility</p:attrName>
                                        </p:attrNameLst>
                                      </p:cBhvr>
                                      <p:to>
                                        <p:strVal val="visible"/>
                                      </p:to>
                                    </p:set>
                                    <p:animEffect transition="in" filter="fade">
                                      <p:cBhvr>
                                        <p:cTn id="168" dur="500"/>
                                        <p:tgtEl>
                                          <p:spTgt spid="33"/>
                                        </p:tgtEl>
                                      </p:cBhvr>
                                    </p:animEffect>
                                    <p:anim calcmode="lin" valueType="num">
                                      <p:cBhvr>
                                        <p:cTn id="169" dur="500" fill="hold"/>
                                        <p:tgtEl>
                                          <p:spTgt spid="33"/>
                                        </p:tgtEl>
                                        <p:attrNameLst>
                                          <p:attrName>ppt_x</p:attrName>
                                        </p:attrNameLst>
                                      </p:cBhvr>
                                      <p:tavLst>
                                        <p:tav tm="0">
                                          <p:val>
                                            <p:strVal val="#ppt_x"/>
                                          </p:val>
                                        </p:tav>
                                        <p:tav tm="100000">
                                          <p:val>
                                            <p:strVal val="#ppt_x"/>
                                          </p:val>
                                        </p:tav>
                                      </p:tavLst>
                                    </p:anim>
                                    <p:anim calcmode="lin" valueType="num">
                                      <p:cBhvr>
                                        <p:cTn id="170" dur="450" decel="100000" fill="hold"/>
                                        <p:tgtEl>
                                          <p:spTgt spid="33"/>
                                        </p:tgtEl>
                                        <p:attrNameLst>
                                          <p:attrName>ppt_y</p:attrName>
                                        </p:attrNameLst>
                                      </p:cBhvr>
                                      <p:tavLst>
                                        <p:tav tm="0">
                                          <p:val>
                                            <p:strVal val="#ppt_y+1"/>
                                          </p:val>
                                        </p:tav>
                                        <p:tav tm="100000">
                                          <p:val>
                                            <p:strVal val="#ppt_y-.03"/>
                                          </p:val>
                                        </p:tav>
                                      </p:tavLst>
                                    </p:anim>
                                    <p:anim calcmode="lin" valueType="num">
                                      <p:cBhvr>
                                        <p:cTn id="171" dur="50" accel="100000" fill="hold">
                                          <p:stCondLst>
                                            <p:cond delay="450"/>
                                          </p:stCondLst>
                                        </p:cTn>
                                        <p:tgtEl>
                                          <p:spTgt spid="33"/>
                                        </p:tgtEl>
                                        <p:attrNameLst>
                                          <p:attrName>ppt_y</p:attrName>
                                        </p:attrNameLst>
                                      </p:cBhvr>
                                      <p:tavLst>
                                        <p:tav tm="0">
                                          <p:val>
                                            <p:strVal val="#ppt_y-.03"/>
                                          </p:val>
                                        </p:tav>
                                        <p:tav tm="100000">
                                          <p:val>
                                            <p:strVal val="#ppt_y"/>
                                          </p:val>
                                        </p:tav>
                                      </p:tavLst>
                                    </p:anim>
                                  </p:childTnLst>
                                </p:cTn>
                              </p:par>
                              <p:par>
                                <p:cTn id="172" presetID="37" presetClass="entr" presetSubtype="0" fill="hold" nodeType="withEffect">
                                  <p:stCondLst>
                                    <p:cond delay="0"/>
                                  </p:stCondLst>
                                  <p:childTnLst>
                                    <p:set>
                                      <p:cBhvr>
                                        <p:cTn id="173" dur="1" fill="hold">
                                          <p:stCondLst>
                                            <p:cond delay="0"/>
                                          </p:stCondLst>
                                        </p:cTn>
                                        <p:tgtEl>
                                          <p:spTgt spid="34"/>
                                        </p:tgtEl>
                                        <p:attrNameLst>
                                          <p:attrName>style.visibility</p:attrName>
                                        </p:attrNameLst>
                                      </p:cBhvr>
                                      <p:to>
                                        <p:strVal val="visible"/>
                                      </p:to>
                                    </p:set>
                                    <p:animEffect transition="in" filter="fade">
                                      <p:cBhvr>
                                        <p:cTn id="174" dur="500"/>
                                        <p:tgtEl>
                                          <p:spTgt spid="34"/>
                                        </p:tgtEl>
                                      </p:cBhvr>
                                    </p:animEffect>
                                    <p:anim calcmode="lin" valueType="num">
                                      <p:cBhvr>
                                        <p:cTn id="175" dur="500" fill="hold"/>
                                        <p:tgtEl>
                                          <p:spTgt spid="34"/>
                                        </p:tgtEl>
                                        <p:attrNameLst>
                                          <p:attrName>ppt_x</p:attrName>
                                        </p:attrNameLst>
                                      </p:cBhvr>
                                      <p:tavLst>
                                        <p:tav tm="0">
                                          <p:val>
                                            <p:strVal val="#ppt_x"/>
                                          </p:val>
                                        </p:tav>
                                        <p:tav tm="100000">
                                          <p:val>
                                            <p:strVal val="#ppt_x"/>
                                          </p:val>
                                        </p:tav>
                                      </p:tavLst>
                                    </p:anim>
                                    <p:anim calcmode="lin" valueType="num">
                                      <p:cBhvr>
                                        <p:cTn id="176" dur="450" decel="100000" fill="hold"/>
                                        <p:tgtEl>
                                          <p:spTgt spid="34"/>
                                        </p:tgtEl>
                                        <p:attrNameLst>
                                          <p:attrName>ppt_y</p:attrName>
                                        </p:attrNameLst>
                                      </p:cBhvr>
                                      <p:tavLst>
                                        <p:tav tm="0">
                                          <p:val>
                                            <p:strVal val="#ppt_y+1"/>
                                          </p:val>
                                        </p:tav>
                                        <p:tav tm="100000">
                                          <p:val>
                                            <p:strVal val="#ppt_y-.03"/>
                                          </p:val>
                                        </p:tav>
                                      </p:tavLst>
                                    </p:anim>
                                    <p:anim calcmode="lin" valueType="num">
                                      <p:cBhvr>
                                        <p:cTn id="177" dur="50" accel="100000" fill="hold">
                                          <p:stCondLst>
                                            <p:cond delay="450"/>
                                          </p:stCondLst>
                                        </p:cTn>
                                        <p:tgtEl>
                                          <p:spTgt spid="34"/>
                                        </p:tgtEl>
                                        <p:attrNameLst>
                                          <p:attrName>ppt_y</p:attrName>
                                        </p:attrNameLst>
                                      </p:cBhvr>
                                      <p:tavLst>
                                        <p:tav tm="0">
                                          <p:val>
                                            <p:strVal val="#ppt_y-.03"/>
                                          </p:val>
                                        </p:tav>
                                        <p:tav tm="100000">
                                          <p:val>
                                            <p:strVal val="#ppt_y"/>
                                          </p:val>
                                        </p:tav>
                                      </p:tavLst>
                                    </p:anim>
                                  </p:childTnLst>
                                </p:cTn>
                              </p:par>
                              <p:par>
                                <p:cTn id="178" presetID="37" presetClass="entr" presetSubtype="0" fill="hold" grpId="0" nodeType="withEffect">
                                  <p:stCondLst>
                                    <p:cond delay="0"/>
                                  </p:stCondLst>
                                  <p:childTnLst>
                                    <p:set>
                                      <p:cBhvr>
                                        <p:cTn id="179" dur="1" fill="hold">
                                          <p:stCondLst>
                                            <p:cond delay="0"/>
                                          </p:stCondLst>
                                        </p:cTn>
                                        <p:tgtEl>
                                          <p:spTgt spid="35"/>
                                        </p:tgtEl>
                                        <p:attrNameLst>
                                          <p:attrName>style.visibility</p:attrName>
                                        </p:attrNameLst>
                                      </p:cBhvr>
                                      <p:to>
                                        <p:strVal val="visible"/>
                                      </p:to>
                                    </p:set>
                                    <p:animEffect transition="in" filter="fade">
                                      <p:cBhvr>
                                        <p:cTn id="180" dur="500"/>
                                        <p:tgtEl>
                                          <p:spTgt spid="35"/>
                                        </p:tgtEl>
                                      </p:cBhvr>
                                    </p:animEffect>
                                    <p:anim calcmode="lin" valueType="num">
                                      <p:cBhvr>
                                        <p:cTn id="181" dur="500" fill="hold"/>
                                        <p:tgtEl>
                                          <p:spTgt spid="35"/>
                                        </p:tgtEl>
                                        <p:attrNameLst>
                                          <p:attrName>ppt_x</p:attrName>
                                        </p:attrNameLst>
                                      </p:cBhvr>
                                      <p:tavLst>
                                        <p:tav tm="0">
                                          <p:val>
                                            <p:strVal val="#ppt_x"/>
                                          </p:val>
                                        </p:tav>
                                        <p:tav tm="100000">
                                          <p:val>
                                            <p:strVal val="#ppt_x"/>
                                          </p:val>
                                        </p:tav>
                                      </p:tavLst>
                                    </p:anim>
                                    <p:anim calcmode="lin" valueType="num">
                                      <p:cBhvr>
                                        <p:cTn id="182" dur="450" decel="100000" fill="hold"/>
                                        <p:tgtEl>
                                          <p:spTgt spid="35"/>
                                        </p:tgtEl>
                                        <p:attrNameLst>
                                          <p:attrName>ppt_y</p:attrName>
                                        </p:attrNameLst>
                                      </p:cBhvr>
                                      <p:tavLst>
                                        <p:tav tm="0">
                                          <p:val>
                                            <p:strVal val="#ppt_y+1"/>
                                          </p:val>
                                        </p:tav>
                                        <p:tav tm="100000">
                                          <p:val>
                                            <p:strVal val="#ppt_y-.03"/>
                                          </p:val>
                                        </p:tav>
                                      </p:tavLst>
                                    </p:anim>
                                    <p:anim calcmode="lin" valueType="num">
                                      <p:cBhvr>
                                        <p:cTn id="183" dur="50" accel="100000" fill="hold">
                                          <p:stCondLst>
                                            <p:cond delay="450"/>
                                          </p:stCondLst>
                                        </p:cTn>
                                        <p:tgtEl>
                                          <p:spTgt spid="35"/>
                                        </p:tgtEl>
                                        <p:attrNameLst>
                                          <p:attrName>ppt_y</p:attrName>
                                        </p:attrNameLst>
                                      </p:cBhvr>
                                      <p:tavLst>
                                        <p:tav tm="0">
                                          <p:val>
                                            <p:strVal val="#ppt_y-.03"/>
                                          </p:val>
                                        </p:tav>
                                        <p:tav tm="100000">
                                          <p:val>
                                            <p:strVal val="#ppt_y"/>
                                          </p:val>
                                        </p:tav>
                                      </p:tavLst>
                                    </p:anim>
                                  </p:childTnLst>
                                </p:cTn>
                              </p:par>
                              <p:par>
                                <p:cTn id="184" presetID="37" presetClass="entr" presetSubtype="0" fill="hold" grpId="0" nodeType="withEffect">
                                  <p:stCondLst>
                                    <p:cond delay="0"/>
                                  </p:stCondLst>
                                  <p:childTnLst>
                                    <p:set>
                                      <p:cBhvr>
                                        <p:cTn id="185" dur="1" fill="hold">
                                          <p:stCondLst>
                                            <p:cond delay="0"/>
                                          </p:stCondLst>
                                        </p:cTn>
                                        <p:tgtEl>
                                          <p:spTgt spid="36"/>
                                        </p:tgtEl>
                                        <p:attrNameLst>
                                          <p:attrName>style.visibility</p:attrName>
                                        </p:attrNameLst>
                                      </p:cBhvr>
                                      <p:to>
                                        <p:strVal val="visible"/>
                                      </p:to>
                                    </p:set>
                                    <p:animEffect transition="in" filter="fade">
                                      <p:cBhvr>
                                        <p:cTn id="186" dur="500"/>
                                        <p:tgtEl>
                                          <p:spTgt spid="36"/>
                                        </p:tgtEl>
                                      </p:cBhvr>
                                    </p:animEffect>
                                    <p:anim calcmode="lin" valueType="num">
                                      <p:cBhvr>
                                        <p:cTn id="187" dur="500" fill="hold"/>
                                        <p:tgtEl>
                                          <p:spTgt spid="36"/>
                                        </p:tgtEl>
                                        <p:attrNameLst>
                                          <p:attrName>ppt_x</p:attrName>
                                        </p:attrNameLst>
                                      </p:cBhvr>
                                      <p:tavLst>
                                        <p:tav tm="0">
                                          <p:val>
                                            <p:strVal val="#ppt_x"/>
                                          </p:val>
                                        </p:tav>
                                        <p:tav tm="100000">
                                          <p:val>
                                            <p:strVal val="#ppt_x"/>
                                          </p:val>
                                        </p:tav>
                                      </p:tavLst>
                                    </p:anim>
                                    <p:anim calcmode="lin" valueType="num">
                                      <p:cBhvr>
                                        <p:cTn id="188" dur="450" decel="100000" fill="hold"/>
                                        <p:tgtEl>
                                          <p:spTgt spid="36"/>
                                        </p:tgtEl>
                                        <p:attrNameLst>
                                          <p:attrName>ppt_y</p:attrName>
                                        </p:attrNameLst>
                                      </p:cBhvr>
                                      <p:tavLst>
                                        <p:tav tm="0">
                                          <p:val>
                                            <p:strVal val="#ppt_y+1"/>
                                          </p:val>
                                        </p:tav>
                                        <p:tav tm="100000">
                                          <p:val>
                                            <p:strVal val="#ppt_y-.03"/>
                                          </p:val>
                                        </p:tav>
                                      </p:tavLst>
                                    </p:anim>
                                    <p:anim calcmode="lin" valueType="num">
                                      <p:cBhvr>
                                        <p:cTn id="189" dur="50" accel="100000" fill="hold">
                                          <p:stCondLst>
                                            <p:cond delay="450"/>
                                          </p:stCondLst>
                                        </p:cTn>
                                        <p:tgtEl>
                                          <p:spTgt spid="36"/>
                                        </p:tgtEl>
                                        <p:attrNameLst>
                                          <p:attrName>ppt_y</p:attrName>
                                        </p:attrNameLst>
                                      </p:cBhvr>
                                      <p:tavLst>
                                        <p:tav tm="0">
                                          <p:val>
                                            <p:strVal val="#ppt_y-.03"/>
                                          </p:val>
                                        </p:tav>
                                        <p:tav tm="100000">
                                          <p:val>
                                            <p:strVal val="#ppt_y"/>
                                          </p:val>
                                        </p:tav>
                                      </p:tavLst>
                                    </p:anim>
                                  </p:childTnLst>
                                </p:cTn>
                              </p:par>
                              <p:par>
                                <p:cTn id="190" presetID="37" presetClass="entr" presetSubtype="0" fill="hold" nodeType="withEffect">
                                  <p:stCondLst>
                                    <p:cond delay="0"/>
                                  </p:stCondLst>
                                  <p:childTnLst>
                                    <p:set>
                                      <p:cBhvr>
                                        <p:cTn id="191" dur="1" fill="hold">
                                          <p:stCondLst>
                                            <p:cond delay="0"/>
                                          </p:stCondLst>
                                        </p:cTn>
                                        <p:tgtEl>
                                          <p:spTgt spid="37"/>
                                        </p:tgtEl>
                                        <p:attrNameLst>
                                          <p:attrName>style.visibility</p:attrName>
                                        </p:attrNameLst>
                                      </p:cBhvr>
                                      <p:to>
                                        <p:strVal val="visible"/>
                                      </p:to>
                                    </p:set>
                                    <p:animEffect transition="in" filter="fade">
                                      <p:cBhvr>
                                        <p:cTn id="192" dur="500"/>
                                        <p:tgtEl>
                                          <p:spTgt spid="37"/>
                                        </p:tgtEl>
                                      </p:cBhvr>
                                    </p:animEffect>
                                    <p:anim calcmode="lin" valueType="num">
                                      <p:cBhvr>
                                        <p:cTn id="193" dur="500" fill="hold"/>
                                        <p:tgtEl>
                                          <p:spTgt spid="37"/>
                                        </p:tgtEl>
                                        <p:attrNameLst>
                                          <p:attrName>ppt_x</p:attrName>
                                        </p:attrNameLst>
                                      </p:cBhvr>
                                      <p:tavLst>
                                        <p:tav tm="0">
                                          <p:val>
                                            <p:strVal val="#ppt_x"/>
                                          </p:val>
                                        </p:tav>
                                        <p:tav tm="100000">
                                          <p:val>
                                            <p:strVal val="#ppt_x"/>
                                          </p:val>
                                        </p:tav>
                                      </p:tavLst>
                                    </p:anim>
                                    <p:anim calcmode="lin" valueType="num">
                                      <p:cBhvr>
                                        <p:cTn id="194" dur="450" decel="100000" fill="hold"/>
                                        <p:tgtEl>
                                          <p:spTgt spid="37"/>
                                        </p:tgtEl>
                                        <p:attrNameLst>
                                          <p:attrName>ppt_y</p:attrName>
                                        </p:attrNameLst>
                                      </p:cBhvr>
                                      <p:tavLst>
                                        <p:tav tm="0">
                                          <p:val>
                                            <p:strVal val="#ppt_y+1"/>
                                          </p:val>
                                        </p:tav>
                                        <p:tav tm="100000">
                                          <p:val>
                                            <p:strVal val="#ppt_y-.03"/>
                                          </p:val>
                                        </p:tav>
                                      </p:tavLst>
                                    </p:anim>
                                    <p:anim calcmode="lin" valueType="num">
                                      <p:cBhvr>
                                        <p:cTn id="195" dur="50" accel="100000" fill="hold">
                                          <p:stCondLst>
                                            <p:cond delay="450"/>
                                          </p:stCondLst>
                                        </p:cTn>
                                        <p:tgtEl>
                                          <p:spTgt spid="37"/>
                                        </p:tgtEl>
                                        <p:attrNameLst>
                                          <p:attrName>ppt_y</p:attrName>
                                        </p:attrNameLst>
                                      </p:cBhvr>
                                      <p:tavLst>
                                        <p:tav tm="0">
                                          <p:val>
                                            <p:strVal val="#ppt_y-.03"/>
                                          </p:val>
                                        </p:tav>
                                        <p:tav tm="100000">
                                          <p:val>
                                            <p:strVal val="#ppt_y"/>
                                          </p:val>
                                        </p:tav>
                                      </p:tavLst>
                                    </p:anim>
                                  </p:childTnLst>
                                </p:cTn>
                              </p:par>
                              <p:par>
                                <p:cTn id="196" presetID="37" presetClass="entr" presetSubtype="0" fill="hold" nodeType="withEffect">
                                  <p:stCondLst>
                                    <p:cond delay="0"/>
                                  </p:stCondLst>
                                  <p:childTnLst>
                                    <p:set>
                                      <p:cBhvr>
                                        <p:cTn id="197" dur="1" fill="hold">
                                          <p:stCondLst>
                                            <p:cond delay="0"/>
                                          </p:stCondLst>
                                        </p:cTn>
                                        <p:tgtEl>
                                          <p:spTgt spid="38"/>
                                        </p:tgtEl>
                                        <p:attrNameLst>
                                          <p:attrName>style.visibility</p:attrName>
                                        </p:attrNameLst>
                                      </p:cBhvr>
                                      <p:to>
                                        <p:strVal val="visible"/>
                                      </p:to>
                                    </p:set>
                                    <p:animEffect transition="in" filter="fade">
                                      <p:cBhvr>
                                        <p:cTn id="198" dur="500"/>
                                        <p:tgtEl>
                                          <p:spTgt spid="38"/>
                                        </p:tgtEl>
                                      </p:cBhvr>
                                    </p:animEffect>
                                    <p:anim calcmode="lin" valueType="num">
                                      <p:cBhvr>
                                        <p:cTn id="199" dur="500" fill="hold"/>
                                        <p:tgtEl>
                                          <p:spTgt spid="38"/>
                                        </p:tgtEl>
                                        <p:attrNameLst>
                                          <p:attrName>ppt_x</p:attrName>
                                        </p:attrNameLst>
                                      </p:cBhvr>
                                      <p:tavLst>
                                        <p:tav tm="0">
                                          <p:val>
                                            <p:strVal val="#ppt_x"/>
                                          </p:val>
                                        </p:tav>
                                        <p:tav tm="100000">
                                          <p:val>
                                            <p:strVal val="#ppt_x"/>
                                          </p:val>
                                        </p:tav>
                                      </p:tavLst>
                                    </p:anim>
                                    <p:anim calcmode="lin" valueType="num">
                                      <p:cBhvr>
                                        <p:cTn id="200" dur="450" decel="100000" fill="hold"/>
                                        <p:tgtEl>
                                          <p:spTgt spid="38"/>
                                        </p:tgtEl>
                                        <p:attrNameLst>
                                          <p:attrName>ppt_y</p:attrName>
                                        </p:attrNameLst>
                                      </p:cBhvr>
                                      <p:tavLst>
                                        <p:tav tm="0">
                                          <p:val>
                                            <p:strVal val="#ppt_y+1"/>
                                          </p:val>
                                        </p:tav>
                                        <p:tav tm="100000">
                                          <p:val>
                                            <p:strVal val="#ppt_y-.03"/>
                                          </p:val>
                                        </p:tav>
                                      </p:tavLst>
                                    </p:anim>
                                    <p:anim calcmode="lin" valueType="num">
                                      <p:cBhvr>
                                        <p:cTn id="201" dur="50" accel="100000" fill="hold">
                                          <p:stCondLst>
                                            <p:cond delay="450"/>
                                          </p:stCondLst>
                                        </p:cTn>
                                        <p:tgtEl>
                                          <p:spTgt spid="38"/>
                                        </p:tgtEl>
                                        <p:attrNameLst>
                                          <p:attrName>ppt_y</p:attrName>
                                        </p:attrNameLst>
                                      </p:cBhvr>
                                      <p:tavLst>
                                        <p:tav tm="0">
                                          <p:val>
                                            <p:strVal val="#ppt_y-.03"/>
                                          </p:val>
                                        </p:tav>
                                        <p:tav tm="100000">
                                          <p:val>
                                            <p:strVal val="#ppt_y"/>
                                          </p:val>
                                        </p:tav>
                                      </p:tavLst>
                                    </p:anim>
                                  </p:childTnLst>
                                </p:cTn>
                              </p:par>
                              <p:par>
                                <p:cTn id="202" presetID="37" presetClass="entr" presetSubtype="0" fill="hold" nodeType="withEffect">
                                  <p:stCondLst>
                                    <p:cond delay="0"/>
                                  </p:stCondLst>
                                  <p:childTnLst>
                                    <p:set>
                                      <p:cBhvr>
                                        <p:cTn id="203" dur="1" fill="hold">
                                          <p:stCondLst>
                                            <p:cond delay="0"/>
                                          </p:stCondLst>
                                        </p:cTn>
                                        <p:tgtEl>
                                          <p:spTgt spid="39"/>
                                        </p:tgtEl>
                                        <p:attrNameLst>
                                          <p:attrName>style.visibility</p:attrName>
                                        </p:attrNameLst>
                                      </p:cBhvr>
                                      <p:to>
                                        <p:strVal val="visible"/>
                                      </p:to>
                                    </p:set>
                                    <p:animEffect transition="in" filter="fade">
                                      <p:cBhvr>
                                        <p:cTn id="204" dur="500"/>
                                        <p:tgtEl>
                                          <p:spTgt spid="39"/>
                                        </p:tgtEl>
                                      </p:cBhvr>
                                    </p:animEffect>
                                    <p:anim calcmode="lin" valueType="num">
                                      <p:cBhvr>
                                        <p:cTn id="205" dur="500" fill="hold"/>
                                        <p:tgtEl>
                                          <p:spTgt spid="39"/>
                                        </p:tgtEl>
                                        <p:attrNameLst>
                                          <p:attrName>ppt_x</p:attrName>
                                        </p:attrNameLst>
                                      </p:cBhvr>
                                      <p:tavLst>
                                        <p:tav tm="0">
                                          <p:val>
                                            <p:strVal val="#ppt_x"/>
                                          </p:val>
                                        </p:tav>
                                        <p:tav tm="100000">
                                          <p:val>
                                            <p:strVal val="#ppt_x"/>
                                          </p:val>
                                        </p:tav>
                                      </p:tavLst>
                                    </p:anim>
                                    <p:anim calcmode="lin" valueType="num">
                                      <p:cBhvr>
                                        <p:cTn id="206" dur="450" decel="100000" fill="hold"/>
                                        <p:tgtEl>
                                          <p:spTgt spid="39"/>
                                        </p:tgtEl>
                                        <p:attrNameLst>
                                          <p:attrName>ppt_y</p:attrName>
                                        </p:attrNameLst>
                                      </p:cBhvr>
                                      <p:tavLst>
                                        <p:tav tm="0">
                                          <p:val>
                                            <p:strVal val="#ppt_y+1"/>
                                          </p:val>
                                        </p:tav>
                                        <p:tav tm="100000">
                                          <p:val>
                                            <p:strVal val="#ppt_y-.03"/>
                                          </p:val>
                                        </p:tav>
                                      </p:tavLst>
                                    </p:anim>
                                    <p:anim calcmode="lin" valueType="num">
                                      <p:cBhvr>
                                        <p:cTn id="207" dur="50" accel="100000" fill="hold">
                                          <p:stCondLst>
                                            <p:cond delay="450"/>
                                          </p:stCondLst>
                                        </p:cTn>
                                        <p:tgtEl>
                                          <p:spTgt spid="39"/>
                                        </p:tgtEl>
                                        <p:attrNameLst>
                                          <p:attrName>ppt_y</p:attrName>
                                        </p:attrNameLst>
                                      </p:cBhvr>
                                      <p:tavLst>
                                        <p:tav tm="0">
                                          <p:val>
                                            <p:strVal val="#ppt_y-.03"/>
                                          </p:val>
                                        </p:tav>
                                        <p:tav tm="100000">
                                          <p:val>
                                            <p:strVal val="#ppt_y"/>
                                          </p:val>
                                        </p:tav>
                                      </p:tavLst>
                                    </p:anim>
                                  </p:childTnLst>
                                </p:cTn>
                              </p:par>
                              <p:par>
                                <p:cTn id="208" presetID="37" presetClass="entr" presetSubtype="0" fill="hold" grpId="0" nodeType="withEffect">
                                  <p:stCondLst>
                                    <p:cond delay="0"/>
                                  </p:stCondLst>
                                  <p:childTnLst>
                                    <p:set>
                                      <p:cBhvr>
                                        <p:cTn id="209" dur="1" fill="hold">
                                          <p:stCondLst>
                                            <p:cond delay="0"/>
                                          </p:stCondLst>
                                        </p:cTn>
                                        <p:tgtEl>
                                          <p:spTgt spid="40"/>
                                        </p:tgtEl>
                                        <p:attrNameLst>
                                          <p:attrName>style.visibility</p:attrName>
                                        </p:attrNameLst>
                                      </p:cBhvr>
                                      <p:to>
                                        <p:strVal val="visible"/>
                                      </p:to>
                                    </p:set>
                                    <p:animEffect transition="in" filter="fade">
                                      <p:cBhvr>
                                        <p:cTn id="210" dur="500"/>
                                        <p:tgtEl>
                                          <p:spTgt spid="40"/>
                                        </p:tgtEl>
                                      </p:cBhvr>
                                    </p:animEffect>
                                    <p:anim calcmode="lin" valueType="num">
                                      <p:cBhvr>
                                        <p:cTn id="211" dur="500" fill="hold"/>
                                        <p:tgtEl>
                                          <p:spTgt spid="40"/>
                                        </p:tgtEl>
                                        <p:attrNameLst>
                                          <p:attrName>ppt_x</p:attrName>
                                        </p:attrNameLst>
                                      </p:cBhvr>
                                      <p:tavLst>
                                        <p:tav tm="0">
                                          <p:val>
                                            <p:strVal val="#ppt_x"/>
                                          </p:val>
                                        </p:tav>
                                        <p:tav tm="100000">
                                          <p:val>
                                            <p:strVal val="#ppt_x"/>
                                          </p:val>
                                        </p:tav>
                                      </p:tavLst>
                                    </p:anim>
                                    <p:anim calcmode="lin" valueType="num">
                                      <p:cBhvr>
                                        <p:cTn id="212" dur="450" decel="100000" fill="hold"/>
                                        <p:tgtEl>
                                          <p:spTgt spid="40"/>
                                        </p:tgtEl>
                                        <p:attrNameLst>
                                          <p:attrName>ppt_y</p:attrName>
                                        </p:attrNameLst>
                                      </p:cBhvr>
                                      <p:tavLst>
                                        <p:tav tm="0">
                                          <p:val>
                                            <p:strVal val="#ppt_y+1"/>
                                          </p:val>
                                        </p:tav>
                                        <p:tav tm="100000">
                                          <p:val>
                                            <p:strVal val="#ppt_y-.03"/>
                                          </p:val>
                                        </p:tav>
                                      </p:tavLst>
                                    </p:anim>
                                    <p:anim calcmode="lin" valueType="num">
                                      <p:cBhvr>
                                        <p:cTn id="213" dur="50" accel="100000" fill="hold">
                                          <p:stCondLst>
                                            <p:cond delay="450"/>
                                          </p:stCondLst>
                                        </p:cTn>
                                        <p:tgtEl>
                                          <p:spTgt spid="40"/>
                                        </p:tgtEl>
                                        <p:attrNameLst>
                                          <p:attrName>ppt_y</p:attrName>
                                        </p:attrNameLst>
                                      </p:cBhvr>
                                      <p:tavLst>
                                        <p:tav tm="0">
                                          <p:val>
                                            <p:strVal val="#ppt_y-.03"/>
                                          </p:val>
                                        </p:tav>
                                        <p:tav tm="100000">
                                          <p:val>
                                            <p:strVal val="#ppt_y"/>
                                          </p:val>
                                        </p:tav>
                                      </p:tavLst>
                                    </p:anim>
                                  </p:childTnLst>
                                </p:cTn>
                              </p:par>
                              <p:par>
                                <p:cTn id="214" presetID="37" presetClass="entr" presetSubtype="0" fill="hold" grpId="0" nodeType="withEffect">
                                  <p:stCondLst>
                                    <p:cond delay="0"/>
                                  </p:stCondLst>
                                  <p:childTnLst>
                                    <p:set>
                                      <p:cBhvr>
                                        <p:cTn id="215" dur="1" fill="hold">
                                          <p:stCondLst>
                                            <p:cond delay="0"/>
                                          </p:stCondLst>
                                        </p:cTn>
                                        <p:tgtEl>
                                          <p:spTgt spid="41"/>
                                        </p:tgtEl>
                                        <p:attrNameLst>
                                          <p:attrName>style.visibility</p:attrName>
                                        </p:attrNameLst>
                                      </p:cBhvr>
                                      <p:to>
                                        <p:strVal val="visible"/>
                                      </p:to>
                                    </p:set>
                                    <p:animEffect transition="in" filter="fade">
                                      <p:cBhvr>
                                        <p:cTn id="216" dur="500"/>
                                        <p:tgtEl>
                                          <p:spTgt spid="41"/>
                                        </p:tgtEl>
                                      </p:cBhvr>
                                    </p:animEffect>
                                    <p:anim calcmode="lin" valueType="num">
                                      <p:cBhvr>
                                        <p:cTn id="217" dur="500" fill="hold"/>
                                        <p:tgtEl>
                                          <p:spTgt spid="41"/>
                                        </p:tgtEl>
                                        <p:attrNameLst>
                                          <p:attrName>ppt_x</p:attrName>
                                        </p:attrNameLst>
                                      </p:cBhvr>
                                      <p:tavLst>
                                        <p:tav tm="0">
                                          <p:val>
                                            <p:strVal val="#ppt_x"/>
                                          </p:val>
                                        </p:tav>
                                        <p:tav tm="100000">
                                          <p:val>
                                            <p:strVal val="#ppt_x"/>
                                          </p:val>
                                        </p:tav>
                                      </p:tavLst>
                                    </p:anim>
                                    <p:anim calcmode="lin" valueType="num">
                                      <p:cBhvr>
                                        <p:cTn id="218" dur="450" decel="100000" fill="hold"/>
                                        <p:tgtEl>
                                          <p:spTgt spid="41"/>
                                        </p:tgtEl>
                                        <p:attrNameLst>
                                          <p:attrName>ppt_y</p:attrName>
                                        </p:attrNameLst>
                                      </p:cBhvr>
                                      <p:tavLst>
                                        <p:tav tm="0">
                                          <p:val>
                                            <p:strVal val="#ppt_y+1"/>
                                          </p:val>
                                        </p:tav>
                                        <p:tav tm="100000">
                                          <p:val>
                                            <p:strVal val="#ppt_y-.03"/>
                                          </p:val>
                                        </p:tav>
                                      </p:tavLst>
                                    </p:anim>
                                    <p:anim calcmode="lin" valueType="num">
                                      <p:cBhvr>
                                        <p:cTn id="219" dur="50" accel="100000" fill="hold">
                                          <p:stCondLst>
                                            <p:cond delay="450"/>
                                          </p:stCondLst>
                                        </p:cTn>
                                        <p:tgtEl>
                                          <p:spTgt spid="41"/>
                                        </p:tgtEl>
                                        <p:attrNameLst>
                                          <p:attrName>ppt_y</p:attrName>
                                        </p:attrNameLst>
                                      </p:cBhvr>
                                      <p:tavLst>
                                        <p:tav tm="0">
                                          <p:val>
                                            <p:strVal val="#ppt_y-.03"/>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37" presetClass="entr" presetSubtype="0" fill="hold" nodeType="clickEffect">
                                  <p:stCondLst>
                                    <p:cond delay="0"/>
                                  </p:stCondLst>
                                  <p:childTnLst>
                                    <p:set>
                                      <p:cBhvr>
                                        <p:cTn id="223" dur="1" fill="hold">
                                          <p:stCondLst>
                                            <p:cond delay="0"/>
                                          </p:stCondLst>
                                        </p:cTn>
                                        <p:tgtEl>
                                          <p:spTgt spid="42"/>
                                        </p:tgtEl>
                                        <p:attrNameLst>
                                          <p:attrName>style.visibility</p:attrName>
                                        </p:attrNameLst>
                                      </p:cBhvr>
                                      <p:to>
                                        <p:strVal val="visible"/>
                                      </p:to>
                                    </p:set>
                                    <p:animEffect transition="in" filter="fade">
                                      <p:cBhvr>
                                        <p:cTn id="224" dur="500"/>
                                        <p:tgtEl>
                                          <p:spTgt spid="42"/>
                                        </p:tgtEl>
                                      </p:cBhvr>
                                    </p:animEffect>
                                    <p:anim calcmode="lin" valueType="num">
                                      <p:cBhvr>
                                        <p:cTn id="225" dur="500" fill="hold"/>
                                        <p:tgtEl>
                                          <p:spTgt spid="42"/>
                                        </p:tgtEl>
                                        <p:attrNameLst>
                                          <p:attrName>ppt_x</p:attrName>
                                        </p:attrNameLst>
                                      </p:cBhvr>
                                      <p:tavLst>
                                        <p:tav tm="0">
                                          <p:val>
                                            <p:strVal val="#ppt_x"/>
                                          </p:val>
                                        </p:tav>
                                        <p:tav tm="100000">
                                          <p:val>
                                            <p:strVal val="#ppt_x"/>
                                          </p:val>
                                        </p:tav>
                                      </p:tavLst>
                                    </p:anim>
                                    <p:anim calcmode="lin" valueType="num">
                                      <p:cBhvr>
                                        <p:cTn id="226" dur="450" decel="100000" fill="hold"/>
                                        <p:tgtEl>
                                          <p:spTgt spid="42"/>
                                        </p:tgtEl>
                                        <p:attrNameLst>
                                          <p:attrName>ppt_y</p:attrName>
                                        </p:attrNameLst>
                                      </p:cBhvr>
                                      <p:tavLst>
                                        <p:tav tm="0">
                                          <p:val>
                                            <p:strVal val="#ppt_y+1"/>
                                          </p:val>
                                        </p:tav>
                                        <p:tav tm="100000">
                                          <p:val>
                                            <p:strVal val="#ppt_y-.03"/>
                                          </p:val>
                                        </p:tav>
                                      </p:tavLst>
                                    </p:anim>
                                    <p:anim calcmode="lin" valueType="num">
                                      <p:cBhvr>
                                        <p:cTn id="227" dur="50" accel="100000" fill="hold">
                                          <p:stCondLst>
                                            <p:cond delay="450"/>
                                          </p:stCondLst>
                                        </p:cTn>
                                        <p:tgtEl>
                                          <p:spTgt spid="42"/>
                                        </p:tgtEl>
                                        <p:attrNameLst>
                                          <p:attrName>ppt_y</p:attrName>
                                        </p:attrNameLst>
                                      </p:cBhvr>
                                      <p:tavLst>
                                        <p:tav tm="0">
                                          <p:val>
                                            <p:strVal val="#ppt_y-.03"/>
                                          </p:val>
                                        </p:tav>
                                        <p:tav tm="100000">
                                          <p:val>
                                            <p:strVal val="#ppt_y"/>
                                          </p:val>
                                        </p:tav>
                                      </p:tavLst>
                                    </p:anim>
                                  </p:childTnLst>
                                </p:cTn>
                              </p:par>
                              <p:par>
                                <p:cTn id="228" presetID="37" presetClass="entr" presetSubtype="0" fill="hold" nodeType="withEffect">
                                  <p:stCondLst>
                                    <p:cond delay="0"/>
                                  </p:stCondLst>
                                  <p:childTnLst>
                                    <p:set>
                                      <p:cBhvr>
                                        <p:cTn id="229" dur="1" fill="hold">
                                          <p:stCondLst>
                                            <p:cond delay="0"/>
                                          </p:stCondLst>
                                        </p:cTn>
                                        <p:tgtEl>
                                          <p:spTgt spid="43"/>
                                        </p:tgtEl>
                                        <p:attrNameLst>
                                          <p:attrName>style.visibility</p:attrName>
                                        </p:attrNameLst>
                                      </p:cBhvr>
                                      <p:to>
                                        <p:strVal val="visible"/>
                                      </p:to>
                                    </p:set>
                                    <p:animEffect transition="in" filter="fade">
                                      <p:cBhvr>
                                        <p:cTn id="230" dur="500"/>
                                        <p:tgtEl>
                                          <p:spTgt spid="43"/>
                                        </p:tgtEl>
                                      </p:cBhvr>
                                    </p:animEffect>
                                    <p:anim calcmode="lin" valueType="num">
                                      <p:cBhvr>
                                        <p:cTn id="231" dur="500" fill="hold"/>
                                        <p:tgtEl>
                                          <p:spTgt spid="43"/>
                                        </p:tgtEl>
                                        <p:attrNameLst>
                                          <p:attrName>ppt_x</p:attrName>
                                        </p:attrNameLst>
                                      </p:cBhvr>
                                      <p:tavLst>
                                        <p:tav tm="0">
                                          <p:val>
                                            <p:strVal val="#ppt_x"/>
                                          </p:val>
                                        </p:tav>
                                        <p:tav tm="100000">
                                          <p:val>
                                            <p:strVal val="#ppt_x"/>
                                          </p:val>
                                        </p:tav>
                                      </p:tavLst>
                                    </p:anim>
                                    <p:anim calcmode="lin" valueType="num">
                                      <p:cBhvr>
                                        <p:cTn id="232" dur="450" decel="100000" fill="hold"/>
                                        <p:tgtEl>
                                          <p:spTgt spid="43"/>
                                        </p:tgtEl>
                                        <p:attrNameLst>
                                          <p:attrName>ppt_y</p:attrName>
                                        </p:attrNameLst>
                                      </p:cBhvr>
                                      <p:tavLst>
                                        <p:tav tm="0">
                                          <p:val>
                                            <p:strVal val="#ppt_y+1"/>
                                          </p:val>
                                        </p:tav>
                                        <p:tav tm="100000">
                                          <p:val>
                                            <p:strVal val="#ppt_y-.03"/>
                                          </p:val>
                                        </p:tav>
                                      </p:tavLst>
                                    </p:anim>
                                    <p:anim calcmode="lin" valueType="num">
                                      <p:cBhvr>
                                        <p:cTn id="233" dur="50" accel="100000" fill="hold">
                                          <p:stCondLst>
                                            <p:cond delay="450"/>
                                          </p:stCondLst>
                                        </p:cTn>
                                        <p:tgtEl>
                                          <p:spTgt spid="43"/>
                                        </p:tgtEl>
                                        <p:attrNameLst>
                                          <p:attrName>ppt_y</p:attrName>
                                        </p:attrNameLst>
                                      </p:cBhvr>
                                      <p:tavLst>
                                        <p:tav tm="0">
                                          <p:val>
                                            <p:strVal val="#ppt_y-.03"/>
                                          </p:val>
                                        </p:tav>
                                        <p:tav tm="100000">
                                          <p:val>
                                            <p:strVal val="#ppt_y"/>
                                          </p:val>
                                        </p:tav>
                                      </p:tavLst>
                                    </p:anim>
                                  </p:childTnLst>
                                </p:cTn>
                              </p:par>
                              <p:par>
                                <p:cTn id="234" presetID="37" presetClass="entr" presetSubtype="0" fill="hold" nodeType="withEffect">
                                  <p:stCondLst>
                                    <p:cond delay="0"/>
                                  </p:stCondLst>
                                  <p:childTnLst>
                                    <p:set>
                                      <p:cBhvr>
                                        <p:cTn id="235" dur="1" fill="hold">
                                          <p:stCondLst>
                                            <p:cond delay="0"/>
                                          </p:stCondLst>
                                        </p:cTn>
                                        <p:tgtEl>
                                          <p:spTgt spid="44"/>
                                        </p:tgtEl>
                                        <p:attrNameLst>
                                          <p:attrName>style.visibility</p:attrName>
                                        </p:attrNameLst>
                                      </p:cBhvr>
                                      <p:to>
                                        <p:strVal val="visible"/>
                                      </p:to>
                                    </p:set>
                                    <p:animEffect transition="in" filter="fade">
                                      <p:cBhvr>
                                        <p:cTn id="236" dur="500"/>
                                        <p:tgtEl>
                                          <p:spTgt spid="44"/>
                                        </p:tgtEl>
                                      </p:cBhvr>
                                    </p:animEffect>
                                    <p:anim calcmode="lin" valueType="num">
                                      <p:cBhvr>
                                        <p:cTn id="237" dur="500" fill="hold"/>
                                        <p:tgtEl>
                                          <p:spTgt spid="44"/>
                                        </p:tgtEl>
                                        <p:attrNameLst>
                                          <p:attrName>ppt_x</p:attrName>
                                        </p:attrNameLst>
                                      </p:cBhvr>
                                      <p:tavLst>
                                        <p:tav tm="0">
                                          <p:val>
                                            <p:strVal val="#ppt_x"/>
                                          </p:val>
                                        </p:tav>
                                        <p:tav tm="100000">
                                          <p:val>
                                            <p:strVal val="#ppt_x"/>
                                          </p:val>
                                        </p:tav>
                                      </p:tavLst>
                                    </p:anim>
                                    <p:anim calcmode="lin" valueType="num">
                                      <p:cBhvr>
                                        <p:cTn id="238" dur="450" decel="100000" fill="hold"/>
                                        <p:tgtEl>
                                          <p:spTgt spid="44"/>
                                        </p:tgtEl>
                                        <p:attrNameLst>
                                          <p:attrName>ppt_y</p:attrName>
                                        </p:attrNameLst>
                                      </p:cBhvr>
                                      <p:tavLst>
                                        <p:tav tm="0">
                                          <p:val>
                                            <p:strVal val="#ppt_y+1"/>
                                          </p:val>
                                        </p:tav>
                                        <p:tav tm="100000">
                                          <p:val>
                                            <p:strVal val="#ppt_y-.03"/>
                                          </p:val>
                                        </p:tav>
                                      </p:tavLst>
                                    </p:anim>
                                    <p:anim calcmode="lin" valueType="num">
                                      <p:cBhvr>
                                        <p:cTn id="239" dur="50" accel="100000" fill="hold">
                                          <p:stCondLst>
                                            <p:cond delay="450"/>
                                          </p:stCondLst>
                                        </p:cTn>
                                        <p:tgtEl>
                                          <p:spTgt spid="44"/>
                                        </p:tgtEl>
                                        <p:attrNameLst>
                                          <p:attrName>ppt_y</p:attrName>
                                        </p:attrNameLst>
                                      </p:cBhvr>
                                      <p:tavLst>
                                        <p:tav tm="0">
                                          <p:val>
                                            <p:strVal val="#ppt_y-.03"/>
                                          </p:val>
                                        </p:tav>
                                        <p:tav tm="100000">
                                          <p:val>
                                            <p:strVal val="#ppt_y"/>
                                          </p:val>
                                        </p:tav>
                                      </p:tavLst>
                                    </p:anim>
                                  </p:childTnLst>
                                </p:cTn>
                              </p:par>
                              <p:par>
                                <p:cTn id="240" presetID="37" presetClass="entr" presetSubtype="0" fill="hold" grpId="0" nodeType="withEffect">
                                  <p:stCondLst>
                                    <p:cond delay="0"/>
                                  </p:stCondLst>
                                  <p:childTnLst>
                                    <p:set>
                                      <p:cBhvr>
                                        <p:cTn id="241" dur="1" fill="hold">
                                          <p:stCondLst>
                                            <p:cond delay="0"/>
                                          </p:stCondLst>
                                        </p:cTn>
                                        <p:tgtEl>
                                          <p:spTgt spid="45"/>
                                        </p:tgtEl>
                                        <p:attrNameLst>
                                          <p:attrName>style.visibility</p:attrName>
                                        </p:attrNameLst>
                                      </p:cBhvr>
                                      <p:to>
                                        <p:strVal val="visible"/>
                                      </p:to>
                                    </p:set>
                                    <p:animEffect transition="in" filter="fade">
                                      <p:cBhvr>
                                        <p:cTn id="242" dur="500"/>
                                        <p:tgtEl>
                                          <p:spTgt spid="45"/>
                                        </p:tgtEl>
                                      </p:cBhvr>
                                    </p:animEffect>
                                    <p:anim calcmode="lin" valueType="num">
                                      <p:cBhvr>
                                        <p:cTn id="243" dur="500" fill="hold"/>
                                        <p:tgtEl>
                                          <p:spTgt spid="45"/>
                                        </p:tgtEl>
                                        <p:attrNameLst>
                                          <p:attrName>ppt_x</p:attrName>
                                        </p:attrNameLst>
                                      </p:cBhvr>
                                      <p:tavLst>
                                        <p:tav tm="0">
                                          <p:val>
                                            <p:strVal val="#ppt_x"/>
                                          </p:val>
                                        </p:tav>
                                        <p:tav tm="100000">
                                          <p:val>
                                            <p:strVal val="#ppt_x"/>
                                          </p:val>
                                        </p:tav>
                                      </p:tavLst>
                                    </p:anim>
                                    <p:anim calcmode="lin" valueType="num">
                                      <p:cBhvr>
                                        <p:cTn id="244" dur="450" decel="100000" fill="hold"/>
                                        <p:tgtEl>
                                          <p:spTgt spid="45"/>
                                        </p:tgtEl>
                                        <p:attrNameLst>
                                          <p:attrName>ppt_y</p:attrName>
                                        </p:attrNameLst>
                                      </p:cBhvr>
                                      <p:tavLst>
                                        <p:tav tm="0">
                                          <p:val>
                                            <p:strVal val="#ppt_y+1"/>
                                          </p:val>
                                        </p:tav>
                                        <p:tav tm="100000">
                                          <p:val>
                                            <p:strVal val="#ppt_y-.03"/>
                                          </p:val>
                                        </p:tav>
                                      </p:tavLst>
                                    </p:anim>
                                    <p:anim calcmode="lin" valueType="num">
                                      <p:cBhvr>
                                        <p:cTn id="245" dur="50" accel="100000" fill="hold">
                                          <p:stCondLst>
                                            <p:cond delay="450"/>
                                          </p:stCondLst>
                                        </p:cTn>
                                        <p:tgtEl>
                                          <p:spTgt spid="45"/>
                                        </p:tgtEl>
                                        <p:attrNameLst>
                                          <p:attrName>ppt_y</p:attrName>
                                        </p:attrNameLst>
                                      </p:cBhvr>
                                      <p:tavLst>
                                        <p:tav tm="0">
                                          <p:val>
                                            <p:strVal val="#ppt_y-.03"/>
                                          </p:val>
                                        </p:tav>
                                        <p:tav tm="100000">
                                          <p:val>
                                            <p:strVal val="#ppt_y"/>
                                          </p:val>
                                        </p:tav>
                                      </p:tavLst>
                                    </p:anim>
                                  </p:childTnLst>
                                </p:cTn>
                              </p:par>
                              <p:par>
                                <p:cTn id="246" presetID="37" presetClass="entr" presetSubtype="0" fill="hold" grpId="0" nodeType="withEffect">
                                  <p:stCondLst>
                                    <p:cond delay="0"/>
                                  </p:stCondLst>
                                  <p:childTnLst>
                                    <p:set>
                                      <p:cBhvr>
                                        <p:cTn id="247" dur="1" fill="hold">
                                          <p:stCondLst>
                                            <p:cond delay="0"/>
                                          </p:stCondLst>
                                        </p:cTn>
                                        <p:tgtEl>
                                          <p:spTgt spid="46"/>
                                        </p:tgtEl>
                                        <p:attrNameLst>
                                          <p:attrName>style.visibility</p:attrName>
                                        </p:attrNameLst>
                                      </p:cBhvr>
                                      <p:to>
                                        <p:strVal val="visible"/>
                                      </p:to>
                                    </p:set>
                                    <p:animEffect transition="in" filter="fade">
                                      <p:cBhvr>
                                        <p:cTn id="248" dur="500"/>
                                        <p:tgtEl>
                                          <p:spTgt spid="46"/>
                                        </p:tgtEl>
                                      </p:cBhvr>
                                    </p:animEffect>
                                    <p:anim calcmode="lin" valueType="num">
                                      <p:cBhvr>
                                        <p:cTn id="249" dur="500" fill="hold"/>
                                        <p:tgtEl>
                                          <p:spTgt spid="46"/>
                                        </p:tgtEl>
                                        <p:attrNameLst>
                                          <p:attrName>ppt_x</p:attrName>
                                        </p:attrNameLst>
                                      </p:cBhvr>
                                      <p:tavLst>
                                        <p:tav tm="0">
                                          <p:val>
                                            <p:strVal val="#ppt_x"/>
                                          </p:val>
                                        </p:tav>
                                        <p:tav tm="100000">
                                          <p:val>
                                            <p:strVal val="#ppt_x"/>
                                          </p:val>
                                        </p:tav>
                                      </p:tavLst>
                                    </p:anim>
                                    <p:anim calcmode="lin" valueType="num">
                                      <p:cBhvr>
                                        <p:cTn id="250" dur="450" decel="100000" fill="hold"/>
                                        <p:tgtEl>
                                          <p:spTgt spid="46"/>
                                        </p:tgtEl>
                                        <p:attrNameLst>
                                          <p:attrName>ppt_y</p:attrName>
                                        </p:attrNameLst>
                                      </p:cBhvr>
                                      <p:tavLst>
                                        <p:tav tm="0">
                                          <p:val>
                                            <p:strVal val="#ppt_y+1"/>
                                          </p:val>
                                        </p:tav>
                                        <p:tav tm="100000">
                                          <p:val>
                                            <p:strVal val="#ppt_y-.03"/>
                                          </p:val>
                                        </p:tav>
                                      </p:tavLst>
                                    </p:anim>
                                    <p:anim calcmode="lin" valueType="num">
                                      <p:cBhvr>
                                        <p:cTn id="251" dur="50" accel="100000" fill="hold">
                                          <p:stCondLst>
                                            <p:cond delay="450"/>
                                          </p:stCondLst>
                                        </p:cTn>
                                        <p:tgtEl>
                                          <p:spTgt spid="46"/>
                                        </p:tgtEl>
                                        <p:attrNameLst>
                                          <p:attrName>ppt_y</p:attrName>
                                        </p:attrNameLst>
                                      </p:cBhvr>
                                      <p:tavLst>
                                        <p:tav tm="0">
                                          <p:val>
                                            <p:strVal val="#ppt_y-.03"/>
                                          </p:val>
                                        </p:tav>
                                        <p:tav tm="100000">
                                          <p:val>
                                            <p:strVal val="#ppt_y"/>
                                          </p:val>
                                        </p:tav>
                                      </p:tavLst>
                                    </p:anim>
                                  </p:childTnLst>
                                </p:cTn>
                              </p:par>
                              <p:par>
                                <p:cTn id="252" presetID="37" presetClass="entr" presetSubtype="0" fill="hold" nodeType="withEffect">
                                  <p:stCondLst>
                                    <p:cond delay="0"/>
                                  </p:stCondLst>
                                  <p:childTnLst>
                                    <p:set>
                                      <p:cBhvr>
                                        <p:cTn id="253" dur="1" fill="hold">
                                          <p:stCondLst>
                                            <p:cond delay="0"/>
                                          </p:stCondLst>
                                        </p:cTn>
                                        <p:tgtEl>
                                          <p:spTgt spid="47"/>
                                        </p:tgtEl>
                                        <p:attrNameLst>
                                          <p:attrName>style.visibility</p:attrName>
                                        </p:attrNameLst>
                                      </p:cBhvr>
                                      <p:to>
                                        <p:strVal val="visible"/>
                                      </p:to>
                                    </p:set>
                                    <p:animEffect transition="in" filter="fade">
                                      <p:cBhvr>
                                        <p:cTn id="254" dur="500"/>
                                        <p:tgtEl>
                                          <p:spTgt spid="47"/>
                                        </p:tgtEl>
                                      </p:cBhvr>
                                    </p:animEffect>
                                    <p:anim calcmode="lin" valueType="num">
                                      <p:cBhvr>
                                        <p:cTn id="255" dur="500" fill="hold"/>
                                        <p:tgtEl>
                                          <p:spTgt spid="47"/>
                                        </p:tgtEl>
                                        <p:attrNameLst>
                                          <p:attrName>ppt_x</p:attrName>
                                        </p:attrNameLst>
                                      </p:cBhvr>
                                      <p:tavLst>
                                        <p:tav tm="0">
                                          <p:val>
                                            <p:strVal val="#ppt_x"/>
                                          </p:val>
                                        </p:tav>
                                        <p:tav tm="100000">
                                          <p:val>
                                            <p:strVal val="#ppt_x"/>
                                          </p:val>
                                        </p:tav>
                                      </p:tavLst>
                                    </p:anim>
                                    <p:anim calcmode="lin" valueType="num">
                                      <p:cBhvr>
                                        <p:cTn id="256" dur="450" decel="100000" fill="hold"/>
                                        <p:tgtEl>
                                          <p:spTgt spid="47"/>
                                        </p:tgtEl>
                                        <p:attrNameLst>
                                          <p:attrName>ppt_y</p:attrName>
                                        </p:attrNameLst>
                                      </p:cBhvr>
                                      <p:tavLst>
                                        <p:tav tm="0">
                                          <p:val>
                                            <p:strVal val="#ppt_y+1"/>
                                          </p:val>
                                        </p:tav>
                                        <p:tav tm="100000">
                                          <p:val>
                                            <p:strVal val="#ppt_y-.03"/>
                                          </p:val>
                                        </p:tav>
                                      </p:tavLst>
                                    </p:anim>
                                    <p:anim calcmode="lin" valueType="num">
                                      <p:cBhvr>
                                        <p:cTn id="257" dur="50" accel="100000" fill="hold">
                                          <p:stCondLst>
                                            <p:cond delay="450"/>
                                          </p:stCondLst>
                                        </p:cTn>
                                        <p:tgtEl>
                                          <p:spTgt spid="47"/>
                                        </p:tgtEl>
                                        <p:attrNameLst>
                                          <p:attrName>ppt_y</p:attrName>
                                        </p:attrNameLst>
                                      </p:cBhvr>
                                      <p:tavLst>
                                        <p:tav tm="0">
                                          <p:val>
                                            <p:strVal val="#ppt_y-.03"/>
                                          </p:val>
                                        </p:tav>
                                        <p:tav tm="100000">
                                          <p:val>
                                            <p:strVal val="#ppt_y"/>
                                          </p:val>
                                        </p:tav>
                                      </p:tavLst>
                                    </p:anim>
                                  </p:childTnLst>
                                </p:cTn>
                              </p:par>
                              <p:par>
                                <p:cTn id="258" presetID="37" presetClass="entr" presetSubtype="0" fill="hold" nodeType="withEffect">
                                  <p:stCondLst>
                                    <p:cond delay="0"/>
                                  </p:stCondLst>
                                  <p:childTnLst>
                                    <p:set>
                                      <p:cBhvr>
                                        <p:cTn id="259" dur="1" fill="hold">
                                          <p:stCondLst>
                                            <p:cond delay="0"/>
                                          </p:stCondLst>
                                        </p:cTn>
                                        <p:tgtEl>
                                          <p:spTgt spid="48"/>
                                        </p:tgtEl>
                                        <p:attrNameLst>
                                          <p:attrName>style.visibility</p:attrName>
                                        </p:attrNameLst>
                                      </p:cBhvr>
                                      <p:to>
                                        <p:strVal val="visible"/>
                                      </p:to>
                                    </p:set>
                                    <p:animEffect transition="in" filter="fade">
                                      <p:cBhvr>
                                        <p:cTn id="260" dur="500"/>
                                        <p:tgtEl>
                                          <p:spTgt spid="48"/>
                                        </p:tgtEl>
                                      </p:cBhvr>
                                    </p:animEffect>
                                    <p:anim calcmode="lin" valueType="num">
                                      <p:cBhvr>
                                        <p:cTn id="261" dur="500" fill="hold"/>
                                        <p:tgtEl>
                                          <p:spTgt spid="48"/>
                                        </p:tgtEl>
                                        <p:attrNameLst>
                                          <p:attrName>ppt_x</p:attrName>
                                        </p:attrNameLst>
                                      </p:cBhvr>
                                      <p:tavLst>
                                        <p:tav tm="0">
                                          <p:val>
                                            <p:strVal val="#ppt_x"/>
                                          </p:val>
                                        </p:tav>
                                        <p:tav tm="100000">
                                          <p:val>
                                            <p:strVal val="#ppt_x"/>
                                          </p:val>
                                        </p:tav>
                                      </p:tavLst>
                                    </p:anim>
                                    <p:anim calcmode="lin" valueType="num">
                                      <p:cBhvr>
                                        <p:cTn id="262" dur="450" decel="100000" fill="hold"/>
                                        <p:tgtEl>
                                          <p:spTgt spid="48"/>
                                        </p:tgtEl>
                                        <p:attrNameLst>
                                          <p:attrName>ppt_y</p:attrName>
                                        </p:attrNameLst>
                                      </p:cBhvr>
                                      <p:tavLst>
                                        <p:tav tm="0">
                                          <p:val>
                                            <p:strVal val="#ppt_y+1"/>
                                          </p:val>
                                        </p:tav>
                                        <p:tav tm="100000">
                                          <p:val>
                                            <p:strVal val="#ppt_y-.03"/>
                                          </p:val>
                                        </p:tav>
                                      </p:tavLst>
                                    </p:anim>
                                    <p:anim calcmode="lin" valueType="num">
                                      <p:cBhvr>
                                        <p:cTn id="263" dur="50" accel="100000" fill="hold">
                                          <p:stCondLst>
                                            <p:cond delay="450"/>
                                          </p:stCondLst>
                                        </p:cTn>
                                        <p:tgtEl>
                                          <p:spTgt spid="48"/>
                                        </p:tgtEl>
                                        <p:attrNameLst>
                                          <p:attrName>ppt_y</p:attrName>
                                        </p:attrNameLst>
                                      </p:cBhvr>
                                      <p:tavLst>
                                        <p:tav tm="0">
                                          <p:val>
                                            <p:strVal val="#ppt_y-.03"/>
                                          </p:val>
                                        </p:tav>
                                        <p:tav tm="100000">
                                          <p:val>
                                            <p:strVal val="#ppt_y"/>
                                          </p:val>
                                        </p:tav>
                                      </p:tavLst>
                                    </p:anim>
                                  </p:childTnLst>
                                </p:cTn>
                              </p:par>
                              <p:par>
                                <p:cTn id="264" presetID="37" presetClass="entr" presetSubtype="0" fill="hold" nodeType="withEffect">
                                  <p:stCondLst>
                                    <p:cond delay="0"/>
                                  </p:stCondLst>
                                  <p:childTnLst>
                                    <p:set>
                                      <p:cBhvr>
                                        <p:cTn id="265" dur="1" fill="hold">
                                          <p:stCondLst>
                                            <p:cond delay="0"/>
                                          </p:stCondLst>
                                        </p:cTn>
                                        <p:tgtEl>
                                          <p:spTgt spid="49"/>
                                        </p:tgtEl>
                                        <p:attrNameLst>
                                          <p:attrName>style.visibility</p:attrName>
                                        </p:attrNameLst>
                                      </p:cBhvr>
                                      <p:to>
                                        <p:strVal val="visible"/>
                                      </p:to>
                                    </p:set>
                                    <p:animEffect transition="in" filter="fade">
                                      <p:cBhvr>
                                        <p:cTn id="266" dur="500"/>
                                        <p:tgtEl>
                                          <p:spTgt spid="49"/>
                                        </p:tgtEl>
                                      </p:cBhvr>
                                    </p:animEffect>
                                    <p:anim calcmode="lin" valueType="num">
                                      <p:cBhvr>
                                        <p:cTn id="267" dur="500" fill="hold"/>
                                        <p:tgtEl>
                                          <p:spTgt spid="49"/>
                                        </p:tgtEl>
                                        <p:attrNameLst>
                                          <p:attrName>ppt_x</p:attrName>
                                        </p:attrNameLst>
                                      </p:cBhvr>
                                      <p:tavLst>
                                        <p:tav tm="0">
                                          <p:val>
                                            <p:strVal val="#ppt_x"/>
                                          </p:val>
                                        </p:tav>
                                        <p:tav tm="100000">
                                          <p:val>
                                            <p:strVal val="#ppt_x"/>
                                          </p:val>
                                        </p:tav>
                                      </p:tavLst>
                                    </p:anim>
                                    <p:anim calcmode="lin" valueType="num">
                                      <p:cBhvr>
                                        <p:cTn id="268" dur="450" decel="100000" fill="hold"/>
                                        <p:tgtEl>
                                          <p:spTgt spid="49"/>
                                        </p:tgtEl>
                                        <p:attrNameLst>
                                          <p:attrName>ppt_y</p:attrName>
                                        </p:attrNameLst>
                                      </p:cBhvr>
                                      <p:tavLst>
                                        <p:tav tm="0">
                                          <p:val>
                                            <p:strVal val="#ppt_y+1"/>
                                          </p:val>
                                        </p:tav>
                                        <p:tav tm="100000">
                                          <p:val>
                                            <p:strVal val="#ppt_y-.03"/>
                                          </p:val>
                                        </p:tav>
                                      </p:tavLst>
                                    </p:anim>
                                    <p:anim calcmode="lin" valueType="num">
                                      <p:cBhvr>
                                        <p:cTn id="269" dur="50" accel="100000" fill="hold">
                                          <p:stCondLst>
                                            <p:cond delay="450"/>
                                          </p:stCondLst>
                                        </p:cTn>
                                        <p:tgtEl>
                                          <p:spTgt spid="49"/>
                                        </p:tgtEl>
                                        <p:attrNameLst>
                                          <p:attrName>ppt_y</p:attrName>
                                        </p:attrNameLst>
                                      </p:cBhvr>
                                      <p:tavLst>
                                        <p:tav tm="0">
                                          <p:val>
                                            <p:strVal val="#ppt_y-.03"/>
                                          </p:val>
                                        </p:tav>
                                        <p:tav tm="100000">
                                          <p:val>
                                            <p:strVal val="#ppt_y"/>
                                          </p:val>
                                        </p:tav>
                                      </p:tavLst>
                                    </p:anim>
                                  </p:childTnLst>
                                </p:cTn>
                              </p:par>
                              <p:par>
                                <p:cTn id="270" presetID="37" presetClass="entr" presetSubtype="0" fill="hold" grpId="0" nodeType="withEffect">
                                  <p:stCondLst>
                                    <p:cond delay="0"/>
                                  </p:stCondLst>
                                  <p:childTnLst>
                                    <p:set>
                                      <p:cBhvr>
                                        <p:cTn id="271" dur="1" fill="hold">
                                          <p:stCondLst>
                                            <p:cond delay="0"/>
                                          </p:stCondLst>
                                        </p:cTn>
                                        <p:tgtEl>
                                          <p:spTgt spid="50"/>
                                        </p:tgtEl>
                                        <p:attrNameLst>
                                          <p:attrName>style.visibility</p:attrName>
                                        </p:attrNameLst>
                                      </p:cBhvr>
                                      <p:to>
                                        <p:strVal val="visible"/>
                                      </p:to>
                                    </p:set>
                                    <p:animEffect transition="in" filter="fade">
                                      <p:cBhvr>
                                        <p:cTn id="272" dur="500"/>
                                        <p:tgtEl>
                                          <p:spTgt spid="50"/>
                                        </p:tgtEl>
                                      </p:cBhvr>
                                    </p:animEffect>
                                    <p:anim calcmode="lin" valueType="num">
                                      <p:cBhvr>
                                        <p:cTn id="273" dur="500" fill="hold"/>
                                        <p:tgtEl>
                                          <p:spTgt spid="50"/>
                                        </p:tgtEl>
                                        <p:attrNameLst>
                                          <p:attrName>ppt_x</p:attrName>
                                        </p:attrNameLst>
                                      </p:cBhvr>
                                      <p:tavLst>
                                        <p:tav tm="0">
                                          <p:val>
                                            <p:strVal val="#ppt_x"/>
                                          </p:val>
                                        </p:tav>
                                        <p:tav tm="100000">
                                          <p:val>
                                            <p:strVal val="#ppt_x"/>
                                          </p:val>
                                        </p:tav>
                                      </p:tavLst>
                                    </p:anim>
                                    <p:anim calcmode="lin" valueType="num">
                                      <p:cBhvr>
                                        <p:cTn id="274" dur="450" decel="100000" fill="hold"/>
                                        <p:tgtEl>
                                          <p:spTgt spid="50"/>
                                        </p:tgtEl>
                                        <p:attrNameLst>
                                          <p:attrName>ppt_y</p:attrName>
                                        </p:attrNameLst>
                                      </p:cBhvr>
                                      <p:tavLst>
                                        <p:tav tm="0">
                                          <p:val>
                                            <p:strVal val="#ppt_y+1"/>
                                          </p:val>
                                        </p:tav>
                                        <p:tav tm="100000">
                                          <p:val>
                                            <p:strVal val="#ppt_y-.03"/>
                                          </p:val>
                                        </p:tav>
                                      </p:tavLst>
                                    </p:anim>
                                    <p:anim calcmode="lin" valueType="num">
                                      <p:cBhvr>
                                        <p:cTn id="275" dur="50" accel="100000" fill="hold">
                                          <p:stCondLst>
                                            <p:cond delay="450"/>
                                          </p:stCondLst>
                                        </p:cTn>
                                        <p:tgtEl>
                                          <p:spTgt spid="50"/>
                                        </p:tgtEl>
                                        <p:attrNameLst>
                                          <p:attrName>ppt_y</p:attrName>
                                        </p:attrNameLst>
                                      </p:cBhvr>
                                      <p:tavLst>
                                        <p:tav tm="0">
                                          <p:val>
                                            <p:strVal val="#ppt_y-.03"/>
                                          </p:val>
                                        </p:tav>
                                        <p:tav tm="100000">
                                          <p:val>
                                            <p:strVal val="#ppt_y"/>
                                          </p:val>
                                        </p:tav>
                                      </p:tavLst>
                                    </p:anim>
                                  </p:childTnLst>
                                </p:cTn>
                              </p:par>
                              <p:par>
                                <p:cTn id="276" presetID="37" presetClass="entr" presetSubtype="0" fill="hold" grpId="0" nodeType="withEffect">
                                  <p:stCondLst>
                                    <p:cond delay="0"/>
                                  </p:stCondLst>
                                  <p:childTnLst>
                                    <p:set>
                                      <p:cBhvr>
                                        <p:cTn id="277" dur="1" fill="hold">
                                          <p:stCondLst>
                                            <p:cond delay="0"/>
                                          </p:stCondLst>
                                        </p:cTn>
                                        <p:tgtEl>
                                          <p:spTgt spid="51"/>
                                        </p:tgtEl>
                                        <p:attrNameLst>
                                          <p:attrName>style.visibility</p:attrName>
                                        </p:attrNameLst>
                                      </p:cBhvr>
                                      <p:to>
                                        <p:strVal val="visible"/>
                                      </p:to>
                                    </p:set>
                                    <p:animEffect transition="in" filter="fade">
                                      <p:cBhvr>
                                        <p:cTn id="278" dur="500"/>
                                        <p:tgtEl>
                                          <p:spTgt spid="51"/>
                                        </p:tgtEl>
                                      </p:cBhvr>
                                    </p:animEffect>
                                    <p:anim calcmode="lin" valueType="num">
                                      <p:cBhvr>
                                        <p:cTn id="279" dur="500" fill="hold"/>
                                        <p:tgtEl>
                                          <p:spTgt spid="51"/>
                                        </p:tgtEl>
                                        <p:attrNameLst>
                                          <p:attrName>ppt_x</p:attrName>
                                        </p:attrNameLst>
                                      </p:cBhvr>
                                      <p:tavLst>
                                        <p:tav tm="0">
                                          <p:val>
                                            <p:strVal val="#ppt_x"/>
                                          </p:val>
                                        </p:tav>
                                        <p:tav tm="100000">
                                          <p:val>
                                            <p:strVal val="#ppt_x"/>
                                          </p:val>
                                        </p:tav>
                                      </p:tavLst>
                                    </p:anim>
                                    <p:anim calcmode="lin" valueType="num">
                                      <p:cBhvr>
                                        <p:cTn id="280" dur="450" decel="100000" fill="hold"/>
                                        <p:tgtEl>
                                          <p:spTgt spid="51"/>
                                        </p:tgtEl>
                                        <p:attrNameLst>
                                          <p:attrName>ppt_y</p:attrName>
                                        </p:attrNameLst>
                                      </p:cBhvr>
                                      <p:tavLst>
                                        <p:tav tm="0">
                                          <p:val>
                                            <p:strVal val="#ppt_y+1"/>
                                          </p:val>
                                        </p:tav>
                                        <p:tav tm="100000">
                                          <p:val>
                                            <p:strVal val="#ppt_y-.03"/>
                                          </p:val>
                                        </p:tav>
                                      </p:tavLst>
                                    </p:anim>
                                    <p:anim calcmode="lin" valueType="num">
                                      <p:cBhvr>
                                        <p:cTn id="281" dur="50" accel="100000" fill="hold">
                                          <p:stCondLst>
                                            <p:cond delay="450"/>
                                          </p:stCondLst>
                                        </p:cTn>
                                        <p:tgtEl>
                                          <p:spTgt spid="5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5" grpId="0" animBg="1"/>
      <p:bldP spid="16" grpId="0" animBg="1"/>
      <p:bldP spid="20" grpId="0" animBg="1"/>
      <p:bldP spid="21" grpId="0" animBg="1"/>
      <p:bldP spid="25" grpId="0" animBg="1"/>
      <p:bldP spid="26" grpId="0" animBg="1"/>
      <p:bldP spid="30" grpId="0" animBg="1"/>
      <p:bldP spid="31" grpId="0" animBg="1"/>
      <p:bldP spid="35" grpId="0" animBg="1"/>
      <p:bldP spid="36" grpId="0" animBg="1"/>
      <p:bldP spid="40" grpId="0" animBg="1"/>
      <p:bldP spid="41" grpId="0" animBg="1"/>
      <p:bldP spid="45" grpId="0" animBg="1"/>
      <p:bldP spid="46" grpId="0" animBg="1"/>
      <p:bldP spid="50" grpId="0" animBg="1"/>
      <p:bldP spid="5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Gemini: from messy reality to clear advice</a:t>
            </a:r>
            <a:endParaRPr lang="en-US" sz="3200" dirty="0"/>
          </a:p>
        </p:txBody>
      </p:sp>
      <p:sp>
        <p:nvSpPr>
          <p:cNvPr id="3" name="anim|1|zoom|click|"/>
          <p:cNvSpPr/>
          <p:nvPr/>
        </p:nvSpPr>
        <p:spPr>
          <a:xfrm>
            <a:off x="548640" y="1463040"/>
            <a:ext cx="2633472" cy="2148840"/>
          </a:xfrm>
          <a:prstGeom prst="roundRect">
            <a:avLst>
              <a:gd name="adj" fmla="val 5106"/>
            </a:avLst>
          </a:prstGeom>
          <a:solidFill>
            <a:srgbClr val="2B2F31"/>
          </a:solidFill>
          <a:ln w="9525">
            <a:solidFill>
              <a:srgbClr val="45504C"/>
            </a:solidFill>
            <a:prstDash val="solid"/>
          </a:ln>
        </p:spPr>
      </p:sp>
      <p:sp>
        <p:nvSpPr>
          <p:cNvPr id="4" name="anim|1|zoom|with|"/>
          <p:cNvSpPr/>
          <p:nvPr/>
        </p:nvSpPr>
        <p:spPr>
          <a:xfrm>
            <a:off x="777240" y="1691640"/>
            <a:ext cx="685800" cy="685800"/>
          </a:xfrm>
          <a:prstGeom prst="ellipse">
            <a:avLst/>
          </a:prstGeom>
          <a:solidFill>
            <a:srgbClr val="3A3458"/>
          </a:solidFill>
          <a:ln/>
        </p:spPr>
      </p:sp>
      <p:pic>
        <p:nvPicPr>
          <p:cNvPr id="5" name="anim|1|zoom|with|" descr="preencoded.png"/>
          <p:cNvPicPr>
            <a:picLocks noChangeAspect="1"/>
          </p:cNvPicPr>
          <p:nvPr/>
        </p:nvPicPr>
        <p:blipFill>
          <a:blip r:embed="rId3"/>
          <a:stretch>
            <a:fillRect/>
          </a:stretch>
        </p:blipFill>
        <p:spPr>
          <a:xfrm>
            <a:off x="928116" y="1842516"/>
            <a:ext cx="384048" cy="384048"/>
          </a:xfrm>
          <a:prstGeom prst="rect">
            <a:avLst/>
          </a:prstGeom>
        </p:spPr>
      </p:pic>
      <p:sp>
        <p:nvSpPr>
          <p:cNvPr id="6" name="anim|1|zoom|with|"/>
          <p:cNvSpPr txBox="1"/>
          <p:nvPr/>
        </p:nvSpPr>
        <p:spPr>
          <a:xfrm>
            <a:off x="1554480" y="178308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Label → model</a:t>
            </a:r>
            <a:endParaRPr lang="en-US" sz="1700" dirty="0"/>
          </a:p>
        </p:txBody>
      </p:sp>
      <p:sp>
        <p:nvSpPr>
          <p:cNvPr id="7" name="anim|1|zoom|with|"/>
          <p:cNvSpPr txBox="1"/>
          <p:nvPr/>
        </p:nvSpPr>
        <p:spPr>
          <a:xfrm>
            <a:off x="777240" y="251460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A photo or PDF becomes structured rules with verbatim quotes</a:t>
            </a:r>
            <a:endParaRPr lang="en-US" sz="1400" dirty="0"/>
          </a:p>
        </p:txBody>
      </p:sp>
      <p:sp>
        <p:nvSpPr>
          <p:cNvPr id="8" name="anim|2|zoom|click|"/>
          <p:cNvSpPr/>
          <p:nvPr/>
        </p:nvSpPr>
        <p:spPr>
          <a:xfrm>
            <a:off x="3355848" y="1463040"/>
            <a:ext cx="2633472" cy="2148840"/>
          </a:xfrm>
          <a:prstGeom prst="roundRect">
            <a:avLst>
              <a:gd name="adj" fmla="val 5106"/>
            </a:avLst>
          </a:prstGeom>
          <a:solidFill>
            <a:srgbClr val="2B2F31"/>
          </a:solidFill>
          <a:ln w="9525">
            <a:solidFill>
              <a:srgbClr val="45504C"/>
            </a:solidFill>
            <a:prstDash val="solid"/>
          </a:ln>
        </p:spPr>
      </p:sp>
      <p:sp>
        <p:nvSpPr>
          <p:cNvPr id="9" name="anim|2|zoom|with|"/>
          <p:cNvSpPr/>
          <p:nvPr/>
        </p:nvSpPr>
        <p:spPr>
          <a:xfrm>
            <a:off x="3584448" y="1691640"/>
            <a:ext cx="685800" cy="685800"/>
          </a:xfrm>
          <a:prstGeom prst="ellipse">
            <a:avLst/>
          </a:prstGeom>
          <a:solidFill>
            <a:srgbClr val="3A3458"/>
          </a:solidFill>
          <a:ln/>
        </p:spPr>
      </p:sp>
      <p:pic>
        <p:nvPicPr>
          <p:cNvPr id="10" name="anim|2|zoom|with|" descr="preencoded.png"/>
          <p:cNvPicPr>
            <a:picLocks noChangeAspect="1"/>
          </p:cNvPicPr>
          <p:nvPr/>
        </p:nvPicPr>
        <p:blipFill>
          <a:blip r:embed="rId4"/>
          <a:stretch>
            <a:fillRect/>
          </a:stretch>
        </p:blipFill>
        <p:spPr>
          <a:xfrm>
            <a:off x="3735324" y="1842516"/>
            <a:ext cx="384048" cy="384048"/>
          </a:xfrm>
          <a:prstGeom prst="rect">
            <a:avLst/>
          </a:prstGeom>
        </p:spPr>
      </p:pic>
      <p:sp>
        <p:nvSpPr>
          <p:cNvPr id="11" name="anim|2|zoom|with|"/>
          <p:cNvSpPr txBox="1"/>
          <p:nvPr/>
        </p:nvSpPr>
        <p:spPr>
          <a:xfrm>
            <a:off x="4361688" y="178308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Add by name</a:t>
            </a:r>
            <a:endParaRPr lang="en-US" sz="1700" dirty="0"/>
          </a:p>
        </p:txBody>
      </p:sp>
      <p:sp>
        <p:nvSpPr>
          <p:cNvPr id="12" name="anim|2|zoom|with|"/>
          <p:cNvSpPr txBox="1"/>
          <p:nvPr/>
        </p:nvSpPr>
        <p:spPr>
          <a:xfrm>
            <a:off x="3584448" y="251460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Google Search + URL Context grounding, with sources shown</a:t>
            </a:r>
            <a:endParaRPr lang="en-US" sz="1400" dirty="0"/>
          </a:p>
        </p:txBody>
      </p:sp>
      <p:sp>
        <p:nvSpPr>
          <p:cNvPr id="13" name="anim|3|zoom|click|"/>
          <p:cNvSpPr/>
          <p:nvPr/>
        </p:nvSpPr>
        <p:spPr>
          <a:xfrm>
            <a:off x="6163056" y="1463040"/>
            <a:ext cx="2633472" cy="2148840"/>
          </a:xfrm>
          <a:prstGeom prst="roundRect">
            <a:avLst>
              <a:gd name="adj" fmla="val 5106"/>
            </a:avLst>
          </a:prstGeom>
          <a:solidFill>
            <a:srgbClr val="2B2F31"/>
          </a:solidFill>
          <a:ln w="9525">
            <a:solidFill>
              <a:srgbClr val="45504C"/>
            </a:solidFill>
            <a:prstDash val="solid"/>
          </a:ln>
        </p:spPr>
      </p:sp>
      <p:sp>
        <p:nvSpPr>
          <p:cNvPr id="14" name="anim|3|zoom|with|"/>
          <p:cNvSpPr/>
          <p:nvPr/>
        </p:nvSpPr>
        <p:spPr>
          <a:xfrm>
            <a:off x="6391656" y="1691640"/>
            <a:ext cx="685800" cy="685800"/>
          </a:xfrm>
          <a:prstGeom prst="ellipse">
            <a:avLst/>
          </a:prstGeom>
          <a:solidFill>
            <a:srgbClr val="3A3458"/>
          </a:solidFill>
          <a:ln/>
        </p:spPr>
      </p:sp>
      <p:pic>
        <p:nvPicPr>
          <p:cNvPr id="15" name="anim|3|zoom|with|" descr="preencoded.png"/>
          <p:cNvPicPr>
            <a:picLocks noChangeAspect="1"/>
          </p:cNvPicPr>
          <p:nvPr/>
        </p:nvPicPr>
        <p:blipFill>
          <a:blip r:embed="rId5"/>
          <a:stretch>
            <a:fillRect/>
          </a:stretch>
        </p:blipFill>
        <p:spPr>
          <a:xfrm>
            <a:off x="6542532" y="1842516"/>
            <a:ext cx="384048" cy="384048"/>
          </a:xfrm>
          <a:prstGeom prst="rect">
            <a:avLst/>
          </a:prstGeom>
        </p:spPr>
      </p:pic>
      <p:sp>
        <p:nvSpPr>
          <p:cNvPr id="16" name="anim|3|zoom|with|"/>
          <p:cNvSpPr txBox="1"/>
          <p:nvPr/>
        </p:nvSpPr>
        <p:spPr>
          <a:xfrm>
            <a:off x="7168896" y="178308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Your language</a:t>
            </a:r>
            <a:endParaRPr lang="en-US" sz="1700" dirty="0"/>
          </a:p>
        </p:txBody>
      </p:sp>
      <p:sp>
        <p:nvSpPr>
          <p:cNvPr id="17" name="anim|3|zoom|with|"/>
          <p:cNvSpPr txBox="1"/>
          <p:nvPr/>
        </p:nvSpPr>
        <p:spPr>
          <a:xfrm>
            <a:off x="6391656" y="251460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Answers in Arabic, Spanish or Bengali; label quotes stay exact</a:t>
            </a:r>
            <a:endParaRPr lang="en-US" sz="1400" dirty="0"/>
          </a:p>
        </p:txBody>
      </p:sp>
      <p:sp>
        <p:nvSpPr>
          <p:cNvPr id="18" name="anim|4|zoom|click|"/>
          <p:cNvSpPr/>
          <p:nvPr/>
        </p:nvSpPr>
        <p:spPr>
          <a:xfrm>
            <a:off x="8970264" y="1463040"/>
            <a:ext cx="2633472" cy="2148840"/>
          </a:xfrm>
          <a:prstGeom prst="roundRect">
            <a:avLst>
              <a:gd name="adj" fmla="val 5106"/>
            </a:avLst>
          </a:prstGeom>
          <a:solidFill>
            <a:srgbClr val="2B2F31"/>
          </a:solidFill>
          <a:ln w="9525">
            <a:solidFill>
              <a:srgbClr val="45504C"/>
            </a:solidFill>
            <a:prstDash val="solid"/>
          </a:ln>
        </p:spPr>
      </p:sp>
      <p:sp>
        <p:nvSpPr>
          <p:cNvPr id="19" name="anim|4|zoom|with|"/>
          <p:cNvSpPr/>
          <p:nvPr/>
        </p:nvSpPr>
        <p:spPr>
          <a:xfrm>
            <a:off x="9198864" y="1691640"/>
            <a:ext cx="685800" cy="685800"/>
          </a:xfrm>
          <a:prstGeom prst="ellipse">
            <a:avLst/>
          </a:prstGeom>
          <a:solidFill>
            <a:srgbClr val="3A3458"/>
          </a:solidFill>
          <a:ln/>
        </p:spPr>
      </p:sp>
      <p:pic>
        <p:nvPicPr>
          <p:cNvPr id="20" name="anim|4|zoom|with|" descr="preencoded.png"/>
          <p:cNvPicPr>
            <a:picLocks noChangeAspect="1"/>
          </p:cNvPicPr>
          <p:nvPr/>
        </p:nvPicPr>
        <p:blipFill>
          <a:blip r:embed="rId6"/>
          <a:stretch>
            <a:fillRect/>
          </a:stretch>
        </p:blipFill>
        <p:spPr>
          <a:xfrm>
            <a:off x="9349740" y="1842516"/>
            <a:ext cx="384048" cy="384048"/>
          </a:xfrm>
          <a:prstGeom prst="rect">
            <a:avLst/>
          </a:prstGeom>
        </p:spPr>
      </p:pic>
      <p:sp>
        <p:nvSpPr>
          <p:cNvPr id="21" name="anim|4|zoom|with|"/>
          <p:cNvSpPr txBox="1"/>
          <p:nvPr/>
        </p:nvSpPr>
        <p:spPr>
          <a:xfrm>
            <a:off x="9976104" y="178308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Voice reports</a:t>
            </a:r>
            <a:endParaRPr lang="en-US" sz="1700" dirty="0"/>
          </a:p>
        </p:txBody>
      </p:sp>
      <p:sp>
        <p:nvSpPr>
          <p:cNvPr id="22" name="anim|4|zoom|with|"/>
          <p:cNvSpPr txBox="1"/>
          <p:nvPr/>
        </p:nvSpPr>
        <p:spPr>
          <a:xfrm>
            <a:off x="9198864" y="251460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"Left it in the car for two hours" becomes readings</a:t>
            </a:r>
            <a:endParaRPr lang="en-US" sz="1400" dirty="0"/>
          </a:p>
        </p:txBody>
      </p:sp>
      <p:sp>
        <p:nvSpPr>
          <p:cNvPr id="23" name="anim|5|zoom|click|"/>
          <p:cNvSpPr/>
          <p:nvPr/>
        </p:nvSpPr>
        <p:spPr>
          <a:xfrm>
            <a:off x="548640" y="3840480"/>
            <a:ext cx="2633472" cy="2148840"/>
          </a:xfrm>
          <a:prstGeom prst="roundRect">
            <a:avLst>
              <a:gd name="adj" fmla="val 5106"/>
            </a:avLst>
          </a:prstGeom>
          <a:solidFill>
            <a:srgbClr val="2B2F31"/>
          </a:solidFill>
          <a:ln w="9525">
            <a:solidFill>
              <a:srgbClr val="45504C"/>
            </a:solidFill>
            <a:prstDash val="solid"/>
          </a:ln>
        </p:spPr>
      </p:sp>
      <p:sp>
        <p:nvSpPr>
          <p:cNvPr id="24" name="anim|5|zoom|with|"/>
          <p:cNvSpPr/>
          <p:nvPr/>
        </p:nvSpPr>
        <p:spPr>
          <a:xfrm>
            <a:off x="777240" y="4069080"/>
            <a:ext cx="685800" cy="685800"/>
          </a:xfrm>
          <a:prstGeom prst="ellipse">
            <a:avLst/>
          </a:prstGeom>
          <a:solidFill>
            <a:srgbClr val="3A3458"/>
          </a:solidFill>
          <a:ln/>
        </p:spPr>
      </p:sp>
      <p:pic>
        <p:nvPicPr>
          <p:cNvPr id="25" name="anim|5|zoom|with|" descr="preencoded.png"/>
          <p:cNvPicPr>
            <a:picLocks noChangeAspect="1"/>
          </p:cNvPicPr>
          <p:nvPr/>
        </p:nvPicPr>
        <p:blipFill>
          <a:blip r:embed="rId7"/>
          <a:stretch>
            <a:fillRect/>
          </a:stretch>
        </p:blipFill>
        <p:spPr>
          <a:xfrm>
            <a:off x="928116" y="4219956"/>
            <a:ext cx="384048" cy="384048"/>
          </a:xfrm>
          <a:prstGeom prst="rect">
            <a:avLst/>
          </a:prstGeom>
        </p:spPr>
      </p:pic>
      <p:sp>
        <p:nvSpPr>
          <p:cNvPr id="26" name="anim|5|zoom|with|"/>
          <p:cNvSpPr txBox="1"/>
          <p:nvPr/>
        </p:nvSpPr>
        <p:spPr>
          <a:xfrm>
            <a:off x="1554480" y="416052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Photo check</a:t>
            </a:r>
            <a:endParaRPr lang="en-US" sz="1700" dirty="0"/>
          </a:p>
        </p:txBody>
      </p:sp>
      <p:sp>
        <p:nvSpPr>
          <p:cNvPr id="27" name="anim|5|zoom|with|"/>
          <p:cNvSpPr txBox="1"/>
          <p:nvPr/>
        </p:nvSpPr>
        <p:spPr>
          <a:xfrm>
            <a:off x="777240" y="489204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Compares the vial with the label's visual warnings</a:t>
            </a:r>
            <a:endParaRPr lang="en-US" sz="1400" dirty="0"/>
          </a:p>
        </p:txBody>
      </p:sp>
      <p:sp>
        <p:nvSpPr>
          <p:cNvPr id="28" name="anim|6|zoom|click|"/>
          <p:cNvSpPr/>
          <p:nvPr/>
        </p:nvSpPr>
        <p:spPr>
          <a:xfrm>
            <a:off x="3355848" y="3840480"/>
            <a:ext cx="2633472" cy="2148840"/>
          </a:xfrm>
          <a:prstGeom prst="roundRect">
            <a:avLst>
              <a:gd name="adj" fmla="val 5106"/>
            </a:avLst>
          </a:prstGeom>
          <a:solidFill>
            <a:srgbClr val="2B2F31"/>
          </a:solidFill>
          <a:ln w="9525">
            <a:solidFill>
              <a:srgbClr val="45504C"/>
            </a:solidFill>
            <a:prstDash val="solid"/>
          </a:ln>
        </p:spPr>
      </p:sp>
      <p:sp>
        <p:nvSpPr>
          <p:cNvPr id="29" name="anim|6|zoom|with|"/>
          <p:cNvSpPr/>
          <p:nvPr/>
        </p:nvSpPr>
        <p:spPr>
          <a:xfrm>
            <a:off x="3584448" y="4069080"/>
            <a:ext cx="685800" cy="685800"/>
          </a:xfrm>
          <a:prstGeom prst="ellipse">
            <a:avLst/>
          </a:prstGeom>
          <a:solidFill>
            <a:srgbClr val="3A3458"/>
          </a:solidFill>
          <a:ln/>
        </p:spPr>
      </p:sp>
      <p:pic>
        <p:nvPicPr>
          <p:cNvPr id="30" name="anim|6|zoom|with|" descr="preencoded.png"/>
          <p:cNvPicPr>
            <a:picLocks noChangeAspect="1"/>
          </p:cNvPicPr>
          <p:nvPr/>
        </p:nvPicPr>
        <p:blipFill>
          <a:blip r:embed="rId8"/>
          <a:stretch>
            <a:fillRect/>
          </a:stretch>
        </p:blipFill>
        <p:spPr>
          <a:xfrm>
            <a:off x="3735324" y="4219956"/>
            <a:ext cx="384048" cy="384048"/>
          </a:xfrm>
          <a:prstGeom prst="rect">
            <a:avLst/>
          </a:prstGeom>
        </p:spPr>
      </p:pic>
      <p:sp>
        <p:nvSpPr>
          <p:cNvPr id="31" name="anim|6|zoom|with|"/>
          <p:cNvSpPr txBox="1"/>
          <p:nvPr/>
        </p:nvSpPr>
        <p:spPr>
          <a:xfrm>
            <a:off x="4361688" y="416052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Safe to use?</a:t>
            </a:r>
            <a:endParaRPr lang="en-US" sz="1700" dirty="0"/>
          </a:p>
        </p:txBody>
      </p:sp>
      <p:sp>
        <p:nvSpPr>
          <p:cNvPr id="32" name="anim|6|zoom|with|"/>
          <p:cNvSpPr txBox="1"/>
          <p:nvPr/>
        </p:nvSpPr>
        <p:spPr>
          <a:xfrm>
            <a:off x="3584448" y="489204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A verdict grounded in your data that cites the label</a:t>
            </a:r>
            <a:endParaRPr lang="en-US" sz="1400" dirty="0"/>
          </a:p>
        </p:txBody>
      </p:sp>
      <p:sp>
        <p:nvSpPr>
          <p:cNvPr id="33" name="anim|7|zoom|click|"/>
          <p:cNvSpPr/>
          <p:nvPr/>
        </p:nvSpPr>
        <p:spPr>
          <a:xfrm>
            <a:off x="6163056" y="3840480"/>
            <a:ext cx="2633472" cy="2148840"/>
          </a:xfrm>
          <a:prstGeom prst="roundRect">
            <a:avLst>
              <a:gd name="adj" fmla="val 5106"/>
            </a:avLst>
          </a:prstGeom>
          <a:solidFill>
            <a:srgbClr val="2B2F31"/>
          </a:solidFill>
          <a:ln w="9525">
            <a:solidFill>
              <a:srgbClr val="45504C"/>
            </a:solidFill>
            <a:prstDash val="solid"/>
          </a:ln>
        </p:spPr>
      </p:sp>
      <p:sp>
        <p:nvSpPr>
          <p:cNvPr id="34" name="anim|7|zoom|with|"/>
          <p:cNvSpPr/>
          <p:nvPr/>
        </p:nvSpPr>
        <p:spPr>
          <a:xfrm>
            <a:off x="6391656" y="4069080"/>
            <a:ext cx="685800" cy="685800"/>
          </a:xfrm>
          <a:prstGeom prst="ellipse">
            <a:avLst/>
          </a:prstGeom>
          <a:solidFill>
            <a:srgbClr val="3A3458"/>
          </a:solidFill>
          <a:ln/>
        </p:spPr>
      </p:sp>
      <p:pic>
        <p:nvPicPr>
          <p:cNvPr id="35" name="anim|7|zoom|with|" descr="preencoded.png"/>
          <p:cNvPicPr>
            <a:picLocks noChangeAspect="1"/>
          </p:cNvPicPr>
          <p:nvPr/>
        </p:nvPicPr>
        <p:blipFill>
          <a:blip r:embed="rId9"/>
          <a:stretch>
            <a:fillRect/>
          </a:stretch>
        </p:blipFill>
        <p:spPr>
          <a:xfrm>
            <a:off x="6542532" y="4219956"/>
            <a:ext cx="384048" cy="384048"/>
          </a:xfrm>
          <a:prstGeom prst="rect">
            <a:avLst/>
          </a:prstGeom>
        </p:spPr>
      </p:pic>
      <p:sp>
        <p:nvSpPr>
          <p:cNvPr id="36" name="anim|7|zoom|with|"/>
          <p:cNvSpPr txBox="1"/>
          <p:nvPr/>
        </p:nvSpPr>
        <p:spPr>
          <a:xfrm>
            <a:off x="7168896" y="416052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Ask LIFELOG</a:t>
            </a:r>
            <a:endParaRPr lang="en-US" sz="1700" dirty="0"/>
          </a:p>
        </p:txBody>
      </p:sp>
      <p:sp>
        <p:nvSpPr>
          <p:cNvPr id="37" name="anim|7|zoom|with|"/>
          <p:cNvSpPr txBox="1"/>
          <p:nvPr/>
        </p:nvSpPr>
        <p:spPr>
          <a:xfrm>
            <a:off x="6391656" y="489204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Function calling over five live data tools</a:t>
            </a:r>
            <a:endParaRPr lang="en-US" sz="1400" dirty="0"/>
          </a:p>
        </p:txBody>
      </p:sp>
      <p:sp>
        <p:nvSpPr>
          <p:cNvPr id="38" name="anim|8|zoom|click|"/>
          <p:cNvSpPr/>
          <p:nvPr/>
        </p:nvSpPr>
        <p:spPr>
          <a:xfrm>
            <a:off x="8970264" y="3840480"/>
            <a:ext cx="2633472" cy="2148840"/>
          </a:xfrm>
          <a:prstGeom prst="roundRect">
            <a:avLst>
              <a:gd name="adj" fmla="val 5106"/>
            </a:avLst>
          </a:prstGeom>
          <a:solidFill>
            <a:srgbClr val="2B2F31"/>
          </a:solidFill>
          <a:ln w="9525">
            <a:solidFill>
              <a:srgbClr val="45504C"/>
            </a:solidFill>
            <a:prstDash val="solid"/>
          </a:ln>
        </p:spPr>
      </p:sp>
      <p:sp>
        <p:nvSpPr>
          <p:cNvPr id="39" name="anim|8|zoom|with|"/>
          <p:cNvSpPr/>
          <p:nvPr/>
        </p:nvSpPr>
        <p:spPr>
          <a:xfrm>
            <a:off x="9198864" y="4069080"/>
            <a:ext cx="685800" cy="685800"/>
          </a:xfrm>
          <a:prstGeom prst="ellipse">
            <a:avLst/>
          </a:prstGeom>
          <a:solidFill>
            <a:srgbClr val="3A3458"/>
          </a:solidFill>
          <a:ln/>
        </p:spPr>
      </p:sp>
      <p:pic>
        <p:nvPicPr>
          <p:cNvPr id="40" name="anim|8|zoom|with|" descr="preencoded.png"/>
          <p:cNvPicPr>
            <a:picLocks noChangeAspect="1"/>
          </p:cNvPicPr>
          <p:nvPr/>
        </p:nvPicPr>
        <p:blipFill>
          <a:blip r:embed="rId10"/>
          <a:stretch>
            <a:fillRect/>
          </a:stretch>
        </p:blipFill>
        <p:spPr>
          <a:xfrm>
            <a:off x="9349740" y="4219956"/>
            <a:ext cx="384048" cy="384048"/>
          </a:xfrm>
          <a:prstGeom prst="rect">
            <a:avLst/>
          </a:prstGeom>
        </p:spPr>
      </p:pic>
      <p:sp>
        <p:nvSpPr>
          <p:cNvPr id="41" name="anim|8|zoom|with|"/>
          <p:cNvSpPr txBox="1"/>
          <p:nvPr/>
        </p:nvSpPr>
        <p:spPr>
          <a:xfrm>
            <a:off x="9976104" y="4160520"/>
            <a:ext cx="1554480" cy="54864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Rescue and letters</a:t>
            </a:r>
            <a:endParaRPr lang="en-US" sz="1700" dirty="0"/>
          </a:p>
        </p:txBody>
      </p:sp>
      <p:sp>
        <p:nvSpPr>
          <p:cNvPr id="42" name="anim|8|zoom|with|"/>
          <p:cNvSpPr txBox="1"/>
          <p:nvPr/>
        </p:nvSpPr>
        <p:spPr>
          <a:xfrm>
            <a:off x="9198864" y="4892040"/>
            <a:ext cx="2240280" cy="9601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Outage dispatch texts and insurance refill letters</a:t>
            </a:r>
            <a:endParaRPr lang="en-US" sz="1400" dirty="0"/>
          </a:p>
        </p:txBody>
      </p:sp>
      <p:sp>
        <p:nvSpPr>
          <p:cNvPr id="4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600" fill="hold"/>
                                        <p:tgtEl>
                                          <p:spTgt spid="3"/>
                                        </p:tgtEl>
                                        <p:attrNameLst>
                                          <p:attrName>ppt_w</p:attrName>
                                        </p:attrNameLst>
                                      </p:cBhvr>
                                      <p:tavLst>
                                        <p:tav tm="0">
                                          <p:val>
                                            <p:fltVal val="0"/>
                                          </p:val>
                                        </p:tav>
                                        <p:tav tm="100000">
                                          <p:val>
                                            <p:strVal val="#ppt_w"/>
                                          </p:val>
                                        </p:tav>
                                      </p:tavLst>
                                    </p:anim>
                                    <p:anim calcmode="lin" valueType="num">
                                      <p:cBhvr>
                                        <p:cTn id="8" dur="600" fill="hold"/>
                                        <p:tgtEl>
                                          <p:spTgt spid="3"/>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600" fill="hold"/>
                                        <p:tgtEl>
                                          <p:spTgt spid="4"/>
                                        </p:tgtEl>
                                        <p:attrNameLst>
                                          <p:attrName>ppt_w</p:attrName>
                                        </p:attrNameLst>
                                      </p:cBhvr>
                                      <p:tavLst>
                                        <p:tav tm="0">
                                          <p:val>
                                            <p:fltVal val="0"/>
                                          </p:val>
                                        </p:tav>
                                        <p:tav tm="100000">
                                          <p:val>
                                            <p:strVal val="#ppt_w"/>
                                          </p:val>
                                        </p:tav>
                                      </p:tavLst>
                                    </p:anim>
                                    <p:anim calcmode="lin" valueType="num">
                                      <p:cBhvr>
                                        <p:cTn id="12" dur="600" fill="hold"/>
                                        <p:tgtEl>
                                          <p:spTgt spid="4"/>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600" fill="hold"/>
                                        <p:tgtEl>
                                          <p:spTgt spid="5"/>
                                        </p:tgtEl>
                                        <p:attrNameLst>
                                          <p:attrName>ppt_w</p:attrName>
                                        </p:attrNameLst>
                                      </p:cBhvr>
                                      <p:tavLst>
                                        <p:tav tm="0">
                                          <p:val>
                                            <p:fltVal val="0"/>
                                          </p:val>
                                        </p:tav>
                                        <p:tav tm="100000">
                                          <p:val>
                                            <p:strVal val="#ppt_w"/>
                                          </p:val>
                                        </p:tav>
                                      </p:tavLst>
                                    </p:anim>
                                    <p:anim calcmode="lin" valueType="num">
                                      <p:cBhvr>
                                        <p:cTn id="16" dur="600" fill="hold"/>
                                        <p:tgtEl>
                                          <p:spTgt spid="5"/>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600" fill="hold"/>
                                        <p:tgtEl>
                                          <p:spTgt spid="6"/>
                                        </p:tgtEl>
                                        <p:attrNameLst>
                                          <p:attrName>ppt_w</p:attrName>
                                        </p:attrNameLst>
                                      </p:cBhvr>
                                      <p:tavLst>
                                        <p:tav tm="0">
                                          <p:val>
                                            <p:fltVal val="0"/>
                                          </p:val>
                                        </p:tav>
                                        <p:tav tm="100000">
                                          <p:val>
                                            <p:strVal val="#ppt_w"/>
                                          </p:val>
                                        </p:tav>
                                      </p:tavLst>
                                    </p:anim>
                                    <p:anim calcmode="lin" valueType="num">
                                      <p:cBhvr>
                                        <p:cTn id="20" dur="600" fill="hold"/>
                                        <p:tgtEl>
                                          <p:spTgt spid="6"/>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600" fill="hold"/>
                                        <p:tgtEl>
                                          <p:spTgt spid="7"/>
                                        </p:tgtEl>
                                        <p:attrNameLst>
                                          <p:attrName>ppt_w</p:attrName>
                                        </p:attrNameLst>
                                      </p:cBhvr>
                                      <p:tavLst>
                                        <p:tav tm="0">
                                          <p:val>
                                            <p:fltVal val="0"/>
                                          </p:val>
                                        </p:tav>
                                        <p:tav tm="100000">
                                          <p:val>
                                            <p:strVal val="#ppt_w"/>
                                          </p:val>
                                        </p:tav>
                                      </p:tavLst>
                                    </p:anim>
                                    <p:anim calcmode="lin" valueType="num">
                                      <p:cBhvr>
                                        <p:cTn id="24" dur="6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600" fill="hold"/>
                                        <p:tgtEl>
                                          <p:spTgt spid="8"/>
                                        </p:tgtEl>
                                        <p:attrNameLst>
                                          <p:attrName>ppt_w</p:attrName>
                                        </p:attrNameLst>
                                      </p:cBhvr>
                                      <p:tavLst>
                                        <p:tav tm="0">
                                          <p:val>
                                            <p:fltVal val="0"/>
                                          </p:val>
                                        </p:tav>
                                        <p:tav tm="100000">
                                          <p:val>
                                            <p:strVal val="#ppt_w"/>
                                          </p:val>
                                        </p:tav>
                                      </p:tavLst>
                                    </p:anim>
                                    <p:anim calcmode="lin" valueType="num">
                                      <p:cBhvr>
                                        <p:cTn id="30" dur="600" fill="hold"/>
                                        <p:tgtEl>
                                          <p:spTgt spid="8"/>
                                        </p:tgtEl>
                                        <p:attrNameLst>
                                          <p:attrName>ppt_h</p:attrName>
                                        </p:attrNameLst>
                                      </p:cBhvr>
                                      <p:tavLst>
                                        <p:tav tm="0">
                                          <p:val>
                                            <p:fltVal val="0"/>
                                          </p:val>
                                        </p:tav>
                                        <p:tav tm="100000">
                                          <p:val>
                                            <p:strVal val="#ppt_h"/>
                                          </p:val>
                                        </p:tav>
                                      </p:tavLst>
                                    </p:anim>
                                  </p:childTnLst>
                                </p:cTn>
                              </p:par>
                              <p:par>
                                <p:cTn id="31" presetID="23" presetClass="entr" presetSubtype="16"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600" fill="hold"/>
                                        <p:tgtEl>
                                          <p:spTgt spid="9"/>
                                        </p:tgtEl>
                                        <p:attrNameLst>
                                          <p:attrName>ppt_w</p:attrName>
                                        </p:attrNameLst>
                                      </p:cBhvr>
                                      <p:tavLst>
                                        <p:tav tm="0">
                                          <p:val>
                                            <p:fltVal val="0"/>
                                          </p:val>
                                        </p:tav>
                                        <p:tav tm="100000">
                                          <p:val>
                                            <p:strVal val="#ppt_w"/>
                                          </p:val>
                                        </p:tav>
                                      </p:tavLst>
                                    </p:anim>
                                    <p:anim calcmode="lin" valueType="num">
                                      <p:cBhvr>
                                        <p:cTn id="34" dur="600" fill="hold"/>
                                        <p:tgtEl>
                                          <p:spTgt spid="9"/>
                                        </p:tgtEl>
                                        <p:attrNameLst>
                                          <p:attrName>ppt_h</p:attrName>
                                        </p:attrNameLst>
                                      </p:cBhvr>
                                      <p:tavLst>
                                        <p:tav tm="0">
                                          <p:val>
                                            <p:flt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600" fill="hold"/>
                                        <p:tgtEl>
                                          <p:spTgt spid="10"/>
                                        </p:tgtEl>
                                        <p:attrNameLst>
                                          <p:attrName>ppt_w</p:attrName>
                                        </p:attrNameLst>
                                      </p:cBhvr>
                                      <p:tavLst>
                                        <p:tav tm="0">
                                          <p:val>
                                            <p:fltVal val="0"/>
                                          </p:val>
                                        </p:tav>
                                        <p:tav tm="100000">
                                          <p:val>
                                            <p:strVal val="#ppt_w"/>
                                          </p:val>
                                        </p:tav>
                                      </p:tavLst>
                                    </p:anim>
                                    <p:anim calcmode="lin" valueType="num">
                                      <p:cBhvr>
                                        <p:cTn id="38" dur="600" fill="hold"/>
                                        <p:tgtEl>
                                          <p:spTgt spid="10"/>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600" fill="hold"/>
                                        <p:tgtEl>
                                          <p:spTgt spid="11"/>
                                        </p:tgtEl>
                                        <p:attrNameLst>
                                          <p:attrName>ppt_w</p:attrName>
                                        </p:attrNameLst>
                                      </p:cBhvr>
                                      <p:tavLst>
                                        <p:tav tm="0">
                                          <p:val>
                                            <p:fltVal val="0"/>
                                          </p:val>
                                        </p:tav>
                                        <p:tav tm="100000">
                                          <p:val>
                                            <p:strVal val="#ppt_w"/>
                                          </p:val>
                                        </p:tav>
                                      </p:tavLst>
                                    </p:anim>
                                    <p:anim calcmode="lin" valueType="num">
                                      <p:cBhvr>
                                        <p:cTn id="42" dur="600" fill="hold"/>
                                        <p:tgtEl>
                                          <p:spTgt spid="11"/>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600" fill="hold"/>
                                        <p:tgtEl>
                                          <p:spTgt spid="12"/>
                                        </p:tgtEl>
                                        <p:attrNameLst>
                                          <p:attrName>ppt_w</p:attrName>
                                        </p:attrNameLst>
                                      </p:cBhvr>
                                      <p:tavLst>
                                        <p:tav tm="0">
                                          <p:val>
                                            <p:fltVal val="0"/>
                                          </p:val>
                                        </p:tav>
                                        <p:tav tm="100000">
                                          <p:val>
                                            <p:strVal val="#ppt_w"/>
                                          </p:val>
                                        </p:tav>
                                      </p:tavLst>
                                    </p:anim>
                                    <p:anim calcmode="lin" valueType="num">
                                      <p:cBhvr>
                                        <p:cTn id="46" dur="6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600" fill="hold"/>
                                        <p:tgtEl>
                                          <p:spTgt spid="13"/>
                                        </p:tgtEl>
                                        <p:attrNameLst>
                                          <p:attrName>ppt_w</p:attrName>
                                        </p:attrNameLst>
                                      </p:cBhvr>
                                      <p:tavLst>
                                        <p:tav tm="0">
                                          <p:val>
                                            <p:fltVal val="0"/>
                                          </p:val>
                                        </p:tav>
                                        <p:tav tm="100000">
                                          <p:val>
                                            <p:strVal val="#ppt_w"/>
                                          </p:val>
                                        </p:tav>
                                      </p:tavLst>
                                    </p:anim>
                                    <p:anim calcmode="lin" valueType="num">
                                      <p:cBhvr>
                                        <p:cTn id="52" dur="600" fill="hold"/>
                                        <p:tgtEl>
                                          <p:spTgt spid="13"/>
                                        </p:tgtEl>
                                        <p:attrNameLst>
                                          <p:attrName>ppt_h</p:attrName>
                                        </p:attrNameLst>
                                      </p:cBhvr>
                                      <p:tavLst>
                                        <p:tav tm="0">
                                          <p:val>
                                            <p:fltVal val="0"/>
                                          </p:val>
                                        </p:tav>
                                        <p:tav tm="100000">
                                          <p:val>
                                            <p:strVal val="#ppt_h"/>
                                          </p:val>
                                        </p:tav>
                                      </p:tavLst>
                                    </p:anim>
                                  </p:childTnLst>
                                </p:cTn>
                              </p:par>
                              <p:par>
                                <p:cTn id="53" presetID="23" presetClass="entr" presetSubtype="16"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600" fill="hold"/>
                                        <p:tgtEl>
                                          <p:spTgt spid="14"/>
                                        </p:tgtEl>
                                        <p:attrNameLst>
                                          <p:attrName>ppt_w</p:attrName>
                                        </p:attrNameLst>
                                      </p:cBhvr>
                                      <p:tavLst>
                                        <p:tav tm="0">
                                          <p:val>
                                            <p:fltVal val="0"/>
                                          </p:val>
                                        </p:tav>
                                        <p:tav tm="100000">
                                          <p:val>
                                            <p:strVal val="#ppt_w"/>
                                          </p:val>
                                        </p:tav>
                                      </p:tavLst>
                                    </p:anim>
                                    <p:anim calcmode="lin" valueType="num">
                                      <p:cBhvr>
                                        <p:cTn id="56" dur="600" fill="hold"/>
                                        <p:tgtEl>
                                          <p:spTgt spid="14"/>
                                        </p:tgtEl>
                                        <p:attrNameLst>
                                          <p:attrName>ppt_h</p:attrName>
                                        </p:attrNameLst>
                                      </p:cBhvr>
                                      <p:tavLst>
                                        <p:tav tm="0">
                                          <p:val>
                                            <p:fltVal val="0"/>
                                          </p:val>
                                        </p:tav>
                                        <p:tav tm="100000">
                                          <p:val>
                                            <p:strVal val="#ppt_h"/>
                                          </p:val>
                                        </p:tav>
                                      </p:tavLst>
                                    </p:anim>
                                  </p:childTnLst>
                                </p:cTn>
                              </p:par>
                              <p:par>
                                <p:cTn id="57" presetID="23" presetClass="entr" presetSubtype="16"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600" fill="hold"/>
                                        <p:tgtEl>
                                          <p:spTgt spid="15"/>
                                        </p:tgtEl>
                                        <p:attrNameLst>
                                          <p:attrName>ppt_w</p:attrName>
                                        </p:attrNameLst>
                                      </p:cBhvr>
                                      <p:tavLst>
                                        <p:tav tm="0">
                                          <p:val>
                                            <p:fltVal val="0"/>
                                          </p:val>
                                        </p:tav>
                                        <p:tav tm="100000">
                                          <p:val>
                                            <p:strVal val="#ppt_w"/>
                                          </p:val>
                                        </p:tav>
                                      </p:tavLst>
                                    </p:anim>
                                    <p:anim calcmode="lin" valueType="num">
                                      <p:cBhvr>
                                        <p:cTn id="60" dur="600" fill="hold"/>
                                        <p:tgtEl>
                                          <p:spTgt spid="15"/>
                                        </p:tgtEl>
                                        <p:attrNameLst>
                                          <p:attrName>ppt_h</p:attrName>
                                        </p:attrNameLst>
                                      </p:cBhvr>
                                      <p:tavLst>
                                        <p:tav tm="0">
                                          <p:val>
                                            <p:fltVal val="0"/>
                                          </p:val>
                                        </p:tav>
                                        <p:tav tm="100000">
                                          <p:val>
                                            <p:strVal val="#ppt_h"/>
                                          </p:val>
                                        </p:tav>
                                      </p:tavLst>
                                    </p:anim>
                                  </p:childTnLst>
                                </p:cTn>
                              </p:par>
                              <p:par>
                                <p:cTn id="61" presetID="2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600" fill="hold"/>
                                        <p:tgtEl>
                                          <p:spTgt spid="16"/>
                                        </p:tgtEl>
                                        <p:attrNameLst>
                                          <p:attrName>ppt_w</p:attrName>
                                        </p:attrNameLst>
                                      </p:cBhvr>
                                      <p:tavLst>
                                        <p:tav tm="0">
                                          <p:val>
                                            <p:fltVal val="0"/>
                                          </p:val>
                                        </p:tav>
                                        <p:tav tm="100000">
                                          <p:val>
                                            <p:strVal val="#ppt_w"/>
                                          </p:val>
                                        </p:tav>
                                      </p:tavLst>
                                    </p:anim>
                                    <p:anim calcmode="lin" valueType="num">
                                      <p:cBhvr>
                                        <p:cTn id="64" dur="600" fill="hold"/>
                                        <p:tgtEl>
                                          <p:spTgt spid="16"/>
                                        </p:tgtEl>
                                        <p:attrNameLst>
                                          <p:attrName>ppt_h</p:attrName>
                                        </p:attrNameLst>
                                      </p:cBhvr>
                                      <p:tavLst>
                                        <p:tav tm="0">
                                          <p:val>
                                            <p:fltVal val="0"/>
                                          </p:val>
                                        </p:tav>
                                        <p:tav tm="100000">
                                          <p:val>
                                            <p:strVal val="#ppt_h"/>
                                          </p:val>
                                        </p:tav>
                                      </p:tavLst>
                                    </p:anim>
                                  </p:childTnLst>
                                </p:cTn>
                              </p:par>
                              <p:par>
                                <p:cTn id="65" presetID="2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600" fill="hold"/>
                                        <p:tgtEl>
                                          <p:spTgt spid="17"/>
                                        </p:tgtEl>
                                        <p:attrNameLst>
                                          <p:attrName>ppt_w</p:attrName>
                                        </p:attrNameLst>
                                      </p:cBhvr>
                                      <p:tavLst>
                                        <p:tav tm="0">
                                          <p:val>
                                            <p:fltVal val="0"/>
                                          </p:val>
                                        </p:tav>
                                        <p:tav tm="100000">
                                          <p:val>
                                            <p:strVal val="#ppt_w"/>
                                          </p:val>
                                        </p:tav>
                                      </p:tavLst>
                                    </p:anim>
                                    <p:anim calcmode="lin" valueType="num">
                                      <p:cBhvr>
                                        <p:cTn id="68" dur="6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p:cTn id="73" dur="600" fill="hold"/>
                                        <p:tgtEl>
                                          <p:spTgt spid="18"/>
                                        </p:tgtEl>
                                        <p:attrNameLst>
                                          <p:attrName>ppt_w</p:attrName>
                                        </p:attrNameLst>
                                      </p:cBhvr>
                                      <p:tavLst>
                                        <p:tav tm="0">
                                          <p:val>
                                            <p:fltVal val="0"/>
                                          </p:val>
                                        </p:tav>
                                        <p:tav tm="100000">
                                          <p:val>
                                            <p:strVal val="#ppt_w"/>
                                          </p:val>
                                        </p:tav>
                                      </p:tavLst>
                                    </p:anim>
                                    <p:anim calcmode="lin" valueType="num">
                                      <p:cBhvr>
                                        <p:cTn id="74" dur="600" fill="hold"/>
                                        <p:tgtEl>
                                          <p:spTgt spid="18"/>
                                        </p:tgtEl>
                                        <p:attrNameLst>
                                          <p:attrName>ppt_h</p:attrName>
                                        </p:attrNameLst>
                                      </p:cBhvr>
                                      <p:tavLst>
                                        <p:tav tm="0">
                                          <p:val>
                                            <p:fltVal val="0"/>
                                          </p:val>
                                        </p:tav>
                                        <p:tav tm="100000">
                                          <p:val>
                                            <p:strVal val="#ppt_h"/>
                                          </p:val>
                                        </p:tav>
                                      </p:tavLst>
                                    </p:anim>
                                  </p:childTnLst>
                                </p:cTn>
                              </p:par>
                              <p:par>
                                <p:cTn id="75" presetID="23" presetClass="entr" presetSubtype="16"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600" fill="hold"/>
                                        <p:tgtEl>
                                          <p:spTgt spid="19"/>
                                        </p:tgtEl>
                                        <p:attrNameLst>
                                          <p:attrName>ppt_w</p:attrName>
                                        </p:attrNameLst>
                                      </p:cBhvr>
                                      <p:tavLst>
                                        <p:tav tm="0">
                                          <p:val>
                                            <p:fltVal val="0"/>
                                          </p:val>
                                        </p:tav>
                                        <p:tav tm="100000">
                                          <p:val>
                                            <p:strVal val="#ppt_w"/>
                                          </p:val>
                                        </p:tav>
                                      </p:tavLst>
                                    </p:anim>
                                    <p:anim calcmode="lin" valueType="num">
                                      <p:cBhvr>
                                        <p:cTn id="78" dur="600" fill="hold"/>
                                        <p:tgtEl>
                                          <p:spTgt spid="19"/>
                                        </p:tgtEl>
                                        <p:attrNameLst>
                                          <p:attrName>ppt_h</p:attrName>
                                        </p:attrNameLst>
                                      </p:cBhvr>
                                      <p:tavLst>
                                        <p:tav tm="0">
                                          <p:val>
                                            <p:fltVal val="0"/>
                                          </p:val>
                                        </p:tav>
                                        <p:tav tm="100000">
                                          <p:val>
                                            <p:strVal val="#ppt_h"/>
                                          </p:val>
                                        </p:tav>
                                      </p:tavLst>
                                    </p:anim>
                                  </p:childTnLst>
                                </p:cTn>
                              </p:par>
                              <p:par>
                                <p:cTn id="79" presetID="23" presetClass="entr" presetSubtype="16" fill="hold" nodeType="with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p:cTn id="81" dur="600" fill="hold"/>
                                        <p:tgtEl>
                                          <p:spTgt spid="20"/>
                                        </p:tgtEl>
                                        <p:attrNameLst>
                                          <p:attrName>ppt_w</p:attrName>
                                        </p:attrNameLst>
                                      </p:cBhvr>
                                      <p:tavLst>
                                        <p:tav tm="0">
                                          <p:val>
                                            <p:fltVal val="0"/>
                                          </p:val>
                                        </p:tav>
                                        <p:tav tm="100000">
                                          <p:val>
                                            <p:strVal val="#ppt_w"/>
                                          </p:val>
                                        </p:tav>
                                      </p:tavLst>
                                    </p:anim>
                                    <p:anim calcmode="lin" valueType="num">
                                      <p:cBhvr>
                                        <p:cTn id="82" dur="600" fill="hold"/>
                                        <p:tgtEl>
                                          <p:spTgt spid="20"/>
                                        </p:tgtEl>
                                        <p:attrNameLst>
                                          <p:attrName>ppt_h</p:attrName>
                                        </p:attrNameLst>
                                      </p:cBhvr>
                                      <p:tavLst>
                                        <p:tav tm="0">
                                          <p:val>
                                            <p:fltVal val="0"/>
                                          </p:val>
                                        </p:tav>
                                        <p:tav tm="100000">
                                          <p:val>
                                            <p:strVal val="#ppt_h"/>
                                          </p:val>
                                        </p:tav>
                                      </p:tavLst>
                                    </p:anim>
                                  </p:childTnLst>
                                </p:cTn>
                              </p:par>
                              <p:par>
                                <p:cTn id="83" presetID="23" presetClass="entr" presetSubtype="16"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p:cTn id="85" dur="600" fill="hold"/>
                                        <p:tgtEl>
                                          <p:spTgt spid="21"/>
                                        </p:tgtEl>
                                        <p:attrNameLst>
                                          <p:attrName>ppt_w</p:attrName>
                                        </p:attrNameLst>
                                      </p:cBhvr>
                                      <p:tavLst>
                                        <p:tav tm="0">
                                          <p:val>
                                            <p:fltVal val="0"/>
                                          </p:val>
                                        </p:tav>
                                        <p:tav tm="100000">
                                          <p:val>
                                            <p:strVal val="#ppt_w"/>
                                          </p:val>
                                        </p:tav>
                                      </p:tavLst>
                                    </p:anim>
                                    <p:anim calcmode="lin" valueType="num">
                                      <p:cBhvr>
                                        <p:cTn id="86" dur="600" fill="hold"/>
                                        <p:tgtEl>
                                          <p:spTgt spid="21"/>
                                        </p:tgtEl>
                                        <p:attrNameLst>
                                          <p:attrName>ppt_h</p:attrName>
                                        </p:attrNameLst>
                                      </p:cBhvr>
                                      <p:tavLst>
                                        <p:tav tm="0">
                                          <p:val>
                                            <p:fltVal val="0"/>
                                          </p:val>
                                        </p:tav>
                                        <p:tav tm="100000">
                                          <p:val>
                                            <p:strVal val="#ppt_h"/>
                                          </p:val>
                                        </p:tav>
                                      </p:tavLst>
                                    </p:anim>
                                  </p:childTnLst>
                                </p:cTn>
                              </p:par>
                              <p:par>
                                <p:cTn id="87" presetID="23" presetClass="entr" presetSubtype="16"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 calcmode="lin" valueType="num">
                                      <p:cBhvr>
                                        <p:cTn id="89" dur="600" fill="hold"/>
                                        <p:tgtEl>
                                          <p:spTgt spid="22"/>
                                        </p:tgtEl>
                                        <p:attrNameLst>
                                          <p:attrName>ppt_w</p:attrName>
                                        </p:attrNameLst>
                                      </p:cBhvr>
                                      <p:tavLst>
                                        <p:tav tm="0">
                                          <p:val>
                                            <p:fltVal val="0"/>
                                          </p:val>
                                        </p:tav>
                                        <p:tav tm="100000">
                                          <p:val>
                                            <p:strVal val="#ppt_w"/>
                                          </p:val>
                                        </p:tav>
                                      </p:tavLst>
                                    </p:anim>
                                    <p:anim calcmode="lin" valueType="num">
                                      <p:cBhvr>
                                        <p:cTn id="90" dur="6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3" presetClass="entr" presetSubtype="16" fill="hold" nodeType="clickEffect">
                                  <p:stCondLst>
                                    <p:cond delay="0"/>
                                  </p:stCondLst>
                                  <p:childTnLst>
                                    <p:set>
                                      <p:cBhvr>
                                        <p:cTn id="94" dur="1" fill="hold">
                                          <p:stCondLst>
                                            <p:cond delay="0"/>
                                          </p:stCondLst>
                                        </p:cTn>
                                        <p:tgtEl>
                                          <p:spTgt spid="23"/>
                                        </p:tgtEl>
                                        <p:attrNameLst>
                                          <p:attrName>style.visibility</p:attrName>
                                        </p:attrNameLst>
                                      </p:cBhvr>
                                      <p:to>
                                        <p:strVal val="visible"/>
                                      </p:to>
                                    </p:set>
                                    <p:anim calcmode="lin" valueType="num">
                                      <p:cBhvr>
                                        <p:cTn id="95" dur="600" fill="hold"/>
                                        <p:tgtEl>
                                          <p:spTgt spid="23"/>
                                        </p:tgtEl>
                                        <p:attrNameLst>
                                          <p:attrName>ppt_w</p:attrName>
                                        </p:attrNameLst>
                                      </p:cBhvr>
                                      <p:tavLst>
                                        <p:tav tm="0">
                                          <p:val>
                                            <p:fltVal val="0"/>
                                          </p:val>
                                        </p:tav>
                                        <p:tav tm="100000">
                                          <p:val>
                                            <p:strVal val="#ppt_w"/>
                                          </p:val>
                                        </p:tav>
                                      </p:tavLst>
                                    </p:anim>
                                    <p:anim calcmode="lin" valueType="num">
                                      <p:cBhvr>
                                        <p:cTn id="96" dur="600" fill="hold"/>
                                        <p:tgtEl>
                                          <p:spTgt spid="23"/>
                                        </p:tgtEl>
                                        <p:attrNameLst>
                                          <p:attrName>ppt_h</p:attrName>
                                        </p:attrNameLst>
                                      </p:cBhvr>
                                      <p:tavLst>
                                        <p:tav tm="0">
                                          <p:val>
                                            <p:fltVal val="0"/>
                                          </p:val>
                                        </p:tav>
                                        <p:tav tm="100000">
                                          <p:val>
                                            <p:strVal val="#ppt_h"/>
                                          </p:val>
                                        </p:tav>
                                      </p:tavLst>
                                    </p:anim>
                                  </p:childTnLst>
                                </p:cTn>
                              </p:par>
                              <p:par>
                                <p:cTn id="97" presetID="23" presetClass="entr" presetSubtype="16" fill="hold" nodeType="with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p:cTn id="99" dur="600" fill="hold"/>
                                        <p:tgtEl>
                                          <p:spTgt spid="24"/>
                                        </p:tgtEl>
                                        <p:attrNameLst>
                                          <p:attrName>ppt_w</p:attrName>
                                        </p:attrNameLst>
                                      </p:cBhvr>
                                      <p:tavLst>
                                        <p:tav tm="0">
                                          <p:val>
                                            <p:fltVal val="0"/>
                                          </p:val>
                                        </p:tav>
                                        <p:tav tm="100000">
                                          <p:val>
                                            <p:strVal val="#ppt_w"/>
                                          </p:val>
                                        </p:tav>
                                      </p:tavLst>
                                    </p:anim>
                                    <p:anim calcmode="lin" valueType="num">
                                      <p:cBhvr>
                                        <p:cTn id="100" dur="600" fill="hold"/>
                                        <p:tgtEl>
                                          <p:spTgt spid="24"/>
                                        </p:tgtEl>
                                        <p:attrNameLst>
                                          <p:attrName>ppt_h</p:attrName>
                                        </p:attrNameLst>
                                      </p:cBhvr>
                                      <p:tavLst>
                                        <p:tav tm="0">
                                          <p:val>
                                            <p:fltVal val="0"/>
                                          </p:val>
                                        </p:tav>
                                        <p:tav tm="100000">
                                          <p:val>
                                            <p:strVal val="#ppt_h"/>
                                          </p:val>
                                        </p:tav>
                                      </p:tavLst>
                                    </p:anim>
                                  </p:childTnLst>
                                </p:cTn>
                              </p:par>
                              <p:par>
                                <p:cTn id="101" presetID="23" presetClass="entr" presetSubtype="16"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anim calcmode="lin" valueType="num">
                                      <p:cBhvr>
                                        <p:cTn id="103" dur="600" fill="hold"/>
                                        <p:tgtEl>
                                          <p:spTgt spid="25"/>
                                        </p:tgtEl>
                                        <p:attrNameLst>
                                          <p:attrName>ppt_w</p:attrName>
                                        </p:attrNameLst>
                                      </p:cBhvr>
                                      <p:tavLst>
                                        <p:tav tm="0">
                                          <p:val>
                                            <p:fltVal val="0"/>
                                          </p:val>
                                        </p:tav>
                                        <p:tav tm="100000">
                                          <p:val>
                                            <p:strVal val="#ppt_w"/>
                                          </p:val>
                                        </p:tav>
                                      </p:tavLst>
                                    </p:anim>
                                    <p:anim calcmode="lin" valueType="num">
                                      <p:cBhvr>
                                        <p:cTn id="104" dur="600" fill="hold"/>
                                        <p:tgtEl>
                                          <p:spTgt spid="25"/>
                                        </p:tgtEl>
                                        <p:attrNameLst>
                                          <p:attrName>ppt_h</p:attrName>
                                        </p:attrNameLst>
                                      </p:cBhvr>
                                      <p:tavLst>
                                        <p:tav tm="0">
                                          <p:val>
                                            <p:fltVal val="0"/>
                                          </p:val>
                                        </p:tav>
                                        <p:tav tm="100000">
                                          <p:val>
                                            <p:strVal val="#ppt_h"/>
                                          </p:val>
                                        </p:tav>
                                      </p:tavLst>
                                    </p:anim>
                                  </p:childTnLst>
                                </p:cTn>
                              </p:par>
                              <p:par>
                                <p:cTn id="105" presetID="23" presetClass="entr" presetSubtype="16" fill="hold" grpId="0" nodeType="withEffect">
                                  <p:stCondLst>
                                    <p:cond delay="0"/>
                                  </p:stCondLst>
                                  <p:childTnLst>
                                    <p:set>
                                      <p:cBhvr>
                                        <p:cTn id="106" dur="1" fill="hold">
                                          <p:stCondLst>
                                            <p:cond delay="0"/>
                                          </p:stCondLst>
                                        </p:cTn>
                                        <p:tgtEl>
                                          <p:spTgt spid="26"/>
                                        </p:tgtEl>
                                        <p:attrNameLst>
                                          <p:attrName>style.visibility</p:attrName>
                                        </p:attrNameLst>
                                      </p:cBhvr>
                                      <p:to>
                                        <p:strVal val="visible"/>
                                      </p:to>
                                    </p:set>
                                    <p:anim calcmode="lin" valueType="num">
                                      <p:cBhvr>
                                        <p:cTn id="107" dur="600" fill="hold"/>
                                        <p:tgtEl>
                                          <p:spTgt spid="26"/>
                                        </p:tgtEl>
                                        <p:attrNameLst>
                                          <p:attrName>ppt_w</p:attrName>
                                        </p:attrNameLst>
                                      </p:cBhvr>
                                      <p:tavLst>
                                        <p:tav tm="0">
                                          <p:val>
                                            <p:fltVal val="0"/>
                                          </p:val>
                                        </p:tav>
                                        <p:tav tm="100000">
                                          <p:val>
                                            <p:strVal val="#ppt_w"/>
                                          </p:val>
                                        </p:tav>
                                      </p:tavLst>
                                    </p:anim>
                                    <p:anim calcmode="lin" valueType="num">
                                      <p:cBhvr>
                                        <p:cTn id="108" dur="600" fill="hold"/>
                                        <p:tgtEl>
                                          <p:spTgt spid="26"/>
                                        </p:tgtEl>
                                        <p:attrNameLst>
                                          <p:attrName>ppt_h</p:attrName>
                                        </p:attrNameLst>
                                      </p:cBhvr>
                                      <p:tavLst>
                                        <p:tav tm="0">
                                          <p:val>
                                            <p:fltVal val="0"/>
                                          </p:val>
                                        </p:tav>
                                        <p:tav tm="100000">
                                          <p:val>
                                            <p:strVal val="#ppt_h"/>
                                          </p:val>
                                        </p:tav>
                                      </p:tavLst>
                                    </p:anim>
                                  </p:childTnLst>
                                </p:cTn>
                              </p:par>
                              <p:par>
                                <p:cTn id="109" presetID="23" presetClass="entr" presetSubtype="16"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 calcmode="lin" valueType="num">
                                      <p:cBhvr>
                                        <p:cTn id="111" dur="600" fill="hold"/>
                                        <p:tgtEl>
                                          <p:spTgt spid="27"/>
                                        </p:tgtEl>
                                        <p:attrNameLst>
                                          <p:attrName>ppt_w</p:attrName>
                                        </p:attrNameLst>
                                      </p:cBhvr>
                                      <p:tavLst>
                                        <p:tav tm="0">
                                          <p:val>
                                            <p:fltVal val="0"/>
                                          </p:val>
                                        </p:tav>
                                        <p:tav tm="100000">
                                          <p:val>
                                            <p:strVal val="#ppt_w"/>
                                          </p:val>
                                        </p:tav>
                                      </p:tavLst>
                                    </p:anim>
                                    <p:anim calcmode="lin" valueType="num">
                                      <p:cBhvr>
                                        <p:cTn id="112" dur="6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23" presetClass="entr" presetSubtype="16" fill="hold" nodeType="clickEffect">
                                  <p:stCondLst>
                                    <p:cond delay="0"/>
                                  </p:stCondLst>
                                  <p:childTnLst>
                                    <p:set>
                                      <p:cBhvr>
                                        <p:cTn id="116" dur="1" fill="hold">
                                          <p:stCondLst>
                                            <p:cond delay="0"/>
                                          </p:stCondLst>
                                        </p:cTn>
                                        <p:tgtEl>
                                          <p:spTgt spid="28"/>
                                        </p:tgtEl>
                                        <p:attrNameLst>
                                          <p:attrName>style.visibility</p:attrName>
                                        </p:attrNameLst>
                                      </p:cBhvr>
                                      <p:to>
                                        <p:strVal val="visible"/>
                                      </p:to>
                                    </p:set>
                                    <p:anim calcmode="lin" valueType="num">
                                      <p:cBhvr>
                                        <p:cTn id="117" dur="600" fill="hold"/>
                                        <p:tgtEl>
                                          <p:spTgt spid="28"/>
                                        </p:tgtEl>
                                        <p:attrNameLst>
                                          <p:attrName>ppt_w</p:attrName>
                                        </p:attrNameLst>
                                      </p:cBhvr>
                                      <p:tavLst>
                                        <p:tav tm="0">
                                          <p:val>
                                            <p:fltVal val="0"/>
                                          </p:val>
                                        </p:tav>
                                        <p:tav tm="100000">
                                          <p:val>
                                            <p:strVal val="#ppt_w"/>
                                          </p:val>
                                        </p:tav>
                                      </p:tavLst>
                                    </p:anim>
                                    <p:anim calcmode="lin" valueType="num">
                                      <p:cBhvr>
                                        <p:cTn id="118" dur="600" fill="hold"/>
                                        <p:tgtEl>
                                          <p:spTgt spid="28"/>
                                        </p:tgtEl>
                                        <p:attrNameLst>
                                          <p:attrName>ppt_h</p:attrName>
                                        </p:attrNameLst>
                                      </p:cBhvr>
                                      <p:tavLst>
                                        <p:tav tm="0">
                                          <p:val>
                                            <p:fltVal val="0"/>
                                          </p:val>
                                        </p:tav>
                                        <p:tav tm="100000">
                                          <p:val>
                                            <p:strVal val="#ppt_h"/>
                                          </p:val>
                                        </p:tav>
                                      </p:tavLst>
                                    </p:anim>
                                  </p:childTnLst>
                                </p:cTn>
                              </p:par>
                              <p:par>
                                <p:cTn id="119" presetID="23" presetClass="entr" presetSubtype="16" fill="hold" nodeType="withEffect">
                                  <p:stCondLst>
                                    <p:cond delay="0"/>
                                  </p:stCondLst>
                                  <p:childTnLst>
                                    <p:set>
                                      <p:cBhvr>
                                        <p:cTn id="120" dur="1" fill="hold">
                                          <p:stCondLst>
                                            <p:cond delay="0"/>
                                          </p:stCondLst>
                                        </p:cTn>
                                        <p:tgtEl>
                                          <p:spTgt spid="29"/>
                                        </p:tgtEl>
                                        <p:attrNameLst>
                                          <p:attrName>style.visibility</p:attrName>
                                        </p:attrNameLst>
                                      </p:cBhvr>
                                      <p:to>
                                        <p:strVal val="visible"/>
                                      </p:to>
                                    </p:set>
                                    <p:anim calcmode="lin" valueType="num">
                                      <p:cBhvr>
                                        <p:cTn id="121" dur="600" fill="hold"/>
                                        <p:tgtEl>
                                          <p:spTgt spid="29"/>
                                        </p:tgtEl>
                                        <p:attrNameLst>
                                          <p:attrName>ppt_w</p:attrName>
                                        </p:attrNameLst>
                                      </p:cBhvr>
                                      <p:tavLst>
                                        <p:tav tm="0">
                                          <p:val>
                                            <p:fltVal val="0"/>
                                          </p:val>
                                        </p:tav>
                                        <p:tav tm="100000">
                                          <p:val>
                                            <p:strVal val="#ppt_w"/>
                                          </p:val>
                                        </p:tav>
                                      </p:tavLst>
                                    </p:anim>
                                    <p:anim calcmode="lin" valueType="num">
                                      <p:cBhvr>
                                        <p:cTn id="122" dur="600" fill="hold"/>
                                        <p:tgtEl>
                                          <p:spTgt spid="29"/>
                                        </p:tgtEl>
                                        <p:attrNameLst>
                                          <p:attrName>ppt_h</p:attrName>
                                        </p:attrNameLst>
                                      </p:cBhvr>
                                      <p:tavLst>
                                        <p:tav tm="0">
                                          <p:val>
                                            <p:fltVal val="0"/>
                                          </p:val>
                                        </p:tav>
                                        <p:tav tm="100000">
                                          <p:val>
                                            <p:strVal val="#ppt_h"/>
                                          </p:val>
                                        </p:tav>
                                      </p:tavLst>
                                    </p:anim>
                                  </p:childTnLst>
                                </p:cTn>
                              </p:par>
                              <p:par>
                                <p:cTn id="123" presetID="23" presetClass="entr" presetSubtype="16" fill="hold" nodeType="withEffect">
                                  <p:stCondLst>
                                    <p:cond delay="0"/>
                                  </p:stCondLst>
                                  <p:childTnLst>
                                    <p:set>
                                      <p:cBhvr>
                                        <p:cTn id="124" dur="1" fill="hold">
                                          <p:stCondLst>
                                            <p:cond delay="0"/>
                                          </p:stCondLst>
                                        </p:cTn>
                                        <p:tgtEl>
                                          <p:spTgt spid="30"/>
                                        </p:tgtEl>
                                        <p:attrNameLst>
                                          <p:attrName>style.visibility</p:attrName>
                                        </p:attrNameLst>
                                      </p:cBhvr>
                                      <p:to>
                                        <p:strVal val="visible"/>
                                      </p:to>
                                    </p:set>
                                    <p:anim calcmode="lin" valueType="num">
                                      <p:cBhvr>
                                        <p:cTn id="125" dur="600" fill="hold"/>
                                        <p:tgtEl>
                                          <p:spTgt spid="30"/>
                                        </p:tgtEl>
                                        <p:attrNameLst>
                                          <p:attrName>ppt_w</p:attrName>
                                        </p:attrNameLst>
                                      </p:cBhvr>
                                      <p:tavLst>
                                        <p:tav tm="0">
                                          <p:val>
                                            <p:fltVal val="0"/>
                                          </p:val>
                                        </p:tav>
                                        <p:tav tm="100000">
                                          <p:val>
                                            <p:strVal val="#ppt_w"/>
                                          </p:val>
                                        </p:tav>
                                      </p:tavLst>
                                    </p:anim>
                                    <p:anim calcmode="lin" valueType="num">
                                      <p:cBhvr>
                                        <p:cTn id="126" dur="600" fill="hold"/>
                                        <p:tgtEl>
                                          <p:spTgt spid="30"/>
                                        </p:tgtEl>
                                        <p:attrNameLst>
                                          <p:attrName>ppt_h</p:attrName>
                                        </p:attrNameLst>
                                      </p:cBhvr>
                                      <p:tavLst>
                                        <p:tav tm="0">
                                          <p:val>
                                            <p:fltVal val="0"/>
                                          </p:val>
                                        </p:tav>
                                        <p:tav tm="100000">
                                          <p:val>
                                            <p:strVal val="#ppt_h"/>
                                          </p:val>
                                        </p:tav>
                                      </p:tavLst>
                                    </p:anim>
                                  </p:childTnLst>
                                </p:cTn>
                              </p:par>
                              <p:par>
                                <p:cTn id="127" presetID="23" presetClass="entr" presetSubtype="16" fill="hold" grpId="0" nodeType="withEffect">
                                  <p:stCondLst>
                                    <p:cond delay="0"/>
                                  </p:stCondLst>
                                  <p:childTnLst>
                                    <p:set>
                                      <p:cBhvr>
                                        <p:cTn id="128" dur="1" fill="hold">
                                          <p:stCondLst>
                                            <p:cond delay="0"/>
                                          </p:stCondLst>
                                        </p:cTn>
                                        <p:tgtEl>
                                          <p:spTgt spid="31"/>
                                        </p:tgtEl>
                                        <p:attrNameLst>
                                          <p:attrName>style.visibility</p:attrName>
                                        </p:attrNameLst>
                                      </p:cBhvr>
                                      <p:to>
                                        <p:strVal val="visible"/>
                                      </p:to>
                                    </p:set>
                                    <p:anim calcmode="lin" valueType="num">
                                      <p:cBhvr>
                                        <p:cTn id="129" dur="600" fill="hold"/>
                                        <p:tgtEl>
                                          <p:spTgt spid="31"/>
                                        </p:tgtEl>
                                        <p:attrNameLst>
                                          <p:attrName>ppt_w</p:attrName>
                                        </p:attrNameLst>
                                      </p:cBhvr>
                                      <p:tavLst>
                                        <p:tav tm="0">
                                          <p:val>
                                            <p:fltVal val="0"/>
                                          </p:val>
                                        </p:tav>
                                        <p:tav tm="100000">
                                          <p:val>
                                            <p:strVal val="#ppt_w"/>
                                          </p:val>
                                        </p:tav>
                                      </p:tavLst>
                                    </p:anim>
                                    <p:anim calcmode="lin" valueType="num">
                                      <p:cBhvr>
                                        <p:cTn id="130" dur="600" fill="hold"/>
                                        <p:tgtEl>
                                          <p:spTgt spid="31"/>
                                        </p:tgtEl>
                                        <p:attrNameLst>
                                          <p:attrName>ppt_h</p:attrName>
                                        </p:attrNameLst>
                                      </p:cBhvr>
                                      <p:tavLst>
                                        <p:tav tm="0">
                                          <p:val>
                                            <p:fltVal val="0"/>
                                          </p:val>
                                        </p:tav>
                                        <p:tav tm="100000">
                                          <p:val>
                                            <p:strVal val="#ppt_h"/>
                                          </p:val>
                                        </p:tav>
                                      </p:tavLst>
                                    </p:anim>
                                  </p:childTnLst>
                                </p:cTn>
                              </p:par>
                              <p:par>
                                <p:cTn id="131" presetID="23" presetClass="entr" presetSubtype="16"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600" fill="hold"/>
                                        <p:tgtEl>
                                          <p:spTgt spid="32"/>
                                        </p:tgtEl>
                                        <p:attrNameLst>
                                          <p:attrName>ppt_w</p:attrName>
                                        </p:attrNameLst>
                                      </p:cBhvr>
                                      <p:tavLst>
                                        <p:tav tm="0">
                                          <p:val>
                                            <p:fltVal val="0"/>
                                          </p:val>
                                        </p:tav>
                                        <p:tav tm="100000">
                                          <p:val>
                                            <p:strVal val="#ppt_w"/>
                                          </p:val>
                                        </p:tav>
                                      </p:tavLst>
                                    </p:anim>
                                    <p:anim calcmode="lin" valueType="num">
                                      <p:cBhvr>
                                        <p:cTn id="134" dur="6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23" presetClass="entr" presetSubtype="16" fill="hold" nodeType="clickEffect">
                                  <p:stCondLst>
                                    <p:cond delay="0"/>
                                  </p:stCondLst>
                                  <p:childTnLst>
                                    <p:set>
                                      <p:cBhvr>
                                        <p:cTn id="138" dur="1" fill="hold">
                                          <p:stCondLst>
                                            <p:cond delay="0"/>
                                          </p:stCondLst>
                                        </p:cTn>
                                        <p:tgtEl>
                                          <p:spTgt spid="33"/>
                                        </p:tgtEl>
                                        <p:attrNameLst>
                                          <p:attrName>style.visibility</p:attrName>
                                        </p:attrNameLst>
                                      </p:cBhvr>
                                      <p:to>
                                        <p:strVal val="visible"/>
                                      </p:to>
                                    </p:set>
                                    <p:anim calcmode="lin" valueType="num">
                                      <p:cBhvr>
                                        <p:cTn id="139" dur="600" fill="hold"/>
                                        <p:tgtEl>
                                          <p:spTgt spid="33"/>
                                        </p:tgtEl>
                                        <p:attrNameLst>
                                          <p:attrName>ppt_w</p:attrName>
                                        </p:attrNameLst>
                                      </p:cBhvr>
                                      <p:tavLst>
                                        <p:tav tm="0">
                                          <p:val>
                                            <p:fltVal val="0"/>
                                          </p:val>
                                        </p:tav>
                                        <p:tav tm="100000">
                                          <p:val>
                                            <p:strVal val="#ppt_w"/>
                                          </p:val>
                                        </p:tav>
                                      </p:tavLst>
                                    </p:anim>
                                    <p:anim calcmode="lin" valueType="num">
                                      <p:cBhvr>
                                        <p:cTn id="140" dur="600" fill="hold"/>
                                        <p:tgtEl>
                                          <p:spTgt spid="33"/>
                                        </p:tgtEl>
                                        <p:attrNameLst>
                                          <p:attrName>ppt_h</p:attrName>
                                        </p:attrNameLst>
                                      </p:cBhvr>
                                      <p:tavLst>
                                        <p:tav tm="0">
                                          <p:val>
                                            <p:fltVal val="0"/>
                                          </p:val>
                                        </p:tav>
                                        <p:tav tm="100000">
                                          <p:val>
                                            <p:strVal val="#ppt_h"/>
                                          </p:val>
                                        </p:tav>
                                      </p:tavLst>
                                    </p:anim>
                                  </p:childTnLst>
                                </p:cTn>
                              </p:par>
                              <p:par>
                                <p:cTn id="141" presetID="23" presetClass="entr" presetSubtype="16" fill="hold" nodeType="withEffect">
                                  <p:stCondLst>
                                    <p:cond delay="0"/>
                                  </p:stCondLst>
                                  <p:childTnLst>
                                    <p:set>
                                      <p:cBhvr>
                                        <p:cTn id="142" dur="1" fill="hold">
                                          <p:stCondLst>
                                            <p:cond delay="0"/>
                                          </p:stCondLst>
                                        </p:cTn>
                                        <p:tgtEl>
                                          <p:spTgt spid="34"/>
                                        </p:tgtEl>
                                        <p:attrNameLst>
                                          <p:attrName>style.visibility</p:attrName>
                                        </p:attrNameLst>
                                      </p:cBhvr>
                                      <p:to>
                                        <p:strVal val="visible"/>
                                      </p:to>
                                    </p:set>
                                    <p:anim calcmode="lin" valueType="num">
                                      <p:cBhvr>
                                        <p:cTn id="143" dur="600" fill="hold"/>
                                        <p:tgtEl>
                                          <p:spTgt spid="34"/>
                                        </p:tgtEl>
                                        <p:attrNameLst>
                                          <p:attrName>ppt_w</p:attrName>
                                        </p:attrNameLst>
                                      </p:cBhvr>
                                      <p:tavLst>
                                        <p:tav tm="0">
                                          <p:val>
                                            <p:fltVal val="0"/>
                                          </p:val>
                                        </p:tav>
                                        <p:tav tm="100000">
                                          <p:val>
                                            <p:strVal val="#ppt_w"/>
                                          </p:val>
                                        </p:tav>
                                      </p:tavLst>
                                    </p:anim>
                                    <p:anim calcmode="lin" valueType="num">
                                      <p:cBhvr>
                                        <p:cTn id="144" dur="600" fill="hold"/>
                                        <p:tgtEl>
                                          <p:spTgt spid="34"/>
                                        </p:tgtEl>
                                        <p:attrNameLst>
                                          <p:attrName>ppt_h</p:attrName>
                                        </p:attrNameLst>
                                      </p:cBhvr>
                                      <p:tavLst>
                                        <p:tav tm="0">
                                          <p:val>
                                            <p:fltVal val="0"/>
                                          </p:val>
                                        </p:tav>
                                        <p:tav tm="100000">
                                          <p:val>
                                            <p:strVal val="#ppt_h"/>
                                          </p:val>
                                        </p:tav>
                                      </p:tavLst>
                                    </p:anim>
                                  </p:childTnLst>
                                </p:cTn>
                              </p:par>
                              <p:par>
                                <p:cTn id="145" presetID="23" presetClass="entr" presetSubtype="16" fill="hold" nodeType="withEffect">
                                  <p:stCondLst>
                                    <p:cond delay="0"/>
                                  </p:stCondLst>
                                  <p:childTnLst>
                                    <p:set>
                                      <p:cBhvr>
                                        <p:cTn id="146" dur="1" fill="hold">
                                          <p:stCondLst>
                                            <p:cond delay="0"/>
                                          </p:stCondLst>
                                        </p:cTn>
                                        <p:tgtEl>
                                          <p:spTgt spid="35"/>
                                        </p:tgtEl>
                                        <p:attrNameLst>
                                          <p:attrName>style.visibility</p:attrName>
                                        </p:attrNameLst>
                                      </p:cBhvr>
                                      <p:to>
                                        <p:strVal val="visible"/>
                                      </p:to>
                                    </p:set>
                                    <p:anim calcmode="lin" valueType="num">
                                      <p:cBhvr>
                                        <p:cTn id="147" dur="600" fill="hold"/>
                                        <p:tgtEl>
                                          <p:spTgt spid="35"/>
                                        </p:tgtEl>
                                        <p:attrNameLst>
                                          <p:attrName>ppt_w</p:attrName>
                                        </p:attrNameLst>
                                      </p:cBhvr>
                                      <p:tavLst>
                                        <p:tav tm="0">
                                          <p:val>
                                            <p:fltVal val="0"/>
                                          </p:val>
                                        </p:tav>
                                        <p:tav tm="100000">
                                          <p:val>
                                            <p:strVal val="#ppt_w"/>
                                          </p:val>
                                        </p:tav>
                                      </p:tavLst>
                                    </p:anim>
                                    <p:anim calcmode="lin" valueType="num">
                                      <p:cBhvr>
                                        <p:cTn id="148" dur="600" fill="hold"/>
                                        <p:tgtEl>
                                          <p:spTgt spid="35"/>
                                        </p:tgtEl>
                                        <p:attrNameLst>
                                          <p:attrName>ppt_h</p:attrName>
                                        </p:attrNameLst>
                                      </p:cBhvr>
                                      <p:tavLst>
                                        <p:tav tm="0">
                                          <p:val>
                                            <p:fltVal val="0"/>
                                          </p:val>
                                        </p:tav>
                                        <p:tav tm="100000">
                                          <p:val>
                                            <p:strVal val="#ppt_h"/>
                                          </p:val>
                                        </p:tav>
                                      </p:tavLst>
                                    </p:anim>
                                  </p:childTnLst>
                                </p:cTn>
                              </p:par>
                              <p:par>
                                <p:cTn id="149" presetID="23" presetClass="entr" presetSubtype="16" fill="hold" grpId="0" nodeType="withEffect">
                                  <p:stCondLst>
                                    <p:cond delay="0"/>
                                  </p:stCondLst>
                                  <p:childTnLst>
                                    <p:set>
                                      <p:cBhvr>
                                        <p:cTn id="150" dur="1" fill="hold">
                                          <p:stCondLst>
                                            <p:cond delay="0"/>
                                          </p:stCondLst>
                                        </p:cTn>
                                        <p:tgtEl>
                                          <p:spTgt spid="36"/>
                                        </p:tgtEl>
                                        <p:attrNameLst>
                                          <p:attrName>style.visibility</p:attrName>
                                        </p:attrNameLst>
                                      </p:cBhvr>
                                      <p:to>
                                        <p:strVal val="visible"/>
                                      </p:to>
                                    </p:set>
                                    <p:anim calcmode="lin" valueType="num">
                                      <p:cBhvr>
                                        <p:cTn id="151" dur="600" fill="hold"/>
                                        <p:tgtEl>
                                          <p:spTgt spid="36"/>
                                        </p:tgtEl>
                                        <p:attrNameLst>
                                          <p:attrName>ppt_w</p:attrName>
                                        </p:attrNameLst>
                                      </p:cBhvr>
                                      <p:tavLst>
                                        <p:tav tm="0">
                                          <p:val>
                                            <p:fltVal val="0"/>
                                          </p:val>
                                        </p:tav>
                                        <p:tav tm="100000">
                                          <p:val>
                                            <p:strVal val="#ppt_w"/>
                                          </p:val>
                                        </p:tav>
                                      </p:tavLst>
                                    </p:anim>
                                    <p:anim calcmode="lin" valueType="num">
                                      <p:cBhvr>
                                        <p:cTn id="152" dur="600" fill="hold"/>
                                        <p:tgtEl>
                                          <p:spTgt spid="36"/>
                                        </p:tgtEl>
                                        <p:attrNameLst>
                                          <p:attrName>ppt_h</p:attrName>
                                        </p:attrNameLst>
                                      </p:cBhvr>
                                      <p:tavLst>
                                        <p:tav tm="0">
                                          <p:val>
                                            <p:fltVal val="0"/>
                                          </p:val>
                                        </p:tav>
                                        <p:tav tm="100000">
                                          <p:val>
                                            <p:strVal val="#ppt_h"/>
                                          </p:val>
                                        </p:tav>
                                      </p:tavLst>
                                    </p:anim>
                                  </p:childTnLst>
                                </p:cTn>
                              </p:par>
                              <p:par>
                                <p:cTn id="153" presetID="23" presetClass="entr" presetSubtype="16" fill="hold" grpId="0" nodeType="withEffect">
                                  <p:stCondLst>
                                    <p:cond delay="0"/>
                                  </p:stCondLst>
                                  <p:childTnLst>
                                    <p:set>
                                      <p:cBhvr>
                                        <p:cTn id="154" dur="1" fill="hold">
                                          <p:stCondLst>
                                            <p:cond delay="0"/>
                                          </p:stCondLst>
                                        </p:cTn>
                                        <p:tgtEl>
                                          <p:spTgt spid="37"/>
                                        </p:tgtEl>
                                        <p:attrNameLst>
                                          <p:attrName>style.visibility</p:attrName>
                                        </p:attrNameLst>
                                      </p:cBhvr>
                                      <p:to>
                                        <p:strVal val="visible"/>
                                      </p:to>
                                    </p:set>
                                    <p:anim calcmode="lin" valueType="num">
                                      <p:cBhvr>
                                        <p:cTn id="155" dur="600" fill="hold"/>
                                        <p:tgtEl>
                                          <p:spTgt spid="37"/>
                                        </p:tgtEl>
                                        <p:attrNameLst>
                                          <p:attrName>ppt_w</p:attrName>
                                        </p:attrNameLst>
                                      </p:cBhvr>
                                      <p:tavLst>
                                        <p:tav tm="0">
                                          <p:val>
                                            <p:fltVal val="0"/>
                                          </p:val>
                                        </p:tav>
                                        <p:tav tm="100000">
                                          <p:val>
                                            <p:strVal val="#ppt_w"/>
                                          </p:val>
                                        </p:tav>
                                      </p:tavLst>
                                    </p:anim>
                                    <p:anim calcmode="lin" valueType="num">
                                      <p:cBhvr>
                                        <p:cTn id="156" dur="600" fill="hold"/>
                                        <p:tgtEl>
                                          <p:spTgt spid="37"/>
                                        </p:tgtEl>
                                        <p:attrNameLst>
                                          <p:attrName>ppt_h</p:attrName>
                                        </p:attrNameLst>
                                      </p:cBhvr>
                                      <p:tavLst>
                                        <p:tav tm="0">
                                          <p:val>
                                            <p:fltVal val="0"/>
                                          </p:val>
                                        </p:tav>
                                        <p:tav tm="100000">
                                          <p:val>
                                            <p:strVal val="#ppt_h"/>
                                          </p:val>
                                        </p:tav>
                                      </p:tavLst>
                                    </p:anim>
                                  </p:childTnLst>
                                </p:cTn>
                              </p:par>
                            </p:childTnLst>
                          </p:cTn>
                        </p:par>
                      </p:childTnLst>
                    </p:cTn>
                  </p:par>
                  <p:par>
                    <p:cTn id="157" fill="hold">
                      <p:stCondLst>
                        <p:cond delay="indefinite"/>
                      </p:stCondLst>
                      <p:childTnLst>
                        <p:par>
                          <p:cTn id="158" fill="hold">
                            <p:stCondLst>
                              <p:cond delay="0"/>
                            </p:stCondLst>
                            <p:childTnLst>
                              <p:par>
                                <p:cTn id="159" presetID="23" presetClass="entr" presetSubtype="16" fill="hold" nodeType="clickEffect">
                                  <p:stCondLst>
                                    <p:cond delay="0"/>
                                  </p:stCondLst>
                                  <p:childTnLst>
                                    <p:set>
                                      <p:cBhvr>
                                        <p:cTn id="160" dur="1" fill="hold">
                                          <p:stCondLst>
                                            <p:cond delay="0"/>
                                          </p:stCondLst>
                                        </p:cTn>
                                        <p:tgtEl>
                                          <p:spTgt spid="38"/>
                                        </p:tgtEl>
                                        <p:attrNameLst>
                                          <p:attrName>style.visibility</p:attrName>
                                        </p:attrNameLst>
                                      </p:cBhvr>
                                      <p:to>
                                        <p:strVal val="visible"/>
                                      </p:to>
                                    </p:set>
                                    <p:anim calcmode="lin" valueType="num">
                                      <p:cBhvr>
                                        <p:cTn id="161" dur="600" fill="hold"/>
                                        <p:tgtEl>
                                          <p:spTgt spid="38"/>
                                        </p:tgtEl>
                                        <p:attrNameLst>
                                          <p:attrName>ppt_w</p:attrName>
                                        </p:attrNameLst>
                                      </p:cBhvr>
                                      <p:tavLst>
                                        <p:tav tm="0">
                                          <p:val>
                                            <p:fltVal val="0"/>
                                          </p:val>
                                        </p:tav>
                                        <p:tav tm="100000">
                                          <p:val>
                                            <p:strVal val="#ppt_w"/>
                                          </p:val>
                                        </p:tav>
                                      </p:tavLst>
                                    </p:anim>
                                    <p:anim calcmode="lin" valueType="num">
                                      <p:cBhvr>
                                        <p:cTn id="162" dur="600" fill="hold"/>
                                        <p:tgtEl>
                                          <p:spTgt spid="38"/>
                                        </p:tgtEl>
                                        <p:attrNameLst>
                                          <p:attrName>ppt_h</p:attrName>
                                        </p:attrNameLst>
                                      </p:cBhvr>
                                      <p:tavLst>
                                        <p:tav tm="0">
                                          <p:val>
                                            <p:fltVal val="0"/>
                                          </p:val>
                                        </p:tav>
                                        <p:tav tm="100000">
                                          <p:val>
                                            <p:strVal val="#ppt_h"/>
                                          </p:val>
                                        </p:tav>
                                      </p:tavLst>
                                    </p:anim>
                                  </p:childTnLst>
                                </p:cTn>
                              </p:par>
                              <p:par>
                                <p:cTn id="163" presetID="23" presetClass="entr" presetSubtype="16" fill="hold" nodeType="withEffect">
                                  <p:stCondLst>
                                    <p:cond delay="0"/>
                                  </p:stCondLst>
                                  <p:childTnLst>
                                    <p:set>
                                      <p:cBhvr>
                                        <p:cTn id="164" dur="1" fill="hold">
                                          <p:stCondLst>
                                            <p:cond delay="0"/>
                                          </p:stCondLst>
                                        </p:cTn>
                                        <p:tgtEl>
                                          <p:spTgt spid="39"/>
                                        </p:tgtEl>
                                        <p:attrNameLst>
                                          <p:attrName>style.visibility</p:attrName>
                                        </p:attrNameLst>
                                      </p:cBhvr>
                                      <p:to>
                                        <p:strVal val="visible"/>
                                      </p:to>
                                    </p:set>
                                    <p:anim calcmode="lin" valueType="num">
                                      <p:cBhvr>
                                        <p:cTn id="165" dur="600" fill="hold"/>
                                        <p:tgtEl>
                                          <p:spTgt spid="39"/>
                                        </p:tgtEl>
                                        <p:attrNameLst>
                                          <p:attrName>ppt_w</p:attrName>
                                        </p:attrNameLst>
                                      </p:cBhvr>
                                      <p:tavLst>
                                        <p:tav tm="0">
                                          <p:val>
                                            <p:fltVal val="0"/>
                                          </p:val>
                                        </p:tav>
                                        <p:tav tm="100000">
                                          <p:val>
                                            <p:strVal val="#ppt_w"/>
                                          </p:val>
                                        </p:tav>
                                      </p:tavLst>
                                    </p:anim>
                                    <p:anim calcmode="lin" valueType="num">
                                      <p:cBhvr>
                                        <p:cTn id="166" dur="600" fill="hold"/>
                                        <p:tgtEl>
                                          <p:spTgt spid="39"/>
                                        </p:tgtEl>
                                        <p:attrNameLst>
                                          <p:attrName>ppt_h</p:attrName>
                                        </p:attrNameLst>
                                      </p:cBhvr>
                                      <p:tavLst>
                                        <p:tav tm="0">
                                          <p:val>
                                            <p:fltVal val="0"/>
                                          </p:val>
                                        </p:tav>
                                        <p:tav tm="100000">
                                          <p:val>
                                            <p:strVal val="#ppt_h"/>
                                          </p:val>
                                        </p:tav>
                                      </p:tavLst>
                                    </p:anim>
                                  </p:childTnLst>
                                </p:cTn>
                              </p:par>
                              <p:par>
                                <p:cTn id="167" presetID="23" presetClass="entr" presetSubtype="16" fill="hold" nodeType="withEffect">
                                  <p:stCondLst>
                                    <p:cond delay="0"/>
                                  </p:stCondLst>
                                  <p:childTnLst>
                                    <p:set>
                                      <p:cBhvr>
                                        <p:cTn id="168" dur="1" fill="hold">
                                          <p:stCondLst>
                                            <p:cond delay="0"/>
                                          </p:stCondLst>
                                        </p:cTn>
                                        <p:tgtEl>
                                          <p:spTgt spid="40"/>
                                        </p:tgtEl>
                                        <p:attrNameLst>
                                          <p:attrName>style.visibility</p:attrName>
                                        </p:attrNameLst>
                                      </p:cBhvr>
                                      <p:to>
                                        <p:strVal val="visible"/>
                                      </p:to>
                                    </p:set>
                                    <p:anim calcmode="lin" valueType="num">
                                      <p:cBhvr>
                                        <p:cTn id="169" dur="600" fill="hold"/>
                                        <p:tgtEl>
                                          <p:spTgt spid="40"/>
                                        </p:tgtEl>
                                        <p:attrNameLst>
                                          <p:attrName>ppt_w</p:attrName>
                                        </p:attrNameLst>
                                      </p:cBhvr>
                                      <p:tavLst>
                                        <p:tav tm="0">
                                          <p:val>
                                            <p:fltVal val="0"/>
                                          </p:val>
                                        </p:tav>
                                        <p:tav tm="100000">
                                          <p:val>
                                            <p:strVal val="#ppt_w"/>
                                          </p:val>
                                        </p:tav>
                                      </p:tavLst>
                                    </p:anim>
                                    <p:anim calcmode="lin" valueType="num">
                                      <p:cBhvr>
                                        <p:cTn id="170" dur="600" fill="hold"/>
                                        <p:tgtEl>
                                          <p:spTgt spid="40"/>
                                        </p:tgtEl>
                                        <p:attrNameLst>
                                          <p:attrName>ppt_h</p:attrName>
                                        </p:attrNameLst>
                                      </p:cBhvr>
                                      <p:tavLst>
                                        <p:tav tm="0">
                                          <p:val>
                                            <p:fltVal val="0"/>
                                          </p:val>
                                        </p:tav>
                                        <p:tav tm="100000">
                                          <p:val>
                                            <p:strVal val="#ppt_h"/>
                                          </p:val>
                                        </p:tav>
                                      </p:tavLst>
                                    </p:anim>
                                  </p:childTnLst>
                                </p:cTn>
                              </p:par>
                              <p:par>
                                <p:cTn id="171" presetID="23" presetClass="entr" presetSubtype="16" fill="hold" grpId="0" nodeType="withEffect">
                                  <p:stCondLst>
                                    <p:cond delay="0"/>
                                  </p:stCondLst>
                                  <p:childTnLst>
                                    <p:set>
                                      <p:cBhvr>
                                        <p:cTn id="172" dur="1" fill="hold">
                                          <p:stCondLst>
                                            <p:cond delay="0"/>
                                          </p:stCondLst>
                                        </p:cTn>
                                        <p:tgtEl>
                                          <p:spTgt spid="41"/>
                                        </p:tgtEl>
                                        <p:attrNameLst>
                                          <p:attrName>style.visibility</p:attrName>
                                        </p:attrNameLst>
                                      </p:cBhvr>
                                      <p:to>
                                        <p:strVal val="visible"/>
                                      </p:to>
                                    </p:set>
                                    <p:anim calcmode="lin" valueType="num">
                                      <p:cBhvr>
                                        <p:cTn id="173" dur="600" fill="hold"/>
                                        <p:tgtEl>
                                          <p:spTgt spid="41"/>
                                        </p:tgtEl>
                                        <p:attrNameLst>
                                          <p:attrName>ppt_w</p:attrName>
                                        </p:attrNameLst>
                                      </p:cBhvr>
                                      <p:tavLst>
                                        <p:tav tm="0">
                                          <p:val>
                                            <p:fltVal val="0"/>
                                          </p:val>
                                        </p:tav>
                                        <p:tav tm="100000">
                                          <p:val>
                                            <p:strVal val="#ppt_w"/>
                                          </p:val>
                                        </p:tav>
                                      </p:tavLst>
                                    </p:anim>
                                    <p:anim calcmode="lin" valueType="num">
                                      <p:cBhvr>
                                        <p:cTn id="174" dur="600" fill="hold"/>
                                        <p:tgtEl>
                                          <p:spTgt spid="41"/>
                                        </p:tgtEl>
                                        <p:attrNameLst>
                                          <p:attrName>ppt_h</p:attrName>
                                        </p:attrNameLst>
                                      </p:cBhvr>
                                      <p:tavLst>
                                        <p:tav tm="0">
                                          <p:val>
                                            <p:fltVal val="0"/>
                                          </p:val>
                                        </p:tav>
                                        <p:tav tm="100000">
                                          <p:val>
                                            <p:strVal val="#ppt_h"/>
                                          </p:val>
                                        </p:tav>
                                      </p:tavLst>
                                    </p:anim>
                                  </p:childTnLst>
                                </p:cTn>
                              </p:par>
                              <p:par>
                                <p:cTn id="175" presetID="23" presetClass="entr" presetSubtype="16" fill="hold" grpId="0" nodeType="withEffect">
                                  <p:stCondLst>
                                    <p:cond delay="0"/>
                                  </p:stCondLst>
                                  <p:childTnLst>
                                    <p:set>
                                      <p:cBhvr>
                                        <p:cTn id="176" dur="1" fill="hold">
                                          <p:stCondLst>
                                            <p:cond delay="0"/>
                                          </p:stCondLst>
                                        </p:cTn>
                                        <p:tgtEl>
                                          <p:spTgt spid="42"/>
                                        </p:tgtEl>
                                        <p:attrNameLst>
                                          <p:attrName>style.visibility</p:attrName>
                                        </p:attrNameLst>
                                      </p:cBhvr>
                                      <p:to>
                                        <p:strVal val="visible"/>
                                      </p:to>
                                    </p:set>
                                    <p:anim calcmode="lin" valueType="num">
                                      <p:cBhvr>
                                        <p:cTn id="177" dur="600" fill="hold"/>
                                        <p:tgtEl>
                                          <p:spTgt spid="42"/>
                                        </p:tgtEl>
                                        <p:attrNameLst>
                                          <p:attrName>ppt_w</p:attrName>
                                        </p:attrNameLst>
                                      </p:cBhvr>
                                      <p:tavLst>
                                        <p:tav tm="0">
                                          <p:val>
                                            <p:fltVal val="0"/>
                                          </p:val>
                                        </p:tav>
                                        <p:tav tm="100000">
                                          <p:val>
                                            <p:strVal val="#ppt_w"/>
                                          </p:val>
                                        </p:tav>
                                      </p:tavLst>
                                    </p:anim>
                                    <p:anim calcmode="lin" valueType="num">
                                      <p:cBhvr>
                                        <p:cTn id="178" dur="600" fill="hold"/>
                                        <p:tgtEl>
                                          <p:spTgt spid="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21" grpId="0" animBg="1"/>
      <p:bldP spid="22" grpId="0" animBg="1"/>
      <p:bldP spid="26" grpId="0" animBg="1"/>
      <p:bldP spid="27" grpId="0" animBg="1"/>
      <p:bldP spid="31" grpId="0" animBg="1"/>
      <p:bldP spid="32" grpId="0" animBg="1"/>
      <p:bldP spid="36" grpId="0" animBg="1"/>
      <p:bldP spid="37" grpId="0" animBg="1"/>
      <p:bldP spid="41" grpId="0" animBg="1"/>
      <p:bldP spid="4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A forecast trained for each medicine</a:t>
            </a:r>
            <a:endParaRPr lang="en-US" sz="3200" dirty="0"/>
          </a:p>
        </p:txBody>
      </p:sp>
      <p:sp>
        <p:nvSpPr>
          <p:cNvPr id="3" name="anim|1|fade|after|"/>
          <p:cNvSpPr/>
          <p:nvPr/>
        </p:nvSpPr>
        <p:spPr>
          <a:xfrm>
            <a:off x="493776" y="1316736"/>
            <a:ext cx="5504688" cy="4700016"/>
          </a:xfrm>
          <a:prstGeom prst="roundRect">
            <a:avLst>
              <a:gd name="adj" fmla="val 2335"/>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ml.png"/>
          <p:cNvPicPr>
            <a:picLocks noChangeAspect="1"/>
          </p:cNvPicPr>
          <p:nvPr/>
        </p:nvPicPr>
        <p:blipFill>
          <a:blip r:embed="rId3"/>
          <a:stretch>
            <a:fillRect/>
          </a:stretch>
        </p:blipFill>
        <p:spPr>
          <a:xfrm>
            <a:off x="548640" y="1371600"/>
            <a:ext cx="5394960" cy="4590288"/>
          </a:xfrm>
          <a:prstGeom prst="rect">
            <a:avLst/>
          </a:prstGeom>
        </p:spPr>
      </p:pic>
      <p:sp>
        <p:nvSpPr>
          <p:cNvPr id="5" name="anim|2|wipe|click|"/>
          <p:cNvSpPr/>
          <p:nvPr/>
        </p:nvSpPr>
        <p:spPr>
          <a:xfrm>
            <a:off x="6355080" y="1371600"/>
            <a:ext cx="621792" cy="621792"/>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6491874" y="1508394"/>
            <a:ext cx="348204" cy="348204"/>
          </a:xfrm>
          <a:prstGeom prst="rect">
            <a:avLst/>
          </a:prstGeom>
        </p:spPr>
      </p:pic>
      <p:sp>
        <p:nvSpPr>
          <p:cNvPr id="7" name="anim|2|wipe|with|"/>
          <p:cNvSpPr txBox="1"/>
          <p:nvPr/>
        </p:nvSpPr>
        <p:spPr>
          <a:xfrm>
            <a:off x="7132320" y="1353312"/>
            <a:ext cx="45262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Trained on its own history</a:t>
            </a:r>
            <a:endParaRPr lang="en-US" sz="1700" dirty="0"/>
          </a:p>
        </p:txBody>
      </p:sp>
      <p:sp>
        <p:nvSpPr>
          <p:cNvPr id="8" name="anim|2|wipe|with|"/>
          <p:cNvSpPr txBox="1"/>
          <p:nvPr/>
        </p:nvSpPr>
        <p:spPr>
          <a:xfrm>
            <a:off x="7132320" y="1737360"/>
            <a:ext cx="4526280" cy="713232"/>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14 days of hourly temperatures from the Tiger rollup, plus outdoor weather</a:t>
            </a:r>
            <a:endParaRPr lang="en-US" sz="1350" dirty="0"/>
          </a:p>
        </p:txBody>
      </p:sp>
      <p:sp>
        <p:nvSpPr>
          <p:cNvPr id="9" name="anim|3|wipe|click|"/>
          <p:cNvSpPr/>
          <p:nvPr/>
        </p:nvSpPr>
        <p:spPr>
          <a:xfrm>
            <a:off x="6355080" y="2542032"/>
            <a:ext cx="621792" cy="621792"/>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6491874" y="2678826"/>
            <a:ext cx="348204" cy="348204"/>
          </a:xfrm>
          <a:prstGeom prst="rect">
            <a:avLst/>
          </a:prstGeom>
        </p:spPr>
      </p:pic>
      <p:sp>
        <p:nvSpPr>
          <p:cNvPr id="11" name="anim|3|wipe|with|"/>
          <p:cNvSpPr txBox="1"/>
          <p:nvPr/>
        </p:nvSpPr>
        <p:spPr>
          <a:xfrm>
            <a:off x="7132320" y="2523744"/>
            <a:ext cx="45262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Four models compete</a:t>
            </a:r>
            <a:endParaRPr lang="en-US" sz="1700" dirty="0"/>
          </a:p>
        </p:txBody>
      </p:sp>
      <p:sp>
        <p:nvSpPr>
          <p:cNvPr id="12" name="anim|3|wipe|with|"/>
          <p:cNvSpPr txBox="1"/>
          <p:nvPr/>
        </p:nvSpPr>
        <p:spPr>
          <a:xfrm>
            <a:off x="7132320" y="2907792"/>
            <a:ext cx="4526280" cy="713232"/>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Same as now · daily pattern · + short-term memory · + outdoor weather</a:t>
            </a:r>
            <a:endParaRPr lang="en-US" sz="1350" dirty="0"/>
          </a:p>
        </p:txBody>
      </p:sp>
      <p:sp>
        <p:nvSpPr>
          <p:cNvPr id="13" name="anim|4|wipe|click|"/>
          <p:cNvSpPr/>
          <p:nvPr/>
        </p:nvSpPr>
        <p:spPr>
          <a:xfrm>
            <a:off x="6355080" y="3712464"/>
            <a:ext cx="621792" cy="621792"/>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6491874" y="3849258"/>
            <a:ext cx="348204" cy="348204"/>
          </a:xfrm>
          <a:prstGeom prst="rect">
            <a:avLst/>
          </a:prstGeom>
        </p:spPr>
      </p:pic>
      <p:sp>
        <p:nvSpPr>
          <p:cNvPr id="15" name="anim|4|wipe|with|"/>
          <p:cNvSpPr txBox="1"/>
          <p:nvPr/>
        </p:nvSpPr>
        <p:spPr>
          <a:xfrm>
            <a:off x="7132320" y="3694176"/>
            <a:ext cx="45262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The best one wins, per medicine</a:t>
            </a:r>
            <a:endParaRPr lang="en-US" sz="1700" dirty="0"/>
          </a:p>
        </p:txBody>
      </p:sp>
      <p:sp>
        <p:nvSpPr>
          <p:cNvPr id="16" name="anim|4|wipe|with|"/>
          <p:cNvSpPr txBox="1"/>
          <p:nvPr/>
        </p:nvSpPr>
        <p:spPr>
          <a:xfrm>
            <a:off x="7132320" y="4078224"/>
            <a:ext cx="4526280" cy="713232"/>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Backtested on its own last 2 days. EpiPen in a backpack: weather model, 66% more accurate. Fridge pens: simpler models</a:t>
            </a:r>
            <a:endParaRPr lang="en-US" sz="1350" dirty="0"/>
          </a:p>
        </p:txBody>
      </p:sp>
      <p:sp>
        <p:nvSpPr>
          <p:cNvPr id="17" name="anim|5|wipe|click|"/>
          <p:cNvSpPr/>
          <p:nvPr/>
        </p:nvSpPr>
        <p:spPr>
          <a:xfrm>
            <a:off x="6355080" y="4882896"/>
            <a:ext cx="621792" cy="621792"/>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6491874" y="5019690"/>
            <a:ext cx="348204" cy="348204"/>
          </a:xfrm>
          <a:prstGeom prst="rect">
            <a:avLst/>
          </a:prstGeom>
        </p:spPr>
      </p:pic>
      <p:sp>
        <p:nvSpPr>
          <p:cNvPr id="19" name="anim|5|wipe|with|"/>
          <p:cNvSpPr txBox="1"/>
          <p:nvPr/>
        </p:nvSpPr>
        <p:spPr>
          <a:xfrm>
            <a:off x="7132320" y="4864608"/>
            <a:ext cx="45262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Risk, not just a line</a:t>
            </a:r>
            <a:endParaRPr lang="en-US" sz="1700" dirty="0"/>
          </a:p>
        </p:txBody>
      </p:sp>
      <p:sp>
        <p:nvSpPr>
          <p:cNvPr id="20" name="anim|5|wipe|with|"/>
          <p:cNvSpPr txBox="1"/>
          <p:nvPr/>
        </p:nvSpPr>
        <p:spPr>
          <a:xfrm>
            <a:off x="7132320" y="5248656"/>
            <a:ext cx="4526280" cy="713232"/>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300 simulated futures through the life budget: chance of leaving range, freezing, budget left</a:t>
            </a:r>
            <a:endParaRPr lang="en-US" sz="1350" dirty="0"/>
          </a:p>
        </p:txBody>
      </p:sp>
      <p:sp>
        <p:nvSpPr>
          <p:cNvPr id="21" name="anim|6|fade|click|"/>
          <p:cNvSpPr txBox="1"/>
          <p:nvPr/>
        </p:nvSpPr>
        <p:spPr>
          <a:xfrm>
            <a:off x="548640" y="6053328"/>
            <a:ext cx="11064240" cy="320040"/>
          </a:xfrm>
          <a:prstGeom prst="rect">
            <a:avLst/>
          </a:prstGeom>
          <a:noFill/>
          <a:ln/>
        </p:spPr>
        <p:txBody>
          <a:bodyPr wrap="square" lIns="0" tIns="0" rIns="0" bIns="0" rtlCol="0" anchor="ctr"/>
          <a:lstStyle/>
          <a:p>
            <a:pPr marL="0" indent="0">
              <a:buNone/>
            </a:pPr>
            <a:r>
              <a:rPr lang="en-US" sz="1300" i="1" dirty="0">
                <a:solidFill>
                  <a:srgbClr val="A8D5C2"/>
                </a:solidFill>
                <a:latin typeface="Calibri" pitchFamily="34" charset="0"/>
                <a:ea typeface="Calibri" pitchFamily="34" charset="-122"/>
                <a:cs typeface="Calibri" pitchFamily="34" charset="-120"/>
              </a:rPr>
              <a:t>Retrains every hour · models stored in Tiger Data · drives predicted-excursion alerts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Real outages, live from DTE</a:t>
            </a:r>
            <a:endParaRPr lang="en-US" sz="3200" dirty="0"/>
          </a:p>
        </p:txBody>
      </p:sp>
      <p:sp>
        <p:nvSpPr>
          <p:cNvPr id="3" name="anim|1|fade|after|"/>
          <p:cNvSpPr/>
          <p:nvPr/>
        </p:nvSpPr>
        <p:spPr>
          <a:xfrm>
            <a:off x="493776" y="1316736"/>
            <a:ext cx="3529584" cy="4773168"/>
          </a:xfrm>
          <a:prstGeom prst="roundRect">
            <a:avLst>
              <a:gd name="adj" fmla="val 3109"/>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livemap.png"/>
          <p:cNvPicPr>
            <a:picLocks noChangeAspect="1"/>
          </p:cNvPicPr>
          <p:nvPr/>
        </p:nvPicPr>
        <p:blipFill>
          <a:blip r:embed="rId3"/>
          <a:stretch>
            <a:fillRect/>
          </a:stretch>
        </p:blipFill>
        <p:spPr>
          <a:xfrm>
            <a:off x="548640" y="1371600"/>
            <a:ext cx="3419856" cy="4663440"/>
          </a:xfrm>
          <a:prstGeom prst="rect">
            <a:avLst/>
          </a:prstGeom>
        </p:spPr>
      </p:pic>
      <p:sp>
        <p:nvSpPr>
          <p:cNvPr id="5" name="anim|2|wipe|click|"/>
          <p:cNvSpPr/>
          <p:nvPr/>
        </p:nvSpPr>
        <p:spPr>
          <a:xfrm>
            <a:off x="4434840" y="1417320"/>
            <a:ext cx="603504" cy="603504"/>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4567611" y="1550091"/>
            <a:ext cx="337962" cy="337962"/>
          </a:xfrm>
          <a:prstGeom prst="rect">
            <a:avLst/>
          </a:prstGeom>
        </p:spPr>
      </p:pic>
      <p:sp>
        <p:nvSpPr>
          <p:cNvPr id="7" name="anim|2|wipe|with|"/>
          <p:cNvSpPr txBox="1"/>
          <p:nvPr/>
        </p:nvSpPr>
        <p:spPr>
          <a:xfrm>
            <a:off x="5212080" y="1399032"/>
            <a:ext cx="64008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Imported every 10 minutes</a:t>
            </a:r>
            <a:endParaRPr lang="en-US" sz="1700" dirty="0"/>
          </a:p>
        </p:txBody>
      </p:sp>
      <p:sp>
        <p:nvSpPr>
          <p:cNvPr id="8" name="anim|2|wipe|with|"/>
          <p:cNvSpPr txBox="1"/>
          <p:nvPr/>
        </p:nvSpPr>
        <p:spPr>
          <a:xfrm>
            <a:off x="5212080" y="1783080"/>
            <a:ext cx="64008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DTE's public outage map: areas by ZIP, customers out, restoration time when known</a:t>
            </a:r>
            <a:endParaRPr lang="en-US" sz="1350" dirty="0"/>
          </a:p>
        </p:txBody>
      </p:sp>
      <p:sp>
        <p:nvSpPr>
          <p:cNvPr id="9" name="anim|3|wipe|click|"/>
          <p:cNvSpPr/>
          <p:nvPr/>
        </p:nvSpPr>
        <p:spPr>
          <a:xfrm>
            <a:off x="4434840" y="2514600"/>
            <a:ext cx="603504" cy="603504"/>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4567611" y="2647371"/>
            <a:ext cx="337962" cy="337962"/>
          </a:xfrm>
          <a:prstGeom prst="rect">
            <a:avLst/>
          </a:prstGeom>
        </p:spPr>
      </p:pic>
      <p:sp>
        <p:nvSpPr>
          <p:cNvPr id="11" name="anim|3|wipe|with|"/>
          <p:cNvSpPr txBox="1"/>
          <p:nvPr/>
        </p:nvSpPr>
        <p:spPr>
          <a:xfrm>
            <a:off x="5212080" y="2496312"/>
            <a:ext cx="64008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Stored as PostGIS polygons</a:t>
            </a:r>
            <a:endParaRPr lang="en-US" sz="1700" dirty="0"/>
          </a:p>
        </p:txBody>
      </p:sp>
      <p:sp>
        <p:nvSpPr>
          <p:cNvPr id="12" name="anim|3|wipe|with|"/>
          <p:cNvSpPr txBox="1"/>
          <p:nvPr/>
        </p:nvSpPr>
        <p:spPr>
          <a:xfrm>
            <a:off x="5212080" y="2880360"/>
            <a:ext cx="64008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Updated in place; areas close automatically when power is restored</a:t>
            </a:r>
            <a:endParaRPr lang="en-US" sz="1350" dirty="0"/>
          </a:p>
        </p:txBody>
      </p:sp>
      <p:sp>
        <p:nvSpPr>
          <p:cNvPr id="13" name="anim|4|wipe|click|"/>
          <p:cNvSpPr/>
          <p:nvPr/>
        </p:nvSpPr>
        <p:spPr>
          <a:xfrm>
            <a:off x="4434840" y="3611880"/>
            <a:ext cx="603504" cy="603504"/>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4567611" y="3744651"/>
            <a:ext cx="337962" cy="337962"/>
          </a:xfrm>
          <a:prstGeom prst="rect">
            <a:avLst/>
          </a:prstGeom>
        </p:spPr>
      </p:pic>
      <p:sp>
        <p:nvSpPr>
          <p:cNvPr id="15" name="anim|4|wipe|with|"/>
          <p:cNvSpPr txBox="1"/>
          <p:nvPr/>
        </p:nvSpPr>
        <p:spPr>
          <a:xfrm>
            <a:off x="5212080" y="3593592"/>
            <a:ext cx="64008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Honest about precision</a:t>
            </a:r>
            <a:endParaRPr lang="en-US" sz="1700" dirty="0"/>
          </a:p>
        </p:txBody>
      </p:sp>
      <p:sp>
        <p:nvSpPr>
          <p:cNvPr id="16" name="anim|4|wipe|with|"/>
          <p:cNvSpPr txBox="1"/>
          <p:nvPr/>
        </p:nvSpPr>
        <p:spPr>
          <a:xfrm>
            <a:off x="5212080" y="3977640"/>
            <a:ext cx="64008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A ZIP-wide area means power may be out; one tap on "My power is out" confirms your home</a:t>
            </a:r>
            <a:endParaRPr lang="en-US" sz="1350" dirty="0"/>
          </a:p>
        </p:txBody>
      </p:sp>
      <p:sp>
        <p:nvSpPr>
          <p:cNvPr id="17" name="anim|5|wipe|click|"/>
          <p:cNvSpPr/>
          <p:nvPr/>
        </p:nvSpPr>
        <p:spPr>
          <a:xfrm>
            <a:off x="4434840" y="4709160"/>
            <a:ext cx="603504" cy="603504"/>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4567611" y="4841931"/>
            <a:ext cx="337962" cy="337962"/>
          </a:xfrm>
          <a:prstGeom prst="rect">
            <a:avLst/>
          </a:prstGeom>
        </p:spPr>
      </p:pic>
      <p:sp>
        <p:nvSpPr>
          <p:cNvPr id="19" name="anim|5|wipe|with|"/>
          <p:cNvSpPr txBox="1"/>
          <p:nvPr/>
        </p:nvSpPr>
        <p:spPr>
          <a:xfrm>
            <a:off x="5212080" y="4690872"/>
            <a:ext cx="64008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Any Kubra utility</a:t>
            </a:r>
            <a:endParaRPr lang="en-US" sz="1700" dirty="0"/>
          </a:p>
        </p:txBody>
      </p:sp>
      <p:sp>
        <p:nvSpPr>
          <p:cNvPr id="20" name="anim|5|wipe|with|"/>
          <p:cNvSpPr txBox="1"/>
          <p:nvPr/>
        </p:nvSpPr>
        <p:spPr>
          <a:xfrm>
            <a:off x="5212080" y="5074920"/>
            <a:ext cx="64008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Consumers Energy and others plug in with one setting</a:t>
            </a:r>
            <a:endParaRPr lang="en-US" sz="1350" dirty="0"/>
          </a:p>
        </p:txBody>
      </p:sp>
      <p:sp>
        <p:nvSpPr>
          <p:cNvPr id="21" name="anim|6|fadedzoom|click|"/>
          <p:cNvSpPr/>
          <p:nvPr/>
        </p:nvSpPr>
        <p:spPr>
          <a:xfrm>
            <a:off x="4434840" y="5715000"/>
            <a:ext cx="7223760" cy="548640"/>
          </a:xfrm>
          <a:prstGeom prst="roundRect">
            <a:avLst>
              <a:gd name="adj" fmla="val 20000"/>
            </a:avLst>
          </a:prstGeom>
          <a:solidFill>
            <a:srgbClr val="3A2F1E"/>
          </a:solidFill>
          <a:ln w="9525">
            <a:solidFill>
              <a:srgbClr val="F2A541"/>
            </a:solidFill>
            <a:prstDash val="solid"/>
          </a:ln>
        </p:spPr>
      </p:sp>
      <p:sp>
        <p:nvSpPr>
          <p:cNvPr id="22" name="anim|6|fadedzoom|with|"/>
          <p:cNvSpPr txBox="1"/>
          <p:nvPr/>
        </p:nvSpPr>
        <p:spPr>
          <a:xfrm>
            <a:off x="4617720" y="5715000"/>
            <a:ext cx="6858000" cy="548640"/>
          </a:xfrm>
          <a:prstGeom prst="rect">
            <a:avLst/>
          </a:prstGeom>
          <a:noFill/>
          <a:ln/>
        </p:spPr>
        <p:txBody>
          <a:bodyPr wrap="square" lIns="0" tIns="0" rIns="0" bIns="0" rtlCol="0" anchor="ctr"/>
          <a:lstStyle/>
          <a:p>
            <a:pPr marL="0" indent="0">
              <a:buNone/>
            </a:pPr>
            <a:r>
              <a:rPr lang="en-US" sz="1400" b="1" dirty="0">
                <a:solidFill>
                  <a:srgbClr val="F4F1EA"/>
                </a:solidFill>
                <a:latin typeface="Calibri" pitchFamily="34" charset="0"/>
                <a:ea typeface="Calibri" pitchFamily="34" charset="-122"/>
                <a:cs typeface="Calibri" pitchFamily="34" charset="-120"/>
              </a:rPr>
              <a:t>Captured Oct 3, 2026: 174 DTE customers without power across 30 ZIP areas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p:cTn id="72" dur="600" fill="hold"/>
                                        <p:tgtEl>
                                          <p:spTgt spid="21"/>
                                        </p:tgtEl>
                                        <p:attrNameLst>
                                          <p:attrName>ppt_w</p:attrName>
                                        </p:attrNameLst>
                                      </p:cBhvr>
                                      <p:tavLst>
                                        <p:tav tm="0">
                                          <p:val>
                                            <p:fltVal val="0"/>
                                          </p:val>
                                        </p:tav>
                                        <p:tav tm="100000">
                                          <p:val>
                                            <p:strVal val="#ppt_w"/>
                                          </p:val>
                                        </p:tav>
                                      </p:tavLst>
                                    </p:anim>
                                    <p:anim calcmode="lin" valueType="num">
                                      <p:cBhvr>
                                        <p:cTn id="73" dur="600" fill="hold"/>
                                        <p:tgtEl>
                                          <p:spTgt spid="21"/>
                                        </p:tgtEl>
                                        <p:attrNameLst>
                                          <p:attrName>ppt_h</p:attrName>
                                        </p:attrNameLst>
                                      </p:cBhvr>
                                      <p:tavLst>
                                        <p:tav tm="0">
                                          <p:val>
                                            <p:fltVal val="0"/>
                                          </p:val>
                                        </p:tav>
                                        <p:tav tm="100000">
                                          <p:val>
                                            <p:strVal val="#ppt_h"/>
                                          </p:val>
                                        </p:tav>
                                      </p:tavLst>
                                    </p:anim>
                                    <p:animEffect transition="in" filter="fade">
                                      <p:cBhvr>
                                        <p:cTn id="74" dur="600"/>
                                        <p:tgtEl>
                                          <p:spTgt spid="21"/>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p:cTn id="77" dur="600" fill="hold"/>
                                        <p:tgtEl>
                                          <p:spTgt spid="22"/>
                                        </p:tgtEl>
                                        <p:attrNameLst>
                                          <p:attrName>ppt_w</p:attrName>
                                        </p:attrNameLst>
                                      </p:cBhvr>
                                      <p:tavLst>
                                        <p:tav tm="0">
                                          <p:val>
                                            <p:fltVal val="0"/>
                                          </p:val>
                                        </p:tav>
                                        <p:tav tm="100000">
                                          <p:val>
                                            <p:strVal val="#ppt_w"/>
                                          </p:val>
                                        </p:tav>
                                      </p:tavLst>
                                    </p:anim>
                                    <p:anim calcmode="lin" valueType="num">
                                      <p:cBhvr>
                                        <p:cTn id="78" dur="600" fill="hold"/>
                                        <p:tgtEl>
                                          <p:spTgt spid="22"/>
                                        </p:tgtEl>
                                        <p:attrNameLst>
                                          <p:attrName>ppt_h</p:attrName>
                                        </p:attrNameLst>
                                      </p:cBhvr>
                                      <p:tavLst>
                                        <p:tav tm="0">
                                          <p:val>
                                            <p:fltVal val="0"/>
                                          </p:val>
                                        </p:tav>
                                        <p:tav tm="100000">
                                          <p:val>
                                            <p:strVal val="#ppt_h"/>
                                          </p:val>
                                        </p:tav>
                                      </p:tavLst>
                                    </p:anim>
                                    <p:animEffect transition="in" filter="fade">
                                      <p:cBhvr>
                                        <p:cTn id="7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Numbers you can trust, and limits we show</a:t>
            </a:r>
            <a:endParaRPr lang="en-US" sz="3200" dirty="0"/>
          </a:p>
        </p:txBody>
      </p:sp>
      <p:sp>
        <p:nvSpPr>
          <p:cNvPr id="3" name="anim|1|fade|click|"/>
          <p:cNvSpPr/>
          <p:nvPr/>
        </p:nvSpPr>
        <p:spPr>
          <a:xfrm>
            <a:off x="548640" y="1417320"/>
            <a:ext cx="5394960" cy="3886200"/>
          </a:xfrm>
          <a:prstGeom prst="roundRect">
            <a:avLst>
              <a:gd name="adj" fmla="val 2824"/>
            </a:avLst>
          </a:prstGeom>
          <a:solidFill>
            <a:srgbClr val="2B2F31"/>
          </a:solidFill>
          <a:ln w="9525">
            <a:solidFill>
              <a:srgbClr val="45504C"/>
            </a:solidFill>
            <a:prstDash val="solid"/>
          </a:ln>
        </p:spPr>
      </p:sp>
      <p:sp>
        <p:nvSpPr>
          <p:cNvPr id="4" name="anim|1|fade|with|"/>
          <p:cNvSpPr txBox="1"/>
          <p:nvPr/>
        </p:nvSpPr>
        <p:spPr>
          <a:xfrm>
            <a:off x="822960" y="1600200"/>
            <a:ext cx="4937760" cy="457200"/>
          </a:xfrm>
          <a:prstGeom prst="rect">
            <a:avLst/>
          </a:prstGeom>
          <a:noFill/>
          <a:ln/>
        </p:spPr>
        <p:txBody>
          <a:bodyPr wrap="square" lIns="0" tIns="0" rIns="0" bIns="0" rtlCol="0" anchor="ctr"/>
          <a:lstStyle/>
          <a:p>
            <a:pPr marL="0" indent="0">
              <a:buNone/>
            </a:pPr>
            <a:r>
              <a:rPr lang="en-US" sz="1800" b="1" dirty="0">
                <a:solidFill>
                  <a:srgbClr val="F4F1EA"/>
                </a:solidFill>
                <a:latin typeface="Calibri" pitchFamily="34" charset="0"/>
                <a:ea typeface="Calibri" pitchFamily="34" charset="-122"/>
                <a:cs typeface="Calibri" pitchFamily="34" charset="-120"/>
              </a:rPr>
              <a:t>Three independent calculations, one answer</a:t>
            </a:r>
            <a:endParaRPr lang="en-US" sz="1800" dirty="0"/>
          </a:p>
        </p:txBody>
      </p:sp>
      <p:graphicFrame>
        <p:nvGraphicFramePr>
          <p:cNvPr id="22" name="anim|1|fade|with|"/>
          <p:cNvGraphicFramePr>
            <a:graphicFrameLocks noGrp="1"/>
          </p:cNvGraphicFramePr>
          <p:nvPr>
            <p:extLst>
              <p:ext uri="{D42A27DB-BD31-4B8C-83A1-F6EECF244321}">
                <p14:modId xmlns:p14="http://schemas.microsoft.com/office/powerpoint/2010/main" val="1579011935"/>
              </p:ext>
            </p:extLst>
          </p:nvPr>
        </p:nvGraphicFramePr>
        <p:xfrm>
          <a:off x="822960" y="2194560"/>
          <a:ext cx="484632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457200">
                <a:tc>
                  <a:txBody>
                    <a:bodyPr/>
                    <a:lstStyle/>
                    <a:p>
                      <a:pPr marL="0" indent="0" algn="l">
                        <a:buNone/>
                      </a:pPr>
                      <a:r>
                        <a:rPr lang="en-US" sz="1500" dirty="0">
                          <a:solidFill>
                            <a:srgbClr val="F4F1EA"/>
                          </a:solidFill>
                          <a:latin typeface="Calibri" pitchFamily="34" charset="0"/>
                          <a:ea typeface="Calibri" pitchFamily="34" charset="-122"/>
                          <a:cs typeface="Calibri" pitchFamily="34" charset="-120"/>
                        </a:rPr>
                        <a:t>Live rollup in Tiger (what you see)</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lgn="r">
                        <a:buNone/>
                      </a:pPr>
                      <a:r>
                        <a:rPr lang="en-US" sz="1500" b="1" dirty="0">
                          <a:solidFill>
                            <a:srgbClr val="F4F1EA"/>
                          </a:solidFill>
                          <a:latin typeface="Calibri" pitchFamily="34" charset="0"/>
                          <a:ea typeface="Calibri" pitchFamily="34" charset="-122"/>
                          <a:cs typeface="Calibri" pitchFamily="34" charset="-120"/>
                        </a:rPr>
                        <a:t>42.83%</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rgbClr val="F4F1EA"/>
                          </a:solidFill>
                          <a:latin typeface="Calibri" pitchFamily="34" charset="0"/>
                          <a:ea typeface="Calibri" pitchFamily="34" charset="-122"/>
                          <a:cs typeface="Calibri" pitchFamily="34" charset="-120"/>
                        </a:rPr>
                        <a:t>Recomputed from 4,320 raw readings</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lgn="r">
                        <a:buNone/>
                      </a:pPr>
                      <a:r>
                        <a:rPr lang="en-US" sz="1500" b="1" dirty="0">
                          <a:solidFill>
                            <a:srgbClr val="F4F1EA"/>
                          </a:solidFill>
                          <a:latin typeface="Calibri" pitchFamily="34" charset="0"/>
                          <a:ea typeface="Calibri" pitchFamily="34" charset="-122"/>
                          <a:cs typeface="Calibri" pitchFamily="34" charset="-120"/>
                        </a:rPr>
                        <a:t>42.83%</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rgbClr val="F4F1EA"/>
                          </a:solidFill>
                          <a:latin typeface="Calibri" pitchFamily="34" charset="0"/>
                          <a:ea typeface="Calibri" pitchFamily="34" charset="-122"/>
                          <a:cs typeface="Calibri" pitchFamily="34" charset="-120"/>
                        </a:rPr>
                        <a:t>Separate Python implementation</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lgn="r">
                        <a:buNone/>
                      </a:pPr>
                      <a:r>
                        <a:rPr lang="en-US" sz="1500" b="1" dirty="0">
                          <a:solidFill>
                            <a:srgbClr val="F4F1EA"/>
                          </a:solidFill>
                          <a:latin typeface="Calibri" pitchFamily="34" charset="0"/>
                          <a:ea typeface="Calibri" pitchFamily="34" charset="-122"/>
                          <a:cs typeface="Calibri" pitchFamily="34" charset="-120"/>
                        </a:rPr>
                        <a:t>42.83%</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2"/>
                  </a:ext>
                </a:extLst>
              </a:tr>
              <a:tr h="457200">
                <a:tc>
                  <a:txBody>
                    <a:bodyPr/>
                    <a:lstStyle/>
                    <a:p>
                      <a:pPr marL="0" indent="0" algn="l">
                        <a:buNone/>
                      </a:pPr>
                      <a:r>
                        <a:rPr lang="en-US" sz="1500" i="1" dirty="0">
                          <a:solidFill>
                            <a:srgbClr val="B9C4BF"/>
                          </a:solidFill>
                          <a:latin typeface="Calibri" pitchFamily="34" charset="0"/>
                          <a:ea typeface="Calibri" pitchFamily="34" charset="-122"/>
                          <a:cs typeface="Calibri" pitchFamily="34" charset="-120"/>
                        </a:rPr>
                        <a:t>Old method: averaging first</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lgn="r">
                        <a:buNone/>
                      </a:pPr>
                      <a:r>
                        <a:rPr lang="en-US" sz="1500" i="1" dirty="0">
                          <a:solidFill>
                            <a:srgbClr val="B9C4BF"/>
                          </a:solidFill>
                          <a:latin typeface="Calibri" pitchFamily="34" charset="0"/>
                          <a:ea typeface="Calibri" pitchFamily="34" charset="-122"/>
                          <a:cs typeface="Calibri" pitchFamily="34" charset="-120"/>
                        </a:rPr>
                        <a:t>43.10%</a:t>
                      </a:r>
                      <a:endParaRPr lang="en-US" sz="15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3"/>
                  </a:ext>
                </a:extLst>
              </a:tr>
            </a:tbl>
          </a:graphicData>
        </a:graphic>
      </p:graphicFrame>
      <p:sp>
        <p:nvSpPr>
          <p:cNvPr id="6" name="anim|1|fade|with|"/>
          <p:cNvSpPr txBox="1"/>
          <p:nvPr/>
        </p:nvSpPr>
        <p:spPr>
          <a:xfrm>
            <a:off x="822960" y="4251960"/>
            <a:ext cx="4846320" cy="82296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We score every reading, because heat damage jumps at the label's limits and grows exponentially above them.</a:t>
            </a:r>
            <a:endParaRPr lang="en-US" sz="1400" dirty="0"/>
          </a:p>
        </p:txBody>
      </p:sp>
      <p:graphicFrame>
        <p:nvGraphicFramePr>
          <p:cNvPr id="7" name="anim|2|fade|click|"/>
          <p:cNvGraphicFramePr/>
          <p:nvPr/>
        </p:nvGraphicFramePr>
        <p:xfrm>
          <a:off x="6263640" y="1417320"/>
          <a:ext cx="539496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8" name="anim|3|rise|click|"/>
          <p:cNvSpPr/>
          <p:nvPr/>
        </p:nvSpPr>
        <p:spPr>
          <a:xfrm>
            <a:off x="548640" y="5532120"/>
            <a:ext cx="3566160" cy="548640"/>
          </a:xfrm>
          <a:prstGeom prst="roundRect">
            <a:avLst>
              <a:gd name="adj" fmla="val 50000"/>
            </a:avLst>
          </a:prstGeom>
          <a:solidFill>
            <a:srgbClr val="2B2F31"/>
          </a:solidFill>
          <a:ln w="15875">
            <a:solidFill>
              <a:srgbClr val="F2A541"/>
            </a:solidFill>
            <a:prstDash val="solid"/>
          </a:ln>
        </p:spPr>
      </p:sp>
      <p:sp>
        <p:nvSpPr>
          <p:cNvPr id="9" name="anim|3|rise|with|"/>
          <p:cNvSpPr txBox="1"/>
          <p:nvPr/>
        </p:nvSpPr>
        <p:spPr>
          <a:xfrm>
            <a:off x="548640" y="5532120"/>
            <a:ext cx="3566160" cy="548640"/>
          </a:xfrm>
          <a:prstGeom prst="rect">
            <a:avLst/>
          </a:prstGeom>
          <a:noFill/>
          <a:ln/>
        </p:spPr>
        <p:txBody>
          <a:bodyPr wrap="square" lIns="0" tIns="0" rIns="0" bIns="0" rtlCol="0" anchor="ctr"/>
          <a:lstStyle/>
          <a:p>
            <a:pPr marL="0" indent="0" algn="ctr">
              <a:buNone/>
            </a:pPr>
            <a:r>
              <a:rPr lang="en-US" sz="1400" b="1" dirty="0">
                <a:solidFill>
                  <a:srgbClr val="F2A541"/>
                </a:solidFill>
                <a:latin typeface="Calibri" pitchFamily="34" charset="0"/>
                <a:ea typeface="Calibri" pitchFamily="34" charset="-122"/>
                <a:cs typeface="Calibri" pitchFamily="34" charset="-120"/>
              </a:rPr>
              <a:t>Silent sensor → "Check on it", never "Safe"</a:t>
            </a:r>
            <a:endParaRPr lang="en-US" sz="1400" dirty="0"/>
          </a:p>
        </p:txBody>
      </p:sp>
      <p:sp>
        <p:nvSpPr>
          <p:cNvPr id="10" name="anim|3|rise|after|"/>
          <p:cNvSpPr/>
          <p:nvPr/>
        </p:nvSpPr>
        <p:spPr>
          <a:xfrm>
            <a:off x="4297680" y="5532120"/>
            <a:ext cx="3566160" cy="548640"/>
          </a:xfrm>
          <a:prstGeom prst="roundRect">
            <a:avLst>
              <a:gd name="adj" fmla="val 50000"/>
            </a:avLst>
          </a:prstGeom>
          <a:solidFill>
            <a:srgbClr val="2B2F31"/>
          </a:solidFill>
          <a:ln w="15875">
            <a:solidFill>
              <a:srgbClr val="A8D5C2"/>
            </a:solidFill>
            <a:prstDash val="solid"/>
          </a:ln>
        </p:spPr>
      </p:sp>
      <p:sp>
        <p:nvSpPr>
          <p:cNvPr id="11" name="anim|3|rise|with|"/>
          <p:cNvSpPr txBox="1"/>
          <p:nvPr/>
        </p:nvSpPr>
        <p:spPr>
          <a:xfrm>
            <a:off x="4297680" y="5532120"/>
            <a:ext cx="3566160" cy="548640"/>
          </a:xfrm>
          <a:prstGeom prst="rect">
            <a:avLst/>
          </a:prstGeom>
          <a:noFill/>
          <a:ln/>
        </p:spPr>
        <p:txBody>
          <a:bodyPr wrap="square" lIns="0" tIns="0" rIns="0" bIns="0" rtlCol="0" anchor="ctr"/>
          <a:lstStyle/>
          <a:p>
            <a:pPr marL="0" indent="0" algn="ctr">
              <a:buNone/>
            </a:pPr>
            <a:r>
              <a:rPr lang="en-US" sz="1400" b="1" dirty="0">
                <a:solidFill>
                  <a:srgbClr val="A8D5C2"/>
                </a:solidFill>
                <a:latin typeface="Calibri" pitchFamily="34" charset="0"/>
                <a:ea typeface="Calibri" pitchFamily="34" charset="-122"/>
                <a:cs typeface="Calibri" pitchFamily="34" charset="-120"/>
              </a:rPr>
              <a:t>Impossible readings rejected</a:t>
            </a:r>
            <a:endParaRPr lang="en-US" sz="1400" dirty="0"/>
          </a:p>
        </p:txBody>
      </p:sp>
      <p:sp>
        <p:nvSpPr>
          <p:cNvPr id="12" name="anim|3|rise|after|"/>
          <p:cNvSpPr/>
          <p:nvPr/>
        </p:nvSpPr>
        <p:spPr>
          <a:xfrm>
            <a:off x="8046720" y="5532120"/>
            <a:ext cx="3566160" cy="548640"/>
          </a:xfrm>
          <a:prstGeom prst="roundRect">
            <a:avLst>
              <a:gd name="adj" fmla="val 50000"/>
            </a:avLst>
          </a:prstGeom>
          <a:solidFill>
            <a:srgbClr val="2B2F31"/>
          </a:solidFill>
          <a:ln w="15875">
            <a:solidFill>
              <a:srgbClr val="E2705D"/>
            </a:solidFill>
            <a:prstDash val="solid"/>
          </a:ln>
        </p:spPr>
      </p:sp>
      <p:sp>
        <p:nvSpPr>
          <p:cNvPr id="13" name="anim|3|rise|with|"/>
          <p:cNvSpPr txBox="1"/>
          <p:nvPr/>
        </p:nvSpPr>
        <p:spPr>
          <a:xfrm>
            <a:off x="8046720" y="5532120"/>
            <a:ext cx="3566160" cy="548640"/>
          </a:xfrm>
          <a:prstGeom prst="rect">
            <a:avLst/>
          </a:prstGeom>
          <a:noFill/>
          <a:ln/>
        </p:spPr>
        <p:txBody>
          <a:bodyPr wrap="square" lIns="0" tIns="0" rIns="0" bIns="0" rtlCol="0" anchor="ctr"/>
          <a:lstStyle/>
          <a:p>
            <a:pPr marL="0" indent="0" algn="ctr">
              <a:buNone/>
            </a:pPr>
            <a:r>
              <a:rPr lang="en-US" sz="1400" b="1" dirty="0">
                <a:solidFill>
                  <a:srgbClr val="E2705D"/>
                </a:solidFill>
                <a:latin typeface="Calibri" pitchFamily="34" charset="0"/>
                <a:ea typeface="Calibri" pitchFamily="34" charset="-122"/>
                <a:cs typeface="Calibri" pitchFamily="34" charset="-120"/>
              </a:rPr>
              <a:t>Decision support, not medical advice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37"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anim calcmode="lin" valueType="num">
                                      <p:cBhvr>
                                        <p:cTn id="27" dur="500" fill="hold"/>
                                        <p:tgtEl>
                                          <p:spTgt spid="8"/>
                                        </p:tgtEl>
                                        <p:attrNameLst>
                                          <p:attrName>ppt_x</p:attrName>
                                        </p:attrNameLst>
                                      </p:cBhvr>
                                      <p:tavLst>
                                        <p:tav tm="0">
                                          <p:val>
                                            <p:strVal val="#ppt_x"/>
                                          </p:val>
                                        </p:tav>
                                        <p:tav tm="100000">
                                          <p:val>
                                            <p:strVal val="#ppt_x"/>
                                          </p:val>
                                        </p:tav>
                                      </p:tavLst>
                                    </p:anim>
                                    <p:anim calcmode="lin" valueType="num">
                                      <p:cBhvr>
                                        <p:cTn id="28" dur="450" decel="100000" fill="hold"/>
                                        <p:tgtEl>
                                          <p:spTgt spid="8"/>
                                        </p:tgtEl>
                                        <p:attrNameLst>
                                          <p:attrName>ppt_y</p:attrName>
                                        </p:attrNameLst>
                                      </p:cBhvr>
                                      <p:tavLst>
                                        <p:tav tm="0">
                                          <p:val>
                                            <p:strVal val="#ppt_y+1"/>
                                          </p:val>
                                        </p:tav>
                                        <p:tav tm="100000">
                                          <p:val>
                                            <p:strVal val="#ppt_y-.03"/>
                                          </p:val>
                                        </p:tav>
                                      </p:tavLst>
                                    </p:anim>
                                    <p:anim calcmode="lin" valueType="num">
                                      <p:cBhvr>
                                        <p:cTn id="29"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par>
                                <p:cTn id="30" presetID="37"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450" decel="100000" fill="hold"/>
                                        <p:tgtEl>
                                          <p:spTgt spid="9"/>
                                        </p:tgtEl>
                                        <p:attrNameLst>
                                          <p:attrName>ppt_y</p:attrName>
                                        </p:attrNameLst>
                                      </p:cBhvr>
                                      <p:tavLst>
                                        <p:tav tm="0">
                                          <p:val>
                                            <p:strVal val="#ppt_y+1"/>
                                          </p:val>
                                        </p:tav>
                                        <p:tav tm="100000">
                                          <p:val>
                                            <p:strVal val="#ppt_y-.03"/>
                                          </p:val>
                                        </p:tav>
                                      </p:tavLst>
                                    </p:anim>
                                    <p:anim calcmode="lin" valueType="num">
                                      <p:cBhvr>
                                        <p:cTn id="35"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childTnLst>
                          </p:cTn>
                        </p:par>
                        <p:par>
                          <p:cTn id="36" fill="hold">
                            <p:stCondLst>
                              <p:cond delay="500"/>
                            </p:stCondLst>
                            <p:childTnLst>
                              <p:par>
                                <p:cTn id="37" presetID="37" presetClass="entr" presetSubtype="0" fill="hold" nodeType="afterEffect">
                                  <p:stCondLst>
                                    <p:cond delay="5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ppt_x</p:attrName>
                                        </p:attrNameLst>
                                      </p:cBhvr>
                                      <p:tavLst>
                                        <p:tav tm="0">
                                          <p:val>
                                            <p:strVal val="#ppt_x"/>
                                          </p:val>
                                        </p:tav>
                                        <p:tav tm="100000">
                                          <p:val>
                                            <p:strVal val="#ppt_x"/>
                                          </p:val>
                                        </p:tav>
                                      </p:tavLst>
                                    </p:anim>
                                    <p:anim calcmode="lin" valueType="num">
                                      <p:cBhvr>
                                        <p:cTn id="41" dur="450" decel="100000" fill="hold"/>
                                        <p:tgtEl>
                                          <p:spTgt spid="10"/>
                                        </p:tgtEl>
                                        <p:attrNameLst>
                                          <p:attrName>ppt_y</p:attrName>
                                        </p:attrNameLst>
                                      </p:cBhvr>
                                      <p:tavLst>
                                        <p:tav tm="0">
                                          <p:val>
                                            <p:strVal val="#ppt_y+1"/>
                                          </p:val>
                                        </p:tav>
                                        <p:tav tm="100000">
                                          <p:val>
                                            <p:strVal val="#ppt_y-.03"/>
                                          </p:val>
                                        </p:tav>
                                      </p:tavLst>
                                    </p:anim>
                                    <p:anim calcmode="lin" valueType="num">
                                      <p:cBhvr>
                                        <p:cTn id="42"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43" presetID="37"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450" decel="100000" fill="hold"/>
                                        <p:tgtEl>
                                          <p:spTgt spid="11"/>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childTnLst>
                          </p:cTn>
                        </p:par>
                        <p:par>
                          <p:cTn id="49" fill="hold">
                            <p:stCondLst>
                              <p:cond delay="1050"/>
                            </p:stCondLst>
                            <p:childTnLst>
                              <p:par>
                                <p:cTn id="50" presetID="37" presetClass="entr" presetSubtype="0" fill="hold" nodeType="afterEffect">
                                  <p:stCondLst>
                                    <p:cond delay="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anim calcmode="lin" valueType="num">
                                      <p:cBhvr>
                                        <p:cTn id="53" dur="500" fill="hold"/>
                                        <p:tgtEl>
                                          <p:spTgt spid="12"/>
                                        </p:tgtEl>
                                        <p:attrNameLst>
                                          <p:attrName>ppt_x</p:attrName>
                                        </p:attrNameLst>
                                      </p:cBhvr>
                                      <p:tavLst>
                                        <p:tav tm="0">
                                          <p:val>
                                            <p:strVal val="#ppt_x"/>
                                          </p:val>
                                        </p:tav>
                                        <p:tav tm="100000">
                                          <p:val>
                                            <p:strVal val="#ppt_x"/>
                                          </p:val>
                                        </p:tav>
                                      </p:tavLst>
                                    </p:anim>
                                    <p:anim calcmode="lin" valueType="num">
                                      <p:cBhvr>
                                        <p:cTn id="54" dur="450" decel="100000" fill="hold"/>
                                        <p:tgtEl>
                                          <p:spTgt spid="12"/>
                                        </p:tgtEl>
                                        <p:attrNameLst>
                                          <p:attrName>ppt_y</p:attrName>
                                        </p:attrNameLst>
                                      </p:cBhvr>
                                      <p:tavLst>
                                        <p:tav tm="0">
                                          <p:val>
                                            <p:strVal val="#ppt_y+1"/>
                                          </p:val>
                                        </p:tav>
                                        <p:tav tm="100000">
                                          <p:val>
                                            <p:strVal val="#ppt_y-.03"/>
                                          </p:val>
                                        </p:tav>
                                      </p:tavLst>
                                    </p:anim>
                                    <p:anim calcmode="lin" valueType="num">
                                      <p:cBhvr>
                                        <p:cTn id="55"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56" presetID="37"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anim calcmode="lin" valueType="num">
                                      <p:cBhvr>
                                        <p:cTn id="59" dur="500" fill="hold"/>
                                        <p:tgtEl>
                                          <p:spTgt spid="13"/>
                                        </p:tgtEl>
                                        <p:attrNameLst>
                                          <p:attrName>ppt_x</p:attrName>
                                        </p:attrNameLst>
                                      </p:cBhvr>
                                      <p:tavLst>
                                        <p:tav tm="0">
                                          <p:val>
                                            <p:strVal val="#ppt_x"/>
                                          </p:val>
                                        </p:tav>
                                        <p:tav tm="100000">
                                          <p:val>
                                            <p:strVal val="#ppt_x"/>
                                          </p:val>
                                        </p:tav>
                                      </p:tavLst>
                                    </p:anim>
                                    <p:anim calcmode="lin" valueType="num">
                                      <p:cBhvr>
                                        <p:cTn id="60" dur="450" decel="100000" fill="hold"/>
                                        <p:tgtEl>
                                          <p:spTgt spid="13"/>
                                        </p:tgtEl>
                                        <p:attrNameLst>
                                          <p:attrName>ppt_y</p:attrName>
                                        </p:attrNameLst>
                                      </p:cBhvr>
                                      <p:tavLst>
                                        <p:tav tm="0">
                                          <p:val>
                                            <p:strVal val="#ppt_y+1"/>
                                          </p:val>
                                        </p:tav>
                                        <p:tav tm="100000">
                                          <p:val>
                                            <p:strVal val="#ppt_y-.03"/>
                                          </p:val>
                                        </p:tav>
                                      </p:tavLst>
                                    </p:anim>
                                    <p:anim calcmode="lin" valueType="num">
                                      <p:cBhvr>
                                        <p:cTn id="61"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Graphic spid="7" grpId="0">
        <p:bldAsOne/>
      </p:bldGraphic>
      <p:bldP spid="9" grpId="0" animBg="1"/>
      <p:bldP spid="11"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Records a pharmacist can verify</a:t>
            </a:r>
            <a:endParaRPr lang="en-US" sz="3200" dirty="0"/>
          </a:p>
        </p:txBody>
      </p:sp>
      <p:sp>
        <p:nvSpPr>
          <p:cNvPr id="3" name="anim|1|fade|after|"/>
          <p:cNvSpPr/>
          <p:nvPr/>
        </p:nvSpPr>
        <p:spPr>
          <a:xfrm>
            <a:off x="493776" y="1316736"/>
            <a:ext cx="4773168" cy="4645152"/>
          </a:xfrm>
          <a:prstGeom prst="roundRect">
            <a:avLst>
              <a:gd name="adj" fmla="val 2362"/>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receipt.png"/>
          <p:cNvPicPr>
            <a:picLocks noChangeAspect="1"/>
          </p:cNvPicPr>
          <p:nvPr/>
        </p:nvPicPr>
        <p:blipFill>
          <a:blip r:embed="rId3"/>
          <a:stretch>
            <a:fillRect/>
          </a:stretch>
        </p:blipFill>
        <p:spPr>
          <a:xfrm>
            <a:off x="548640" y="1371600"/>
            <a:ext cx="4663440" cy="4535424"/>
          </a:xfrm>
          <a:prstGeom prst="rect">
            <a:avLst/>
          </a:prstGeom>
        </p:spPr>
      </p:pic>
      <p:sp>
        <p:nvSpPr>
          <p:cNvPr id="5" name="anim|2|wipe|click|"/>
          <p:cNvSpPr/>
          <p:nvPr/>
        </p:nvSpPr>
        <p:spPr>
          <a:xfrm>
            <a:off x="5669280" y="1417320"/>
            <a:ext cx="621792" cy="621792"/>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5806074" y="1554114"/>
            <a:ext cx="348204" cy="348204"/>
          </a:xfrm>
          <a:prstGeom prst="rect">
            <a:avLst/>
          </a:prstGeom>
        </p:spPr>
      </p:pic>
      <p:sp>
        <p:nvSpPr>
          <p:cNvPr id="7" name="anim|2|wipe|with|"/>
          <p:cNvSpPr txBox="1"/>
          <p:nvPr/>
        </p:nvSpPr>
        <p:spPr>
          <a:xfrm>
            <a:off x="6446520" y="1399032"/>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One tap freezes the record</a:t>
            </a:r>
            <a:endParaRPr lang="en-US" sz="1700" dirty="0"/>
          </a:p>
        </p:txBody>
      </p:sp>
      <p:sp>
        <p:nvSpPr>
          <p:cNvPr id="8" name="anim|2|wipe|with|"/>
          <p:cNvSpPr txBox="1"/>
          <p:nvPr/>
        </p:nvSpPr>
        <p:spPr>
          <a:xfrm>
            <a:off x="6446520" y="1783080"/>
            <a:ext cx="521208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LIFELOG stores a SHA-256 fingerprint of the exposure history in Tiger Data</a:t>
            </a:r>
            <a:endParaRPr lang="en-US" sz="1350" dirty="0"/>
          </a:p>
        </p:txBody>
      </p:sp>
      <p:sp>
        <p:nvSpPr>
          <p:cNvPr id="9" name="anim|3|wipe|click|"/>
          <p:cNvSpPr/>
          <p:nvPr/>
        </p:nvSpPr>
        <p:spPr>
          <a:xfrm>
            <a:off x="5669280" y="2560320"/>
            <a:ext cx="621792" cy="621792"/>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5806074" y="2697114"/>
            <a:ext cx="348204" cy="348204"/>
          </a:xfrm>
          <a:prstGeom prst="rect">
            <a:avLst/>
          </a:prstGeom>
        </p:spPr>
      </p:pic>
      <p:sp>
        <p:nvSpPr>
          <p:cNvPr id="11" name="anim|3|wipe|with|"/>
          <p:cNvSpPr txBox="1"/>
          <p:nvPr/>
        </p:nvSpPr>
        <p:spPr>
          <a:xfrm>
            <a:off x="6446520" y="2542032"/>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The pharmacist scans the QR code</a:t>
            </a:r>
            <a:endParaRPr lang="en-US" sz="1700" dirty="0"/>
          </a:p>
        </p:txBody>
      </p:sp>
      <p:sp>
        <p:nvSpPr>
          <p:cNvPr id="12" name="anim|3|wipe|with|"/>
          <p:cNvSpPr txBox="1"/>
          <p:nvPr/>
        </p:nvSpPr>
        <p:spPr>
          <a:xfrm>
            <a:off x="6446520" y="2926080"/>
            <a:ext cx="521208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They see days outside storage, peaks, budget used and the label's own words</a:t>
            </a:r>
            <a:endParaRPr lang="en-US" sz="1350" dirty="0"/>
          </a:p>
        </p:txBody>
      </p:sp>
      <p:sp>
        <p:nvSpPr>
          <p:cNvPr id="13" name="anim|4|wipe|click|"/>
          <p:cNvSpPr/>
          <p:nvPr/>
        </p:nvSpPr>
        <p:spPr>
          <a:xfrm>
            <a:off x="5669280" y="3703320"/>
            <a:ext cx="621792" cy="621792"/>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5806074" y="3840114"/>
            <a:ext cx="348204" cy="348204"/>
          </a:xfrm>
          <a:prstGeom prst="rect">
            <a:avLst/>
          </a:prstGeom>
        </p:spPr>
      </p:pic>
      <p:sp>
        <p:nvSpPr>
          <p:cNvPr id="15" name="anim|4|wipe|with|"/>
          <p:cNvSpPr txBox="1"/>
          <p:nvPr/>
        </p:nvSpPr>
        <p:spPr>
          <a:xfrm>
            <a:off x="6446520" y="3685032"/>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Changed since? It says so</a:t>
            </a:r>
            <a:endParaRPr lang="en-US" sz="1700" dirty="0"/>
          </a:p>
        </p:txBody>
      </p:sp>
      <p:sp>
        <p:nvSpPr>
          <p:cNvPr id="16" name="anim|4|wipe|with|"/>
          <p:cNvSpPr txBox="1"/>
          <p:nvPr/>
        </p:nvSpPr>
        <p:spPr>
          <a:xfrm>
            <a:off x="6446520" y="4069080"/>
            <a:ext cx="521208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Late sensor data or edits to that period are detected when the page recomputes the fingerprint</a:t>
            </a:r>
            <a:endParaRPr lang="en-US" sz="1350" dirty="0"/>
          </a:p>
        </p:txBody>
      </p:sp>
      <p:sp>
        <p:nvSpPr>
          <p:cNvPr id="17" name="anim|5|wipe|click|"/>
          <p:cNvSpPr/>
          <p:nvPr/>
        </p:nvSpPr>
        <p:spPr>
          <a:xfrm>
            <a:off x="5669280" y="4846320"/>
            <a:ext cx="621792" cy="621792"/>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5806074" y="4983114"/>
            <a:ext cx="348204" cy="348204"/>
          </a:xfrm>
          <a:prstGeom prst="rect">
            <a:avLst/>
          </a:prstGeom>
        </p:spPr>
      </p:pic>
      <p:sp>
        <p:nvSpPr>
          <p:cNvPr id="19" name="anim|5|wipe|with|"/>
          <p:cNvSpPr txBox="1"/>
          <p:nvPr/>
        </p:nvSpPr>
        <p:spPr>
          <a:xfrm>
            <a:off x="6446520" y="4828032"/>
            <a:ext cx="521208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Built into refill letters</a:t>
            </a:r>
            <a:endParaRPr lang="en-US" sz="1700" dirty="0"/>
          </a:p>
        </p:txBody>
      </p:sp>
      <p:sp>
        <p:nvSpPr>
          <p:cNvPr id="20" name="anim|5|wipe|with|"/>
          <p:cNvSpPr txBox="1"/>
          <p:nvPr/>
        </p:nvSpPr>
        <p:spPr>
          <a:xfrm>
            <a:off x="6446520" y="5212080"/>
            <a:ext cx="521208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Every replacement request carries its receipt code</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22</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Was the dose I took last Tuesday still good?</a:t>
            </a:r>
            <a:endParaRPr lang="en-US" sz="3200" dirty="0"/>
          </a:p>
        </p:txBody>
      </p:sp>
      <p:sp>
        <p:nvSpPr>
          <p:cNvPr id="3" name="anim|1|fade|after|"/>
          <p:cNvSpPr/>
          <p:nvPr/>
        </p:nvSpPr>
        <p:spPr>
          <a:xfrm>
            <a:off x="493776" y="1316736"/>
            <a:ext cx="5047488" cy="3566160"/>
          </a:xfrm>
          <a:prstGeom prst="roundRect">
            <a:avLst>
              <a:gd name="adj" fmla="val 3077"/>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dosebtn.png"/>
          <p:cNvPicPr>
            <a:picLocks noChangeAspect="1"/>
          </p:cNvPicPr>
          <p:nvPr/>
        </p:nvPicPr>
        <p:blipFill>
          <a:blip r:embed="rId3"/>
          <a:stretch>
            <a:fillRect/>
          </a:stretch>
        </p:blipFill>
        <p:spPr>
          <a:xfrm>
            <a:off x="548640" y="1371600"/>
            <a:ext cx="4937760" cy="3456432"/>
          </a:xfrm>
          <a:prstGeom prst="rect">
            <a:avLst/>
          </a:prstGeom>
        </p:spPr>
      </p:pic>
      <p:sp>
        <p:nvSpPr>
          <p:cNvPr id="5" name="anim|2|rise|click|"/>
          <p:cNvSpPr/>
          <p:nvPr/>
        </p:nvSpPr>
        <p:spPr>
          <a:xfrm>
            <a:off x="5751576" y="1316736"/>
            <a:ext cx="2670048" cy="2093976"/>
          </a:xfrm>
          <a:prstGeom prst="roundRect">
            <a:avLst>
              <a:gd name="adj" fmla="val 5240"/>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6" name="anim|2|rise|click|" descr="C:\Users\manog\AppData\Local\Temp\claude\D--HackDearborn5\a0a981a9-7044-4bcc-95cc-4043289afdb4\scratchpad\deck\crop-doses-top.png"/>
          <p:cNvPicPr>
            <a:picLocks noChangeAspect="1"/>
          </p:cNvPicPr>
          <p:nvPr/>
        </p:nvPicPr>
        <p:blipFill>
          <a:blip r:embed="rId4"/>
          <a:stretch>
            <a:fillRect/>
          </a:stretch>
        </p:blipFill>
        <p:spPr>
          <a:xfrm>
            <a:off x="5806440" y="1371600"/>
            <a:ext cx="2560320" cy="1984248"/>
          </a:xfrm>
          <a:prstGeom prst="rect">
            <a:avLst/>
          </a:prstGeom>
        </p:spPr>
      </p:pic>
      <p:sp>
        <p:nvSpPr>
          <p:cNvPr id="7" name="anim|2|fade|after|"/>
          <p:cNvSpPr/>
          <p:nvPr/>
        </p:nvSpPr>
        <p:spPr>
          <a:xfrm>
            <a:off x="8686800" y="1316736"/>
            <a:ext cx="2971800" cy="2093976"/>
          </a:xfrm>
          <a:prstGeom prst="roundRect">
            <a:avLst>
              <a:gd name="adj" fmla="val 5240"/>
            </a:avLst>
          </a:prstGeom>
          <a:solidFill>
            <a:srgbClr val="3A2F1E"/>
          </a:solidFill>
          <a:ln w="9525">
            <a:solidFill>
              <a:srgbClr val="F2A541"/>
            </a:solidFill>
            <a:prstDash val="solid"/>
          </a:ln>
        </p:spPr>
      </p:sp>
      <p:sp>
        <p:nvSpPr>
          <p:cNvPr id="8" name="anim|2|fade|with|"/>
          <p:cNvSpPr txBox="1"/>
          <p:nvPr/>
        </p:nvSpPr>
        <p:spPr>
          <a:xfrm>
            <a:off x="8869680" y="1463040"/>
            <a:ext cx="2606040" cy="685800"/>
          </a:xfrm>
          <a:prstGeom prst="rect">
            <a:avLst/>
          </a:prstGeom>
          <a:noFill/>
          <a:ln/>
        </p:spPr>
        <p:txBody>
          <a:bodyPr wrap="square" lIns="0" tIns="0" rIns="0" bIns="0" rtlCol="0" anchor="ctr"/>
          <a:lstStyle/>
          <a:p>
            <a:pPr marL="0" indent="0">
              <a:buNone/>
            </a:pPr>
            <a:r>
              <a:rPr lang="en-US" sz="3600" b="1" dirty="0">
                <a:solidFill>
                  <a:srgbClr val="F2A541"/>
                </a:solidFill>
                <a:latin typeface="Calibri" pitchFamily="34" charset="0"/>
                <a:ea typeface="Calibri" pitchFamily="34" charset="-122"/>
                <a:cs typeface="Calibri" pitchFamily="34" charset="-120"/>
              </a:rPr>
              <a:t>14 days</a:t>
            </a:r>
            <a:endParaRPr lang="en-US" sz="3600" dirty="0"/>
          </a:p>
        </p:txBody>
      </p:sp>
      <p:sp>
        <p:nvSpPr>
          <p:cNvPr id="9" name="anim|2|fade|with|"/>
          <p:cNvSpPr txBox="1"/>
          <p:nvPr/>
        </p:nvSpPr>
        <p:spPr>
          <a:xfrm>
            <a:off x="8869680" y="2194560"/>
            <a:ext cx="2606040" cy="1097280"/>
          </a:xfrm>
          <a:prstGeom prst="rect">
            <a:avLst/>
          </a:prstGeom>
          <a:noFill/>
          <a:ln/>
        </p:spPr>
        <p:txBody>
          <a:bodyPr wrap="square" lIns="0" tIns="0" rIns="0" bIns="0" rtlCol="0" anchor="t"/>
          <a:lstStyle/>
          <a:p>
            <a:pPr marL="0" indent="0">
              <a:buNone/>
            </a:pPr>
            <a:r>
              <a:rPr lang="en-US" sz="1350" dirty="0">
                <a:solidFill>
                  <a:srgbClr val="F4F1EA"/>
                </a:solidFill>
                <a:latin typeface="Calibri" pitchFamily="34" charset="0"/>
                <a:ea typeface="Calibri" pitchFamily="34" charset="-122"/>
                <a:cs typeface="Calibri" pitchFamily="34" charset="-120"/>
              </a:rPr>
              <a:t>of demo doses, each saved with the status it had at that moment, from Tiger Data</a:t>
            </a:r>
            <a:endParaRPr lang="en-US" sz="1350" dirty="0"/>
          </a:p>
        </p:txBody>
      </p:sp>
      <p:sp>
        <p:nvSpPr>
          <p:cNvPr id="10" name="anim|3|wipe|click|"/>
          <p:cNvSpPr/>
          <p:nvPr/>
        </p:nvSpPr>
        <p:spPr>
          <a:xfrm>
            <a:off x="5806440" y="3657600"/>
            <a:ext cx="548640" cy="548640"/>
          </a:xfrm>
          <a:prstGeom prst="ellipse">
            <a:avLst/>
          </a:prstGeom>
          <a:solidFill>
            <a:srgbClr val="343A3C"/>
          </a:solidFill>
          <a:ln/>
        </p:spPr>
      </p:sp>
      <p:pic>
        <p:nvPicPr>
          <p:cNvPr id="11" name="anim|3|wipe|click|" descr="preencoded.png"/>
          <p:cNvPicPr>
            <a:picLocks noChangeAspect="1"/>
          </p:cNvPicPr>
          <p:nvPr/>
        </p:nvPicPr>
        <p:blipFill>
          <a:blip r:embed="rId5"/>
          <a:stretch>
            <a:fillRect/>
          </a:stretch>
        </p:blipFill>
        <p:spPr>
          <a:xfrm>
            <a:off x="5927141" y="3778301"/>
            <a:ext cx="307238" cy="307238"/>
          </a:xfrm>
          <a:prstGeom prst="rect">
            <a:avLst/>
          </a:prstGeom>
        </p:spPr>
      </p:pic>
      <p:sp>
        <p:nvSpPr>
          <p:cNvPr id="12" name="anim|3|wipe|with|"/>
          <p:cNvSpPr txBox="1"/>
          <p:nvPr/>
        </p:nvSpPr>
        <p:spPr>
          <a:xfrm>
            <a:off x="6492240" y="3621024"/>
            <a:ext cx="5212080" cy="347472"/>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One tap: "I took a dose"</a:t>
            </a:r>
            <a:endParaRPr lang="en-US" sz="1600" dirty="0"/>
          </a:p>
        </p:txBody>
      </p:sp>
      <p:sp>
        <p:nvSpPr>
          <p:cNvPr id="13" name="anim|3|wipe|with|"/>
          <p:cNvSpPr txBox="1"/>
          <p:nvPr/>
        </p:nvSpPr>
        <p:spPr>
          <a:xfrm>
            <a:off x="6492240" y="3950208"/>
            <a:ext cx="5212080" cy="5029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Saves the status, budget left and temperature at that moment</a:t>
            </a:r>
            <a:endParaRPr lang="en-US" sz="1300" dirty="0"/>
          </a:p>
        </p:txBody>
      </p:sp>
      <p:sp>
        <p:nvSpPr>
          <p:cNvPr id="14" name="anim|4|wipe|click|"/>
          <p:cNvSpPr/>
          <p:nvPr/>
        </p:nvSpPr>
        <p:spPr>
          <a:xfrm>
            <a:off x="5806440" y="4526280"/>
            <a:ext cx="548640" cy="548640"/>
          </a:xfrm>
          <a:prstGeom prst="ellipse">
            <a:avLst/>
          </a:prstGeom>
          <a:solidFill>
            <a:srgbClr val="343A3C"/>
          </a:solidFill>
          <a:ln/>
        </p:spPr>
      </p:sp>
      <p:pic>
        <p:nvPicPr>
          <p:cNvPr id="15" name="anim|4|wipe|click|" descr="preencoded.png"/>
          <p:cNvPicPr>
            <a:picLocks noChangeAspect="1"/>
          </p:cNvPicPr>
          <p:nvPr/>
        </p:nvPicPr>
        <p:blipFill>
          <a:blip r:embed="rId6"/>
          <a:stretch>
            <a:fillRect/>
          </a:stretch>
        </p:blipFill>
        <p:spPr>
          <a:xfrm>
            <a:off x="5927141" y="4646981"/>
            <a:ext cx="307238" cy="307238"/>
          </a:xfrm>
          <a:prstGeom prst="rect">
            <a:avLst/>
          </a:prstGeom>
        </p:spPr>
      </p:pic>
      <p:sp>
        <p:nvSpPr>
          <p:cNvPr id="16" name="anim|4|wipe|with|"/>
          <p:cNvSpPr txBox="1"/>
          <p:nvPr/>
        </p:nvSpPr>
        <p:spPr>
          <a:xfrm>
            <a:off x="6492240" y="4489704"/>
            <a:ext cx="5212080" cy="347472"/>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Rechecked when late data arrives</a:t>
            </a:r>
            <a:endParaRPr lang="en-US" sz="1600" dirty="0"/>
          </a:p>
        </p:txBody>
      </p:sp>
      <p:sp>
        <p:nvSpPr>
          <p:cNvPr id="17" name="anim|4|wipe|with|"/>
          <p:cNvSpPr txBox="1"/>
          <p:nvPr/>
        </p:nvSpPr>
        <p:spPr>
          <a:xfrm>
            <a:off x="6492240" y="4818888"/>
            <a:ext cx="5212080" cy="5029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If a sensor uploads hours later and the answer changes, the dose is flagged</a:t>
            </a:r>
            <a:endParaRPr lang="en-US" sz="1300" dirty="0"/>
          </a:p>
        </p:txBody>
      </p:sp>
      <p:sp>
        <p:nvSpPr>
          <p:cNvPr id="18" name="anim|5|wipe|click|"/>
          <p:cNvSpPr/>
          <p:nvPr/>
        </p:nvSpPr>
        <p:spPr>
          <a:xfrm>
            <a:off x="5806440" y="5394960"/>
            <a:ext cx="548640" cy="548640"/>
          </a:xfrm>
          <a:prstGeom prst="ellipse">
            <a:avLst/>
          </a:prstGeom>
          <a:solidFill>
            <a:srgbClr val="343A3C"/>
          </a:solidFill>
          <a:ln/>
        </p:spPr>
      </p:sp>
      <p:pic>
        <p:nvPicPr>
          <p:cNvPr id="19" name="anim|5|wipe|click|" descr="preencoded.png"/>
          <p:cNvPicPr>
            <a:picLocks noChangeAspect="1"/>
          </p:cNvPicPr>
          <p:nvPr/>
        </p:nvPicPr>
        <p:blipFill>
          <a:blip r:embed="rId7"/>
          <a:stretch>
            <a:fillRect/>
          </a:stretch>
        </p:blipFill>
        <p:spPr>
          <a:xfrm>
            <a:off x="5927141" y="5515661"/>
            <a:ext cx="307238" cy="307238"/>
          </a:xfrm>
          <a:prstGeom prst="rect">
            <a:avLst/>
          </a:prstGeom>
        </p:spPr>
      </p:pic>
      <p:sp>
        <p:nvSpPr>
          <p:cNvPr id="20" name="anim|5|wipe|with|"/>
          <p:cNvSpPr txBox="1"/>
          <p:nvPr/>
        </p:nvSpPr>
        <p:spPr>
          <a:xfrm>
            <a:off x="6492240" y="5358384"/>
            <a:ext cx="5212080" cy="347472"/>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Ask in plain words</a:t>
            </a:r>
            <a:endParaRPr lang="en-US" sz="1600" dirty="0"/>
          </a:p>
        </p:txBody>
      </p:sp>
      <p:sp>
        <p:nvSpPr>
          <p:cNvPr id="21" name="anim|5|wipe|with|"/>
          <p:cNvSpPr txBox="1"/>
          <p:nvPr/>
        </p:nvSpPr>
        <p:spPr>
          <a:xfrm>
            <a:off x="6492240" y="5687568"/>
            <a:ext cx="5212080" cy="50292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Ask LIFELOG calls get_doses and answers from the record; doses are in every receipt</a:t>
            </a:r>
            <a:endParaRPr lang="en-US" sz="1300" dirty="0"/>
          </a:p>
        </p:txBody>
      </p:sp>
      <p:sp>
        <p:nvSpPr>
          <p:cNvPr id="22" name="anim|6|fade|click|"/>
          <p:cNvSpPr txBox="1"/>
          <p:nvPr/>
        </p:nvSpPr>
        <p:spPr>
          <a:xfrm>
            <a:off x="548640" y="5074920"/>
            <a:ext cx="4937760" cy="822960"/>
          </a:xfrm>
          <a:prstGeom prst="rect">
            <a:avLst/>
          </a:prstGeom>
          <a:noFill/>
          <a:ln/>
        </p:spPr>
        <p:txBody>
          <a:bodyPr wrap="square" lIns="0" tIns="0" rIns="0" bIns="0" rtlCol="0" anchor="t"/>
          <a:lstStyle/>
          <a:p>
            <a:pPr marL="0" indent="0">
              <a:buNone/>
            </a:pPr>
            <a:r>
              <a:rPr lang="en-US" sz="1500" i="1" dirty="0">
                <a:solidFill>
                  <a:srgbClr val="A8D5C2"/>
                </a:solidFill>
                <a:latin typeface="Calibri" pitchFamily="34" charset="0"/>
                <a:ea typeface="Calibri" pitchFamily="34" charset="-122"/>
                <a:cs typeface="Calibri" pitchFamily="34" charset="-120"/>
              </a:rPr>
              <a:t>Patients stop guessing; pharmacists get a verifiable dose-by-dose record.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23</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450" decel="100000" fill="hold"/>
                                        <p:tgtEl>
                                          <p:spTgt spid="5"/>
                                        </p:tgtEl>
                                        <p:attrNameLst>
                                          <p:attrName>ppt_y</p:attrName>
                                        </p:attrNameLst>
                                      </p:cBhvr>
                                      <p:tavLst>
                                        <p:tav tm="0">
                                          <p:val>
                                            <p:strVal val="#ppt_y+1"/>
                                          </p:val>
                                        </p:tav>
                                        <p:tav tm="100000">
                                          <p:val>
                                            <p:strVal val="#ppt_y-.03"/>
                                          </p:val>
                                        </p:tav>
                                      </p:tavLst>
                                    </p:anim>
                                    <p:anim calcmode="lin" valueType="num">
                                      <p:cBhvr>
                                        <p:cTn id="19"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fill="hold"/>
                                        <p:tgtEl>
                                          <p:spTgt spid="6"/>
                                        </p:tgtEl>
                                        <p:attrNameLst>
                                          <p:attrName>ppt_x</p:attrName>
                                        </p:attrNameLst>
                                      </p:cBhvr>
                                      <p:tavLst>
                                        <p:tav tm="0">
                                          <p:val>
                                            <p:strVal val="#ppt_x"/>
                                          </p:val>
                                        </p:tav>
                                        <p:tav tm="100000">
                                          <p:val>
                                            <p:strVal val="#ppt_x"/>
                                          </p:val>
                                        </p:tav>
                                      </p:tavLst>
                                    </p:anim>
                                    <p:anim calcmode="lin" valueType="num">
                                      <p:cBhvr>
                                        <p:cTn id="24" dur="450" decel="100000" fill="hold"/>
                                        <p:tgtEl>
                                          <p:spTgt spid="6"/>
                                        </p:tgtEl>
                                        <p:attrNameLst>
                                          <p:attrName>ppt_y</p:attrName>
                                        </p:attrNameLst>
                                      </p:cBhvr>
                                      <p:tavLst>
                                        <p:tav tm="0">
                                          <p:val>
                                            <p:strVal val="#ppt_y+1"/>
                                          </p:val>
                                        </p:tav>
                                        <p:tav tm="100000">
                                          <p:val>
                                            <p:strVal val="#ppt_y-.03"/>
                                          </p:val>
                                        </p:tav>
                                      </p:tavLst>
                                    </p:anim>
                                    <p:anim calcmode="lin" valueType="num">
                                      <p:cBhvr>
                                        <p:cTn id="25"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6" fill="hold">
                            <p:stCondLst>
                              <p:cond delay="500"/>
                            </p:stCondLst>
                            <p:childTnLst>
                              <p:par>
                                <p:cTn id="27" presetID="10" presetClass="entr" presetSubtype="0" fill="hold" nodeType="afterEffect">
                                  <p:stCondLst>
                                    <p:cond delay="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par>
                                <p:cTn id="41" presetID="22" presetClass="entr" presetSubtype="8"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par>
                                <p:cTn id="55" presetID="22" presetClass="entr" presetSubtype="8"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wipe(left)">
                                      <p:cBhvr>
                                        <p:cTn id="68" dur="500"/>
                                        <p:tgtEl>
                                          <p:spTgt spid="18"/>
                                        </p:tgtEl>
                                      </p:cBhvr>
                                    </p:animEffect>
                                  </p:childTnLst>
                                </p:cTn>
                              </p:par>
                              <p:par>
                                <p:cTn id="69" presetID="22" presetClass="entr" presetSubtype="8" fill="hold"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wipe(left)">
                                      <p:cBhvr>
                                        <p:cTn id="71" dur="500"/>
                                        <p:tgtEl>
                                          <p:spTgt spid="19"/>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500"/>
                                        <p:tgtEl>
                                          <p:spTgt spid="20"/>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6" grpId="0" animBg="1"/>
      <p:bldP spid="17" grpId="0" animBg="1"/>
      <p:bldP spid="20" grpId="0" animBg="1"/>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In your language, with your data in your hands</a:t>
            </a:r>
            <a:endParaRPr lang="en-US" sz="3200" dirty="0"/>
          </a:p>
        </p:txBody>
      </p:sp>
      <p:sp>
        <p:nvSpPr>
          <p:cNvPr id="3" name="anim|1|fade|after|"/>
          <p:cNvSpPr/>
          <p:nvPr/>
        </p:nvSpPr>
        <p:spPr>
          <a:xfrm>
            <a:off x="493776" y="1316736"/>
            <a:ext cx="5961888" cy="3035808"/>
          </a:xfrm>
          <a:prstGeom prst="roundRect">
            <a:avLst>
              <a:gd name="adj" fmla="val 3614"/>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arabic.png"/>
          <p:cNvPicPr>
            <a:picLocks noChangeAspect="1"/>
          </p:cNvPicPr>
          <p:nvPr/>
        </p:nvPicPr>
        <p:blipFill>
          <a:blip r:embed="rId3"/>
          <a:stretch>
            <a:fillRect/>
          </a:stretch>
        </p:blipFill>
        <p:spPr>
          <a:xfrm>
            <a:off x="548640" y="1371600"/>
            <a:ext cx="5852160" cy="2926080"/>
          </a:xfrm>
          <a:prstGeom prst="rect">
            <a:avLst/>
          </a:prstGeom>
        </p:spPr>
      </p:pic>
      <p:sp>
        <p:nvSpPr>
          <p:cNvPr id="5" name="anim|2|wipe|click|"/>
          <p:cNvSpPr/>
          <p:nvPr/>
        </p:nvSpPr>
        <p:spPr>
          <a:xfrm>
            <a:off x="6720840" y="1417320"/>
            <a:ext cx="603504" cy="603504"/>
          </a:xfrm>
          <a:prstGeom prst="ellipse">
            <a:avLst/>
          </a:prstGeom>
          <a:solidFill>
            <a:srgbClr val="343A3C"/>
          </a:solidFill>
          <a:ln/>
        </p:spPr>
      </p:sp>
      <p:pic>
        <p:nvPicPr>
          <p:cNvPr id="6" name="anim|2|wipe|click|" descr="preencoded.png"/>
          <p:cNvPicPr>
            <a:picLocks noChangeAspect="1"/>
          </p:cNvPicPr>
          <p:nvPr/>
        </p:nvPicPr>
        <p:blipFill>
          <a:blip r:embed="rId4"/>
          <a:stretch>
            <a:fillRect/>
          </a:stretch>
        </p:blipFill>
        <p:spPr>
          <a:xfrm>
            <a:off x="6853611" y="1550091"/>
            <a:ext cx="337962" cy="337962"/>
          </a:xfrm>
          <a:prstGeom prst="rect">
            <a:avLst/>
          </a:prstGeom>
        </p:spPr>
      </p:pic>
      <p:sp>
        <p:nvSpPr>
          <p:cNvPr id="7" name="anim|2|wipe|with|"/>
          <p:cNvSpPr txBox="1"/>
          <p:nvPr/>
        </p:nvSpPr>
        <p:spPr>
          <a:xfrm>
            <a:off x="7452360" y="1399032"/>
            <a:ext cx="425196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English, Arabic, Spanish, Bengali</a:t>
            </a:r>
            <a:endParaRPr lang="en-US" sz="1650" dirty="0"/>
          </a:p>
        </p:txBody>
      </p:sp>
      <p:sp>
        <p:nvSpPr>
          <p:cNvPr id="8" name="anim|2|wipe|with|"/>
          <p:cNvSpPr txBox="1"/>
          <p:nvPr/>
        </p:nvSpPr>
        <p:spPr>
          <a:xfrm>
            <a:off x="7452360" y="1764792"/>
            <a:ext cx="4251960" cy="77724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The whole interface, right-to-left for Arabic, saved to your account. Label quotes stay exactly as the FDA wrote them</a:t>
            </a:r>
            <a:endParaRPr lang="en-US" sz="1300" dirty="0"/>
          </a:p>
        </p:txBody>
      </p:sp>
      <p:sp>
        <p:nvSpPr>
          <p:cNvPr id="9" name="anim|3|wipe|click|"/>
          <p:cNvSpPr/>
          <p:nvPr/>
        </p:nvSpPr>
        <p:spPr>
          <a:xfrm>
            <a:off x="6720840" y="2587752"/>
            <a:ext cx="603504" cy="603504"/>
          </a:xfrm>
          <a:prstGeom prst="ellipse">
            <a:avLst/>
          </a:prstGeom>
          <a:solidFill>
            <a:srgbClr val="343A3C"/>
          </a:solidFill>
          <a:ln/>
        </p:spPr>
      </p:sp>
      <p:pic>
        <p:nvPicPr>
          <p:cNvPr id="10" name="anim|3|wipe|click|" descr="preencoded.png"/>
          <p:cNvPicPr>
            <a:picLocks noChangeAspect="1"/>
          </p:cNvPicPr>
          <p:nvPr/>
        </p:nvPicPr>
        <p:blipFill>
          <a:blip r:embed="rId5"/>
          <a:stretch>
            <a:fillRect/>
          </a:stretch>
        </p:blipFill>
        <p:spPr>
          <a:xfrm>
            <a:off x="6853611" y="2720523"/>
            <a:ext cx="337962" cy="337962"/>
          </a:xfrm>
          <a:prstGeom prst="rect">
            <a:avLst/>
          </a:prstGeom>
        </p:spPr>
      </p:pic>
      <p:sp>
        <p:nvSpPr>
          <p:cNvPr id="11" name="anim|3|wipe|with|"/>
          <p:cNvSpPr txBox="1"/>
          <p:nvPr/>
        </p:nvSpPr>
        <p:spPr>
          <a:xfrm>
            <a:off x="7452360" y="2569464"/>
            <a:ext cx="425196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Download everything</a:t>
            </a:r>
            <a:endParaRPr lang="en-US" sz="1650" dirty="0"/>
          </a:p>
        </p:txBody>
      </p:sp>
      <p:sp>
        <p:nvSpPr>
          <p:cNvPr id="12" name="anim|3|wipe|with|"/>
          <p:cNvSpPr txBox="1"/>
          <p:nvPr/>
        </p:nvSpPr>
        <p:spPr>
          <a:xfrm>
            <a:off x="7452360" y="2935224"/>
            <a:ext cx="4251960" cy="77724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One ZIP: every medicine, every temperature reading, doses, alerts, receipts and messages</a:t>
            </a:r>
            <a:endParaRPr lang="en-US" sz="1300" dirty="0"/>
          </a:p>
        </p:txBody>
      </p:sp>
      <p:sp>
        <p:nvSpPr>
          <p:cNvPr id="13" name="anim|4|wipe|click|"/>
          <p:cNvSpPr/>
          <p:nvPr/>
        </p:nvSpPr>
        <p:spPr>
          <a:xfrm>
            <a:off x="6720840" y="3758184"/>
            <a:ext cx="603504" cy="603504"/>
          </a:xfrm>
          <a:prstGeom prst="ellipse">
            <a:avLst/>
          </a:prstGeom>
          <a:solidFill>
            <a:srgbClr val="343A3C"/>
          </a:solidFill>
          <a:ln/>
        </p:spPr>
      </p:sp>
      <p:pic>
        <p:nvPicPr>
          <p:cNvPr id="14" name="anim|4|wipe|click|" descr="preencoded.png"/>
          <p:cNvPicPr>
            <a:picLocks noChangeAspect="1"/>
          </p:cNvPicPr>
          <p:nvPr/>
        </p:nvPicPr>
        <p:blipFill>
          <a:blip r:embed="rId6"/>
          <a:stretch>
            <a:fillRect/>
          </a:stretch>
        </p:blipFill>
        <p:spPr>
          <a:xfrm>
            <a:off x="6853611" y="3890955"/>
            <a:ext cx="337962" cy="337962"/>
          </a:xfrm>
          <a:prstGeom prst="rect">
            <a:avLst/>
          </a:prstGeom>
        </p:spPr>
      </p:pic>
      <p:sp>
        <p:nvSpPr>
          <p:cNvPr id="15" name="anim|4|wipe|with|"/>
          <p:cNvSpPr txBox="1"/>
          <p:nvPr/>
        </p:nvSpPr>
        <p:spPr>
          <a:xfrm>
            <a:off x="7452360" y="3739896"/>
            <a:ext cx="425196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Delete for real</a:t>
            </a:r>
            <a:endParaRPr lang="en-US" sz="1650" dirty="0"/>
          </a:p>
        </p:txBody>
      </p:sp>
      <p:sp>
        <p:nvSpPr>
          <p:cNvPr id="16" name="anim|4|wipe|with|"/>
          <p:cNvSpPr txBox="1"/>
          <p:nvPr/>
        </p:nvSpPr>
        <p:spPr>
          <a:xfrm>
            <a:off x="7452360" y="4105656"/>
            <a:ext cx="4251960" cy="77724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Your account and every reading are removed, including the rollups built from them</a:t>
            </a:r>
            <a:endParaRPr lang="en-US" sz="1300" dirty="0"/>
          </a:p>
        </p:txBody>
      </p:sp>
      <p:sp>
        <p:nvSpPr>
          <p:cNvPr id="17" name="anim|5|wipe|click|"/>
          <p:cNvSpPr/>
          <p:nvPr/>
        </p:nvSpPr>
        <p:spPr>
          <a:xfrm>
            <a:off x="6720840" y="4928616"/>
            <a:ext cx="603504" cy="603504"/>
          </a:xfrm>
          <a:prstGeom prst="ellipse">
            <a:avLst/>
          </a:prstGeom>
          <a:solidFill>
            <a:srgbClr val="343A3C"/>
          </a:solidFill>
          <a:ln/>
        </p:spPr>
      </p:sp>
      <p:pic>
        <p:nvPicPr>
          <p:cNvPr id="18" name="anim|5|wipe|click|" descr="preencoded.png"/>
          <p:cNvPicPr>
            <a:picLocks noChangeAspect="1"/>
          </p:cNvPicPr>
          <p:nvPr/>
        </p:nvPicPr>
        <p:blipFill>
          <a:blip r:embed="rId7"/>
          <a:stretch>
            <a:fillRect/>
          </a:stretch>
        </p:blipFill>
        <p:spPr>
          <a:xfrm>
            <a:off x="6853611" y="5061387"/>
            <a:ext cx="337962" cy="337962"/>
          </a:xfrm>
          <a:prstGeom prst="rect">
            <a:avLst/>
          </a:prstGeom>
        </p:spPr>
      </p:pic>
      <p:sp>
        <p:nvSpPr>
          <p:cNvPr id="19" name="anim|5|wipe|with|"/>
          <p:cNvSpPr txBox="1"/>
          <p:nvPr/>
        </p:nvSpPr>
        <p:spPr>
          <a:xfrm>
            <a:off x="7452360" y="4910328"/>
            <a:ext cx="4251960" cy="365760"/>
          </a:xfrm>
          <a:prstGeom prst="rect">
            <a:avLst/>
          </a:prstGeom>
          <a:noFill/>
          <a:ln/>
        </p:spPr>
        <p:txBody>
          <a:bodyPr wrap="square" lIns="0" tIns="0" rIns="0" bIns="0" rtlCol="0" anchor="ctr"/>
          <a:lstStyle/>
          <a:p>
            <a:pPr marL="0" indent="0">
              <a:buNone/>
            </a:pPr>
            <a:r>
              <a:rPr lang="en-US" sz="1650" b="1" dirty="0">
                <a:solidFill>
                  <a:srgbClr val="F4F1EA"/>
                </a:solidFill>
                <a:latin typeface="Calibri" pitchFamily="34" charset="0"/>
                <a:ea typeface="Calibri" pitchFamily="34" charset="-122"/>
                <a:cs typeface="Calibri" pitchFamily="34" charset="-120"/>
              </a:rPr>
              <a:t>Private by the database</a:t>
            </a:r>
            <a:endParaRPr lang="en-US" sz="1650" dirty="0"/>
          </a:p>
        </p:txBody>
      </p:sp>
      <p:sp>
        <p:nvSpPr>
          <p:cNvPr id="20" name="anim|5|wipe|with|"/>
          <p:cNvSpPr txBox="1"/>
          <p:nvPr/>
        </p:nvSpPr>
        <p:spPr>
          <a:xfrm>
            <a:off x="7452360" y="5276088"/>
            <a:ext cx="4251960" cy="77724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Row-level security, as before: no one else's queries can return your rows</a:t>
            </a:r>
            <a:endParaRPr lang="en-US" sz="1300" dirty="0"/>
          </a:p>
        </p:txBody>
      </p:sp>
      <p:sp>
        <p:nvSpPr>
          <p:cNvPr id="21" name="anim|6|fade|click|"/>
          <p:cNvSpPr/>
          <p:nvPr/>
        </p:nvSpPr>
        <p:spPr>
          <a:xfrm>
            <a:off x="548640" y="4572000"/>
            <a:ext cx="5852160" cy="1463040"/>
          </a:xfrm>
          <a:prstGeom prst="roundRect">
            <a:avLst>
              <a:gd name="adj" fmla="val 7500"/>
            </a:avLst>
          </a:prstGeom>
          <a:solidFill>
            <a:srgbClr val="23352F"/>
          </a:solidFill>
          <a:ln w="9525">
            <a:solidFill>
              <a:srgbClr val="6FA391"/>
            </a:solidFill>
            <a:prstDash val="solid"/>
          </a:ln>
        </p:spPr>
      </p:sp>
      <p:sp>
        <p:nvSpPr>
          <p:cNvPr id="22" name="anim|6|fade|with|"/>
          <p:cNvSpPr txBox="1"/>
          <p:nvPr/>
        </p:nvSpPr>
        <p:spPr>
          <a:xfrm>
            <a:off x="777240" y="4572000"/>
            <a:ext cx="5440680" cy="1463040"/>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Dearborn has one of the largest Arabic-speaking communities in the U.S. A safety tool has to speak its language.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24</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Works with or without AI</a:t>
            </a:r>
            <a:endParaRPr lang="en-US" sz="3200" dirty="0"/>
          </a:p>
        </p:txBody>
      </p:sp>
      <p:graphicFrame>
        <p:nvGraphicFramePr>
          <p:cNvPr id="26" name="anim|1|fade|click|"/>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12064">
                <a:tc>
                  <a:txBody>
                    <a:bodyPr/>
                    <a:lstStyle/>
                    <a:p>
                      <a:pPr marL="0" indent="0">
                        <a:buNone/>
                      </a:pPr>
                      <a:r>
                        <a:rPr lang="en-US" sz="1400" b="1" dirty="0">
                          <a:solidFill>
                            <a:srgbClr val="F2A541"/>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b="1" dirty="0">
                          <a:solidFill>
                            <a:srgbClr val="9C8CE0"/>
                          </a:solidFill>
                          <a:latin typeface="Calibri" pitchFamily="34" charset="0"/>
                          <a:ea typeface="Calibri" pitchFamily="34" charset="-122"/>
                          <a:cs typeface="Calibri" pitchFamily="34" charset="-120"/>
                        </a:rPr>
                        <a:t>With Gemini</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b="1" dirty="0">
                          <a:solidFill>
                            <a:srgbClr val="A8D5C2"/>
                          </a:solidFill>
                          <a:latin typeface="Calibri" pitchFamily="34" charset="0"/>
                          <a:ea typeface="Calibri" pitchFamily="34" charset="-122"/>
                          <a:cs typeface="Calibri" pitchFamily="34" charset="-120"/>
                        </a:rPr>
                        <a:t>When Gemini is unavailable</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Is it safe to use?</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Grounded verdict quoting the label</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Rule-based verdict from your data + label</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Refill letter</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Written by Gemini</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Template with your exposure log + receipt</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2"/>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Add a medicine by name</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Gemini reads the FDA label</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Rules read the FDA label (flagged to check)</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Outage dispatch plan</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Gemini, with Maps grounding</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Ranked list + ready-to-send texts</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4"/>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Typed report ("in the car 2 h")</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Gemini extracts events</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Keyword + duration parser</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5"/>
                  </a:ext>
                </a:extLst>
              </a:tr>
              <a:tr h="512064">
                <a:tc>
                  <a:txBody>
                    <a:bodyPr/>
                    <a:lstStyle/>
                    <a:p>
                      <a:pPr marL="0" indent="0">
                        <a:buNone/>
                      </a:pPr>
                      <a:r>
                        <a:rPr lang="en-US" sz="1400" b="1" dirty="0">
                          <a:solidFill>
                            <a:srgbClr val="F4F1EA"/>
                          </a:solidFill>
                          <a:latin typeface="Calibri" pitchFamily="34" charset="0"/>
                          <a:ea typeface="Calibri" pitchFamily="34" charset="-122"/>
                          <a:cs typeface="Calibri" pitchFamily="34" charset="-120"/>
                        </a:rPr>
                        <a:t>Ask LIFELOG</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Function calling over live data</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tc>
                  <a:txBody>
                    <a:bodyPr/>
                    <a:lstStyle/>
                    <a:p>
                      <a:pPr marL="0" indent="0">
                        <a:buNone/>
                      </a:pPr>
                      <a:r>
                        <a:rPr lang="en-US" sz="1400" dirty="0">
                          <a:solidFill>
                            <a:srgbClr val="F4F1EA"/>
                          </a:solidFill>
                          <a:latin typeface="Calibri" pitchFamily="34" charset="0"/>
                          <a:ea typeface="Calibri" pitchFamily="34" charset="-122"/>
                          <a:cs typeface="Calibri" pitchFamily="34" charset="-120"/>
                        </a:rPr>
                        <a:t>Summary straight from Tiger</a:t>
                      </a:r>
                      <a:endParaRPr lang="en-US" sz="1400" dirty="0">
                        <a:latin typeface="Calibri" charset="0"/>
                        <a:ea typeface="Calibri" charset="0"/>
                        <a:cs typeface="Calibri" charset="0"/>
                      </a:endParaRPr>
                    </a:p>
                  </a:txBody>
                  <a:tcPr>
                    <a:lnL w="9525" cap="flat" cmpd="sng" algn="ctr">
                      <a:solidFill>
                        <a:srgbClr val="45504C"/>
                      </a:solidFill>
                      <a:prstDash val="solid"/>
                      <a:round/>
                      <a:headEnd type="none" w="med" len="med"/>
                      <a:tailEnd type="none" w="med" len="med"/>
                    </a:lnL>
                    <a:lnR w="9525" cap="flat" cmpd="sng" algn="ctr">
                      <a:solidFill>
                        <a:srgbClr val="45504C"/>
                      </a:solidFill>
                      <a:prstDash val="solid"/>
                      <a:round/>
                      <a:headEnd type="none" w="med" len="med"/>
                      <a:tailEnd type="none" w="med" len="med"/>
                    </a:lnR>
                    <a:lnT w="9525" cap="flat" cmpd="sng" algn="ctr">
                      <a:solidFill>
                        <a:srgbClr val="45504C"/>
                      </a:solidFill>
                      <a:prstDash val="solid"/>
                      <a:round/>
                      <a:headEnd type="none" w="med" len="med"/>
                      <a:tailEnd type="none" w="med" len="med"/>
                    </a:lnT>
                    <a:lnB w="9525" cap="flat" cmpd="sng" algn="ctr">
                      <a:solidFill>
                        <a:srgbClr val="45504C"/>
                      </a:solidFill>
                      <a:prstDash val="solid"/>
                      <a:round/>
                      <a:headEnd type="none" w="med" len="med"/>
                      <a:tailEnd type="none" w="med" len="med"/>
                    </a:lnB>
                    <a:solidFill>
                      <a:srgbClr val="2B2F31"/>
                    </a:solidFill>
                  </a:tcPr>
                </a:tc>
                <a:extLst>
                  <a:ext uri="{0D108BD9-81ED-4DB2-BD59-A6C34878D82A}">
                    <a16:rowId xmlns:a16="http://schemas.microsoft.com/office/drawing/2014/main" val="10006"/>
                  </a:ext>
                </a:extLst>
              </a:tr>
            </a:tbl>
          </a:graphicData>
        </a:graphic>
      </p:graphicFrame>
      <p:sp>
        <p:nvSpPr>
          <p:cNvPr id="4" name="anim|2|fade|click|"/>
          <p:cNvSpPr/>
          <p:nvPr/>
        </p:nvSpPr>
        <p:spPr>
          <a:xfrm>
            <a:off x="548640" y="5257800"/>
            <a:ext cx="11064240" cy="822960"/>
          </a:xfrm>
          <a:prstGeom prst="roundRect">
            <a:avLst>
              <a:gd name="adj" fmla="val 13333"/>
            </a:avLst>
          </a:prstGeom>
          <a:solidFill>
            <a:srgbClr val="23352F"/>
          </a:solidFill>
          <a:ln w="9525">
            <a:solidFill>
              <a:srgbClr val="6FA391"/>
            </a:solidFill>
            <a:prstDash val="solid"/>
          </a:ln>
        </p:spPr>
      </p:sp>
      <p:sp>
        <p:nvSpPr>
          <p:cNvPr id="5" name="anim|2|fade|with|"/>
          <p:cNvSpPr txBox="1"/>
          <p:nvPr/>
        </p:nvSpPr>
        <p:spPr>
          <a:xfrm>
            <a:off x="822960" y="5257800"/>
            <a:ext cx="10515600" cy="8229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Free-tier Gemini quotas run out. Every LIFELOG button still answers, and says honestly when no AI was used.</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25</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Build on LIFELOG</a:t>
            </a:r>
            <a:endParaRPr lang="en-US" sz="3200" dirty="0"/>
          </a:p>
        </p:txBody>
      </p:sp>
      <p:sp>
        <p:nvSpPr>
          <p:cNvPr id="3" name="anim|1|fade|after|"/>
          <p:cNvSpPr/>
          <p:nvPr/>
        </p:nvSpPr>
        <p:spPr>
          <a:xfrm>
            <a:off x="493776" y="1316736"/>
            <a:ext cx="5230368" cy="4507992"/>
          </a:xfrm>
          <a:prstGeom prst="roundRect">
            <a:avLst>
              <a:gd name="adj" fmla="val 2434"/>
            </a:avLst>
          </a:prstGeom>
          <a:solidFill>
            <a:srgbClr val="343A3C"/>
          </a:solidFill>
          <a:ln w="15875">
            <a:solidFill>
              <a:srgbClr val="6FA391"/>
            </a:solidFill>
            <a:prstDash val="solid"/>
          </a:ln>
          <a:effectLst>
            <a:outerShdw blurRad="127000" dist="38100" dir="5400000" algn="bl" rotWithShape="0">
              <a:srgbClr val="000000">
                <a:alpha val="35000"/>
              </a:srgbClr>
            </a:outerShdw>
          </a:effectLst>
        </p:spPr>
      </p:sp>
      <p:pic>
        <p:nvPicPr>
          <p:cNvPr id="4" name="anim|1|fade|after|" descr="C:\Users\manog\AppData\Local\Temp\claude\D--HackDearborn5\a0a981a9-7044-4bcc-95cc-4043289afdb4\scratchpad\deck\crop-dev.png"/>
          <p:cNvPicPr>
            <a:picLocks noChangeAspect="1"/>
          </p:cNvPicPr>
          <p:nvPr/>
        </p:nvPicPr>
        <p:blipFill>
          <a:blip r:embed="rId3"/>
          <a:stretch>
            <a:fillRect/>
          </a:stretch>
        </p:blipFill>
        <p:spPr>
          <a:xfrm>
            <a:off x="548640" y="1371600"/>
            <a:ext cx="5120640" cy="4398264"/>
          </a:xfrm>
          <a:prstGeom prst="rect">
            <a:avLst/>
          </a:prstGeom>
        </p:spPr>
      </p:pic>
      <p:sp>
        <p:nvSpPr>
          <p:cNvPr id="5" name="anim|2|wipe|click|"/>
          <p:cNvSpPr/>
          <p:nvPr/>
        </p:nvSpPr>
        <p:spPr>
          <a:xfrm>
            <a:off x="6080760" y="1417320"/>
            <a:ext cx="621792" cy="621792"/>
          </a:xfrm>
          <a:prstGeom prst="ellipse">
            <a:avLst/>
          </a:prstGeom>
          <a:solidFill>
            <a:srgbClr val="3A3458"/>
          </a:solidFill>
          <a:ln/>
        </p:spPr>
      </p:sp>
      <p:pic>
        <p:nvPicPr>
          <p:cNvPr id="6" name="anim|2|wipe|click|" descr="preencoded.png"/>
          <p:cNvPicPr>
            <a:picLocks noChangeAspect="1"/>
          </p:cNvPicPr>
          <p:nvPr/>
        </p:nvPicPr>
        <p:blipFill>
          <a:blip r:embed="rId4"/>
          <a:stretch>
            <a:fillRect/>
          </a:stretch>
        </p:blipFill>
        <p:spPr>
          <a:xfrm>
            <a:off x="6217554" y="1554114"/>
            <a:ext cx="348204" cy="348204"/>
          </a:xfrm>
          <a:prstGeom prst="rect">
            <a:avLst/>
          </a:prstGeom>
        </p:spPr>
      </p:pic>
      <p:sp>
        <p:nvSpPr>
          <p:cNvPr id="7" name="anim|2|wipe|with|"/>
          <p:cNvSpPr txBox="1"/>
          <p:nvPr/>
        </p:nvSpPr>
        <p:spPr>
          <a:xfrm>
            <a:off x="6858000" y="1399032"/>
            <a:ext cx="4800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Any sensor, one call</a:t>
            </a:r>
            <a:endParaRPr lang="en-US" sz="1700" dirty="0"/>
          </a:p>
        </p:txBody>
      </p:sp>
      <p:sp>
        <p:nvSpPr>
          <p:cNvPr id="8" name="anim|2|wipe|with|"/>
          <p:cNvSpPr txBox="1"/>
          <p:nvPr/>
        </p:nvSpPr>
        <p:spPr>
          <a:xfrm>
            <a:off x="6858000" y="1783080"/>
            <a:ext cx="48006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POST /v1/readings with a device key; late batches repaired automatically</a:t>
            </a:r>
            <a:endParaRPr lang="en-US" sz="1350" dirty="0"/>
          </a:p>
        </p:txBody>
      </p:sp>
      <p:sp>
        <p:nvSpPr>
          <p:cNvPr id="9" name="anim|3|wipe|click|"/>
          <p:cNvSpPr/>
          <p:nvPr/>
        </p:nvSpPr>
        <p:spPr>
          <a:xfrm>
            <a:off x="6080760" y="2560320"/>
            <a:ext cx="621792" cy="621792"/>
          </a:xfrm>
          <a:prstGeom prst="ellipse">
            <a:avLst/>
          </a:prstGeom>
          <a:solidFill>
            <a:srgbClr val="3A3458"/>
          </a:solidFill>
          <a:ln/>
        </p:spPr>
      </p:sp>
      <p:pic>
        <p:nvPicPr>
          <p:cNvPr id="10" name="anim|3|wipe|click|" descr="preencoded.png"/>
          <p:cNvPicPr>
            <a:picLocks noChangeAspect="1"/>
          </p:cNvPicPr>
          <p:nvPr/>
        </p:nvPicPr>
        <p:blipFill>
          <a:blip r:embed="rId5"/>
          <a:stretch>
            <a:fillRect/>
          </a:stretch>
        </p:blipFill>
        <p:spPr>
          <a:xfrm>
            <a:off x="6217554" y="2697114"/>
            <a:ext cx="348204" cy="348204"/>
          </a:xfrm>
          <a:prstGeom prst="rect">
            <a:avLst/>
          </a:prstGeom>
        </p:spPr>
      </p:pic>
      <p:sp>
        <p:nvSpPr>
          <p:cNvPr id="11" name="anim|3|wipe|with|"/>
          <p:cNvSpPr txBox="1"/>
          <p:nvPr/>
        </p:nvSpPr>
        <p:spPr>
          <a:xfrm>
            <a:off x="6858000" y="2542032"/>
            <a:ext cx="4800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Signed alert webhooks</a:t>
            </a:r>
            <a:endParaRPr lang="en-US" sz="1700" dirty="0"/>
          </a:p>
        </p:txBody>
      </p:sp>
      <p:sp>
        <p:nvSpPr>
          <p:cNvPr id="12" name="anim|3|wipe|with|"/>
          <p:cNvSpPr txBox="1"/>
          <p:nvPr/>
        </p:nvSpPr>
        <p:spPr>
          <a:xfrm>
            <a:off x="6858000" y="2926080"/>
            <a:ext cx="48006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Every alert pushed within seconds, signed with HMAC-SHA256</a:t>
            </a:r>
            <a:endParaRPr lang="en-US" sz="1350" dirty="0"/>
          </a:p>
        </p:txBody>
      </p:sp>
      <p:sp>
        <p:nvSpPr>
          <p:cNvPr id="13" name="anim|4|wipe|click|"/>
          <p:cNvSpPr/>
          <p:nvPr/>
        </p:nvSpPr>
        <p:spPr>
          <a:xfrm>
            <a:off x="6080760" y="3703320"/>
            <a:ext cx="621792" cy="621792"/>
          </a:xfrm>
          <a:prstGeom prst="ellipse">
            <a:avLst/>
          </a:prstGeom>
          <a:solidFill>
            <a:srgbClr val="3A3458"/>
          </a:solidFill>
          <a:ln/>
        </p:spPr>
      </p:sp>
      <p:pic>
        <p:nvPicPr>
          <p:cNvPr id="14" name="anim|4|wipe|click|" descr="preencoded.png"/>
          <p:cNvPicPr>
            <a:picLocks noChangeAspect="1"/>
          </p:cNvPicPr>
          <p:nvPr/>
        </p:nvPicPr>
        <p:blipFill>
          <a:blip r:embed="rId6"/>
          <a:stretch>
            <a:fillRect/>
          </a:stretch>
        </p:blipFill>
        <p:spPr>
          <a:xfrm>
            <a:off x="6217554" y="3840114"/>
            <a:ext cx="348204" cy="348204"/>
          </a:xfrm>
          <a:prstGeom prst="rect">
            <a:avLst/>
          </a:prstGeom>
        </p:spPr>
      </p:pic>
      <p:sp>
        <p:nvSpPr>
          <p:cNvPr id="15" name="anim|4|wipe|with|"/>
          <p:cNvSpPr txBox="1"/>
          <p:nvPr/>
        </p:nvSpPr>
        <p:spPr>
          <a:xfrm>
            <a:off x="6858000" y="3685032"/>
            <a:ext cx="4800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An open format for storage rules</a:t>
            </a:r>
            <a:endParaRPr lang="en-US" sz="1700" dirty="0"/>
          </a:p>
        </p:txBody>
      </p:sp>
      <p:sp>
        <p:nvSpPr>
          <p:cNvPr id="16" name="anim|4|wipe|with|"/>
          <p:cNvSpPr txBox="1"/>
          <p:nvPr/>
        </p:nvSpPr>
        <p:spPr>
          <a:xfrm>
            <a:off x="6858000" y="4069080"/>
            <a:ext cx="48006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JSON Schema for a medicine's life-budget model, plus the full OpenAPI</a:t>
            </a:r>
            <a:endParaRPr lang="en-US" sz="1350" dirty="0"/>
          </a:p>
        </p:txBody>
      </p:sp>
      <p:sp>
        <p:nvSpPr>
          <p:cNvPr id="17" name="anim|5|wipe|click|"/>
          <p:cNvSpPr/>
          <p:nvPr/>
        </p:nvSpPr>
        <p:spPr>
          <a:xfrm>
            <a:off x="6080760" y="4846320"/>
            <a:ext cx="621792" cy="621792"/>
          </a:xfrm>
          <a:prstGeom prst="ellipse">
            <a:avLst/>
          </a:prstGeom>
          <a:solidFill>
            <a:srgbClr val="3A3458"/>
          </a:solidFill>
          <a:ln/>
        </p:spPr>
      </p:sp>
      <p:pic>
        <p:nvPicPr>
          <p:cNvPr id="18" name="anim|5|wipe|click|" descr="preencoded.png"/>
          <p:cNvPicPr>
            <a:picLocks noChangeAspect="1"/>
          </p:cNvPicPr>
          <p:nvPr/>
        </p:nvPicPr>
        <p:blipFill>
          <a:blip r:embed="rId7"/>
          <a:stretch>
            <a:fillRect/>
          </a:stretch>
        </p:blipFill>
        <p:spPr>
          <a:xfrm>
            <a:off x="6217554" y="4983114"/>
            <a:ext cx="348204" cy="348204"/>
          </a:xfrm>
          <a:prstGeom prst="rect">
            <a:avLst/>
          </a:prstGeom>
        </p:spPr>
      </p:pic>
      <p:sp>
        <p:nvSpPr>
          <p:cNvPr id="19" name="anim|5|wipe|with|"/>
          <p:cNvSpPr txBox="1"/>
          <p:nvPr/>
        </p:nvSpPr>
        <p:spPr>
          <a:xfrm>
            <a:off x="6858000" y="4828032"/>
            <a:ext cx="4800600" cy="365760"/>
          </a:xfrm>
          <a:prstGeom prst="rect">
            <a:avLst/>
          </a:prstGeom>
          <a:noFill/>
          <a:ln/>
        </p:spPr>
        <p:txBody>
          <a:bodyPr wrap="square" lIns="0" tIns="0" rIns="0" bIns="0" rtlCol="0" anchor="ctr"/>
          <a:lstStyle/>
          <a:p>
            <a:pPr marL="0" indent="0">
              <a:buNone/>
            </a:pPr>
            <a:r>
              <a:rPr lang="en-US" sz="1700" b="1" dirty="0">
                <a:solidFill>
                  <a:srgbClr val="F4F1EA"/>
                </a:solidFill>
                <a:latin typeface="Calibri" pitchFamily="34" charset="0"/>
                <a:ea typeface="Calibri" pitchFamily="34" charset="-122"/>
                <a:cs typeface="Calibri" pitchFamily="34" charset="-120"/>
              </a:rPr>
              <a:t>Bluetooth, no app</a:t>
            </a:r>
            <a:endParaRPr lang="en-US" sz="1700" dirty="0"/>
          </a:p>
        </p:txBody>
      </p:sp>
      <p:sp>
        <p:nvSpPr>
          <p:cNvPr id="20" name="anim|5|wipe|with|"/>
          <p:cNvSpPr txBox="1"/>
          <p:nvPr/>
        </p:nvSpPr>
        <p:spPr>
          <a:xfrm>
            <a:off x="6858000" y="5212080"/>
            <a:ext cx="4800600" cy="640080"/>
          </a:xfrm>
          <a:prstGeom prst="rect">
            <a:avLst/>
          </a:prstGeom>
          <a:noFill/>
          <a:ln/>
        </p:spPr>
        <p:txBody>
          <a:bodyPr wrap="square" lIns="0" tIns="0" rIns="0" bIns="0" rtlCol="0" anchor="t"/>
          <a:lstStyle/>
          <a:p>
            <a:pPr marL="0" indent="0">
              <a:buNone/>
            </a:pPr>
            <a:r>
              <a:rPr lang="en-US" sz="1350" dirty="0">
                <a:solidFill>
                  <a:srgbClr val="B9C4BF"/>
                </a:solidFill>
                <a:latin typeface="Calibri" pitchFamily="34" charset="0"/>
                <a:ea typeface="Calibri" pitchFamily="34" charset="-122"/>
                <a:cs typeface="Calibri" pitchFamily="34" charset="-120"/>
              </a:rPr>
              <a:t>Pair a standard thermometer from the browser (Web Bluetooth)</a:t>
            </a:r>
            <a:endParaRPr lang="en-US" sz="1350" dirty="0"/>
          </a:p>
        </p:txBody>
      </p:sp>
      <p:sp>
        <p:nvSpPr>
          <p:cNvPr id="21" name="anim|6|fade|click|"/>
          <p:cNvSpPr txBox="1"/>
          <p:nvPr/>
        </p:nvSpPr>
        <p:spPr>
          <a:xfrm>
            <a:off x="548640" y="5943600"/>
            <a:ext cx="11064240" cy="365760"/>
          </a:xfrm>
          <a:prstGeom prst="rect">
            <a:avLst/>
          </a:prstGeom>
          <a:noFill/>
          <a:ln/>
        </p:spPr>
        <p:txBody>
          <a:bodyPr wrap="square" lIns="0" tIns="0" rIns="0" bIns="0" rtlCol="0" anchor="ctr"/>
          <a:lstStyle/>
          <a:p>
            <a:pPr marL="0" indent="0">
              <a:buNone/>
            </a:pPr>
            <a:r>
              <a:rPr lang="en-US" sz="1300" i="1" dirty="0">
                <a:solidFill>
                  <a:srgbClr val="A8D5C2"/>
                </a:solidFill>
                <a:latin typeface="Calibri" pitchFamily="34" charset="0"/>
                <a:ea typeface="Calibri" pitchFamily="34" charset="-122"/>
                <a:cs typeface="Calibri" pitchFamily="34" charset="-120"/>
              </a:rPr>
              <a:t>Smart fridges, cooler bags, mail-order pharmacies and clinics plug in; Tiger Data does the math.</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26</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par>
                                <p:cTn id="59" presetID="22" presetClass="entr" presetSubtype="8"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Try it three ways</a:t>
            </a:r>
            <a:endParaRPr lang="en-US" sz="3200" dirty="0"/>
          </a:p>
        </p:txBody>
      </p:sp>
      <p:sp>
        <p:nvSpPr>
          <p:cNvPr id="3" name="anim|1|rise|click|"/>
          <p:cNvSpPr/>
          <p:nvPr/>
        </p:nvSpPr>
        <p:spPr>
          <a:xfrm>
            <a:off x="548640" y="1417320"/>
            <a:ext cx="3520440" cy="3749040"/>
          </a:xfrm>
          <a:prstGeom prst="roundRect">
            <a:avLst>
              <a:gd name="adj" fmla="val 3117"/>
            </a:avLst>
          </a:prstGeom>
          <a:solidFill>
            <a:srgbClr val="2B2F31"/>
          </a:solidFill>
          <a:ln w="9525">
            <a:solidFill>
              <a:srgbClr val="45504C"/>
            </a:solidFill>
            <a:prstDash val="solid"/>
          </a:ln>
        </p:spPr>
      </p:sp>
      <p:sp>
        <p:nvSpPr>
          <p:cNvPr id="4" name="anim|1|rise|with|"/>
          <p:cNvSpPr/>
          <p:nvPr/>
        </p:nvSpPr>
        <p:spPr>
          <a:xfrm>
            <a:off x="822960" y="1691640"/>
            <a:ext cx="777240" cy="777240"/>
          </a:xfrm>
          <a:prstGeom prst="ellipse">
            <a:avLst/>
          </a:prstGeom>
          <a:solidFill>
            <a:srgbClr val="343A3C"/>
          </a:solidFill>
          <a:ln/>
        </p:spPr>
      </p:sp>
      <p:pic>
        <p:nvPicPr>
          <p:cNvPr id="5" name="anim|1|rise|with|" descr="preencoded.png"/>
          <p:cNvPicPr>
            <a:picLocks noChangeAspect="1"/>
          </p:cNvPicPr>
          <p:nvPr/>
        </p:nvPicPr>
        <p:blipFill>
          <a:blip r:embed="rId3"/>
          <a:stretch>
            <a:fillRect/>
          </a:stretch>
        </p:blipFill>
        <p:spPr>
          <a:xfrm>
            <a:off x="993953" y="1862633"/>
            <a:ext cx="435254" cy="435254"/>
          </a:xfrm>
          <a:prstGeom prst="rect">
            <a:avLst/>
          </a:prstGeom>
        </p:spPr>
      </p:pic>
      <p:sp>
        <p:nvSpPr>
          <p:cNvPr id="6" name="anim|1|rise|with|"/>
          <p:cNvSpPr txBox="1"/>
          <p:nvPr/>
        </p:nvSpPr>
        <p:spPr>
          <a:xfrm>
            <a:off x="822960" y="2651760"/>
            <a:ext cx="3017520" cy="457200"/>
          </a:xfrm>
          <a:prstGeom prst="rect">
            <a:avLst/>
          </a:prstGeom>
          <a:noFill/>
          <a:ln/>
        </p:spPr>
        <p:txBody>
          <a:bodyPr wrap="square" lIns="0" tIns="0" rIns="0" bIns="0" rtlCol="0" anchor="ctr"/>
          <a:lstStyle/>
          <a:p>
            <a:pPr marL="0" indent="0">
              <a:buNone/>
            </a:pPr>
            <a:r>
              <a:rPr lang="en-US" sz="2200" b="1" dirty="0">
                <a:solidFill>
                  <a:srgbClr val="A8D5C2"/>
                </a:solidFill>
                <a:latin typeface="Calibri" pitchFamily="34" charset="0"/>
                <a:ea typeface="Calibri" pitchFamily="34" charset="-122"/>
                <a:cs typeface="Calibri" pitchFamily="34" charset="-120"/>
              </a:rPr>
              <a:t>Owner</a:t>
            </a:r>
            <a:endParaRPr lang="en-US" sz="2200" dirty="0"/>
          </a:p>
        </p:txBody>
      </p:sp>
      <p:sp>
        <p:nvSpPr>
          <p:cNvPr id="7" name="anim|1|rise|with|"/>
          <p:cNvSpPr txBox="1"/>
          <p:nvPr/>
        </p:nvSpPr>
        <p:spPr>
          <a:xfrm>
            <a:off x="822960" y="3108960"/>
            <a:ext cx="3017520" cy="36576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Manu · 6 medicines</a:t>
            </a:r>
            <a:endParaRPr lang="en-US" sz="1500" dirty="0"/>
          </a:p>
        </p:txBody>
      </p:sp>
      <p:sp>
        <p:nvSpPr>
          <p:cNvPr id="8" name="anim|1|rise|with|"/>
          <p:cNvSpPr txBox="1"/>
          <p:nvPr/>
        </p:nvSpPr>
        <p:spPr>
          <a:xfrm>
            <a:off x="822960" y="3566160"/>
            <a:ext cx="3017520" cy="146304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Full history, dose log, receipts, and the demo controls: hot car, late upload, storm.</a:t>
            </a:r>
            <a:endParaRPr lang="en-US" sz="1400" dirty="0"/>
          </a:p>
        </p:txBody>
      </p:sp>
      <p:sp>
        <p:nvSpPr>
          <p:cNvPr id="9" name="anim|2|rise|click|"/>
          <p:cNvSpPr/>
          <p:nvPr/>
        </p:nvSpPr>
        <p:spPr>
          <a:xfrm>
            <a:off x="4325112" y="1417320"/>
            <a:ext cx="3520440" cy="3749040"/>
          </a:xfrm>
          <a:prstGeom prst="roundRect">
            <a:avLst>
              <a:gd name="adj" fmla="val 3117"/>
            </a:avLst>
          </a:prstGeom>
          <a:solidFill>
            <a:srgbClr val="2B2F31"/>
          </a:solidFill>
          <a:ln w="9525">
            <a:solidFill>
              <a:srgbClr val="45504C"/>
            </a:solidFill>
            <a:prstDash val="solid"/>
          </a:ln>
        </p:spPr>
      </p:sp>
      <p:sp>
        <p:nvSpPr>
          <p:cNvPr id="10" name="anim|2|rise|with|"/>
          <p:cNvSpPr/>
          <p:nvPr/>
        </p:nvSpPr>
        <p:spPr>
          <a:xfrm>
            <a:off x="4599432" y="1691640"/>
            <a:ext cx="777240" cy="777240"/>
          </a:xfrm>
          <a:prstGeom prst="ellipse">
            <a:avLst/>
          </a:prstGeom>
          <a:solidFill>
            <a:srgbClr val="343A3C"/>
          </a:solidFill>
          <a:ln/>
        </p:spPr>
      </p:sp>
      <p:pic>
        <p:nvPicPr>
          <p:cNvPr id="11" name="anim|2|rise|with|" descr="preencoded.png"/>
          <p:cNvPicPr>
            <a:picLocks noChangeAspect="1"/>
          </p:cNvPicPr>
          <p:nvPr/>
        </p:nvPicPr>
        <p:blipFill>
          <a:blip r:embed="rId4"/>
          <a:stretch>
            <a:fillRect/>
          </a:stretch>
        </p:blipFill>
        <p:spPr>
          <a:xfrm>
            <a:off x="4770425" y="1862633"/>
            <a:ext cx="435254" cy="435254"/>
          </a:xfrm>
          <a:prstGeom prst="rect">
            <a:avLst/>
          </a:prstGeom>
        </p:spPr>
      </p:pic>
      <p:sp>
        <p:nvSpPr>
          <p:cNvPr id="12" name="anim|2|rise|with|"/>
          <p:cNvSpPr txBox="1"/>
          <p:nvPr/>
        </p:nvSpPr>
        <p:spPr>
          <a:xfrm>
            <a:off x="4599432" y="2651760"/>
            <a:ext cx="3017520" cy="457200"/>
          </a:xfrm>
          <a:prstGeom prst="rect">
            <a:avLst/>
          </a:prstGeom>
          <a:noFill/>
          <a:ln/>
        </p:spPr>
        <p:txBody>
          <a:bodyPr wrap="square" lIns="0" tIns="0" rIns="0" bIns="0" rtlCol="0" anchor="ctr"/>
          <a:lstStyle/>
          <a:p>
            <a:pPr marL="0" indent="0">
              <a:buNone/>
            </a:pPr>
            <a:r>
              <a:rPr lang="en-US" sz="2200" b="1" dirty="0">
                <a:solidFill>
                  <a:srgbClr val="F2A541"/>
                </a:solidFill>
                <a:latin typeface="Calibri" pitchFamily="34" charset="0"/>
                <a:ea typeface="Calibri" pitchFamily="34" charset="-122"/>
                <a:cs typeface="Calibri" pitchFamily="34" charset="-120"/>
              </a:rPr>
              <a:t>Customer</a:t>
            </a:r>
            <a:endParaRPr lang="en-US" sz="2200" dirty="0"/>
          </a:p>
        </p:txBody>
      </p:sp>
      <p:sp>
        <p:nvSpPr>
          <p:cNvPr id="13" name="anim|2|rise|with|"/>
          <p:cNvSpPr txBox="1"/>
          <p:nvPr/>
        </p:nvSpPr>
        <p:spPr>
          <a:xfrm>
            <a:off x="4599432" y="3108960"/>
            <a:ext cx="3017520" cy="36576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Alex · 3 medicines</a:t>
            </a:r>
            <a:endParaRPr lang="en-US" sz="1500" dirty="0"/>
          </a:p>
        </p:txBody>
      </p:sp>
      <p:sp>
        <p:nvSpPr>
          <p:cNvPr id="14" name="anim|2|rise|with|"/>
          <p:cNvSpPr txBox="1"/>
          <p:nvPr/>
        </p:nvSpPr>
        <p:spPr>
          <a:xfrm>
            <a:off x="4599432" y="3566160"/>
            <a:ext cx="3017520" cy="146304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Dupixent, Humalog in use, Repatha. Sees only their own data; the owner's is hidden by the database.</a:t>
            </a:r>
            <a:endParaRPr lang="en-US" sz="1400" dirty="0"/>
          </a:p>
        </p:txBody>
      </p:sp>
      <p:sp>
        <p:nvSpPr>
          <p:cNvPr id="15" name="anim|3|rise|click|"/>
          <p:cNvSpPr/>
          <p:nvPr/>
        </p:nvSpPr>
        <p:spPr>
          <a:xfrm>
            <a:off x="8101584" y="1417320"/>
            <a:ext cx="3520440" cy="3749040"/>
          </a:xfrm>
          <a:prstGeom prst="roundRect">
            <a:avLst>
              <a:gd name="adj" fmla="val 3117"/>
            </a:avLst>
          </a:prstGeom>
          <a:solidFill>
            <a:srgbClr val="2B2F31"/>
          </a:solidFill>
          <a:ln w="9525">
            <a:solidFill>
              <a:srgbClr val="45504C"/>
            </a:solidFill>
            <a:prstDash val="solid"/>
          </a:ln>
        </p:spPr>
      </p:sp>
      <p:sp>
        <p:nvSpPr>
          <p:cNvPr id="16" name="anim|3|rise|with|"/>
          <p:cNvSpPr/>
          <p:nvPr/>
        </p:nvSpPr>
        <p:spPr>
          <a:xfrm>
            <a:off x="8375904" y="1691640"/>
            <a:ext cx="777240" cy="777240"/>
          </a:xfrm>
          <a:prstGeom prst="ellipse">
            <a:avLst/>
          </a:prstGeom>
          <a:solidFill>
            <a:srgbClr val="343A3C"/>
          </a:solidFill>
          <a:ln/>
        </p:spPr>
      </p:sp>
      <p:pic>
        <p:nvPicPr>
          <p:cNvPr id="17" name="anim|3|rise|with|" descr="preencoded.png"/>
          <p:cNvPicPr>
            <a:picLocks noChangeAspect="1"/>
          </p:cNvPicPr>
          <p:nvPr/>
        </p:nvPicPr>
        <p:blipFill>
          <a:blip r:embed="rId5"/>
          <a:stretch>
            <a:fillRect/>
          </a:stretch>
        </p:blipFill>
        <p:spPr>
          <a:xfrm>
            <a:off x="8546897" y="1862633"/>
            <a:ext cx="435254" cy="435254"/>
          </a:xfrm>
          <a:prstGeom prst="rect">
            <a:avLst/>
          </a:prstGeom>
        </p:spPr>
      </p:pic>
      <p:sp>
        <p:nvSpPr>
          <p:cNvPr id="18" name="anim|3|rise|with|"/>
          <p:cNvSpPr txBox="1"/>
          <p:nvPr/>
        </p:nvSpPr>
        <p:spPr>
          <a:xfrm>
            <a:off x="8375904" y="2651760"/>
            <a:ext cx="3017520" cy="457200"/>
          </a:xfrm>
          <a:prstGeom prst="rect">
            <a:avLst/>
          </a:prstGeom>
          <a:noFill/>
          <a:ln/>
        </p:spPr>
        <p:txBody>
          <a:bodyPr wrap="square" lIns="0" tIns="0" rIns="0" bIns="0" rtlCol="0" anchor="ctr"/>
          <a:lstStyle/>
          <a:p>
            <a:pPr marL="0" indent="0">
              <a:buNone/>
            </a:pPr>
            <a:r>
              <a:rPr lang="en-US" sz="2200" b="1" dirty="0">
                <a:solidFill>
                  <a:srgbClr val="9C8CE0"/>
                </a:solidFill>
                <a:latin typeface="Calibri" pitchFamily="34" charset="0"/>
                <a:ea typeface="Calibri" pitchFamily="34" charset="-122"/>
                <a:cs typeface="Calibri" pitchFamily="34" charset="-120"/>
              </a:rPr>
              <a:t>Pharmacist</a:t>
            </a:r>
            <a:endParaRPr lang="en-US" sz="2200" dirty="0"/>
          </a:p>
        </p:txBody>
      </p:sp>
      <p:sp>
        <p:nvSpPr>
          <p:cNvPr id="19" name="anim|3|rise|with|"/>
          <p:cNvSpPr txBox="1"/>
          <p:nvPr/>
        </p:nvSpPr>
        <p:spPr>
          <a:xfrm>
            <a:off x="8375904" y="3108960"/>
            <a:ext cx="3017520" cy="365760"/>
          </a:xfrm>
          <a:prstGeom prst="rect">
            <a:avLst/>
          </a:prstGeom>
          <a:noFill/>
          <a:ln/>
        </p:spPr>
        <p:txBody>
          <a:bodyPr wrap="square" lIns="0" tIns="0" rIns="0" bIns="0" rtlCol="0" anchor="ctr"/>
          <a:lstStyle/>
          <a:p>
            <a:pPr marL="0" indent="0">
              <a:buNone/>
            </a:pPr>
            <a:r>
              <a:rPr lang="en-US" sz="1500" b="1" dirty="0">
                <a:solidFill>
                  <a:srgbClr val="F4F1EA"/>
                </a:solidFill>
                <a:latin typeface="Calibri" pitchFamily="34" charset="0"/>
                <a:ea typeface="Calibri" pitchFamily="34" charset="-122"/>
                <a:cs typeface="Calibri" pitchFamily="34" charset="-120"/>
              </a:rPr>
              <a:t>Demo Pharmacist</a:t>
            </a:r>
            <a:endParaRPr lang="en-US" sz="1500" dirty="0"/>
          </a:p>
        </p:txBody>
      </p:sp>
      <p:sp>
        <p:nvSpPr>
          <p:cNvPr id="20" name="anim|3|rise|with|"/>
          <p:cNvSpPr txBox="1"/>
          <p:nvPr/>
        </p:nvSpPr>
        <p:spPr>
          <a:xfrm>
            <a:off x="8375904" y="3566160"/>
            <a:ext cx="3017520" cy="146304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Reviews every medicine's rules and wording; approves or rejects heat-tolerance evidence.</a:t>
            </a:r>
            <a:endParaRPr lang="en-US" sz="1400" dirty="0"/>
          </a:p>
        </p:txBody>
      </p:sp>
      <p:sp>
        <p:nvSpPr>
          <p:cNvPr id="21" name="anim|4|fade|click|"/>
          <p:cNvSpPr/>
          <p:nvPr/>
        </p:nvSpPr>
        <p:spPr>
          <a:xfrm>
            <a:off x="548640" y="5394960"/>
            <a:ext cx="11064240" cy="731520"/>
          </a:xfrm>
          <a:prstGeom prst="roundRect">
            <a:avLst>
              <a:gd name="adj" fmla="val 15000"/>
            </a:avLst>
          </a:prstGeom>
          <a:solidFill>
            <a:srgbClr val="23352F"/>
          </a:solidFill>
          <a:ln w="9525">
            <a:solidFill>
              <a:srgbClr val="6FA391"/>
            </a:solidFill>
            <a:prstDash val="solid"/>
          </a:ln>
        </p:spPr>
      </p:sp>
      <p:sp>
        <p:nvSpPr>
          <p:cNvPr id="22" name="anim|4|fade|with|"/>
          <p:cNvSpPr txBox="1"/>
          <p:nvPr/>
        </p:nvSpPr>
        <p:spPr>
          <a:xfrm>
            <a:off x="822960" y="5394960"/>
            <a:ext cx="10515600" cy="731520"/>
          </a:xfrm>
          <a:prstGeom prst="rect">
            <a:avLst/>
          </a:prstGeom>
          <a:noFill/>
          <a:ln/>
        </p:spPr>
        <p:txBody>
          <a:bodyPr wrap="square" lIns="0" tIns="0" rIns="0" bIns="0" rtlCol="0" anchor="ctr"/>
          <a:lstStyle/>
          <a:p>
            <a:pPr marL="0" indent="0">
              <a:buNone/>
            </a:pPr>
            <a:r>
              <a:rPr lang="en-US" sz="1600" b="1" dirty="0">
                <a:solidFill>
                  <a:srgbClr val="F4F1EA"/>
                </a:solidFill>
                <a:latin typeface="Calibri" pitchFamily="34" charset="0"/>
                <a:ea typeface="Calibri" pitchFamily="34" charset="-122"/>
                <a:cs typeface="Calibri" pitchFamily="34" charset="-120"/>
              </a:rPr>
              <a:t>One click on the sign-in page, or email + password. Receipt QR codes open on any phone through a secure tunnel.</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27</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450" decel="100000" fill="hold"/>
                                        <p:tgtEl>
                                          <p:spTgt spid="3"/>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450" decel="100000" fill="hold"/>
                                        <p:tgtEl>
                                          <p:spTgt spid="4"/>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450" decel="100000" fill="hold"/>
                                        <p:tgtEl>
                                          <p:spTgt spid="5"/>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450" decel="100000" fill="hold"/>
                                        <p:tgtEl>
                                          <p:spTgt spid="6"/>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fill="hold"/>
                                        <p:tgtEl>
                                          <p:spTgt spid="7"/>
                                        </p:tgtEl>
                                        <p:attrNameLst>
                                          <p:attrName>ppt_x</p:attrName>
                                        </p:attrNameLst>
                                      </p:cBhvr>
                                      <p:tavLst>
                                        <p:tav tm="0">
                                          <p:val>
                                            <p:strVal val="#ppt_x"/>
                                          </p:val>
                                        </p:tav>
                                        <p:tav tm="100000">
                                          <p:val>
                                            <p:strVal val="#ppt_x"/>
                                          </p:val>
                                        </p:tav>
                                      </p:tavLst>
                                    </p:anim>
                                    <p:anim calcmode="lin" valueType="num">
                                      <p:cBhvr>
                                        <p:cTn id="33" dur="450" decel="100000" fill="hold"/>
                                        <p:tgtEl>
                                          <p:spTgt spid="7"/>
                                        </p:tgtEl>
                                        <p:attrNameLst>
                                          <p:attrName>ppt_y</p:attrName>
                                        </p:attrNameLst>
                                      </p:cBhvr>
                                      <p:tavLst>
                                        <p:tav tm="0">
                                          <p:val>
                                            <p:strVal val="#ppt_y+1"/>
                                          </p:val>
                                        </p:tav>
                                        <p:tav tm="100000">
                                          <p:val>
                                            <p:strVal val="#ppt_y-.03"/>
                                          </p:val>
                                        </p:tav>
                                      </p:tavLst>
                                    </p:anim>
                                    <p:anim calcmode="lin" valueType="num">
                                      <p:cBhvr>
                                        <p:cTn id="34"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p:cTn id="38" dur="500" fill="hold"/>
                                        <p:tgtEl>
                                          <p:spTgt spid="8"/>
                                        </p:tgtEl>
                                        <p:attrNameLst>
                                          <p:attrName>ppt_x</p:attrName>
                                        </p:attrNameLst>
                                      </p:cBhvr>
                                      <p:tavLst>
                                        <p:tav tm="0">
                                          <p:val>
                                            <p:strVal val="#ppt_x"/>
                                          </p:val>
                                        </p:tav>
                                        <p:tav tm="100000">
                                          <p:val>
                                            <p:strVal val="#ppt_x"/>
                                          </p:val>
                                        </p:tav>
                                      </p:tavLst>
                                    </p:anim>
                                    <p:anim calcmode="lin" valueType="num">
                                      <p:cBhvr>
                                        <p:cTn id="39" dur="450" decel="100000" fill="hold"/>
                                        <p:tgtEl>
                                          <p:spTgt spid="8"/>
                                        </p:tgtEl>
                                        <p:attrNameLst>
                                          <p:attrName>ppt_y</p:attrName>
                                        </p:attrNameLst>
                                      </p:cBhvr>
                                      <p:tavLst>
                                        <p:tav tm="0">
                                          <p:val>
                                            <p:strVal val="#ppt_y+1"/>
                                          </p:val>
                                        </p:tav>
                                        <p:tav tm="100000">
                                          <p:val>
                                            <p:strVal val="#ppt_y-.03"/>
                                          </p:val>
                                        </p:tav>
                                      </p:tavLst>
                                    </p:anim>
                                    <p:anim calcmode="lin" valueType="num">
                                      <p:cBhvr>
                                        <p:cTn id="40"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450" decel="100000" fill="hold"/>
                                        <p:tgtEl>
                                          <p:spTgt spid="9"/>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450" decel="100000" fill="hold"/>
                                        <p:tgtEl>
                                          <p:spTgt spid="10"/>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5" presetID="37" presetClass="entr" presetSubtype="0" fill="hold"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anim calcmode="lin" valueType="num">
                                      <p:cBhvr>
                                        <p:cTn id="58" dur="500" fill="hold"/>
                                        <p:tgtEl>
                                          <p:spTgt spid="11"/>
                                        </p:tgtEl>
                                        <p:attrNameLst>
                                          <p:attrName>ppt_x</p:attrName>
                                        </p:attrNameLst>
                                      </p:cBhvr>
                                      <p:tavLst>
                                        <p:tav tm="0">
                                          <p:val>
                                            <p:strVal val="#ppt_x"/>
                                          </p:val>
                                        </p:tav>
                                        <p:tav tm="100000">
                                          <p:val>
                                            <p:strVal val="#ppt_x"/>
                                          </p:val>
                                        </p:tav>
                                      </p:tavLst>
                                    </p:anim>
                                    <p:anim calcmode="lin" valueType="num">
                                      <p:cBhvr>
                                        <p:cTn id="59" dur="450" decel="100000" fill="hold"/>
                                        <p:tgtEl>
                                          <p:spTgt spid="11"/>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anim calcmode="lin" valueType="num">
                                      <p:cBhvr>
                                        <p:cTn id="64" dur="500" fill="hold"/>
                                        <p:tgtEl>
                                          <p:spTgt spid="12"/>
                                        </p:tgtEl>
                                        <p:attrNameLst>
                                          <p:attrName>ppt_x</p:attrName>
                                        </p:attrNameLst>
                                      </p:cBhvr>
                                      <p:tavLst>
                                        <p:tav tm="0">
                                          <p:val>
                                            <p:strVal val="#ppt_x"/>
                                          </p:val>
                                        </p:tav>
                                        <p:tav tm="100000">
                                          <p:val>
                                            <p:strVal val="#ppt_x"/>
                                          </p:val>
                                        </p:tav>
                                      </p:tavLst>
                                    </p:anim>
                                    <p:anim calcmode="lin" valueType="num">
                                      <p:cBhvr>
                                        <p:cTn id="65" dur="450" decel="100000" fill="hold"/>
                                        <p:tgtEl>
                                          <p:spTgt spid="12"/>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anim calcmode="lin" valueType="num">
                                      <p:cBhvr>
                                        <p:cTn id="70" dur="500" fill="hold"/>
                                        <p:tgtEl>
                                          <p:spTgt spid="13"/>
                                        </p:tgtEl>
                                        <p:attrNameLst>
                                          <p:attrName>ppt_x</p:attrName>
                                        </p:attrNameLst>
                                      </p:cBhvr>
                                      <p:tavLst>
                                        <p:tav tm="0">
                                          <p:val>
                                            <p:strVal val="#ppt_x"/>
                                          </p:val>
                                        </p:tav>
                                        <p:tav tm="100000">
                                          <p:val>
                                            <p:strVal val="#ppt_x"/>
                                          </p:val>
                                        </p:tav>
                                      </p:tavLst>
                                    </p:anim>
                                    <p:anim calcmode="lin" valueType="num">
                                      <p:cBhvr>
                                        <p:cTn id="71" dur="450" decel="100000" fill="hold"/>
                                        <p:tgtEl>
                                          <p:spTgt spid="13"/>
                                        </p:tgtEl>
                                        <p:attrNameLst>
                                          <p:attrName>ppt_y</p:attrName>
                                        </p:attrNameLst>
                                      </p:cBhvr>
                                      <p:tavLst>
                                        <p:tav tm="0">
                                          <p:val>
                                            <p:strVal val="#ppt_y+1"/>
                                          </p:val>
                                        </p:tav>
                                        <p:tav tm="100000">
                                          <p:val>
                                            <p:strVal val="#ppt_y-.03"/>
                                          </p:val>
                                        </p:tav>
                                      </p:tavLst>
                                    </p:anim>
                                    <p:anim calcmode="lin" valueType="num">
                                      <p:cBhvr>
                                        <p:cTn id="72"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73" presetID="37"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500"/>
                                        <p:tgtEl>
                                          <p:spTgt spid="14"/>
                                        </p:tgtEl>
                                      </p:cBhvr>
                                    </p:animEffect>
                                    <p:anim calcmode="lin" valueType="num">
                                      <p:cBhvr>
                                        <p:cTn id="76" dur="500" fill="hold"/>
                                        <p:tgtEl>
                                          <p:spTgt spid="14"/>
                                        </p:tgtEl>
                                        <p:attrNameLst>
                                          <p:attrName>ppt_x</p:attrName>
                                        </p:attrNameLst>
                                      </p:cBhvr>
                                      <p:tavLst>
                                        <p:tav tm="0">
                                          <p:val>
                                            <p:strVal val="#ppt_x"/>
                                          </p:val>
                                        </p:tav>
                                        <p:tav tm="100000">
                                          <p:val>
                                            <p:strVal val="#ppt_x"/>
                                          </p:val>
                                        </p:tav>
                                      </p:tavLst>
                                    </p:anim>
                                    <p:anim calcmode="lin" valueType="num">
                                      <p:cBhvr>
                                        <p:cTn id="77" dur="450" decel="100000" fill="hold"/>
                                        <p:tgtEl>
                                          <p:spTgt spid="14"/>
                                        </p:tgtEl>
                                        <p:attrNameLst>
                                          <p:attrName>ppt_y</p:attrName>
                                        </p:attrNameLst>
                                      </p:cBhvr>
                                      <p:tavLst>
                                        <p:tav tm="0">
                                          <p:val>
                                            <p:strVal val="#ppt_y+1"/>
                                          </p:val>
                                        </p:tav>
                                        <p:tav tm="100000">
                                          <p:val>
                                            <p:strVal val="#ppt_y-.03"/>
                                          </p:val>
                                        </p:tav>
                                      </p:tavLst>
                                    </p:anim>
                                    <p:anim calcmode="lin" valueType="num">
                                      <p:cBhvr>
                                        <p:cTn id="78"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7" presetClass="entr" presetSubtype="0" fill="hold"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p:cTn id="84" dur="500" fill="hold"/>
                                        <p:tgtEl>
                                          <p:spTgt spid="15"/>
                                        </p:tgtEl>
                                        <p:attrNameLst>
                                          <p:attrName>ppt_x</p:attrName>
                                        </p:attrNameLst>
                                      </p:cBhvr>
                                      <p:tavLst>
                                        <p:tav tm="0">
                                          <p:val>
                                            <p:strVal val="#ppt_x"/>
                                          </p:val>
                                        </p:tav>
                                        <p:tav tm="100000">
                                          <p:val>
                                            <p:strVal val="#ppt_x"/>
                                          </p:val>
                                        </p:tav>
                                      </p:tavLst>
                                    </p:anim>
                                    <p:anim calcmode="lin" valueType="num">
                                      <p:cBhvr>
                                        <p:cTn id="85" dur="450" decel="100000" fill="hold"/>
                                        <p:tgtEl>
                                          <p:spTgt spid="15"/>
                                        </p:tgtEl>
                                        <p:attrNameLst>
                                          <p:attrName>ppt_y</p:attrName>
                                        </p:attrNameLst>
                                      </p:cBhvr>
                                      <p:tavLst>
                                        <p:tav tm="0">
                                          <p:val>
                                            <p:strVal val="#ppt_y+1"/>
                                          </p:val>
                                        </p:tav>
                                        <p:tav tm="100000">
                                          <p:val>
                                            <p:strVal val="#ppt_y-.03"/>
                                          </p:val>
                                        </p:tav>
                                      </p:tavLst>
                                    </p:anim>
                                    <p:anim calcmode="lin" valueType="num">
                                      <p:cBhvr>
                                        <p:cTn id="86"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7" presetID="37" presetClass="entr" presetSubtype="0" fill="hold"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anim calcmode="lin" valueType="num">
                                      <p:cBhvr>
                                        <p:cTn id="90" dur="500" fill="hold"/>
                                        <p:tgtEl>
                                          <p:spTgt spid="16"/>
                                        </p:tgtEl>
                                        <p:attrNameLst>
                                          <p:attrName>ppt_x</p:attrName>
                                        </p:attrNameLst>
                                      </p:cBhvr>
                                      <p:tavLst>
                                        <p:tav tm="0">
                                          <p:val>
                                            <p:strVal val="#ppt_x"/>
                                          </p:val>
                                        </p:tav>
                                        <p:tav tm="100000">
                                          <p:val>
                                            <p:strVal val="#ppt_x"/>
                                          </p:val>
                                        </p:tav>
                                      </p:tavLst>
                                    </p:anim>
                                    <p:anim calcmode="lin" valueType="num">
                                      <p:cBhvr>
                                        <p:cTn id="91" dur="450" decel="100000" fill="hold"/>
                                        <p:tgtEl>
                                          <p:spTgt spid="16"/>
                                        </p:tgtEl>
                                        <p:attrNameLst>
                                          <p:attrName>ppt_y</p:attrName>
                                        </p:attrNameLst>
                                      </p:cBhvr>
                                      <p:tavLst>
                                        <p:tav tm="0">
                                          <p:val>
                                            <p:strVal val="#ppt_y+1"/>
                                          </p:val>
                                        </p:tav>
                                        <p:tav tm="100000">
                                          <p:val>
                                            <p:strVal val="#ppt_y-.03"/>
                                          </p:val>
                                        </p:tav>
                                      </p:tavLst>
                                    </p:anim>
                                    <p:anim calcmode="lin" valueType="num">
                                      <p:cBhvr>
                                        <p:cTn id="92"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3" presetID="37" presetClass="entr" presetSubtype="0"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p:tgtEl>
                                          <p:spTgt spid="17"/>
                                        </p:tgtEl>
                                      </p:cBhvr>
                                    </p:animEffect>
                                    <p:anim calcmode="lin" valueType="num">
                                      <p:cBhvr>
                                        <p:cTn id="96" dur="500" fill="hold"/>
                                        <p:tgtEl>
                                          <p:spTgt spid="17"/>
                                        </p:tgtEl>
                                        <p:attrNameLst>
                                          <p:attrName>ppt_x</p:attrName>
                                        </p:attrNameLst>
                                      </p:cBhvr>
                                      <p:tavLst>
                                        <p:tav tm="0">
                                          <p:val>
                                            <p:strVal val="#ppt_x"/>
                                          </p:val>
                                        </p:tav>
                                        <p:tav tm="100000">
                                          <p:val>
                                            <p:strVal val="#ppt_x"/>
                                          </p:val>
                                        </p:tav>
                                      </p:tavLst>
                                    </p:anim>
                                    <p:anim calcmode="lin" valueType="num">
                                      <p:cBhvr>
                                        <p:cTn id="97" dur="450" decel="100000" fill="hold"/>
                                        <p:tgtEl>
                                          <p:spTgt spid="17"/>
                                        </p:tgtEl>
                                        <p:attrNameLst>
                                          <p:attrName>ppt_y</p:attrName>
                                        </p:attrNameLst>
                                      </p:cBhvr>
                                      <p:tavLst>
                                        <p:tav tm="0">
                                          <p:val>
                                            <p:strVal val="#ppt_y+1"/>
                                          </p:val>
                                        </p:tav>
                                        <p:tav tm="100000">
                                          <p:val>
                                            <p:strVal val="#ppt_y-.03"/>
                                          </p:val>
                                        </p:tav>
                                      </p:tavLst>
                                    </p:anim>
                                    <p:anim calcmode="lin" valueType="num">
                                      <p:cBhvr>
                                        <p:cTn id="98"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99" presetID="37"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anim calcmode="lin" valueType="num">
                                      <p:cBhvr>
                                        <p:cTn id="102" dur="500" fill="hold"/>
                                        <p:tgtEl>
                                          <p:spTgt spid="18"/>
                                        </p:tgtEl>
                                        <p:attrNameLst>
                                          <p:attrName>ppt_x</p:attrName>
                                        </p:attrNameLst>
                                      </p:cBhvr>
                                      <p:tavLst>
                                        <p:tav tm="0">
                                          <p:val>
                                            <p:strVal val="#ppt_x"/>
                                          </p:val>
                                        </p:tav>
                                        <p:tav tm="100000">
                                          <p:val>
                                            <p:strVal val="#ppt_x"/>
                                          </p:val>
                                        </p:tav>
                                      </p:tavLst>
                                    </p:anim>
                                    <p:anim calcmode="lin" valueType="num">
                                      <p:cBhvr>
                                        <p:cTn id="103" dur="450" decel="100000" fill="hold"/>
                                        <p:tgtEl>
                                          <p:spTgt spid="18"/>
                                        </p:tgtEl>
                                        <p:attrNameLst>
                                          <p:attrName>ppt_y</p:attrName>
                                        </p:attrNameLst>
                                      </p:cBhvr>
                                      <p:tavLst>
                                        <p:tav tm="0">
                                          <p:val>
                                            <p:strVal val="#ppt_y+1"/>
                                          </p:val>
                                        </p:tav>
                                        <p:tav tm="100000">
                                          <p:val>
                                            <p:strVal val="#ppt_y-.03"/>
                                          </p:val>
                                        </p:tav>
                                      </p:tavLst>
                                    </p:anim>
                                    <p:anim calcmode="lin" valueType="num">
                                      <p:cBhvr>
                                        <p:cTn id="104"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par>
                                <p:cTn id="105" presetID="37" presetClass="entr" presetSubtype="0" fill="hold" grpId="0" nodeType="withEffect">
                                  <p:stCondLst>
                                    <p:cond delay="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500"/>
                                        <p:tgtEl>
                                          <p:spTgt spid="19"/>
                                        </p:tgtEl>
                                      </p:cBhvr>
                                    </p:animEffect>
                                    <p:anim calcmode="lin" valueType="num">
                                      <p:cBhvr>
                                        <p:cTn id="108" dur="500" fill="hold"/>
                                        <p:tgtEl>
                                          <p:spTgt spid="19"/>
                                        </p:tgtEl>
                                        <p:attrNameLst>
                                          <p:attrName>ppt_x</p:attrName>
                                        </p:attrNameLst>
                                      </p:cBhvr>
                                      <p:tavLst>
                                        <p:tav tm="0">
                                          <p:val>
                                            <p:strVal val="#ppt_x"/>
                                          </p:val>
                                        </p:tav>
                                        <p:tav tm="100000">
                                          <p:val>
                                            <p:strVal val="#ppt_x"/>
                                          </p:val>
                                        </p:tav>
                                      </p:tavLst>
                                    </p:anim>
                                    <p:anim calcmode="lin" valueType="num">
                                      <p:cBhvr>
                                        <p:cTn id="109" dur="450" decel="100000" fill="hold"/>
                                        <p:tgtEl>
                                          <p:spTgt spid="19"/>
                                        </p:tgtEl>
                                        <p:attrNameLst>
                                          <p:attrName>ppt_y</p:attrName>
                                        </p:attrNameLst>
                                      </p:cBhvr>
                                      <p:tavLst>
                                        <p:tav tm="0">
                                          <p:val>
                                            <p:strVal val="#ppt_y+1"/>
                                          </p:val>
                                        </p:tav>
                                        <p:tav tm="100000">
                                          <p:val>
                                            <p:strVal val="#ppt_y-.03"/>
                                          </p:val>
                                        </p:tav>
                                      </p:tavLst>
                                    </p:anim>
                                    <p:anim calcmode="lin" valueType="num">
                                      <p:cBhvr>
                                        <p:cTn id="110"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par>
                                <p:cTn id="111" presetID="37" presetClass="entr" presetSubtype="0" fill="hold" grpId="0" nodeType="with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500"/>
                                        <p:tgtEl>
                                          <p:spTgt spid="20"/>
                                        </p:tgtEl>
                                      </p:cBhvr>
                                    </p:animEffect>
                                    <p:anim calcmode="lin" valueType="num">
                                      <p:cBhvr>
                                        <p:cTn id="114" dur="500" fill="hold"/>
                                        <p:tgtEl>
                                          <p:spTgt spid="20"/>
                                        </p:tgtEl>
                                        <p:attrNameLst>
                                          <p:attrName>ppt_x</p:attrName>
                                        </p:attrNameLst>
                                      </p:cBhvr>
                                      <p:tavLst>
                                        <p:tav tm="0">
                                          <p:val>
                                            <p:strVal val="#ppt_x"/>
                                          </p:val>
                                        </p:tav>
                                        <p:tav tm="100000">
                                          <p:val>
                                            <p:strVal val="#ppt_x"/>
                                          </p:val>
                                        </p:tav>
                                      </p:tavLst>
                                    </p:anim>
                                    <p:anim calcmode="lin" valueType="num">
                                      <p:cBhvr>
                                        <p:cTn id="115" dur="450" decel="100000" fill="hold"/>
                                        <p:tgtEl>
                                          <p:spTgt spid="20"/>
                                        </p:tgtEl>
                                        <p:attrNameLst>
                                          <p:attrName>ppt_y</p:attrName>
                                        </p:attrNameLst>
                                      </p:cBhvr>
                                      <p:tavLst>
                                        <p:tav tm="0">
                                          <p:val>
                                            <p:strVal val="#ppt_y+1"/>
                                          </p:val>
                                        </p:tav>
                                        <p:tav tm="100000">
                                          <p:val>
                                            <p:strVal val="#ppt_y-.03"/>
                                          </p:val>
                                        </p:tav>
                                      </p:tavLst>
                                    </p:anim>
                                    <p:anim calcmode="lin" valueType="num">
                                      <p:cBhvr>
                                        <p:cTn id="116" dur="50" accel="100000" fill="hold">
                                          <p:stCondLst>
                                            <p:cond delay="45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fade">
                                      <p:cBhvr>
                                        <p:cTn id="121" dur="500"/>
                                        <p:tgtEl>
                                          <p:spTgt spid="2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3" grpId="0" animBg="1"/>
      <p:bldP spid="14" grpId="0" animBg="1"/>
      <p:bldP spid="18" grpId="0" animBg="1"/>
      <p:bldP spid="19" grpId="0" animBg="1"/>
      <p:bldP spid="20"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What you'll see in the live demo</a:t>
            </a:r>
            <a:endParaRPr lang="en-US" sz="3200" dirty="0"/>
          </a:p>
        </p:txBody>
      </p:sp>
      <p:sp>
        <p:nvSpPr>
          <p:cNvPr id="3" name="anim|1|wipe|after|"/>
          <p:cNvSpPr/>
          <p:nvPr/>
        </p:nvSpPr>
        <p:spPr>
          <a:xfrm>
            <a:off x="1234440" y="3063240"/>
            <a:ext cx="9692640" cy="0"/>
          </a:xfrm>
          <a:prstGeom prst="line">
            <a:avLst/>
          </a:prstGeom>
          <a:noFill/>
          <a:ln w="25400">
            <a:solidFill>
              <a:srgbClr val="45504C"/>
            </a:solidFill>
            <a:prstDash val="dash"/>
          </a:ln>
        </p:spPr>
      </p:sp>
      <p:sp>
        <p:nvSpPr>
          <p:cNvPr id="4" name="anim|2|zoom|click|"/>
          <p:cNvSpPr/>
          <p:nvPr/>
        </p:nvSpPr>
        <p:spPr>
          <a:xfrm>
            <a:off x="1033272" y="2423160"/>
            <a:ext cx="1280160" cy="1280160"/>
          </a:xfrm>
          <a:prstGeom prst="ellipse">
            <a:avLst/>
          </a:prstGeom>
          <a:solidFill>
            <a:srgbClr val="6FA391"/>
          </a:solidFill>
          <a:ln/>
        </p:spPr>
      </p:sp>
      <p:pic>
        <p:nvPicPr>
          <p:cNvPr id="5" name="anim|2|zoom|click|" descr="preencoded.png"/>
          <p:cNvPicPr>
            <a:picLocks noChangeAspect="1"/>
          </p:cNvPicPr>
          <p:nvPr/>
        </p:nvPicPr>
        <p:blipFill>
          <a:blip r:embed="rId3"/>
          <a:stretch>
            <a:fillRect/>
          </a:stretch>
        </p:blipFill>
        <p:spPr>
          <a:xfrm>
            <a:off x="1314907" y="2704795"/>
            <a:ext cx="716890" cy="716890"/>
          </a:xfrm>
          <a:prstGeom prst="rect">
            <a:avLst/>
          </a:prstGeom>
        </p:spPr>
      </p:pic>
      <p:sp>
        <p:nvSpPr>
          <p:cNvPr id="6" name="anim|2|zoom|with|"/>
          <p:cNvSpPr txBox="1"/>
          <p:nvPr/>
        </p:nvSpPr>
        <p:spPr>
          <a:xfrm>
            <a:off x="548640" y="3931920"/>
            <a:ext cx="2240280" cy="457200"/>
          </a:xfrm>
          <a:prstGeom prst="rect">
            <a:avLst/>
          </a:prstGeom>
          <a:noFill/>
          <a:ln/>
        </p:spPr>
        <p:txBody>
          <a:bodyPr wrap="square" lIns="0" tIns="0" rIns="0" bIns="0" rtlCol="0" anchor="ctr"/>
          <a:lstStyle/>
          <a:p>
            <a:pPr marL="0" indent="0" algn="ctr">
              <a:buNone/>
            </a:pPr>
            <a:r>
              <a:rPr lang="en-US" sz="1800" b="1" dirty="0">
                <a:solidFill>
                  <a:srgbClr val="F4F1EA"/>
                </a:solidFill>
                <a:latin typeface="Calibri" pitchFamily="34" charset="0"/>
                <a:ea typeface="Calibri" pitchFamily="34" charset="-122"/>
                <a:cs typeface="Calibri" pitchFamily="34" charset="-120"/>
              </a:rPr>
              <a:t>1. Snap a label</a:t>
            </a:r>
            <a:endParaRPr lang="en-US" sz="1800" dirty="0"/>
          </a:p>
        </p:txBody>
      </p:sp>
      <p:sp>
        <p:nvSpPr>
          <p:cNvPr id="7" name="anim|2|zoom|with|"/>
          <p:cNvSpPr txBox="1"/>
          <p:nvPr/>
        </p:nvSpPr>
        <p:spPr>
          <a:xfrm>
            <a:off x="640080" y="4389120"/>
            <a:ext cx="2057400" cy="914400"/>
          </a:xfrm>
          <a:prstGeom prst="rect">
            <a:avLst/>
          </a:prstGeom>
          <a:noFill/>
          <a:ln/>
        </p:spPr>
        <p:txBody>
          <a:bodyPr wrap="square" lIns="0" tIns="0" rIns="0" bIns="0" rtlCol="0" anchor="t"/>
          <a:lstStyle/>
          <a:p>
            <a:pPr marL="0" indent="0" algn="ctr">
              <a:buNone/>
            </a:pPr>
            <a:r>
              <a:rPr lang="en-US" sz="1400" dirty="0">
                <a:solidFill>
                  <a:srgbClr val="B9C4BF"/>
                </a:solidFill>
                <a:latin typeface="Calibri" pitchFamily="34" charset="0"/>
                <a:ea typeface="Calibri" pitchFamily="34" charset="-122"/>
                <a:cs typeface="Calibri" pitchFamily="34" charset="-120"/>
              </a:rPr>
              <a:t>Gemini builds the medicine's rules</a:t>
            </a:r>
            <a:endParaRPr lang="en-US" sz="1400" dirty="0"/>
          </a:p>
        </p:txBody>
      </p:sp>
      <p:sp>
        <p:nvSpPr>
          <p:cNvPr id="8" name="anim|3|zoom|click|"/>
          <p:cNvSpPr/>
          <p:nvPr/>
        </p:nvSpPr>
        <p:spPr>
          <a:xfrm>
            <a:off x="3300984" y="2423160"/>
            <a:ext cx="1280160" cy="1280160"/>
          </a:xfrm>
          <a:prstGeom prst="ellipse">
            <a:avLst/>
          </a:prstGeom>
          <a:solidFill>
            <a:srgbClr val="6FA391"/>
          </a:solidFill>
          <a:ln/>
        </p:spPr>
      </p:sp>
      <p:pic>
        <p:nvPicPr>
          <p:cNvPr id="9" name="anim|3|zoom|click|" descr="preencoded.png"/>
          <p:cNvPicPr>
            <a:picLocks noChangeAspect="1"/>
          </p:cNvPicPr>
          <p:nvPr/>
        </p:nvPicPr>
        <p:blipFill>
          <a:blip r:embed="rId4"/>
          <a:stretch>
            <a:fillRect/>
          </a:stretch>
        </p:blipFill>
        <p:spPr>
          <a:xfrm>
            <a:off x="3582619" y="2704795"/>
            <a:ext cx="716890" cy="716890"/>
          </a:xfrm>
          <a:prstGeom prst="rect">
            <a:avLst/>
          </a:prstGeom>
        </p:spPr>
      </p:pic>
      <p:sp>
        <p:nvSpPr>
          <p:cNvPr id="10" name="anim|3|zoom|with|"/>
          <p:cNvSpPr txBox="1"/>
          <p:nvPr/>
        </p:nvSpPr>
        <p:spPr>
          <a:xfrm>
            <a:off x="2816352" y="3931920"/>
            <a:ext cx="2240280" cy="457200"/>
          </a:xfrm>
          <a:prstGeom prst="rect">
            <a:avLst/>
          </a:prstGeom>
          <a:noFill/>
          <a:ln/>
        </p:spPr>
        <p:txBody>
          <a:bodyPr wrap="square" lIns="0" tIns="0" rIns="0" bIns="0" rtlCol="0" anchor="ctr"/>
          <a:lstStyle/>
          <a:p>
            <a:pPr marL="0" indent="0" algn="ctr">
              <a:buNone/>
            </a:pPr>
            <a:r>
              <a:rPr lang="en-US" sz="1800" b="1" dirty="0">
                <a:solidFill>
                  <a:srgbClr val="F4F1EA"/>
                </a:solidFill>
                <a:latin typeface="Calibri" pitchFamily="34" charset="0"/>
                <a:ea typeface="Calibri" pitchFamily="34" charset="-122"/>
                <a:cs typeface="Calibri" pitchFamily="34" charset="-120"/>
              </a:rPr>
              <a:t>2. Hot car</a:t>
            </a:r>
            <a:endParaRPr lang="en-US" sz="1800" dirty="0"/>
          </a:p>
        </p:txBody>
      </p:sp>
      <p:sp>
        <p:nvSpPr>
          <p:cNvPr id="11" name="anim|3|zoom|with|"/>
          <p:cNvSpPr txBox="1"/>
          <p:nvPr/>
        </p:nvSpPr>
        <p:spPr>
          <a:xfrm>
            <a:off x="2907792" y="4389120"/>
            <a:ext cx="2057400" cy="914400"/>
          </a:xfrm>
          <a:prstGeom prst="rect">
            <a:avLst/>
          </a:prstGeom>
          <a:noFill/>
          <a:ln/>
        </p:spPr>
        <p:txBody>
          <a:bodyPr wrap="square" lIns="0" tIns="0" rIns="0" bIns="0" rtlCol="0" anchor="t"/>
          <a:lstStyle/>
          <a:p>
            <a:pPr marL="0" indent="0" algn="ctr">
              <a:buNone/>
            </a:pPr>
            <a:r>
              <a:rPr lang="en-US" sz="1400" dirty="0">
                <a:solidFill>
                  <a:srgbClr val="B9C4BF"/>
                </a:solidFill>
                <a:latin typeface="Calibri" pitchFamily="34" charset="0"/>
                <a:ea typeface="Calibri" pitchFamily="34" charset="-122"/>
                <a:cs typeface="Calibri" pitchFamily="34" charset="-120"/>
              </a:rPr>
              <a:t>The EpiPen drops to 43%, with the reason</a:t>
            </a:r>
            <a:endParaRPr lang="en-US" sz="1400" dirty="0"/>
          </a:p>
        </p:txBody>
      </p:sp>
      <p:sp>
        <p:nvSpPr>
          <p:cNvPr id="12" name="anim|4|zoom|click|"/>
          <p:cNvSpPr/>
          <p:nvPr/>
        </p:nvSpPr>
        <p:spPr>
          <a:xfrm>
            <a:off x="5568696" y="2423160"/>
            <a:ext cx="1280160" cy="1280160"/>
          </a:xfrm>
          <a:prstGeom prst="ellipse">
            <a:avLst/>
          </a:prstGeom>
          <a:solidFill>
            <a:srgbClr val="F2A541"/>
          </a:solidFill>
          <a:ln/>
        </p:spPr>
      </p:sp>
      <p:pic>
        <p:nvPicPr>
          <p:cNvPr id="13" name="anim|4|zoom|click|" descr="preencoded.png"/>
          <p:cNvPicPr>
            <a:picLocks noChangeAspect="1"/>
          </p:cNvPicPr>
          <p:nvPr/>
        </p:nvPicPr>
        <p:blipFill>
          <a:blip r:embed="rId5"/>
          <a:stretch>
            <a:fillRect/>
          </a:stretch>
        </p:blipFill>
        <p:spPr>
          <a:xfrm>
            <a:off x="5850331" y="2704795"/>
            <a:ext cx="716890" cy="716890"/>
          </a:xfrm>
          <a:prstGeom prst="rect">
            <a:avLst/>
          </a:prstGeom>
        </p:spPr>
      </p:pic>
      <p:sp>
        <p:nvSpPr>
          <p:cNvPr id="14" name="anim|4|zoom|with|"/>
          <p:cNvSpPr txBox="1"/>
          <p:nvPr/>
        </p:nvSpPr>
        <p:spPr>
          <a:xfrm>
            <a:off x="5084064" y="3931920"/>
            <a:ext cx="2240280" cy="457200"/>
          </a:xfrm>
          <a:prstGeom prst="rect">
            <a:avLst/>
          </a:prstGeom>
          <a:noFill/>
          <a:ln/>
        </p:spPr>
        <p:txBody>
          <a:bodyPr wrap="square" lIns="0" tIns="0" rIns="0" bIns="0" rtlCol="0" anchor="ctr"/>
          <a:lstStyle/>
          <a:p>
            <a:pPr marL="0" indent="0" algn="ctr">
              <a:buNone/>
            </a:pPr>
            <a:r>
              <a:rPr lang="en-US" sz="1800" b="1" dirty="0">
                <a:solidFill>
                  <a:srgbClr val="F4F1EA"/>
                </a:solidFill>
                <a:latin typeface="Calibri" pitchFamily="34" charset="0"/>
                <a:ea typeface="Calibri" pitchFamily="34" charset="-122"/>
                <a:cs typeface="Calibri" pitchFamily="34" charset="-120"/>
              </a:rPr>
              <a:t>3. Late sensor data</a:t>
            </a:r>
            <a:endParaRPr lang="en-US" sz="1800" dirty="0"/>
          </a:p>
        </p:txBody>
      </p:sp>
      <p:sp>
        <p:nvSpPr>
          <p:cNvPr id="15" name="anim|4|zoom|with|"/>
          <p:cNvSpPr txBox="1"/>
          <p:nvPr/>
        </p:nvSpPr>
        <p:spPr>
          <a:xfrm>
            <a:off x="5175504" y="4389120"/>
            <a:ext cx="2057400" cy="914400"/>
          </a:xfrm>
          <a:prstGeom prst="rect">
            <a:avLst/>
          </a:prstGeom>
          <a:noFill/>
          <a:ln/>
        </p:spPr>
        <p:txBody>
          <a:bodyPr wrap="square" lIns="0" tIns="0" rIns="0" bIns="0" rtlCol="0" anchor="t"/>
          <a:lstStyle/>
          <a:p>
            <a:pPr marL="0" indent="0" algn="ctr">
              <a:buNone/>
            </a:pPr>
            <a:r>
              <a:rPr lang="en-US" sz="1400" dirty="0">
                <a:solidFill>
                  <a:srgbClr val="B9C4BF"/>
                </a:solidFill>
                <a:latin typeface="Calibri" pitchFamily="34" charset="0"/>
                <a:ea typeface="Calibri" pitchFamily="34" charset="-122"/>
                <a:cs typeface="Calibri" pitchFamily="34" charset="-120"/>
              </a:rPr>
              <a:t>Dashboard 100% vs truth 91%, repaired</a:t>
            </a:r>
            <a:endParaRPr lang="en-US" sz="1400" dirty="0"/>
          </a:p>
        </p:txBody>
      </p:sp>
      <p:sp>
        <p:nvSpPr>
          <p:cNvPr id="16" name="anim|5|zoom|click|"/>
          <p:cNvSpPr/>
          <p:nvPr/>
        </p:nvSpPr>
        <p:spPr>
          <a:xfrm>
            <a:off x="7836408" y="2423160"/>
            <a:ext cx="1280160" cy="1280160"/>
          </a:xfrm>
          <a:prstGeom prst="ellipse">
            <a:avLst/>
          </a:prstGeom>
          <a:solidFill>
            <a:srgbClr val="6FA391"/>
          </a:solidFill>
          <a:ln/>
        </p:spPr>
      </p:sp>
      <p:pic>
        <p:nvPicPr>
          <p:cNvPr id="17" name="anim|5|zoom|click|" descr="preencoded.png"/>
          <p:cNvPicPr>
            <a:picLocks noChangeAspect="1"/>
          </p:cNvPicPr>
          <p:nvPr/>
        </p:nvPicPr>
        <p:blipFill>
          <a:blip r:embed="rId6"/>
          <a:stretch>
            <a:fillRect/>
          </a:stretch>
        </p:blipFill>
        <p:spPr>
          <a:xfrm>
            <a:off x="8118043" y="2704795"/>
            <a:ext cx="716890" cy="716890"/>
          </a:xfrm>
          <a:prstGeom prst="rect">
            <a:avLst/>
          </a:prstGeom>
        </p:spPr>
      </p:pic>
      <p:sp>
        <p:nvSpPr>
          <p:cNvPr id="18" name="anim|5|zoom|with|"/>
          <p:cNvSpPr txBox="1"/>
          <p:nvPr/>
        </p:nvSpPr>
        <p:spPr>
          <a:xfrm>
            <a:off x="7351776" y="3931920"/>
            <a:ext cx="2240280" cy="457200"/>
          </a:xfrm>
          <a:prstGeom prst="rect">
            <a:avLst/>
          </a:prstGeom>
          <a:noFill/>
          <a:ln/>
        </p:spPr>
        <p:txBody>
          <a:bodyPr wrap="square" lIns="0" tIns="0" rIns="0" bIns="0" rtlCol="0" anchor="ctr"/>
          <a:lstStyle/>
          <a:p>
            <a:pPr marL="0" indent="0" algn="ctr">
              <a:buNone/>
            </a:pPr>
            <a:r>
              <a:rPr lang="en-US" sz="1800" b="1" dirty="0">
                <a:solidFill>
                  <a:srgbClr val="F4F1EA"/>
                </a:solidFill>
                <a:latin typeface="Calibri" pitchFamily="34" charset="0"/>
                <a:ea typeface="Calibri" pitchFamily="34" charset="-122"/>
                <a:cs typeface="Calibri" pitchFamily="34" charset="-120"/>
              </a:rPr>
              <a:t>4. Summer storm</a:t>
            </a:r>
            <a:endParaRPr lang="en-US" sz="1800" dirty="0"/>
          </a:p>
        </p:txBody>
      </p:sp>
      <p:sp>
        <p:nvSpPr>
          <p:cNvPr id="19" name="anim|5|zoom|with|"/>
          <p:cNvSpPr txBox="1"/>
          <p:nvPr/>
        </p:nvSpPr>
        <p:spPr>
          <a:xfrm>
            <a:off x="7443216" y="4389120"/>
            <a:ext cx="2057400" cy="914400"/>
          </a:xfrm>
          <a:prstGeom prst="rect">
            <a:avLst/>
          </a:prstGeom>
          <a:noFill/>
          <a:ln/>
        </p:spPr>
        <p:txBody>
          <a:bodyPr wrap="square" lIns="0" tIns="0" rIns="0" bIns="0" rtlCol="0" anchor="t"/>
          <a:lstStyle/>
          <a:p>
            <a:pPr marL="0" indent="0" algn="ctr">
              <a:buNone/>
            </a:pPr>
            <a:r>
              <a:rPr lang="en-US" sz="1400" dirty="0">
                <a:solidFill>
                  <a:srgbClr val="B9C4BF"/>
                </a:solidFill>
                <a:latin typeface="Calibri" pitchFamily="34" charset="0"/>
                <a:ea typeface="Calibri" pitchFamily="34" charset="-122"/>
                <a:cs typeface="Calibri" pitchFamily="34" charset="-120"/>
              </a:rPr>
              <a:t>Live rescue list for the neighborhood</a:t>
            </a:r>
            <a:endParaRPr lang="en-US" sz="1400" dirty="0"/>
          </a:p>
        </p:txBody>
      </p:sp>
      <p:sp>
        <p:nvSpPr>
          <p:cNvPr id="20" name="anim|6|zoom|click|"/>
          <p:cNvSpPr/>
          <p:nvPr/>
        </p:nvSpPr>
        <p:spPr>
          <a:xfrm>
            <a:off x="10104120" y="2423160"/>
            <a:ext cx="1280160" cy="1280160"/>
          </a:xfrm>
          <a:prstGeom prst="ellipse">
            <a:avLst/>
          </a:prstGeom>
          <a:solidFill>
            <a:srgbClr val="6FA391"/>
          </a:solidFill>
          <a:ln/>
        </p:spPr>
      </p:sp>
      <p:pic>
        <p:nvPicPr>
          <p:cNvPr id="21" name="anim|6|zoom|click|" descr="preencoded.png"/>
          <p:cNvPicPr>
            <a:picLocks noChangeAspect="1"/>
          </p:cNvPicPr>
          <p:nvPr/>
        </p:nvPicPr>
        <p:blipFill>
          <a:blip r:embed="rId7"/>
          <a:stretch>
            <a:fillRect/>
          </a:stretch>
        </p:blipFill>
        <p:spPr>
          <a:xfrm>
            <a:off x="10385755" y="2704795"/>
            <a:ext cx="716890" cy="716890"/>
          </a:xfrm>
          <a:prstGeom prst="rect">
            <a:avLst/>
          </a:prstGeom>
        </p:spPr>
      </p:pic>
      <p:sp>
        <p:nvSpPr>
          <p:cNvPr id="22" name="anim|6|zoom|with|"/>
          <p:cNvSpPr txBox="1"/>
          <p:nvPr/>
        </p:nvSpPr>
        <p:spPr>
          <a:xfrm>
            <a:off x="9619488" y="3931920"/>
            <a:ext cx="2240280" cy="457200"/>
          </a:xfrm>
          <a:prstGeom prst="rect">
            <a:avLst/>
          </a:prstGeom>
          <a:noFill/>
          <a:ln/>
        </p:spPr>
        <p:txBody>
          <a:bodyPr wrap="square" lIns="0" tIns="0" rIns="0" bIns="0" rtlCol="0" anchor="ctr"/>
          <a:lstStyle/>
          <a:p>
            <a:pPr marL="0" indent="0" algn="ctr">
              <a:buNone/>
            </a:pPr>
            <a:r>
              <a:rPr lang="en-US" sz="1800" b="1" dirty="0">
                <a:solidFill>
                  <a:srgbClr val="F4F1EA"/>
                </a:solidFill>
                <a:latin typeface="Calibri" pitchFamily="34" charset="0"/>
                <a:ea typeface="Calibri" pitchFamily="34" charset="-122"/>
                <a:cs typeface="Calibri" pitchFamily="34" charset="-120"/>
              </a:rPr>
              <a:t>5. Ask LIFELOG</a:t>
            </a:r>
            <a:endParaRPr lang="en-US" sz="1800" dirty="0"/>
          </a:p>
        </p:txBody>
      </p:sp>
      <p:sp>
        <p:nvSpPr>
          <p:cNvPr id="23" name="anim|6|zoom|with|"/>
          <p:cNvSpPr txBox="1"/>
          <p:nvPr/>
        </p:nvSpPr>
        <p:spPr>
          <a:xfrm>
            <a:off x="9710928" y="4389120"/>
            <a:ext cx="2057400" cy="914400"/>
          </a:xfrm>
          <a:prstGeom prst="rect">
            <a:avLst/>
          </a:prstGeom>
          <a:noFill/>
          <a:ln/>
        </p:spPr>
        <p:txBody>
          <a:bodyPr wrap="square" lIns="0" tIns="0" rIns="0" bIns="0" rtlCol="0" anchor="t"/>
          <a:lstStyle/>
          <a:p>
            <a:pPr marL="0" indent="0" algn="ctr">
              <a:buNone/>
            </a:pPr>
            <a:r>
              <a:rPr lang="en-US" sz="1400" dirty="0">
                <a:solidFill>
                  <a:srgbClr val="B9C4BF"/>
                </a:solidFill>
                <a:latin typeface="Calibri" pitchFamily="34" charset="0"/>
                <a:ea typeface="Calibri" pitchFamily="34" charset="-122"/>
                <a:cs typeface="Calibri" pitchFamily="34" charset="-120"/>
              </a:rPr>
              <a:t>Gemini answers from your data</a:t>
            </a:r>
            <a:endParaRPr lang="en-US" sz="1400" dirty="0"/>
          </a:p>
        </p:txBody>
      </p:sp>
      <p:sp>
        <p:nvSpPr>
          <p:cNvPr id="24" name="anim|7|fade|click|"/>
          <p:cNvSpPr txBox="1"/>
          <p:nvPr/>
        </p:nvSpPr>
        <p:spPr>
          <a:xfrm>
            <a:off x="548640" y="5486400"/>
            <a:ext cx="11064240" cy="457200"/>
          </a:xfrm>
          <a:prstGeom prst="rect">
            <a:avLst/>
          </a:prstGeom>
          <a:noFill/>
          <a:ln/>
        </p:spPr>
        <p:txBody>
          <a:bodyPr wrap="square" lIns="0" tIns="0" rIns="0" bIns="0" rtlCol="0" anchor="ctr"/>
          <a:lstStyle/>
          <a:p>
            <a:pPr marL="0" indent="0" algn="ctr">
              <a:buNone/>
            </a:pPr>
            <a:r>
              <a:rPr lang="en-US" sz="1600" i="1" dirty="0">
                <a:solidFill>
                  <a:srgbClr val="A8D5C2"/>
                </a:solidFill>
                <a:latin typeface="Calibri" pitchFamily="34" charset="0"/>
                <a:ea typeface="Calibri" pitchFamily="34" charset="-122"/>
                <a:cs typeface="Calibri" pitchFamily="34" charset="-120"/>
              </a:rPr>
              <a:t>Live sensors stream every 5 seconds the whole time.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28</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600" fill="hold"/>
                                        <p:tgtEl>
                                          <p:spTgt spid="4"/>
                                        </p:tgtEl>
                                        <p:attrNameLst>
                                          <p:attrName>ppt_w</p:attrName>
                                        </p:attrNameLst>
                                      </p:cBhvr>
                                      <p:tavLst>
                                        <p:tav tm="0">
                                          <p:val>
                                            <p:fltVal val="0"/>
                                          </p:val>
                                        </p:tav>
                                        <p:tav tm="100000">
                                          <p:val>
                                            <p:strVal val="#ppt_w"/>
                                          </p:val>
                                        </p:tav>
                                      </p:tavLst>
                                    </p:anim>
                                    <p:anim calcmode="lin" valueType="num">
                                      <p:cBhvr>
                                        <p:cTn id="13" dur="600" fill="hold"/>
                                        <p:tgtEl>
                                          <p:spTgt spid="4"/>
                                        </p:tgtEl>
                                        <p:attrNameLst>
                                          <p:attrName>ppt_h</p:attrName>
                                        </p:attrNameLst>
                                      </p:cBhvr>
                                      <p:tavLst>
                                        <p:tav tm="0">
                                          <p:val>
                                            <p:fltVal val="0"/>
                                          </p:val>
                                        </p:tav>
                                        <p:tav tm="100000">
                                          <p:val>
                                            <p:strVal val="#ppt_h"/>
                                          </p:val>
                                        </p:tav>
                                      </p:tavLst>
                                    </p:anim>
                                  </p:childTnLst>
                                </p:cTn>
                              </p:par>
                              <p:par>
                                <p:cTn id="14" presetID="23"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600" fill="hold"/>
                                        <p:tgtEl>
                                          <p:spTgt spid="5"/>
                                        </p:tgtEl>
                                        <p:attrNameLst>
                                          <p:attrName>ppt_w</p:attrName>
                                        </p:attrNameLst>
                                      </p:cBhvr>
                                      <p:tavLst>
                                        <p:tav tm="0">
                                          <p:val>
                                            <p:fltVal val="0"/>
                                          </p:val>
                                        </p:tav>
                                        <p:tav tm="100000">
                                          <p:val>
                                            <p:strVal val="#ppt_w"/>
                                          </p:val>
                                        </p:tav>
                                      </p:tavLst>
                                    </p:anim>
                                    <p:anim calcmode="lin" valueType="num">
                                      <p:cBhvr>
                                        <p:cTn id="17" dur="600" fill="hold"/>
                                        <p:tgtEl>
                                          <p:spTgt spid="5"/>
                                        </p:tgtEl>
                                        <p:attrNameLst>
                                          <p:attrName>ppt_h</p:attrName>
                                        </p:attrNameLst>
                                      </p:cBhvr>
                                      <p:tavLst>
                                        <p:tav tm="0">
                                          <p:val>
                                            <p:fltVal val="0"/>
                                          </p:val>
                                        </p:tav>
                                        <p:tav tm="100000">
                                          <p:val>
                                            <p:strVal val="#ppt_h"/>
                                          </p:val>
                                        </p:tav>
                                      </p:tavLst>
                                    </p:anim>
                                  </p:childTnLst>
                                </p:cTn>
                              </p:par>
                              <p:par>
                                <p:cTn id="18" presetID="2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600" fill="hold"/>
                                        <p:tgtEl>
                                          <p:spTgt spid="6"/>
                                        </p:tgtEl>
                                        <p:attrNameLst>
                                          <p:attrName>ppt_w</p:attrName>
                                        </p:attrNameLst>
                                      </p:cBhvr>
                                      <p:tavLst>
                                        <p:tav tm="0">
                                          <p:val>
                                            <p:fltVal val="0"/>
                                          </p:val>
                                        </p:tav>
                                        <p:tav tm="100000">
                                          <p:val>
                                            <p:strVal val="#ppt_w"/>
                                          </p:val>
                                        </p:tav>
                                      </p:tavLst>
                                    </p:anim>
                                    <p:anim calcmode="lin" valueType="num">
                                      <p:cBhvr>
                                        <p:cTn id="21" dur="600" fill="hold"/>
                                        <p:tgtEl>
                                          <p:spTgt spid="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600" fill="hold"/>
                                        <p:tgtEl>
                                          <p:spTgt spid="7"/>
                                        </p:tgtEl>
                                        <p:attrNameLst>
                                          <p:attrName>ppt_w</p:attrName>
                                        </p:attrNameLst>
                                      </p:cBhvr>
                                      <p:tavLst>
                                        <p:tav tm="0">
                                          <p:val>
                                            <p:fltVal val="0"/>
                                          </p:val>
                                        </p:tav>
                                        <p:tav tm="100000">
                                          <p:val>
                                            <p:strVal val="#ppt_w"/>
                                          </p:val>
                                        </p:tav>
                                      </p:tavLst>
                                    </p:anim>
                                    <p:anim calcmode="lin" valueType="num">
                                      <p:cBhvr>
                                        <p:cTn id="25" dur="6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600" fill="hold"/>
                                        <p:tgtEl>
                                          <p:spTgt spid="8"/>
                                        </p:tgtEl>
                                        <p:attrNameLst>
                                          <p:attrName>ppt_w</p:attrName>
                                        </p:attrNameLst>
                                      </p:cBhvr>
                                      <p:tavLst>
                                        <p:tav tm="0">
                                          <p:val>
                                            <p:fltVal val="0"/>
                                          </p:val>
                                        </p:tav>
                                        <p:tav tm="100000">
                                          <p:val>
                                            <p:strVal val="#ppt_w"/>
                                          </p:val>
                                        </p:tav>
                                      </p:tavLst>
                                    </p:anim>
                                    <p:anim calcmode="lin" valueType="num">
                                      <p:cBhvr>
                                        <p:cTn id="31" dur="600" fill="hold"/>
                                        <p:tgtEl>
                                          <p:spTgt spid="8"/>
                                        </p:tgtEl>
                                        <p:attrNameLst>
                                          <p:attrName>ppt_h</p:attrName>
                                        </p:attrNameLst>
                                      </p:cBhvr>
                                      <p:tavLst>
                                        <p:tav tm="0">
                                          <p:val>
                                            <p:fltVal val="0"/>
                                          </p:val>
                                        </p:tav>
                                        <p:tav tm="100000">
                                          <p:val>
                                            <p:strVal val="#ppt_h"/>
                                          </p:val>
                                        </p:tav>
                                      </p:tavLst>
                                    </p:anim>
                                  </p:childTnLst>
                                </p:cTn>
                              </p:par>
                              <p:par>
                                <p:cTn id="32" presetID="23" presetClass="entr" presetSubtype="16"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600" fill="hold"/>
                                        <p:tgtEl>
                                          <p:spTgt spid="9"/>
                                        </p:tgtEl>
                                        <p:attrNameLst>
                                          <p:attrName>ppt_w</p:attrName>
                                        </p:attrNameLst>
                                      </p:cBhvr>
                                      <p:tavLst>
                                        <p:tav tm="0">
                                          <p:val>
                                            <p:fltVal val="0"/>
                                          </p:val>
                                        </p:tav>
                                        <p:tav tm="100000">
                                          <p:val>
                                            <p:strVal val="#ppt_w"/>
                                          </p:val>
                                        </p:tav>
                                      </p:tavLst>
                                    </p:anim>
                                    <p:anim calcmode="lin" valueType="num">
                                      <p:cBhvr>
                                        <p:cTn id="35" dur="600" fill="hold"/>
                                        <p:tgtEl>
                                          <p:spTgt spid="9"/>
                                        </p:tgtEl>
                                        <p:attrNameLst>
                                          <p:attrName>ppt_h</p:attrName>
                                        </p:attrNameLst>
                                      </p:cBhvr>
                                      <p:tavLst>
                                        <p:tav tm="0">
                                          <p:val>
                                            <p:fltVal val="0"/>
                                          </p:val>
                                        </p:tav>
                                        <p:tav tm="100000">
                                          <p:val>
                                            <p:strVal val="#ppt_h"/>
                                          </p:val>
                                        </p:tav>
                                      </p:tavLst>
                                    </p:anim>
                                  </p:childTnLst>
                                </p:cTn>
                              </p:par>
                              <p:par>
                                <p:cTn id="36" presetID="23" presetClass="entr" presetSubtype="16"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600" fill="hold"/>
                                        <p:tgtEl>
                                          <p:spTgt spid="10"/>
                                        </p:tgtEl>
                                        <p:attrNameLst>
                                          <p:attrName>ppt_w</p:attrName>
                                        </p:attrNameLst>
                                      </p:cBhvr>
                                      <p:tavLst>
                                        <p:tav tm="0">
                                          <p:val>
                                            <p:fltVal val="0"/>
                                          </p:val>
                                        </p:tav>
                                        <p:tav tm="100000">
                                          <p:val>
                                            <p:strVal val="#ppt_w"/>
                                          </p:val>
                                        </p:tav>
                                      </p:tavLst>
                                    </p:anim>
                                    <p:anim calcmode="lin" valueType="num">
                                      <p:cBhvr>
                                        <p:cTn id="39" dur="600" fill="hold"/>
                                        <p:tgtEl>
                                          <p:spTgt spid="10"/>
                                        </p:tgtEl>
                                        <p:attrNameLst>
                                          <p:attrName>ppt_h</p:attrName>
                                        </p:attrNameLst>
                                      </p:cBhvr>
                                      <p:tavLst>
                                        <p:tav tm="0">
                                          <p:val>
                                            <p:fltVal val="0"/>
                                          </p:val>
                                        </p:tav>
                                        <p:tav tm="100000">
                                          <p:val>
                                            <p:strVal val="#ppt_h"/>
                                          </p:val>
                                        </p:tav>
                                      </p:tavLst>
                                    </p:anim>
                                  </p:childTnLst>
                                </p:cTn>
                              </p:par>
                              <p:par>
                                <p:cTn id="40" presetID="2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600" fill="hold"/>
                                        <p:tgtEl>
                                          <p:spTgt spid="11"/>
                                        </p:tgtEl>
                                        <p:attrNameLst>
                                          <p:attrName>ppt_w</p:attrName>
                                        </p:attrNameLst>
                                      </p:cBhvr>
                                      <p:tavLst>
                                        <p:tav tm="0">
                                          <p:val>
                                            <p:fltVal val="0"/>
                                          </p:val>
                                        </p:tav>
                                        <p:tav tm="100000">
                                          <p:val>
                                            <p:strVal val="#ppt_w"/>
                                          </p:val>
                                        </p:tav>
                                      </p:tavLst>
                                    </p:anim>
                                    <p:anim calcmode="lin" valueType="num">
                                      <p:cBhvr>
                                        <p:cTn id="43" dur="6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600" fill="hold"/>
                                        <p:tgtEl>
                                          <p:spTgt spid="12"/>
                                        </p:tgtEl>
                                        <p:attrNameLst>
                                          <p:attrName>ppt_w</p:attrName>
                                        </p:attrNameLst>
                                      </p:cBhvr>
                                      <p:tavLst>
                                        <p:tav tm="0">
                                          <p:val>
                                            <p:fltVal val="0"/>
                                          </p:val>
                                        </p:tav>
                                        <p:tav tm="100000">
                                          <p:val>
                                            <p:strVal val="#ppt_w"/>
                                          </p:val>
                                        </p:tav>
                                      </p:tavLst>
                                    </p:anim>
                                    <p:anim calcmode="lin" valueType="num">
                                      <p:cBhvr>
                                        <p:cTn id="49" dur="600" fill="hold"/>
                                        <p:tgtEl>
                                          <p:spTgt spid="12"/>
                                        </p:tgtEl>
                                        <p:attrNameLst>
                                          <p:attrName>ppt_h</p:attrName>
                                        </p:attrNameLst>
                                      </p:cBhvr>
                                      <p:tavLst>
                                        <p:tav tm="0">
                                          <p:val>
                                            <p:fltVal val="0"/>
                                          </p:val>
                                        </p:tav>
                                        <p:tav tm="100000">
                                          <p:val>
                                            <p:strVal val="#ppt_h"/>
                                          </p:val>
                                        </p:tav>
                                      </p:tavLst>
                                    </p:anim>
                                  </p:childTnLst>
                                </p:cTn>
                              </p:par>
                              <p:par>
                                <p:cTn id="50" presetID="23" presetClass="entr" presetSubtype="16"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600" fill="hold"/>
                                        <p:tgtEl>
                                          <p:spTgt spid="13"/>
                                        </p:tgtEl>
                                        <p:attrNameLst>
                                          <p:attrName>ppt_w</p:attrName>
                                        </p:attrNameLst>
                                      </p:cBhvr>
                                      <p:tavLst>
                                        <p:tav tm="0">
                                          <p:val>
                                            <p:fltVal val="0"/>
                                          </p:val>
                                        </p:tav>
                                        <p:tav tm="100000">
                                          <p:val>
                                            <p:strVal val="#ppt_w"/>
                                          </p:val>
                                        </p:tav>
                                      </p:tavLst>
                                    </p:anim>
                                    <p:anim calcmode="lin" valueType="num">
                                      <p:cBhvr>
                                        <p:cTn id="53" dur="600" fill="hold"/>
                                        <p:tgtEl>
                                          <p:spTgt spid="13"/>
                                        </p:tgtEl>
                                        <p:attrNameLst>
                                          <p:attrName>ppt_h</p:attrName>
                                        </p:attrNameLst>
                                      </p:cBhvr>
                                      <p:tavLst>
                                        <p:tav tm="0">
                                          <p:val>
                                            <p:fltVal val="0"/>
                                          </p:val>
                                        </p:tav>
                                        <p:tav tm="100000">
                                          <p:val>
                                            <p:strVal val="#ppt_h"/>
                                          </p:val>
                                        </p:tav>
                                      </p:tavLst>
                                    </p:anim>
                                  </p:childTnLst>
                                </p:cTn>
                              </p:par>
                              <p:par>
                                <p:cTn id="54" presetID="23" presetClass="entr" presetSubtype="16"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p:cTn id="56" dur="600" fill="hold"/>
                                        <p:tgtEl>
                                          <p:spTgt spid="14"/>
                                        </p:tgtEl>
                                        <p:attrNameLst>
                                          <p:attrName>ppt_w</p:attrName>
                                        </p:attrNameLst>
                                      </p:cBhvr>
                                      <p:tavLst>
                                        <p:tav tm="0">
                                          <p:val>
                                            <p:fltVal val="0"/>
                                          </p:val>
                                        </p:tav>
                                        <p:tav tm="100000">
                                          <p:val>
                                            <p:strVal val="#ppt_w"/>
                                          </p:val>
                                        </p:tav>
                                      </p:tavLst>
                                    </p:anim>
                                    <p:anim calcmode="lin" valueType="num">
                                      <p:cBhvr>
                                        <p:cTn id="57" dur="600" fill="hold"/>
                                        <p:tgtEl>
                                          <p:spTgt spid="14"/>
                                        </p:tgtEl>
                                        <p:attrNameLst>
                                          <p:attrName>ppt_h</p:attrName>
                                        </p:attrNameLst>
                                      </p:cBhvr>
                                      <p:tavLst>
                                        <p:tav tm="0">
                                          <p:val>
                                            <p:fltVal val="0"/>
                                          </p:val>
                                        </p:tav>
                                        <p:tav tm="100000">
                                          <p:val>
                                            <p:strVal val="#ppt_h"/>
                                          </p:val>
                                        </p:tav>
                                      </p:tavLst>
                                    </p:anim>
                                  </p:childTnLst>
                                </p:cTn>
                              </p:par>
                              <p:par>
                                <p:cTn id="58" presetID="2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600" fill="hold"/>
                                        <p:tgtEl>
                                          <p:spTgt spid="15"/>
                                        </p:tgtEl>
                                        <p:attrNameLst>
                                          <p:attrName>ppt_w</p:attrName>
                                        </p:attrNameLst>
                                      </p:cBhvr>
                                      <p:tavLst>
                                        <p:tav tm="0">
                                          <p:val>
                                            <p:fltVal val="0"/>
                                          </p:val>
                                        </p:tav>
                                        <p:tav tm="100000">
                                          <p:val>
                                            <p:strVal val="#ppt_w"/>
                                          </p:val>
                                        </p:tav>
                                      </p:tavLst>
                                    </p:anim>
                                    <p:anim calcmode="lin" valueType="num">
                                      <p:cBhvr>
                                        <p:cTn id="61" dur="6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3" presetClass="entr" presetSubtype="16" fill="hold" nodeType="click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p:cTn id="66" dur="600" fill="hold"/>
                                        <p:tgtEl>
                                          <p:spTgt spid="16"/>
                                        </p:tgtEl>
                                        <p:attrNameLst>
                                          <p:attrName>ppt_w</p:attrName>
                                        </p:attrNameLst>
                                      </p:cBhvr>
                                      <p:tavLst>
                                        <p:tav tm="0">
                                          <p:val>
                                            <p:fltVal val="0"/>
                                          </p:val>
                                        </p:tav>
                                        <p:tav tm="100000">
                                          <p:val>
                                            <p:strVal val="#ppt_w"/>
                                          </p:val>
                                        </p:tav>
                                      </p:tavLst>
                                    </p:anim>
                                    <p:anim calcmode="lin" valueType="num">
                                      <p:cBhvr>
                                        <p:cTn id="67" dur="600" fill="hold"/>
                                        <p:tgtEl>
                                          <p:spTgt spid="16"/>
                                        </p:tgtEl>
                                        <p:attrNameLst>
                                          <p:attrName>ppt_h</p:attrName>
                                        </p:attrNameLst>
                                      </p:cBhvr>
                                      <p:tavLst>
                                        <p:tav tm="0">
                                          <p:val>
                                            <p:fltVal val="0"/>
                                          </p:val>
                                        </p:tav>
                                        <p:tav tm="100000">
                                          <p:val>
                                            <p:strVal val="#ppt_h"/>
                                          </p:val>
                                        </p:tav>
                                      </p:tavLst>
                                    </p:anim>
                                  </p:childTnLst>
                                </p:cTn>
                              </p:par>
                              <p:par>
                                <p:cTn id="68" presetID="23" presetClass="entr" presetSubtype="16" fill="hold"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600" fill="hold"/>
                                        <p:tgtEl>
                                          <p:spTgt spid="17"/>
                                        </p:tgtEl>
                                        <p:attrNameLst>
                                          <p:attrName>ppt_w</p:attrName>
                                        </p:attrNameLst>
                                      </p:cBhvr>
                                      <p:tavLst>
                                        <p:tav tm="0">
                                          <p:val>
                                            <p:fltVal val="0"/>
                                          </p:val>
                                        </p:tav>
                                        <p:tav tm="100000">
                                          <p:val>
                                            <p:strVal val="#ppt_w"/>
                                          </p:val>
                                        </p:tav>
                                      </p:tavLst>
                                    </p:anim>
                                    <p:anim calcmode="lin" valueType="num">
                                      <p:cBhvr>
                                        <p:cTn id="71" dur="600" fill="hold"/>
                                        <p:tgtEl>
                                          <p:spTgt spid="17"/>
                                        </p:tgtEl>
                                        <p:attrNameLst>
                                          <p:attrName>ppt_h</p:attrName>
                                        </p:attrNameLst>
                                      </p:cBhvr>
                                      <p:tavLst>
                                        <p:tav tm="0">
                                          <p:val>
                                            <p:fltVal val="0"/>
                                          </p:val>
                                        </p:tav>
                                        <p:tav tm="100000">
                                          <p:val>
                                            <p:strVal val="#ppt_h"/>
                                          </p:val>
                                        </p:tav>
                                      </p:tavLst>
                                    </p:anim>
                                  </p:childTnLst>
                                </p:cTn>
                              </p:par>
                              <p:par>
                                <p:cTn id="72" presetID="23" presetClass="entr" presetSubtype="16"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p:cTn id="74" dur="600" fill="hold"/>
                                        <p:tgtEl>
                                          <p:spTgt spid="18"/>
                                        </p:tgtEl>
                                        <p:attrNameLst>
                                          <p:attrName>ppt_w</p:attrName>
                                        </p:attrNameLst>
                                      </p:cBhvr>
                                      <p:tavLst>
                                        <p:tav tm="0">
                                          <p:val>
                                            <p:fltVal val="0"/>
                                          </p:val>
                                        </p:tav>
                                        <p:tav tm="100000">
                                          <p:val>
                                            <p:strVal val="#ppt_w"/>
                                          </p:val>
                                        </p:tav>
                                      </p:tavLst>
                                    </p:anim>
                                    <p:anim calcmode="lin" valueType="num">
                                      <p:cBhvr>
                                        <p:cTn id="75" dur="600" fill="hold"/>
                                        <p:tgtEl>
                                          <p:spTgt spid="18"/>
                                        </p:tgtEl>
                                        <p:attrNameLst>
                                          <p:attrName>ppt_h</p:attrName>
                                        </p:attrNameLst>
                                      </p:cBhvr>
                                      <p:tavLst>
                                        <p:tav tm="0">
                                          <p:val>
                                            <p:fltVal val="0"/>
                                          </p:val>
                                        </p:tav>
                                        <p:tav tm="100000">
                                          <p:val>
                                            <p:strVal val="#ppt_h"/>
                                          </p:val>
                                        </p:tav>
                                      </p:tavLst>
                                    </p:anim>
                                  </p:childTnLst>
                                </p:cTn>
                              </p:par>
                              <p:par>
                                <p:cTn id="76" presetID="23" presetClass="entr" presetSubtype="16"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p:cTn id="78" dur="600" fill="hold"/>
                                        <p:tgtEl>
                                          <p:spTgt spid="19"/>
                                        </p:tgtEl>
                                        <p:attrNameLst>
                                          <p:attrName>ppt_w</p:attrName>
                                        </p:attrNameLst>
                                      </p:cBhvr>
                                      <p:tavLst>
                                        <p:tav tm="0">
                                          <p:val>
                                            <p:fltVal val="0"/>
                                          </p:val>
                                        </p:tav>
                                        <p:tav tm="100000">
                                          <p:val>
                                            <p:strVal val="#ppt_w"/>
                                          </p:val>
                                        </p:tav>
                                      </p:tavLst>
                                    </p:anim>
                                    <p:anim calcmode="lin" valueType="num">
                                      <p:cBhvr>
                                        <p:cTn id="79" dur="6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3" presetClass="entr" presetSubtype="16" fill="hold" nodeType="click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600" fill="hold"/>
                                        <p:tgtEl>
                                          <p:spTgt spid="20"/>
                                        </p:tgtEl>
                                        <p:attrNameLst>
                                          <p:attrName>ppt_w</p:attrName>
                                        </p:attrNameLst>
                                      </p:cBhvr>
                                      <p:tavLst>
                                        <p:tav tm="0">
                                          <p:val>
                                            <p:fltVal val="0"/>
                                          </p:val>
                                        </p:tav>
                                        <p:tav tm="100000">
                                          <p:val>
                                            <p:strVal val="#ppt_w"/>
                                          </p:val>
                                        </p:tav>
                                      </p:tavLst>
                                    </p:anim>
                                    <p:anim calcmode="lin" valueType="num">
                                      <p:cBhvr>
                                        <p:cTn id="85" dur="600" fill="hold"/>
                                        <p:tgtEl>
                                          <p:spTgt spid="20"/>
                                        </p:tgtEl>
                                        <p:attrNameLst>
                                          <p:attrName>ppt_h</p:attrName>
                                        </p:attrNameLst>
                                      </p:cBhvr>
                                      <p:tavLst>
                                        <p:tav tm="0">
                                          <p:val>
                                            <p:fltVal val="0"/>
                                          </p:val>
                                        </p:tav>
                                        <p:tav tm="100000">
                                          <p:val>
                                            <p:strVal val="#ppt_h"/>
                                          </p:val>
                                        </p:tav>
                                      </p:tavLst>
                                    </p:anim>
                                  </p:childTnLst>
                                </p:cTn>
                              </p:par>
                              <p:par>
                                <p:cTn id="86" presetID="23" presetClass="entr" presetSubtype="16" fill="hold" nodeType="with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p:cTn id="88" dur="600" fill="hold"/>
                                        <p:tgtEl>
                                          <p:spTgt spid="21"/>
                                        </p:tgtEl>
                                        <p:attrNameLst>
                                          <p:attrName>ppt_w</p:attrName>
                                        </p:attrNameLst>
                                      </p:cBhvr>
                                      <p:tavLst>
                                        <p:tav tm="0">
                                          <p:val>
                                            <p:fltVal val="0"/>
                                          </p:val>
                                        </p:tav>
                                        <p:tav tm="100000">
                                          <p:val>
                                            <p:strVal val="#ppt_w"/>
                                          </p:val>
                                        </p:tav>
                                      </p:tavLst>
                                    </p:anim>
                                    <p:anim calcmode="lin" valueType="num">
                                      <p:cBhvr>
                                        <p:cTn id="89" dur="600" fill="hold"/>
                                        <p:tgtEl>
                                          <p:spTgt spid="21"/>
                                        </p:tgtEl>
                                        <p:attrNameLst>
                                          <p:attrName>ppt_h</p:attrName>
                                        </p:attrNameLst>
                                      </p:cBhvr>
                                      <p:tavLst>
                                        <p:tav tm="0">
                                          <p:val>
                                            <p:fltVal val="0"/>
                                          </p:val>
                                        </p:tav>
                                        <p:tav tm="100000">
                                          <p:val>
                                            <p:strVal val="#ppt_h"/>
                                          </p:val>
                                        </p:tav>
                                      </p:tavLst>
                                    </p:anim>
                                  </p:childTnLst>
                                </p:cTn>
                              </p:par>
                              <p:par>
                                <p:cTn id="90" presetID="2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600" fill="hold"/>
                                        <p:tgtEl>
                                          <p:spTgt spid="22"/>
                                        </p:tgtEl>
                                        <p:attrNameLst>
                                          <p:attrName>ppt_w</p:attrName>
                                        </p:attrNameLst>
                                      </p:cBhvr>
                                      <p:tavLst>
                                        <p:tav tm="0">
                                          <p:val>
                                            <p:fltVal val="0"/>
                                          </p:val>
                                        </p:tav>
                                        <p:tav tm="100000">
                                          <p:val>
                                            <p:strVal val="#ppt_w"/>
                                          </p:val>
                                        </p:tav>
                                      </p:tavLst>
                                    </p:anim>
                                    <p:anim calcmode="lin" valueType="num">
                                      <p:cBhvr>
                                        <p:cTn id="93" dur="600" fill="hold"/>
                                        <p:tgtEl>
                                          <p:spTgt spid="22"/>
                                        </p:tgtEl>
                                        <p:attrNameLst>
                                          <p:attrName>ppt_h</p:attrName>
                                        </p:attrNameLst>
                                      </p:cBhvr>
                                      <p:tavLst>
                                        <p:tav tm="0">
                                          <p:val>
                                            <p:fltVal val="0"/>
                                          </p:val>
                                        </p:tav>
                                        <p:tav tm="100000">
                                          <p:val>
                                            <p:strVal val="#ppt_h"/>
                                          </p:val>
                                        </p:tav>
                                      </p:tavLst>
                                    </p:anim>
                                  </p:childTnLst>
                                </p:cTn>
                              </p:par>
                              <p:par>
                                <p:cTn id="94" presetID="23" presetClass="entr" presetSubtype="16"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 calcmode="lin" valueType="num">
                                      <p:cBhvr>
                                        <p:cTn id="96" dur="600" fill="hold"/>
                                        <p:tgtEl>
                                          <p:spTgt spid="23"/>
                                        </p:tgtEl>
                                        <p:attrNameLst>
                                          <p:attrName>ppt_w</p:attrName>
                                        </p:attrNameLst>
                                      </p:cBhvr>
                                      <p:tavLst>
                                        <p:tav tm="0">
                                          <p:val>
                                            <p:fltVal val="0"/>
                                          </p:val>
                                        </p:tav>
                                        <p:tav tm="100000">
                                          <p:val>
                                            <p:strVal val="#ppt_w"/>
                                          </p:val>
                                        </p:tav>
                                      </p:tavLst>
                                    </p:anim>
                                    <p:anim calcmode="lin" valueType="num">
                                      <p:cBhvr>
                                        <p:cTn id="97" dur="6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4" grpId="0" animBg="1"/>
      <p:bldP spid="15" grpId="0" animBg="1"/>
      <p:bldP spid="18" grpId="0" animBg="1"/>
      <p:bldP spid="19" grpId="0" animBg="1"/>
      <p:bldP spid="22" grpId="0" animBg="1"/>
      <p:bldP spid="23"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Who it helps</a:t>
            </a:r>
            <a:endParaRPr lang="en-US" sz="3200" dirty="0"/>
          </a:p>
        </p:txBody>
      </p:sp>
      <p:sp>
        <p:nvSpPr>
          <p:cNvPr id="3" name="anim|1|rise|click|"/>
          <p:cNvSpPr/>
          <p:nvPr/>
        </p:nvSpPr>
        <p:spPr>
          <a:xfrm>
            <a:off x="548640" y="1417320"/>
            <a:ext cx="2606040" cy="3291840"/>
          </a:xfrm>
          <a:prstGeom prst="roundRect">
            <a:avLst>
              <a:gd name="adj" fmla="val 4211"/>
            </a:avLst>
          </a:prstGeom>
          <a:solidFill>
            <a:srgbClr val="2B2F31"/>
          </a:solidFill>
          <a:ln w="9525">
            <a:solidFill>
              <a:srgbClr val="45504C"/>
            </a:solidFill>
            <a:prstDash val="solid"/>
          </a:ln>
        </p:spPr>
      </p:sp>
      <p:sp>
        <p:nvSpPr>
          <p:cNvPr id="4" name="anim|1|rise|with|"/>
          <p:cNvSpPr/>
          <p:nvPr/>
        </p:nvSpPr>
        <p:spPr>
          <a:xfrm>
            <a:off x="822960" y="1691640"/>
            <a:ext cx="777240" cy="777240"/>
          </a:xfrm>
          <a:prstGeom prst="ellipse">
            <a:avLst/>
          </a:prstGeom>
          <a:solidFill>
            <a:srgbClr val="343A3C"/>
          </a:solidFill>
          <a:ln/>
        </p:spPr>
      </p:sp>
      <p:pic>
        <p:nvPicPr>
          <p:cNvPr id="5" name="anim|1|rise|with|" descr="preencoded.png"/>
          <p:cNvPicPr>
            <a:picLocks noChangeAspect="1"/>
          </p:cNvPicPr>
          <p:nvPr/>
        </p:nvPicPr>
        <p:blipFill>
          <a:blip r:embed="rId3"/>
          <a:stretch>
            <a:fillRect/>
          </a:stretch>
        </p:blipFill>
        <p:spPr>
          <a:xfrm>
            <a:off x="993953" y="1862633"/>
            <a:ext cx="435254" cy="435254"/>
          </a:xfrm>
          <a:prstGeom prst="rect">
            <a:avLst/>
          </a:prstGeom>
        </p:spPr>
      </p:pic>
      <p:sp>
        <p:nvSpPr>
          <p:cNvPr id="6" name="anim|1|rise|with|"/>
          <p:cNvSpPr txBox="1"/>
          <p:nvPr/>
        </p:nvSpPr>
        <p:spPr>
          <a:xfrm>
            <a:off x="822960" y="2651760"/>
            <a:ext cx="2148840" cy="73152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Patients and caregivers</a:t>
            </a:r>
            <a:endParaRPr lang="en-US" sz="1800" dirty="0"/>
          </a:p>
        </p:txBody>
      </p:sp>
      <p:sp>
        <p:nvSpPr>
          <p:cNvPr id="7" name="anim|1|rise|with|"/>
          <p:cNvSpPr txBox="1"/>
          <p:nvPr/>
        </p:nvSpPr>
        <p:spPr>
          <a:xfrm>
            <a:off x="822960" y="3383280"/>
            <a:ext cx="2148840" cy="11887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Know if a dose is still good, before taking it or throwing it away</a:t>
            </a:r>
            <a:endParaRPr lang="en-US" sz="1400" dirty="0"/>
          </a:p>
        </p:txBody>
      </p:sp>
      <p:sp>
        <p:nvSpPr>
          <p:cNvPr id="8" name="anim|2|rise|click|"/>
          <p:cNvSpPr/>
          <p:nvPr/>
        </p:nvSpPr>
        <p:spPr>
          <a:xfrm>
            <a:off x="3364992" y="1417320"/>
            <a:ext cx="2606040" cy="3291840"/>
          </a:xfrm>
          <a:prstGeom prst="roundRect">
            <a:avLst>
              <a:gd name="adj" fmla="val 4211"/>
            </a:avLst>
          </a:prstGeom>
          <a:solidFill>
            <a:srgbClr val="2B2F31"/>
          </a:solidFill>
          <a:ln w="9525">
            <a:solidFill>
              <a:srgbClr val="45504C"/>
            </a:solidFill>
            <a:prstDash val="solid"/>
          </a:ln>
        </p:spPr>
      </p:sp>
      <p:sp>
        <p:nvSpPr>
          <p:cNvPr id="9" name="anim|2|rise|with|"/>
          <p:cNvSpPr/>
          <p:nvPr/>
        </p:nvSpPr>
        <p:spPr>
          <a:xfrm>
            <a:off x="3639312" y="1691640"/>
            <a:ext cx="777240" cy="777240"/>
          </a:xfrm>
          <a:prstGeom prst="ellipse">
            <a:avLst/>
          </a:prstGeom>
          <a:solidFill>
            <a:srgbClr val="343A3C"/>
          </a:solidFill>
          <a:ln/>
        </p:spPr>
      </p:sp>
      <p:pic>
        <p:nvPicPr>
          <p:cNvPr id="10" name="anim|2|rise|with|" descr="preencoded.png"/>
          <p:cNvPicPr>
            <a:picLocks noChangeAspect="1"/>
          </p:cNvPicPr>
          <p:nvPr/>
        </p:nvPicPr>
        <p:blipFill>
          <a:blip r:embed="rId4"/>
          <a:stretch>
            <a:fillRect/>
          </a:stretch>
        </p:blipFill>
        <p:spPr>
          <a:xfrm>
            <a:off x="3810305" y="1862633"/>
            <a:ext cx="435254" cy="435254"/>
          </a:xfrm>
          <a:prstGeom prst="rect">
            <a:avLst/>
          </a:prstGeom>
        </p:spPr>
      </p:pic>
      <p:sp>
        <p:nvSpPr>
          <p:cNvPr id="11" name="anim|2|rise|with|"/>
          <p:cNvSpPr txBox="1"/>
          <p:nvPr/>
        </p:nvSpPr>
        <p:spPr>
          <a:xfrm>
            <a:off x="3639312" y="2651760"/>
            <a:ext cx="2148840" cy="73152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Pharmacies and mail-order</a:t>
            </a:r>
            <a:endParaRPr lang="en-US" sz="1800" dirty="0"/>
          </a:p>
        </p:txBody>
      </p:sp>
      <p:sp>
        <p:nvSpPr>
          <p:cNvPr id="12" name="anim|2|rise|with|"/>
          <p:cNvSpPr txBox="1"/>
          <p:nvPr/>
        </p:nvSpPr>
        <p:spPr>
          <a:xfrm>
            <a:off x="3639312" y="3383280"/>
            <a:ext cx="2148840" cy="11887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See which ZIP codes and carriers cook deliveries in August</a:t>
            </a:r>
            <a:endParaRPr lang="en-US" sz="1400" dirty="0"/>
          </a:p>
        </p:txBody>
      </p:sp>
      <p:sp>
        <p:nvSpPr>
          <p:cNvPr id="13" name="anim|3|rise|click|"/>
          <p:cNvSpPr/>
          <p:nvPr/>
        </p:nvSpPr>
        <p:spPr>
          <a:xfrm>
            <a:off x="6181344" y="1417320"/>
            <a:ext cx="2606040" cy="3291840"/>
          </a:xfrm>
          <a:prstGeom prst="roundRect">
            <a:avLst>
              <a:gd name="adj" fmla="val 4211"/>
            </a:avLst>
          </a:prstGeom>
          <a:solidFill>
            <a:srgbClr val="2B2F31"/>
          </a:solidFill>
          <a:ln w="9525">
            <a:solidFill>
              <a:srgbClr val="45504C"/>
            </a:solidFill>
            <a:prstDash val="solid"/>
          </a:ln>
        </p:spPr>
      </p:sp>
      <p:sp>
        <p:nvSpPr>
          <p:cNvPr id="14" name="anim|3|rise|with|"/>
          <p:cNvSpPr/>
          <p:nvPr/>
        </p:nvSpPr>
        <p:spPr>
          <a:xfrm>
            <a:off x="6455664" y="1691640"/>
            <a:ext cx="777240" cy="777240"/>
          </a:xfrm>
          <a:prstGeom prst="ellipse">
            <a:avLst/>
          </a:prstGeom>
          <a:solidFill>
            <a:srgbClr val="343A3C"/>
          </a:solidFill>
          <a:ln/>
        </p:spPr>
      </p:sp>
      <p:pic>
        <p:nvPicPr>
          <p:cNvPr id="15" name="anim|3|rise|with|" descr="preencoded.png"/>
          <p:cNvPicPr>
            <a:picLocks noChangeAspect="1"/>
          </p:cNvPicPr>
          <p:nvPr/>
        </p:nvPicPr>
        <p:blipFill>
          <a:blip r:embed="rId5"/>
          <a:stretch>
            <a:fillRect/>
          </a:stretch>
        </p:blipFill>
        <p:spPr>
          <a:xfrm>
            <a:off x="6626657" y="1862633"/>
            <a:ext cx="435254" cy="435254"/>
          </a:xfrm>
          <a:prstGeom prst="rect">
            <a:avLst/>
          </a:prstGeom>
        </p:spPr>
      </p:pic>
      <p:sp>
        <p:nvSpPr>
          <p:cNvPr id="16" name="anim|3|rise|with|"/>
          <p:cNvSpPr txBox="1"/>
          <p:nvPr/>
        </p:nvSpPr>
        <p:spPr>
          <a:xfrm>
            <a:off x="6455664" y="2651760"/>
            <a:ext cx="2148840" cy="73152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Utilities and emergency managers</a:t>
            </a:r>
            <a:endParaRPr lang="en-US" sz="1800" dirty="0"/>
          </a:p>
        </p:txBody>
      </p:sp>
      <p:sp>
        <p:nvSpPr>
          <p:cNvPr id="17" name="anim|3|rise|with|"/>
          <p:cNvSpPr txBox="1"/>
          <p:nvPr/>
        </p:nvSpPr>
        <p:spPr>
          <a:xfrm>
            <a:off x="6455664" y="3383280"/>
            <a:ext cx="2148840" cy="11887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Know who runs out of medicine first during an outage</a:t>
            </a:r>
            <a:endParaRPr lang="en-US" sz="1400" dirty="0"/>
          </a:p>
        </p:txBody>
      </p:sp>
      <p:sp>
        <p:nvSpPr>
          <p:cNvPr id="18" name="anim|4|rise|click|"/>
          <p:cNvSpPr/>
          <p:nvPr/>
        </p:nvSpPr>
        <p:spPr>
          <a:xfrm>
            <a:off x="8997696" y="1417320"/>
            <a:ext cx="2606040" cy="3291840"/>
          </a:xfrm>
          <a:prstGeom prst="roundRect">
            <a:avLst>
              <a:gd name="adj" fmla="val 4211"/>
            </a:avLst>
          </a:prstGeom>
          <a:solidFill>
            <a:srgbClr val="2B2F31"/>
          </a:solidFill>
          <a:ln w="9525">
            <a:solidFill>
              <a:srgbClr val="45504C"/>
            </a:solidFill>
            <a:prstDash val="solid"/>
          </a:ln>
        </p:spPr>
      </p:sp>
      <p:sp>
        <p:nvSpPr>
          <p:cNvPr id="19" name="anim|4|rise|with|"/>
          <p:cNvSpPr/>
          <p:nvPr/>
        </p:nvSpPr>
        <p:spPr>
          <a:xfrm>
            <a:off x="9272016" y="1691640"/>
            <a:ext cx="777240" cy="777240"/>
          </a:xfrm>
          <a:prstGeom prst="ellipse">
            <a:avLst/>
          </a:prstGeom>
          <a:solidFill>
            <a:srgbClr val="343A3C"/>
          </a:solidFill>
          <a:ln/>
        </p:spPr>
      </p:sp>
      <p:pic>
        <p:nvPicPr>
          <p:cNvPr id="20" name="anim|4|rise|with|" descr="preencoded.png"/>
          <p:cNvPicPr>
            <a:picLocks noChangeAspect="1"/>
          </p:cNvPicPr>
          <p:nvPr/>
        </p:nvPicPr>
        <p:blipFill>
          <a:blip r:embed="rId6"/>
          <a:stretch>
            <a:fillRect/>
          </a:stretch>
        </p:blipFill>
        <p:spPr>
          <a:xfrm>
            <a:off x="9443009" y="1862633"/>
            <a:ext cx="435254" cy="435254"/>
          </a:xfrm>
          <a:prstGeom prst="rect">
            <a:avLst/>
          </a:prstGeom>
        </p:spPr>
      </p:pic>
      <p:sp>
        <p:nvSpPr>
          <p:cNvPr id="21" name="anim|4|rise|with|"/>
          <p:cNvSpPr txBox="1"/>
          <p:nvPr/>
        </p:nvSpPr>
        <p:spPr>
          <a:xfrm>
            <a:off x="9272016" y="2651760"/>
            <a:ext cx="2148840" cy="731520"/>
          </a:xfrm>
          <a:prstGeom prst="rect">
            <a:avLst/>
          </a:prstGeom>
          <a:noFill/>
          <a:ln/>
        </p:spPr>
        <p:txBody>
          <a:bodyPr wrap="square" lIns="0" tIns="0" rIns="0" bIns="0" rtlCol="0" anchor="t"/>
          <a:lstStyle/>
          <a:p>
            <a:pPr marL="0" indent="0">
              <a:buNone/>
            </a:pPr>
            <a:r>
              <a:rPr lang="en-US" sz="1800" b="1" dirty="0">
                <a:solidFill>
                  <a:srgbClr val="F4F1EA"/>
                </a:solidFill>
                <a:latin typeface="Calibri" pitchFamily="34" charset="0"/>
                <a:ea typeface="Calibri" pitchFamily="34" charset="-122"/>
                <a:cs typeface="Calibri" pitchFamily="34" charset="-120"/>
              </a:rPr>
              <a:t>Insurers</a:t>
            </a:r>
            <a:endParaRPr lang="en-US" sz="1800" dirty="0"/>
          </a:p>
        </p:txBody>
      </p:sp>
      <p:sp>
        <p:nvSpPr>
          <p:cNvPr id="22" name="anim|4|rise|with|"/>
          <p:cNvSpPr txBox="1"/>
          <p:nvPr/>
        </p:nvSpPr>
        <p:spPr>
          <a:xfrm>
            <a:off x="9272016" y="3383280"/>
            <a:ext cx="2148840" cy="1188720"/>
          </a:xfrm>
          <a:prstGeom prst="rect">
            <a:avLst/>
          </a:prstGeom>
          <a:noFill/>
          <a:ln/>
        </p:spPr>
        <p:txBody>
          <a:bodyPr wrap="square" lIns="0" tIns="0" rIns="0" bIns="0" rtlCol="0" anchor="t"/>
          <a:lstStyle/>
          <a:p>
            <a:pPr marL="0" indent="0">
              <a:buNone/>
            </a:pPr>
            <a:r>
              <a:rPr lang="en-US" sz="1400" dirty="0">
                <a:solidFill>
                  <a:srgbClr val="B9C4BF"/>
                </a:solidFill>
                <a:latin typeface="Calibri" pitchFamily="34" charset="0"/>
                <a:ea typeface="Calibri" pitchFamily="34" charset="-122"/>
                <a:cs typeface="Calibri" pitchFamily="34" charset="-120"/>
              </a:rPr>
              <a:t>Documented exposure for replacement and early-refill approvals</a:t>
            </a:r>
            <a:endParaRPr lang="en-US" sz="1400" dirty="0"/>
          </a:p>
        </p:txBody>
      </p:sp>
      <p:sp>
        <p:nvSpPr>
          <p:cNvPr id="23" name="anim|5|fade|click|"/>
          <p:cNvSpPr/>
          <p:nvPr/>
        </p:nvSpPr>
        <p:spPr>
          <a:xfrm>
            <a:off x="548640" y="4983480"/>
            <a:ext cx="11064240" cy="1097280"/>
          </a:xfrm>
          <a:prstGeom prst="roundRect">
            <a:avLst>
              <a:gd name="adj" fmla="val 10000"/>
            </a:avLst>
          </a:prstGeom>
          <a:solidFill>
            <a:srgbClr val="23352F"/>
          </a:solidFill>
          <a:ln w="9525">
            <a:solidFill>
              <a:srgbClr val="6FA391"/>
            </a:solidFill>
            <a:prstDash val="solid"/>
          </a:ln>
        </p:spPr>
      </p:sp>
      <p:sp>
        <p:nvSpPr>
          <p:cNvPr id="24" name="anim|5|fade|with|"/>
          <p:cNvSpPr txBox="1"/>
          <p:nvPr/>
        </p:nvSpPr>
        <p:spPr>
          <a:xfrm>
            <a:off x="822960" y="4983480"/>
            <a:ext cx="10515600" cy="1097280"/>
          </a:xfrm>
          <a:prstGeom prst="rect">
            <a:avLst/>
          </a:prstGeom>
          <a:noFill/>
          <a:ln/>
        </p:spPr>
        <p:txBody>
          <a:bodyPr wrap="square" lIns="0" tIns="0" rIns="0" bIns="0" rtlCol="0" anchor="ctr"/>
          <a:lstStyle/>
          <a:p>
            <a:pPr marL="0" indent="0">
              <a:buNone/>
            </a:pPr>
            <a:r>
              <a:rPr lang="en-US" sz="1700" b="1" dirty="0">
                <a:solidFill>
                  <a:srgbClr val="A8D5C2"/>
                </a:solidFill>
                <a:latin typeface="Calibri" pitchFamily="34" charset="0"/>
                <a:ea typeface="Calibri" pitchFamily="34" charset="-122"/>
                <a:cs typeface="Calibri" pitchFamily="34" charset="-120"/>
              </a:rPr>
              <a:t>Shaping Society: </a:t>
            </a:r>
            <a:r>
              <a:rPr lang="en-US" sz="1700" dirty="0">
                <a:solidFill>
                  <a:srgbClr val="F4F1EA"/>
                </a:solidFill>
                <a:latin typeface="Calibri" pitchFamily="34" charset="0"/>
                <a:ea typeface="Calibri" pitchFamily="34" charset="-122"/>
                <a:cs typeface="Calibri" pitchFamily="34" charset="-120"/>
              </a:rPr>
              <a:t>healthcare access, equity and crisis response, for anyone with a temperature-sensitive medicine, sensor or not, in English, Arabic, Spanish or Bengali.</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29</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450" decel="100000" fill="hold"/>
                                        <p:tgtEl>
                                          <p:spTgt spid="3"/>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450" decel="100000" fill="hold"/>
                                        <p:tgtEl>
                                          <p:spTgt spid="4"/>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450" decel="100000" fill="hold"/>
                                        <p:tgtEl>
                                          <p:spTgt spid="5"/>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450" decel="100000" fill="hold"/>
                                        <p:tgtEl>
                                          <p:spTgt spid="6"/>
                                        </p:tgtEl>
                                        <p:attrNameLst>
                                          <p:attrName>ppt_y</p:attrName>
                                        </p:attrNameLst>
                                      </p:cBhvr>
                                      <p:tavLst>
                                        <p:tav tm="0">
                                          <p:val>
                                            <p:strVal val="#ppt_y+1"/>
                                          </p:val>
                                        </p:tav>
                                        <p:tav tm="100000">
                                          <p:val>
                                            <p:strVal val="#ppt_y-.03"/>
                                          </p:val>
                                        </p:tav>
                                      </p:tavLst>
                                    </p:anim>
                                    <p:anim calcmode="lin" valueType="num">
                                      <p:cBhvr>
                                        <p:cTn id="28"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fill="hold"/>
                                        <p:tgtEl>
                                          <p:spTgt spid="7"/>
                                        </p:tgtEl>
                                        <p:attrNameLst>
                                          <p:attrName>ppt_x</p:attrName>
                                        </p:attrNameLst>
                                      </p:cBhvr>
                                      <p:tavLst>
                                        <p:tav tm="0">
                                          <p:val>
                                            <p:strVal val="#ppt_x"/>
                                          </p:val>
                                        </p:tav>
                                        <p:tav tm="100000">
                                          <p:val>
                                            <p:strVal val="#ppt_x"/>
                                          </p:val>
                                        </p:tav>
                                      </p:tavLst>
                                    </p:anim>
                                    <p:anim calcmode="lin" valueType="num">
                                      <p:cBhvr>
                                        <p:cTn id="33" dur="450" decel="100000" fill="hold"/>
                                        <p:tgtEl>
                                          <p:spTgt spid="7"/>
                                        </p:tgtEl>
                                        <p:attrNameLst>
                                          <p:attrName>ppt_y</p:attrName>
                                        </p:attrNameLst>
                                      </p:cBhvr>
                                      <p:tavLst>
                                        <p:tav tm="0">
                                          <p:val>
                                            <p:strVal val="#ppt_y+1"/>
                                          </p:val>
                                        </p:tav>
                                        <p:tav tm="100000">
                                          <p:val>
                                            <p:strVal val="#ppt_y-.03"/>
                                          </p:val>
                                        </p:tav>
                                      </p:tavLst>
                                    </p:anim>
                                    <p:anim calcmode="lin" valueType="num">
                                      <p:cBhvr>
                                        <p:cTn id="34" dur="50" accel="100000" fill="hold">
                                          <p:stCondLst>
                                            <p:cond delay="45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anim calcmode="lin" valueType="num">
                                      <p:cBhvr>
                                        <p:cTn id="40" dur="500" fill="hold"/>
                                        <p:tgtEl>
                                          <p:spTgt spid="8"/>
                                        </p:tgtEl>
                                        <p:attrNameLst>
                                          <p:attrName>ppt_x</p:attrName>
                                        </p:attrNameLst>
                                      </p:cBhvr>
                                      <p:tavLst>
                                        <p:tav tm="0">
                                          <p:val>
                                            <p:strVal val="#ppt_x"/>
                                          </p:val>
                                        </p:tav>
                                        <p:tav tm="100000">
                                          <p:val>
                                            <p:strVal val="#ppt_x"/>
                                          </p:val>
                                        </p:tav>
                                      </p:tavLst>
                                    </p:anim>
                                    <p:anim calcmode="lin" valueType="num">
                                      <p:cBhvr>
                                        <p:cTn id="41" dur="450" decel="100000" fill="hold"/>
                                        <p:tgtEl>
                                          <p:spTgt spid="8"/>
                                        </p:tgtEl>
                                        <p:attrNameLst>
                                          <p:attrName>ppt_y</p:attrName>
                                        </p:attrNameLst>
                                      </p:cBhvr>
                                      <p:tavLst>
                                        <p:tav tm="0">
                                          <p:val>
                                            <p:strVal val="#ppt_y+1"/>
                                          </p:val>
                                        </p:tav>
                                        <p:tav tm="100000">
                                          <p:val>
                                            <p:strVal val="#ppt_y-.03"/>
                                          </p:val>
                                        </p:tav>
                                      </p:tavLst>
                                    </p:anim>
                                    <p:anim calcmode="lin" valueType="num">
                                      <p:cBhvr>
                                        <p:cTn id="42"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par>
                                <p:cTn id="43" presetID="37"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450" decel="100000" fill="hold"/>
                                        <p:tgtEl>
                                          <p:spTgt spid="9"/>
                                        </p:tgtEl>
                                        <p:attrNameLst>
                                          <p:attrName>ppt_y</p:attrName>
                                        </p:attrNameLst>
                                      </p:cBhvr>
                                      <p:tavLst>
                                        <p:tav tm="0">
                                          <p:val>
                                            <p:strVal val="#ppt_y+1"/>
                                          </p:val>
                                        </p:tav>
                                        <p:tav tm="100000">
                                          <p:val>
                                            <p:strVal val="#ppt_y-.03"/>
                                          </p:val>
                                        </p:tav>
                                      </p:tavLst>
                                    </p:anim>
                                    <p:anim calcmode="lin" valueType="num">
                                      <p:cBhvr>
                                        <p:cTn id="48"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450" decel="100000" fill="hold"/>
                                        <p:tgtEl>
                                          <p:spTgt spid="10"/>
                                        </p:tgtEl>
                                        <p:attrNameLst>
                                          <p:attrName>ppt_y</p:attrName>
                                        </p:attrNameLst>
                                      </p:cBhvr>
                                      <p:tavLst>
                                        <p:tav tm="0">
                                          <p:val>
                                            <p:strVal val="#ppt_y+1"/>
                                          </p:val>
                                        </p:tav>
                                        <p:tav tm="100000">
                                          <p:val>
                                            <p:strVal val="#ppt_y-.03"/>
                                          </p:val>
                                        </p:tav>
                                      </p:tavLst>
                                    </p:anim>
                                    <p:anim calcmode="lin" valueType="num">
                                      <p:cBhvr>
                                        <p:cTn id="54"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par>
                                <p:cTn id="55" presetID="37"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anim calcmode="lin" valueType="num">
                                      <p:cBhvr>
                                        <p:cTn id="58" dur="500" fill="hold"/>
                                        <p:tgtEl>
                                          <p:spTgt spid="11"/>
                                        </p:tgtEl>
                                        <p:attrNameLst>
                                          <p:attrName>ppt_x</p:attrName>
                                        </p:attrNameLst>
                                      </p:cBhvr>
                                      <p:tavLst>
                                        <p:tav tm="0">
                                          <p:val>
                                            <p:strVal val="#ppt_x"/>
                                          </p:val>
                                        </p:tav>
                                        <p:tav tm="100000">
                                          <p:val>
                                            <p:strVal val="#ppt_x"/>
                                          </p:val>
                                        </p:tav>
                                      </p:tavLst>
                                    </p:anim>
                                    <p:anim calcmode="lin" valueType="num">
                                      <p:cBhvr>
                                        <p:cTn id="59" dur="450" decel="100000" fill="hold"/>
                                        <p:tgtEl>
                                          <p:spTgt spid="11"/>
                                        </p:tgtEl>
                                        <p:attrNameLst>
                                          <p:attrName>ppt_y</p:attrName>
                                        </p:attrNameLst>
                                      </p:cBhvr>
                                      <p:tavLst>
                                        <p:tav tm="0">
                                          <p:val>
                                            <p:strVal val="#ppt_y+1"/>
                                          </p:val>
                                        </p:tav>
                                        <p:tav tm="100000">
                                          <p:val>
                                            <p:strVal val="#ppt_y-.03"/>
                                          </p:val>
                                        </p:tav>
                                      </p:tavLst>
                                    </p:anim>
                                    <p:anim calcmode="lin" valueType="num">
                                      <p:cBhvr>
                                        <p:cTn id="60"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anim calcmode="lin" valueType="num">
                                      <p:cBhvr>
                                        <p:cTn id="64" dur="500" fill="hold"/>
                                        <p:tgtEl>
                                          <p:spTgt spid="12"/>
                                        </p:tgtEl>
                                        <p:attrNameLst>
                                          <p:attrName>ppt_x</p:attrName>
                                        </p:attrNameLst>
                                      </p:cBhvr>
                                      <p:tavLst>
                                        <p:tav tm="0">
                                          <p:val>
                                            <p:strVal val="#ppt_x"/>
                                          </p:val>
                                        </p:tav>
                                        <p:tav tm="100000">
                                          <p:val>
                                            <p:strVal val="#ppt_x"/>
                                          </p:val>
                                        </p:tav>
                                      </p:tavLst>
                                    </p:anim>
                                    <p:anim calcmode="lin" valueType="num">
                                      <p:cBhvr>
                                        <p:cTn id="65" dur="450" decel="100000" fill="hold"/>
                                        <p:tgtEl>
                                          <p:spTgt spid="12"/>
                                        </p:tgtEl>
                                        <p:attrNameLst>
                                          <p:attrName>ppt_y</p:attrName>
                                        </p:attrNameLst>
                                      </p:cBhvr>
                                      <p:tavLst>
                                        <p:tav tm="0">
                                          <p:val>
                                            <p:strVal val="#ppt_y+1"/>
                                          </p:val>
                                        </p:tav>
                                        <p:tav tm="100000">
                                          <p:val>
                                            <p:strVal val="#ppt_y-.03"/>
                                          </p:val>
                                        </p:tav>
                                      </p:tavLst>
                                    </p:anim>
                                    <p:anim calcmode="lin" valueType="num">
                                      <p:cBhvr>
                                        <p:cTn id="6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7"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anim calcmode="lin" valueType="num">
                                      <p:cBhvr>
                                        <p:cTn id="72" dur="500" fill="hold"/>
                                        <p:tgtEl>
                                          <p:spTgt spid="13"/>
                                        </p:tgtEl>
                                        <p:attrNameLst>
                                          <p:attrName>ppt_x</p:attrName>
                                        </p:attrNameLst>
                                      </p:cBhvr>
                                      <p:tavLst>
                                        <p:tav tm="0">
                                          <p:val>
                                            <p:strVal val="#ppt_x"/>
                                          </p:val>
                                        </p:tav>
                                        <p:tav tm="100000">
                                          <p:val>
                                            <p:strVal val="#ppt_x"/>
                                          </p:val>
                                        </p:tav>
                                      </p:tavLst>
                                    </p:anim>
                                    <p:anim calcmode="lin" valueType="num">
                                      <p:cBhvr>
                                        <p:cTn id="73" dur="450" decel="100000" fill="hold"/>
                                        <p:tgtEl>
                                          <p:spTgt spid="13"/>
                                        </p:tgtEl>
                                        <p:attrNameLst>
                                          <p:attrName>ppt_y</p:attrName>
                                        </p:attrNameLst>
                                      </p:cBhvr>
                                      <p:tavLst>
                                        <p:tav tm="0">
                                          <p:val>
                                            <p:strVal val="#ppt_y+1"/>
                                          </p:val>
                                        </p:tav>
                                        <p:tav tm="100000">
                                          <p:val>
                                            <p:strVal val="#ppt_y-.03"/>
                                          </p:val>
                                        </p:tav>
                                      </p:tavLst>
                                    </p:anim>
                                    <p:anim calcmode="lin" valueType="num">
                                      <p:cBhvr>
                                        <p:cTn id="74"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75" presetID="37" presetClass="entr" presetSubtype="0" fill="hold"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500"/>
                                        <p:tgtEl>
                                          <p:spTgt spid="14"/>
                                        </p:tgtEl>
                                      </p:cBhvr>
                                    </p:animEffect>
                                    <p:anim calcmode="lin" valueType="num">
                                      <p:cBhvr>
                                        <p:cTn id="78" dur="500" fill="hold"/>
                                        <p:tgtEl>
                                          <p:spTgt spid="14"/>
                                        </p:tgtEl>
                                        <p:attrNameLst>
                                          <p:attrName>ppt_x</p:attrName>
                                        </p:attrNameLst>
                                      </p:cBhvr>
                                      <p:tavLst>
                                        <p:tav tm="0">
                                          <p:val>
                                            <p:strVal val="#ppt_x"/>
                                          </p:val>
                                        </p:tav>
                                        <p:tav tm="100000">
                                          <p:val>
                                            <p:strVal val="#ppt_x"/>
                                          </p:val>
                                        </p:tav>
                                      </p:tavLst>
                                    </p:anim>
                                    <p:anim calcmode="lin" valueType="num">
                                      <p:cBhvr>
                                        <p:cTn id="79" dur="450" decel="100000" fill="hold"/>
                                        <p:tgtEl>
                                          <p:spTgt spid="14"/>
                                        </p:tgtEl>
                                        <p:attrNameLst>
                                          <p:attrName>ppt_y</p:attrName>
                                        </p:attrNameLst>
                                      </p:cBhvr>
                                      <p:tavLst>
                                        <p:tav tm="0">
                                          <p:val>
                                            <p:strVal val="#ppt_y+1"/>
                                          </p:val>
                                        </p:tav>
                                        <p:tav tm="100000">
                                          <p:val>
                                            <p:strVal val="#ppt_y-.03"/>
                                          </p:val>
                                        </p:tav>
                                      </p:tavLst>
                                    </p:anim>
                                    <p:anim calcmode="lin" valueType="num">
                                      <p:cBhvr>
                                        <p:cTn id="80" dur="50" accel="100000" fill="hold">
                                          <p:stCondLst>
                                            <p:cond delay="450"/>
                                          </p:stCondLst>
                                        </p:cTn>
                                        <p:tgtEl>
                                          <p:spTgt spid="14"/>
                                        </p:tgtEl>
                                        <p:attrNameLst>
                                          <p:attrName>ppt_y</p:attrName>
                                        </p:attrNameLst>
                                      </p:cBhvr>
                                      <p:tavLst>
                                        <p:tav tm="0">
                                          <p:val>
                                            <p:strVal val="#ppt_y-.03"/>
                                          </p:val>
                                        </p:tav>
                                        <p:tav tm="100000">
                                          <p:val>
                                            <p:strVal val="#ppt_y"/>
                                          </p:val>
                                        </p:tav>
                                      </p:tavLst>
                                    </p:anim>
                                  </p:childTnLst>
                                </p:cTn>
                              </p:par>
                              <p:par>
                                <p:cTn id="81" presetID="37" presetClass="entr" presetSubtype="0" fill="hold"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p:cTn id="84" dur="500" fill="hold"/>
                                        <p:tgtEl>
                                          <p:spTgt spid="15"/>
                                        </p:tgtEl>
                                        <p:attrNameLst>
                                          <p:attrName>ppt_x</p:attrName>
                                        </p:attrNameLst>
                                      </p:cBhvr>
                                      <p:tavLst>
                                        <p:tav tm="0">
                                          <p:val>
                                            <p:strVal val="#ppt_x"/>
                                          </p:val>
                                        </p:tav>
                                        <p:tav tm="100000">
                                          <p:val>
                                            <p:strVal val="#ppt_x"/>
                                          </p:val>
                                        </p:tav>
                                      </p:tavLst>
                                    </p:anim>
                                    <p:anim calcmode="lin" valueType="num">
                                      <p:cBhvr>
                                        <p:cTn id="85" dur="450" decel="100000" fill="hold"/>
                                        <p:tgtEl>
                                          <p:spTgt spid="15"/>
                                        </p:tgtEl>
                                        <p:attrNameLst>
                                          <p:attrName>ppt_y</p:attrName>
                                        </p:attrNameLst>
                                      </p:cBhvr>
                                      <p:tavLst>
                                        <p:tav tm="0">
                                          <p:val>
                                            <p:strVal val="#ppt_y+1"/>
                                          </p:val>
                                        </p:tav>
                                        <p:tav tm="100000">
                                          <p:val>
                                            <p:strVal val="#ppt_y-.03"/>
                                          </p:val>
                                        </p:tav>
                                      </p:tavLst>
                                    </p:anim>
                                    <p:anim calcmode="lin" valueType="num">
                                      <p:cBhvr>
                                        <p:cTn id="86"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par>
                                <p:cTn id="87" presetID="37"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anim calcmode="lin" valueType="num">
                                      <p:cBhvr>
                                        <p:cTn id="90" dur="500" fill="hold"/>
                                        <p:tgtEl>
                                          <p:spTgt spid="16"/>
                                        </p:tgtEl>
                                        <p:attrNameLst>
                                          <p:attrName>ppt_x</p:attrName>
                                        </p:attrNameLst>
                                      </p:cBhvr>
                                      <p:tavLst>
                                        <p:tav tm="0">
                                          <p:val>
                                            <p:strVal val="#ppt_x"/>
                                          </p:val>
                                        </p:tav>
                                        <p:tav tm="100000">
                                          <p:val>
                                            <p:strVal val="#ppt_x"/>
                                          </p:val>
                                        </p:tav>
                                      </p:tavLst>
                                    </p:anim>
                                    <p:anim calcmode="lin" valueType="num">
                                      <p:cBhvr>
                                        <p:cTn id="91" dur="450" decel="100000" fill="hold"/>
                                        <p:tgtEl>
                                          <p:spTgt spid="16"/>
                                        </p:tgtEl>
                                        <p:attrNameLst>
                                          <p:attrName>ppt_y</p:attrName>
                                        </p:attrNameLst>
                                      </p:cBhvr>
                                      <p:tavLst>
                                        <p:tav tm="0">
                                          <p:val>
                                            <p:strVal val="#ppt_y+1"/>
                                          </p:val>
                                        </p:tav>
                                        <p:tav tm="100000">
                                          <p:val>
                                            <p:strVal val="#ppt_y-.03"/>
                                          </p:val>
                                        </p:tav>
                                      </p:tavLst>
                                    </p:anim>
                                    <p:anim calcmode="lin" valueType="num">
                                      <p:cBhvr>
                                        <p:cTn id="92"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3" presetID="37" presetClass="entr" presetSubtype="0" fill="hold" grpId="0"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p:tgtEl>
                                          <p:spTgt spid="17"/>
                                        </p:tgtEl>
                                      </p:cBhvr>
                                    </p:animEffect>
                                    <p:anim calcmode="lin" valueType="num">
                                      <p:cBhvr>
                                        <p:cTn id="96" dur="500" fill="hold"/>
                                        <p:tgtEl>
                                          <p:spTgt spid="17"/>
                                        </p:tgtEl>
                                        <p:attrNameLst>
                                          <p:attrName>ppt_x</p:attrName>
                                        </p:attrNameLst>
                                      </p:cBhvr>
                                      <p:tavLst>
                                        <p:tav tm="0">
                                          <p:val>
                                            <p:strVal val="#ppt_x"/>
                                          </p:val>
                                        </p:tav>
                                        <p:tav tm="100000">
                                          <p:val>
                                            <p:strVal val="#ppt_x"/>
                                          </p:val>
                                        </p:tav>
                                      </p:tavLst>
                                    </p:anim>
                                    <p:anim calcmode="lin" valueType="num">
                                      <p:cBhvr>
                                        <p:cTn id="97" dur="450" decel="100000" fill="hold"/>
                                        <p:tgtEl>
                                          <p:spTgt spid="17"/>
                                        </p:tgtEl>
                                        <p:attrNameLst>
                                          <p:attrName>ppt_y</p:attrName>
                                        </p:attrNameLst>
                                      </p:cBhvr>
                                      <p:tavLst>
                                        <p:tav tm="0">
                                          <p:val>
                                            <p:strVal val="#ppt_y+1"/>
                                          </p:val>
                                        </p:tav>
                                        <p:tav tm="100000">
                                          <p:val>
                                            <p:strVal val="#ppt_y-.03"/>
                                          </p:val>
                                        </p:tav>
                                      </p:tavLst>
                                    </p:anim>
                                    <p:anim calcmode="lin" valueType="num">
                                      <p:cBhvr>
                                        <p:cTn id="98"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37" presetClass="entr" presetSubtype="0" fill="hold" nodeType="click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500"/>
                                        <p:tgtEl>
                                          <p:spTgt spid="18"/>
                                        </p:tgtEl>
                                      </p:cBhvr>
                                    </p:animEffect>
                                    <p:anim calcmode="lin" valueType="num">
                                      <p:cBhvr>
                                        <p:cTn id="104" dur="500" fill="hold"/>
                                        <p:tgtEl>
                                          <p:spTgt spid="18"/>
                                        </p:tgtEl>
                                        <p:attrNameLst>
                                          <p:attrName>ppt_x</p:attrName>
                                        </p:attrNameLst>
                                      </p:cBhvr>
                                      <p:tavLst>
                                        <p:tav tm="0">
                                          <p:val>
                                            <p:strVal val="#ppt_x"/>
                                          </p:val>
                                        </p:tav>
                                        <p:tav tm="100000">
                                          <p:val>
                                            <p:strVal val="#ppt_x"/>
                                          </p:val>
                                        </p:tav>
                                      </p:tavLst>
                                    </p:anim>
                                    <p:anim calcmode="lin" valueType="num">
                                      <p:cBhvr>
                                        <p:cTn id="105" dur="450" decel="100000" fill="hold"/>
                                        <p:tgtEl>
                                          <p:spTgt spid="18"/>
                                        </p:tgtEl>
                                        <p:attrNameLst>
                                          <p:attrName>ppt_y</p:attrName>
                                        </p:attrNameLst>
                                      </p:cBhvr>
                                      <p:tavLst>
                                        <p:tav tm="0">
                                          <p:val>
                                            <p:strVal val="#ppt_y+1"/>
                                          </p:val>
                                        </p:tav>
                                        <p:tav tm="100000">
                                          <p:val>
                                            <p:strVal val="#ppt_y-.03"/>
                                          </p:val>
                                        </p:tav>
                                      </p:tavLst>
                                    </p:anim>
                                    <p:anim calcmode="lin" valueType="num">
                                      <p:cBhvr>
                                        <p:cTn id="106"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par>
                                <p:cTn id="107" presetID="37" presetClass="entr" presetSubtype="0" fill="hold"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500"/>
                                        <p:tgtEl>
                                          <p:spTgt spid="19"/>
                                        </p:tgtEl>
                                      </p:cBhvr>
                                    </p:animEffect>
                                    <p:anim calcmode="lin" valueType="num">
                                      <p:cBhvr>
                                        <p:cTn id="110" dur="500" fill="hold"/>
                                        <p:tgtEl>
                                          <p:spTgt spid="19"/>
                                        </p:tgtEl>
                                        <p:attrNameLst>
                                          <p:attrName>ppt_x</p:attrName>
                                        </p:attrNameLst>
                                      </p:cBhvr>
                                      <p:tavLst>
                                        <p:tav tm="0">
                                          <p:val>
                                            <p:strVal val="#ppt_x"/>
                                          </p:val>
                                        </p:tav>
                                        <p:tav tm="100000">
                                          <p:val>
                                            <p:strVal val="#ppt_x"/>
                                          </p:val>
                                        </p:tav>
                                      </p:tavLst>
                                    </p:anim>
                                    <p:anim calcmode="lin" valueType="num">
                                      <p:cBhvr>
                                        <p:cTn id="111" dur="450" decel="100000" fill="hold"/>
                                        <p:tgtEl>
                                          <p:spTgt spid="19"/>
                                        </p:tgtEl>
                                        <p:attrNameLst>
                                          <p:attrName>ppt_y</p:attrName>
                                        </p:attrNameLst>
                                      </p:cBhvr>
                                      <p:tavLst>
                                        <p:tav tm="0">
                                          <p:val>
                                            <p:strVal val="#ppt_y+1"/>
                                          </p:val>
                                        </p:tav>
                                        <p:tav tm="100000">
                                          <p:val>
                                            <p:strVal val="#ppt_y-.03"/>
                                          </p:val>
                                        </p:tav>
                                      </p:tavLst>
                                    </p:anim>
                                    <p:anim calcmode="lin" valueType="num">
                                      <p:cBhvr>
                                        <p:cTn id="112"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par>
                                <p:cTn id="113" presetID="37" presetClass="entr" presetSubtype="0" fill="hold" nodeType="withEffect">
                                  <p:stCondLst>
                                    <p:cond delay="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500"/>
                                        <p:tgtEl>
                                          <p:spTgt spid="20"/>
                                        </p:tgtEl>
                                      </p:cBhvr>
                                    </p:animEffect>
                                    <p:anim calcmode="lin" valueType="num">
                                      <p:cBhvr>
                                        <p:cTn id="116" dur="500" fill="hold"/>
                                        <p:tgtEl>
                                          <p:spTgt spid="20"/>
                                        </p:tgtEl>
                                        <p:attrNameLst>
                                          <p:attrName>ppt_x</p:attrName>
                                        </p:attrNameLst>
                                      </p:cBhvr>
                                      <p:tavLst>
                                        <p:tav tm="0">
                                          <p:val>
                                            <p:strVal val="#ppt_x"/>
                                          </p:val>
                                        </p:tav>
                                        <p:tav tm="100000">
                                          <p:val>
                                            <p:strVal val="#ppt_x"/>
                                          </p:val>
                                        </p:tav>
                                      </p:tavLst>
                                    </p:anim>
                                    <p:anim calcmode="lin" valueType="num">
                                      <p:cBhvr>
                                        <p:cTn id="117" dur="450" decel="100000" fill="hold"/>
                                        <p:tgtEl>
                                          <p:spTgt spid="20"/>
                                        </p:tgtEl>
                                        <p:attrNameLst>
                                          <p:attrName>ppt_y</p:attrName>
                                        </p:attrNameLst>
                                      </p:cBhvr>
                                      <p:tavLst>
                                        <p:tav tm="0">
                                          <p:val>
                                            <p:strVal val="#ppt_y+1"/>
                                          </p:val>
                                        </p:tav>
                                        <p:tav tm="100000">
                                          <p:val>
                                            <p:strVal val="#ppt_y-.03"/>
                                          </p:val>
                                        </p:tav>
                                      </p:tavLst>
                                    </p:anim>
                                    <p:anim calcmode="lin" valueType="num">
                                      <p:cBhvr>
                                        <p:cTn id="118" dur="50" accel="100000" fill="hold">
                                          <p:stCondLst>
                                            <p:cond delay="450"/>
                                          </p:stCondLst>
                                        </p:cTn>
                                        <p:tgtEl>
                                          <p:spTgt spid="20"/>
                                        </p:tgtEl>
                                        <p:attrNameLst>
                                          <p:attrName>ppt_y</p:attrName>
                                        </p:attrNameLst>
                                      </p:cBhvr>
                                      <p:tavLst>
                                        <p:tav tm="0">
                                          <p:val>
                                            <p:strVal val="#ppt_y-.03"/>
                                          </p:val>
                                        </p:tav>
                                        <p:tav tm="100000">
                                          <p:val>
                                            <p:strVal val="#ppt_y"/>
                                          </p:val>
                                        </p:tav>
                                      </p:tavLst>
                                    </p:anim>
                                  </p:childTnLst>
                                </p:cTn>
                              </p:par>
                              <p:par>
                                <p:cTn id="119" presetID="37"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fade">
                                      <p:cBhvr>
                                        <p:cTn id="121" dur="500"/>
                                        <p:tgtEl>
                                          <p:spTgt spid="21"/>
                                        </p:tgtEl>
                                      </p:cBhvr>
                                    </p:animEffect>
                                    <p:anim calcmode="lin" valueType="num">
                                      <p:cBhvr>
                                        <p:cTn id="122" dur="500" fill="hold"/>
                                        <p:tgtEl>
                                          <p:spTgt spid="21"/>
                                        </p:tgtEl>
                                        <p:attrNameLst>
                                          <p:attrName>ppt_x</p:attrName>
                                        </p:attrNameLst>
                                      </p:cBhvr>
                                      <p:tavLst>
                                        <p:tav tm="0">
                                          <p:val>
                                            <p:strVal val="#ppt_x"/>
                                          </p:val>
                                        </p:tav>
                                        <p:tav tm="100000">
                                          <p:val>
                                            <p:strVal val="#ppt_x"/>
                                          </p:val>
                                        </p:tav>
                                      </p:tavLst>
                                    </p:anim>
                                    <p:anim calcmode="lin" valueType="num">
                                      <p:cBhvr>
                                        <p:cTn id="123" dur="450" decel="100000" fill="hold"/>
                                        <p:tgtEl>
                                          <p:spTgt spid="21"/>
                                        </p:tgtEl>
                                        <p:attrNameLst>
                                          <p:attrName>ppt_y</p:attrName>
                                        </p:attrNameLst>
                                      </p:cBhvr>
                                      <p:tavLst>
                                        <p:tav tm="0">
                                          <p:val>
                                            <p:strVal val="#ppt_y+1"/>
                                          </p:val>
                                        </p:tav>
                                        <p:tav tm="100000">
                                          <p:val>
                                            <p:strVal val="#ppt_y-.03"/>
                                          </p:val>
                                        </p:tav>
                                      </p:tavLst>
                                    </p:anim>
                                    <p:anim calcmode="lin" valueType="num">
                                      <p:cBhvr>
                                        <p:cTn id="124" dur="50" accel="100000" fill="hold">
                                          <p:stCondLst>
                                            <p:cond delay="450"/>
                                          </p:stCondLst>
                                        </p:cTn>
                                        <p:tgtEl>
                                          <p:spTgt spid="21"/>
                                        </p:tgtEl>
                                        <p:attrNameLst>
                                          <p:attrName>ppt_y</p:attrName>
                                        </p:attrNameLst>
                                      </p:cBhvr>
                                      <p:tavLst>
                                        <p:tav tm="0">
                                          <p:val>
                                            <p:strVal val="#ppt_y-.03"/>
                                          </p:val>
                                        </p:tav>
                                        <p:tav tm="100000">
                                          <p:val>
                                            <p:strVal val="#ppt_y"/>
                                          </p:val>
                                        </p:tav>
                                      </p:tavLst>
                                    </p:anim>
                                  </p:childTnLst>
                                </p:cTn>
                              </p:par>
                              <p:par>
                                <p:cTn id="125" presetID="37" presetClass="entr" presetSubtype="0" fill="hold" grpId="0" nodeType="with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500"/>
                                        <p:tgtEl>
                                          <p:spTgt spid="22"/>
                                        </p:tgtEl>
                                      </p:cBhvr>
                                    </p:animEffect>
                                    <p:anim calcmode="lin" valueType="num">
                                      <p:cBhvr>
                                        <p:cTn id="128" dur="500" fill="hold"/>
                                        <p:tgtEl>
                                          <p:spTgt spid="22"/>
                                        </p:tgtEl>
                                        <p:attrNameLst>
                                          <p:attrName>ppt_x</p:attrName>
                                        </p:attrNameLst>
                                      </p:cBhvr>
                                      <p:tavLst>
                                        <p:tav tm="0">
                                          <p:val>
                                            <p:strVal val="#ppt_x"/>
                                          </p:val>
                                        </p:tav>
                                        <p:tav tm="100000">
                                          <p:val>
                                            <p:strVal val="#ppt_x"/>
                                          </p:val>
                                        </p:tav>
                                      </p:tavLst>
                                    </p:anim>
                                    <p:anim calcmode="lin" valueType="num">
                                      <p:cBhvr>
                                        <p:cTn id="129" dur="450" decel="100000" fill="hold"/>
                                        <p:tgtEl>
                                          <p:spTgt spid="22"/>
                                        </p:tgtEl>
                                        <p:attrNameLst>
                                          <p:attrName>ppt_y</p:attrName>
                                        </p:attrNameLst>
                                      </p:cBhvr>
                                      <p:tavLst>
                                        <p:tav tm="0">
                                          <p:val>
                                            <p:strVal val="#ppt_y+1"/>
                                          </p:val>
                                        </p:tav>
                                        <p:tav tm="100000">
                                          <p:val>
                                            <p:strVal val="#ppt_y-.03"/>
                                          </p:val>
                                        </p:tav>
                                      </p:tavLst>
                                    </p:anim>
                                    <p:anim calcmode="lin" valueType="num">
                                      <p:cBhvr>
                                        <p:cTn id="130" dur="50" accel="100000" fill="hold">
                                          <p:stCondLst>
                                            <p:cond delay="450"/>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nodeType="clickEffect">
                                  <p:stCondLst>
                                    <p:cond delay="0"/>
                                  </p:stCondLst>
                                  <p:childTnLst>
                                    <p:set>
                                      <p:cBhvr>
                                        <p:cTn id="134" dur="1" fill="hold">
                                          <p:stCondLst>
                                            <p:cond delay="0"/>
                                          </p:stCondLst>
                                        </p:cTn>
                                        <p:tgtEl>
                                          <p:spTgt spid="23"/>
                                        </p:tgtEl>
                                        <p:attrNameLst>
                                          <p:attrName>style.visibility</p:attrName>
                                        </p:attrNameLst>
                                      </p:cBhvr>
                                      <p:to>
                                        <p:strVal val="visible"/>
                                      </p:to>
                                    </p:set>
                                    <p:animEffect transition="in" filter="fade">
                                      <p:cBhvr>
                                        <p:cTn id="135" dur="500"/>
                                        <p:tgtEl>
                                          <p:spTgt spid="2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P spid="21" grpId="0" animBg="1"/>
      <p:bldP spid="22"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64240" cy="777240"/>
          </a:xfrm>
          <a:prstGeom prst="rect">
            <a:avLst/>
          </a:prstGeom>
          <a:noFill/>
          <a:ln/>
        </p:spPr>
        <p:txBody>
          <a:bodyPr wrap="square" lIns="0" tIns="0" rIns="0" bIns="0" rtlCol="0" anchor="ctr"/>
          <a:lstStyle/>
          <a:p>
            <a:pPr marL="0" indent="0">
              <a:buNone/>
            </a:pPr>
            <a:r>
              <a:rPr lang="en-US" sz="3200" dirty="0">
                <a:solidFill>
                  <a:srgbClr val="F4F1EA"/>
                </a:solidFill>
                <a:latin typeface="Bookman Old Style" pitchFamily="34" charset="0"/>
                <a:ea typeface="Bookman Old Style" pitchFamily="34" charset="-122"/>
                <a:cs typeface="Bookman Old Style" pitchFamily="34" charset="-120"/>
              </a:rPr>
              <a:t>Tested end to end, and what's still open</a:t>
            </a:r>
            <a:endParaRPr lang="en-US" sz="3200" dirty="0"/>
          </a:p>
        </p:txBody>
      </p:sp>
      <p:sp>
        <p:nvSpPr>
          <p:cNvPr id="3" name="Shape 1"/>
          <p:cNvSpPr/>
          <p:nvPr/>
        </p:nvSpPr>
        <p:spPr>
          <a:xfrm>
            <a:off x="548640" y="1371600"/>
            <a:ext cx="2103120" cy="1417320"/>
          </a:xfrm>
          <a:prstGeom prst="roundRect">
            <a:avLst>
              <a:gd name="adj" fmla="val 7742"/>
            </a:avLst>
          </a:prstGeom>
          <a:solidFill>
            <a:srgbClr val="2B2F31"/>
          </a:solidFill>
          <a:ln w="9525">
            <a:solidFill>
              <a:srgbClr val="45504C"/>
            </a:solidFill>
            <a:prstDash val="solid"/>
          </a:ln>
        </p:spPr>
      </p:sp>
      <p:sp>
        <p:nvSpPr>
          <p:cNvPr id="4" name="Text 2"/>
          <p:cNvSpPr txBox="1"/>
          <p:nvPr/>
        </p:nvSpPr>
        <p:spPr>
          <a:xfrm>
            <a:off x="731520" y="1463040"/>
            <a:ext cx="1737360" cy="685800"/>
          </a:xfrm>
          <a:prstGeom prst="rect">
            <a:avLst/>
          </a:prstGeom>
          <a:noFill/>
          <a:ln/>
        </p:spPr>
        <p:txBody>
          <a:bodyPr wrap="square" lIns="0" tIns="0" rIns="0" bIns="0" rtlCol="0" anchor="ctr"/>
          <a:lstStyle/>
          <a:p>
            <a:pPr marL="0" indent="0">
              <a:buNone/>
            </a:pPr>
            <a:r>
              <a:rPr lang="en-US" sz="3000" b="1" dirty="0">
                <a:solidFill>
                  <a:srgbClr val="A8D5C2"/>
                </a:solidFill>
                <a:latin typeface="Calibri" pitchFamily="34" charset="0"/>
                <a:ea typeface="Calibri" pitchFamily="34" charset="-122"/>
                <a:cs typeface="Calibri" pitchFamily="34" charset="-120"/>
              </a:rPr>
              <a:t>186</a:t>
            </a:r>
            <a:endParaRPr lang="en-US" sz="3000" dirty="0"/>
          </a:p>
        </p:txBody>
      </p:sp>
      <p:sp>
        <p:nvSpPr>
          <p:cNvPr id="5" name="Text 3"/>
          <p:cNvSpPr txBox="1"/>
          <p:nvPr/>
        </p:nvSpPr>
        <p:spPr>
          <a:xfrm>
            <a:off x="731520" y="2148840"/>
            <a:ext cx="1737360" cy="59436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automated tests pass</a:t>
            </a:r>
            <a:endParaRPr lang="en-US" sz="1300" dirty="0"/>
          </a:p>
        </p:txBody>
      </p:sp>
      <p:sp>
        <p:nvSpPr>
          <p:cNvPr id="6" name="Shape 4"/>
          <p:cNvSpPr/>
          <p:nvPr/>
        </p:nvSpPr>
        <p:spPr>
          <a:xfrm>
            <a:off x="2798064" y="1371600"/>
            <a:ext cx="2103120" cy="1417320"/>
          </a:xfrm>
          <a:prstGeom prst="roundRect">
            <a:avLst>
              <a:gd name="adj" fmla="val 7742"/>
            </a:avLst>
          </a:prstGeom>
          <a:solidFill>
            <a:srgbClr val="2B2F31"/>
          </a:solidFill>
          <a:ln w="9525">
            <a:solidFill>
              <a:srgbClr val="45504C"/>
            </a:solidFill>
            <a:prstDash val="solid"/>
          </a:ln>
        </p:spPr>
      </p:sp>
      <p:sp>
        <p:nvSpPr>
          <p:cNvPr id="7" name="Text 5"/>
          <p:cNvSpPr txBox="1"/>
          <p:nvPr/>
        </p:nvSpPr>
        <p:spPr>
          <a:xfrm>
            <a:off x="2980944" y="1463040"/>
            <a:ext cx="1737360" cy="685800"/>
          </a:xfrm>
          <a:prstGeom prst="rect">
            <a:avLst/>
          </a:prstGeom>
          <a:noFill/>
          <a:ln/>
        </p:spPr>
        <p:txBody>
          <a:bodyPr wrap="square" lIns="0" tIns="0" rIns="0" bIns="0" rtlCol="0" anchor="ctr"/>
          <a:lstStyle/>
          <a:p>
            <a:pPr marL="0" indent="0">
              <a:buNone/>
            </a:pPr>
            <a:r>
              <a:rPr lang="en-US" sz="3000" b="1" dirty="0">
                <a:solidFill>
                  <a:srgbClr val="A8D5C2"/>
                </a:solidFill>
                <a:latin typeface="Calibri" pitchFamily="34" charset="0"/>
                <a:ea typeface="Calibri" pitchFamily="34" charset="-122"/>
                <a:cs typeface="Calibri" pitchFamily="34" charset="-120"/>
              </a:rPr>
              <a:t>54 / 54</a:t>
            </a:r>
            <a:endParaRPr lang="en-US" sz="3000" dirty="0"/>
          </a:p>
        </p:txBody>
      </p:sp>
      <p:sp>
        <p:nvSpPr>
          <p:cNvPr id="8" name="Text 6"/>
          <p:cNvSpPr txBox="1"/>
          <p:nvPr/>
        </p:nvSpPr>
        <p:spPr>
          <a:xfrm>
            <a:off x="2980944" y="2148840"/>
            <a:ext cx="1737360" cy="59436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API checks, 0 failures</a:t>
            </a:r>
            <a:endParaRPr lang="en-US" sz="1300" dirty="0"/>
          </a:p>
        </p:txBody>
      </p:sp>
      <p:sp>
        <p:nvSpPr>
          <p:cNvPr id="9" name="Shape 7"/>
          <p:cNvSpPr/>
          <p:nvPr/>
        </p:nvSpPr>
        <p:spPr>
          <a:xfrm>
            <a:off x="5047488" y="1371600"/>
            <a:ext cx="2103120" cy="1417320"/>
          </a:xfrm>
          <a:prstGeom prst="roundRect">
            <a:avLst>
              <a:gd name="adj" fmla="val 7742"/>
            </a:avLst>
          </a:prstGeom>
          <a:solidFill>
            <a:srgbClr val="2B2F31"/>
          </a:solidFill>
          <a:ln w="9525">
            <a:solidFill>
              <a:srgbClr val="45504C"/>
            </a:solidFill>
            <a:prstDash val="solid"/>
          </a:ln>
        </p:spPr>
      </p:sp>
      <p:sp>
        <p:nvSpPr>
          <p:cNvPr id="10" name="Text 8"/>
          <p:cNvSpPr txBox="1"/>
          <p:nvPr/>
        </p:nvSpPr>
        <p:spPr>
          <a:xfrm>
            <a:off x="5230368" y="1463040"/>
            <a:ext cx="1737360" cy="685800"/>
          </a:xfrm>
          <a:prstGeom prst="rect">
            <a:avLst/>
          </a:prstGeom>
          <a:noFill/>
          <a:ln/>
        </p:spPr>
        <p:txBody>
          <a:bodyPr wrap="square" lIns="0" tIns="0" rIns="0" bIns="0" rtlCol="0" anchor="ctr"/>
          <a:lstStyle/>
          <a:p>
            <a:pPr marL="0" indent="0">
              <a:buNone/>
            </a:pPr>
            <a:r>
              <a:rPr lang="en-US" sz="3000" b="1" dirty="0">
                <a:solidFill>
                  <a:srgbClr val="A8D5C2"/>
                </a:solidFill>
                <a:latin typeface="Calibri" pitchFamily="34" charset="0"/>
                <a:ea typeface="Calibri" pitchFamily="34" charset="-122"/>
                <a:cs typeface="Calibri" pitchFamily="34" charset="-120"/>
              </a:rPr>
              <a:t>12 / 12</a:t>
            </a:r>
            <a:endParaRPr lang="en-US" sz="3000" dirty="0"/>
          </a:p>
        </p:txBody>
      </p:sp>
      <p:sp>
        <p:nvSpPr>
          <p:cNvPr id="11" name="Text 9"/>
          <p:cNvSpPr txBox="1"/>
          <p:nvPr/>
        </p:nvSpPr>
        <p:spPr>
          <a:xfrm>
            <a:off x="5230368" y="2148840"/>
            <a:ext cx="1737360" cy="59436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Gemini features on the live key</a:t>
            </a:r>
            <a:endParaRPr lang="en-US" sz="1300" dirty="0"/>
          </a:p>
        </p:txBody>
      </p:sp>
      <p:sp>
        <p:nvSpPr>
          <p:cNvPr id="12" name="Shape 10"/>
          <p:cNvSpPr/>
          <p:nvPr/>
        </p:nvSpPr>
        <p:spPr>
          <a:xfrm>
            <a:off x="7296912" y="1371600"/>
            <a:ext cx="2103120" cy="1417320"/>
          </a:xfrm>
          <a:prstGeom prst="roundRect">
            <a:avLst>
              <a:gd name="adj" fmla="val 7742"/>
            </a:avLst>
          </a:prstGeom>
          <a:solidFill>
            <a:srgbClr val="2B2F31"/>
          </a:solidFill>
          <a:ln w="9525">
            <a:solidFill>
              <a:srgbClr val="45504C"/>
            </a:solidFill>
            <a:prstDash val="solid"/>
          </a:ln>
        </p:spPr>
      </p:sp>
      <p:sp>
        <p:nvSpPr>
          <p:cNvPr id="13" name="Text 11"/>
          <p:cNvSpPr txBox="1"/>
          <p:nvPr/>
        </p:nvSpPr>
        <p:spPr>
          <a:xfrm>
            <a:off x="7479792" y="1463040"/>
            <a:ext cx="1737360" cy="685800"/>
          </a:xfrm>
          <a:prstGeom prst="rect">
            <a:avLst/>
          </a:prstGeom>
          <a:noFill/>
          <a:ln/>
        </p:spPr>
        <p:txBody>
          <a:bodyPr wrap="square" lIns="0" tIns="0" rIns="0" bIns="0" rtlCol="0" anchor="ctr"/>
          <a:lstStyle/>
          <a:p>
            <a:pPr marL="0" indent="0">
              <a:buNone/>
            </a:pPr>
            <a:r>
              <a:rPr lang="en-US" sz="3000" b="1" dirty="0">
                <a:solidFill>
                  <a:srgbClr val="A8D5C2"/>
                </a:solidFill>
                <a:latin typeface="Calibri" pitchFamily="34" charset="0"/>
                <a:ea typeface="Calibri" pitchFamily="34" charset="-122"/>
                <a:cs typeface="Calibri" pitchFamily="34" charset="-120"/>
              </a:rPr>
              <a:t>24 / 24</a:t>
            </a:r>
            <a:endParaRPr lang="en-US" sz="3000" dirty="0"/>
          </a:p>
        </p:txBody>
      </p:sp>
      <p:sp>
        <p:nvSpPr>
          <p:cNvPr id="14" name="Text 12"/>
          <p:cNvSpPr txBox="1"/>
          <p:nvPr/>
        </p:nvSpPr>
        <p:spPr>
          <a:xfrm>
            <a:off x="7479792" y="2148840"/>
            <a:ext cx="1737360" cy="59436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FDA labels re-verified live</a:t>
            </a:r>
            <a:endParaRPr lang="en-US" sz="1300" dirty="0"/>
          </a:p>
        </p:txBody>
      </p:sp>
      <p:sp>
        <p:nvSpPr>
          <p:cNvPr id="15" name="Shape 13"/>
          <p:cNvSpPr/>
          <p:nvPr/>
        </p:nvSpPr>
        <p:spPr>
          <a:xfrm>
            <a:off x="9546336" y="1371600"/>
            <a:ext cx="2103120" cy="1417320"/>
          </a:xfrm>
          <a:prstGeom prst="roundRect">
            <a:avLst>
              <a:gd name="adj" fmla="val 7742"/>
            </a:avLst>
          </a:prstGeom>
          <a:solidFill>
            <a:srgbClr val="2B2F31"/>
          </a:solidFill>
          <a:ln w="9525">
            <a:solidFill>
              <a:srgbClr val="45504C"/>
            </a:solidFill>
            <a:prstDash val="solid"/>
          </a:ln>
        </p:spPr>
      </p:sp>
      <p:sp>
        <p:nvSpPr>
          <p:cNvPr id="16" name="Text 14"/>
          <p:cNvSpPr txBox="1"/>
          <p:nvPr/>
        </p:nvSpPr>
        <p:spPr>
          <a:xfrm>
            <a:off x="9729216" y="1463040"/>
            <a:ext cx="1737360" cy="685800"/>
          </a:xfrm>
          <a:prstGeom prst="rect">
            <a:avLst/>
          </a:prstGeom>
          <a:noFill/>
          <a:ln/>
        </p:spPr>
        <p:txBody>
          <a:bodyPr wrap="square" lIns="0" tIns="0" rIns="0" bIns="0" rtlCol="0" anchor="ctr"/>
          <a:lstStyle/>
          <a:p>
            <a:pPr marL="0" indent="0">
              <a:buNone/>
            </a:pPr>
            <a:r>
              <a:rPr lang="en-US" sz="3000" b="1" dirty="0">
                <a:solidFill>
                  <a:srgbClr val="A8D5C2"/>
                </a:solidFill>
                <a:latin typeface="Calibri" pitchFamily="34" charset="0"/>
                <a:ea typeface="Calibri" pitchFamily="34" charset="-122"/>
                <a:cs typeface="Calibri" pitchFamily="34" charset="-120"/>
              </a:rPr>
              <a:t>40</a:t>
            </a:r>
            <a:endParaRPr lang="en-US" sz="3000" dirty="0"/>
          </a:p>
        </p:txBody>
      </p:sp>
      <p:sp>
        <p:nvSpPr>
          <p:cNvPr id="17" name="Text 15"/>
          <p:cNvSpPr txBox="1"/>
          <p:nvPr/>
        </p:nvSpPr>
        <p:spPr>
          <a:xfrm>
            <a:off x="9729216" y="2148840"/>
            <a:ext cx="1737360" cy="594360"/>
          </a:xfrm>
          <a:prstGeom prst="rect">
            <a:avLst/>
          </a:prstGeom>
          <a:noFill/>
          <a:ln/>
        </p:spPr>
        <p:txBody>
          <a:bodyPr wrap="square" lIns="0" tIns="0" rIns="0" bIns="0" rtlCol="0" anchor="t"/>
          <a:lstStyle/>
          <a:p>
            <a:pPr marL="0" indent="0">
              <a:buNone/>
            </a:pPr>
            <a:r>
              <a:rPr lang="en-US" sz="1300" dirty="0">
                <a:solidFill>
                  <a:srgbClr val="B9C4BF"/>
                </a:solidFill>
                <a:latin typeface="Calibri" pitchFamily="34" charset="0"/>
                <a:ea typeface="Calibri" pitchFamily="34" charset="-122"/>
                <a:cs typeface="Calibri" pitchFamily="34" charset="-120"/>
              </a:rPr>
              <a:t>screens and buttons clicked in a browser</a:t>
            </a:r>
            <a:endParaRPr lang="en-US" sz="1300" dirty="0"/>
          </a:p>
        </p:txBody>
      </p:sp>
      <p:sp>
        <p:nvSpPr>
          <p:cNvPr id="18" name="Shape 16"/>
          <p:cNvSpPr/>
          <p:nvPr/>
        </p:nvSpPr>
        <p:spPr>
          <a:xfrm>
            <a:off x="548640" y="3017520"/>
            <a:ext cx="6355080" cy="3063240"/>
          </a:xfrm>
          <a:prstGeom prst="roundRect">
            <a:avLst>
              <a:gd name="adj" fmla="val 3582"/>
            </a:avLst>
          </a:prstGeom>
          <a:solidFill>
            <a:srgbClr val="23352F"/>
          </a:solidFill>
          <a:ln w="9525">
            <a:solidFill>
              <a:srgbClr val="6FA391"/>
            </a:solidFill>
            <a:prstDash val="solid"/>
          </a:ln>
        </p:spPr>
      </p:sp>
      <p:sp>
        <p:nvSpPr>
          <p:cNvPr id="19" name="Text 17"/>
          <p:cNvSpPr txBox="1"/>
          <p:nvPr/>
        </p:nvSpPr>
        <p:spPr>
          <a:xfrm>
            <a:off x="777240" y="3108960"/>
            <a:ext cx="5943600" cy="2880360"/>
          </a:xfrm>
          <a:prstGeom prst="rect">
            <a:avLst/>
          </a:prstGeom>
          <a:noFill/>
          <a:ln/>
        </p:spPr>
        <p:txBody>
          <a:bodyPr wrap="square" lIns="0" tIns="0" rIns="0" bIns="0" rtlCol="0" anchor="t"/>
          <a:lstStyle/>
          <a:p>
            <a:pPr marL="0" indent="0">
              <a:spcAft>
                <a:spcPts val="400"/>
              </a:spcAft>
              <a:buNone/>
            </a:pPr>
            <a:r>
              <a:rPr lang="en-US" sz="1400" b="1" dirty="0">
                <a:solidFill>
                  <a:srgbClr val="A8D5C2"/>
                </a:solidFill>
                <a:latin typeface="Calibri" pitchFamily="34" charset="0"/>
                <a:ea typeface="Calibri" pitchFamily="34" charset="-122"/>
                <a:cs typeface="Calibri" pitchFamily="34" charset="-120"/>
              </a:rPr>
              <a:t>Bugs the tests caught, all fixed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QR links pointed to localhost, so phones couldn't open them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The storm demo and live sensors assumed every pen sat in a fridge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Outage areas were invisible on the map (an icon style shrank it)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The Docker image was missing the saved FDA label text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Seven label quotes were paraphrased instead of word-for-word</a:t>
            </a:r>
            <a:endParaRPr lang="en-US" sz="1400" dirty="0"/>
          </a:p>
        </p:txBody>
      </p:sp>
      <p:sp>
        <p:nvSpPr>
          <p:cNvPr id="20" name="Shape 18"/>
          <p:cNvSpPr/>
          <p:nvPr/>
        </p:nvSpPr>
        <p:spPr>
          <a:xfrm>
            <a:off x="7132320" y="3017520"/>
            <a:ext cx="4480560" cy="3063240"/>
          </a:xfrm>
          <a:prstGeom prst="roundRect">
            <a:avLst>
              <a:gd name="adj" fmla="val 3582"/>
            </a:avLst>
          </a:prstGeom>
          <a:solidFill>
            <a:srgbClr val="3A2F1E"/>
          </a:solidFill>
          <a:ln w="9525">
            <a:solidFill>
              <a:srgbClr val="F2A541"/>
            </a:solidFill>
            <a:prstDash val="solid"/>
          </a:ln>
        </p:spPr>
      </p:sp>
      <p:sp>
        <p:nvSpPr>
          <p:cNvPr id="21" name="Text 19"/>
          <p:cNvSpPr txBox="1"/>
          <p:nvPr/>
        </p:nvSpPr>
        <p:spPr>
          <a:xfrm>
            <a:off x="7360920" y="3108960"/>
            <a:ext cx="4069080" cy="2880360"/>
          </a:xfrm>
          <a:prstGeom prst="rect">
            <a:avLst/>
          </a:prstGeom>
          <a:noFill/>
          <a:ln/>
        </p:spPr>
        <p:txBody>
          <a:bodyPr wrap="square" lIns="0" tIns="0" rIns="0" bIns="0" rtlCol="0" anchor="t"/>
          <a:lstStyle/>
          <a:p>
            <a:pPr marL="0" indent="0">
              <a:spcAft>
                <a:spcPts val="400"/>
              </a:spcAft>
              <a:buNone/>
            </a:pPr>
            <a:r>
              <a:rPr lang="en-US" sz="1400" b="1" dirty="0">
                <a:solidFill>
                  <a:srgbClr val="F2A541"/>
                </a:solidFill>
                <a:latin typeface="Calibri" pitchFamily="34" charset="0"/>
                <a:ea typeface="Calibri" pitchFamily="34" charset="-122"/>
                <a:cs typeface="Calibri" pitchFamily="34" charset="-120"/>
              </a:rPr>
              <a:t>Still open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The cited heat-tolerance evidence still needs a pharmacist's approval and clinical validation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The automatic "possible outage" alert hasn't fired in a live storm yet
</a:t>
            </a:r>
            <a:endParaRPr lang="en-US" sz="1400" dirty="0"/>
          </a:p>
          <a:p>
            <a:pPr marL="0" indent="0">
              <a:spcAft>
                <a:spcPts val="400"/>
              </a:spcAft>
              <a:buNone/>
            </a:pPr>
            <a:r>
              <a:rPr lang="en-US" sz="1400" dirty="0">
                <a:solidFill>
                  <a:srgbClr val="F4F1EA"/>
                </a:solidFill>
                <a:latin typeface="Calibri" pitchFamily="34" charset="0"/>
                <a:ea typeface="Calibri" pitchFamily="34" charset="-122"/>
                <a:cs typeface="Calibri" pitchFamily="34" charset="-120"/>
              </a:rPr>
              <a:t>• Bluetooth sensors are built to spec but untested on hardware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9C4BF"/>
                </a:solidFill>
              </a:defRPr>
            </a:lvl1pPr>
          </a:lstStyle>
          <a:p>
            <a:pPr algn="r"/>
            <a:fld id="{F7021451-1387-4CA6-816F-3879F97B5CBC}" type="slidenum">
              <a:rPr lang="en-US" b="0"/>
              <a:t>30</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anim|1|zoom|after|"/>
          <p:cNvSpPr/>
          <p:nvPr/>
        </p:nvSpPr>
        <p:spPr>
          <a:xfrm>
            <a:off x="914400" y="731520"/>
            <a:ext cx="274320" cy="274320"/>
          </a:xfrm>
          <a:prstGeom prst="star4">
            <a:avLst/>
          </a:prstGeom>
          <a:solidFill>
            <a:srgbClr val="F2A541"/>
          </a:solidFill>
          <a:ln/>
        </p:spPr>
      </p:sp>
      <p:sp>
        <p:nvSpPr>
          <p:cNvPr id="3" name="anim|1|zoom|with|"/>
          <p:cNvSpPr/>
          <p:nvPr/>
        </p:nvSpPr>
        <p:spPr>
          <a:xfrm>
            <a:off x="10881360" y="1097280"/>
            <a:ext cx="219456" cy="219456"/>
          </a:xfrm>
          <a:prstGeom prst="star4">
            <a:avLst/>
          </a:prstGeom>
          <a:solidFill>
            <a:srgbClr val="A8D5C2"/>
          </a:solidFill>
          <a:ln/>
        </p:spPr>
      </p:sp>
      <p:sp>
        <p:nvSpPr>
          <p:cNvPr id="4" name="anim|1|zoom|with|"/>
          <p:cNvSpPr/>
          <p:nvPr/>
        </p:nvSpPr>
        <p:spPr>
          <a:xfrm>
            <a:off x="10332720" y="5760720"/>
            <a:ext cx="292608" cy="292608"/>
          </a:xfrm>
          <a:prstGeom prst="star4">
            <a:avLst/>
          </a:prstGeom>
          <a:solidFill>
            <a:srgbClr val="F2A541"/>
          </a:solidFill>
          <a:ln/>
        </p:spPr>
      </p:sp>
      <p:sp>
        <p:nvSpPr>
          <p:cNvPr id="5" name="anim|1|zoom|with|"/>
          <p:cNvSpPr/>
          <p:nvPr/>
        </p:nvSpPr>
        <p:spPr>
          <a:xfrm>
            <a:off x="1463040" y="5852160"/>
            <a:ext cx="182880" cy="182880"/>
          </a:xfrm>
          <a:prstGeom prst="star4">
            <a:avLst/>
          </a:prstGeom>
          <a:solidFill>
            <a:srgbClr val="A8D5C2"/>
          </a:solidFill>
          <a:ln/>
        </p:spPr>
      </p:sp>
      <p:pic>
        <p:nvPicPr>
          <p:cNvPr id="6" name="anim|2|fadedzoom|after|" descr="preencoded.png"/>
          <p:cNvPicPr>
            <a:picLocks noChangeAspect="1"/>
          </p:cNvPicPr>
          <p:nvPr/>
        </p:nvPicPr>
        <p:blipFill>
          <a:blip r:embed="rId4"/>
          <a:stretch>
            <a:fillRect/>
          </a:stretch>
        </p:blipFill>
        <p:spPr>
          <a:xfrm>
            <a:off x="5550408" y="822960"/>
            <a:ext cx="1097280" cy="1097280"/>
          </a:xfrm>
          <a:prstGeom prst="rect">
            <a:avLst/>
          </a:prstGeom>
        </p:spPr>
      </p:pic>
      <p:sp>
        <p:nvSpPr>
          <p:cNvPr id="7" name="anim|2|fadedzoom|with|"/>
          <p:cNvSpPr txBox="1"/>
          <p:nvPr/>
        </p:nvSpPr>
        <p:spPr>
          <a:xfrm>
            <a:off x="731520" y="2103120"/>
            <a:ext cx="10698480" cy="1097280"/>
          </a:xfrm>
          <a:prstGeom prst="rect">
            <a:avLst/>
          </a:prstGeom>
          <a:noFill/>
          <a:ln/>
        </p:spPr>
        <p:txBody>
          <a:bodyPr wrap="square" lIns="0" tIns="0" rIns="0" bIns="0" rtlCol="0" anchor="ctr"/>
          <a:lstStyle/>
          <a:p>
            <a:pPr marL="0" indent="0" algn="ctr">
              <a:buNone/>
            </a:pPr>
            <a:r>
              <a:rPr lang="en-US" sz="5400" dirty="0">
                <a:solidFill>
                  <a:srgbClr val="F4F1EA"/>
                </a:solidFill>
                <a:latin typeface="Bookman Old Style" pitchFamily="34" charset="0"/>
                <a:ea typeface="Bookman Old Style" pitchFamily="34" charset="-122"/>
                <a:cs typeface="Bookman Old Style" pitchFamily="34" charset="-120"/>
              </a:rPr>
              <a:t>Thank you</a:t>
            </a:r>
            <a:endParaRPr lang="en-US" sz="5400" dirty="0"/>
          </a:p>
        </p:txBody>
      </p:sp>
      <p:sp>
        <p:nvSpPr>
          <p:cNvPr id="8" name="anim|3|fade|after|"/>
          <p:cNvSpPr txBox="1"/>
          <p:nvPr/>
        </p:nvSpPr>
        <p:spPr>
          <a:xfrm>
            <a:off x="731520" y="3200400"/>
            <a:ext cx="10698480" cy="640080"/>
          </a:xfrm>
          <a:prstGeom prst="rect">
            <a:avLst/>
          </a:prstGeom>
          <a:noFill/>
          <a:ln/>
        </p:spPr>
        <p:txBody>
          <a:bodyPr wrap="square" lIns="0" tIns="0" rIns="0" bIns="0" rtlCol="0" anchor="ctr"/>
          <a:lstStyle/>
          <a:p>
            <a:pPr marL="0" indent="0" algn="ctr">
              <a:buNone/>
            </a:pPr>
            <a:r>
              <a:rPr lang="en-US" sz="2800" dirty="0">
                <a:solidFill>
                  <a:srgbClr val="B9C4BF"/>
                </a:solidFill>
                <a:latin typeface="Bookman Old Style" pitchFamily="34" charset="0"/>
                <a:ea typeface="Bookman Old Style" pitchFamily="34" charset="-122"/>
                <a:cs typeface="Bookman Old Style" pitchFamily="34" charset="-120"/>
              </a:rPr>
              <a:t>Questions?</a:t>
            </a:r>
            <a:endParaRPr lang="en-US" sz="2800" dirty="0"/>
          </a:p>
        </p:txBody>
      </p:sp>
      <p:sp>
        <p:nvSpPr>
          <p:cNvPr id="9" name="anim|3|fade|with|"/>
          <p:cNvSpPr txBox="1"/>
          <p:nvPr/>
        </p:nvSpPr>
        <p:spPr>
          <a:xfrm>
            <a:off x="731520" y="4343400"/>
            <a:ext cx="10698480" cy="457200"/>
          </a:xfrm>
          <a:prstGeom prst="rect">
            <a:avLst/>
          </a:prstGeom>
          <a:noFill/>
          <a:ln/>
        </p:spPr>
        <p:txBody>
          <a:bodyPr wrap="square" lIns="0" tIns="0" rIns="0" bIns="0" rtlCol="0" anchor="ctr"/>
          <a:lstStyle/>
          <a:p>
            <a:pPr marL="0" indent="0" algn="ctr">
              <a:buNone/>
            </a:pPr>
            <a:r>
              <a:rPr lang="en-US" sz="1700" dirty="0">
                <a:solidFill>
                  <a:srgbClr val="A8D5C2"/>
                </a:solidFill>
                <a:latin typeface="Calibri" pitchFamily="34" charset="0"/>
                <a:ea typeface="Calibri" pitchFamily="34" charset="-122"/>
                <a:cs typeface="Calibri" pitchFamily="34" charset="-120"/>
              </a:rPr>
              <a:t>LIFELOG  ·  Hack Dearborn 5  ·  github.com/Manognya86/HackDearborn5</a:t>
            </a:r>
            <a:endParaRPr lang="en-US" sz="1700" dirty="0"/>
          </a:p>
        </p:txBody>
      </p:sp>
      <p:sp>
        <p:nvSpPr>
          <p:cNvPr id="10" name="anim|3|fade|with|"/>
          <p:cNvSpPr txBox="1"/>
          <p:nvPr/>
        </p:nvSpPr>
        <p:spPr>
          <a:xfrm>
            <a:off x="731520" y="4846320"/>
            <a:ext cx="10698480" cy="411480"/>
          </a:xfrm>
          <a:prstGeom prst="rect">
            <a:avLst/>
          </a:prstGeom>
          <a:noFill/>
          <a:ln/>
        </p:spPr>
        <p:txBody>
          <a:bodyPr wrap="square" lIns="0" tIns="0" rIns="0" bIns="0" rtlCol="0" anchor="ctr"/>
          <a:lstStyle/>
          <a:p>
            <a:pPr marL="0" indent="0" algn="ctr">
              <a:buNone/>
            </a:pPr>
            <a:r>
              <a:rPr lang="en-US" sz="1400" dirty="0">
                <a:solidFill>
                  <a:srgbClr val="B9C4BF"/>
                </a:solidFill>
                <a:latin typeface="Calibri" pitchFamily="34" charset="0"/>
                <a:ea typeface="Calibri" pitchFamily="34" charset="-122"/>
                <a:cs typeface="Calibri" pitchFamily="34" charset="-120"/>
              </a:rPr>
              <a:t>Try it: sign in as Owner, Customer or Pharmacist with one click</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200">
        <p14:flash/>
        <p:sndAc>
          <p:stSnd>
            <p:snd r:embed="rId3" name="chime.wav"/>
          </p:stSnd>
        </p:sndAc>
      </p:transition>
    </mc:Choice>
    <mc:Fallback>
      <p:transition spd="slow">
        <p:fade/>
        <p:sndAc>
          <p:stSnd>
            <p:snd r:embed="rId3" name="chim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600" fill="hold"/>
                                        <p:tgtEl>
                                          <p:spTgt spid="2"/>
                                        </p:tgtEl>
                                        <p:attrNameLst>
                                          <p:attrName>ppt_w</p:attrName>
                                        </p:attrNameLst>
                                      </p:cBhvr>
                                      <p:tavLst>
                                        <p:tav tm="0">
                                          <p:val>
                                            <p:fltVal val="0"/>
                                          </p:val>
                                        </p:tav>
                                        <p:tav tm="100000">
                                          <p:val>
                                            <p:strVal val="#ppt_w"/>
                                          </p:val>
                                        </p:tav>
                                      </p:tavLst>
                                    </p:anim>
                                    <p:anim calcmode="lin" valueType="num">
                                      <p:cBhvr>
                                        <p:cTn id="8" dur="600" fill="hold"/>
                                        <p:tgtEl>
                                          <p:spTgt spid="2"/>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600" fill="hold"/>
                                        <p:tgtEl>
                                          <p:spTgt spid="3"/>
                                        </p:tgtEl>
                                        <p:attrNameLst>
                                          <p:attrName>ppt_w</p:attrName>
                                        </p:attrNameLst>
                                      </p:cBhvr>
                                      <p:tavLst>
                                        <p:tav tm="0">
                                          <p:val>
                                            <p:fltVal val="0"/>
                                          </p:val>
                                        </p:tav>
                                        <p:tav tm="100000">
                                          <p:val>
                                            <p:strVal val="#ppt_w"/>
                                          </p:val>
                                        </p:tav>
                                      </p:tavLst>
                                    </p:anim>
                                    <p:anim calcmode="lin" valueType="num">
                                      <p:cBhvr>
                                        <p:cTn id="12" dur="600" fill="hold"/>
                                        <p:tgtEl>
                                          <p:spTgt spid="3"/>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600" fill="hold"/>
                                        <p:tgtEl>
                                          <p:spTgt spid="4"/>
                                        </p:tgtEl>
                                        <p:attrNameLst>
                                          <p:attrName>ppt_w</p:attrName>
                                        </p:attrNameLst>
                                      </p:cBhvr>
                                      <p:tavLst>
                                        <p:tav tm="0">
                                          <p:val>
                                            <p:fltVal val="0"/>
                                          </p:val>
                                        </p:tav>
                                        <p:tav tm="100000">
                                          <p:val>
                                            <p:strVal val="#ppt_w"/>
                                          </p:val>
                                        </p:tav>
                                      </p:tavLst>
                                    </p:anim>
                                    <p:anim calcmode="lin" valueType="num">
                                      <p:cBhvr>
                                        <p:cTn id="16" dur="600" fill="hold"/>
                                        <p:tgtEl>
                                          <p:spTgt spid="4"/>
                                        </p:tgtEl>
                                        <p:attrNameLst>
                                          <p:attrName>ppt_h</p:attrName>
                                        </p:attrNameLst>
                                      </p:cBhvr>
                                      <p:tavLst>
                                        <p:tav tm="0">
                                          <p:val>
                                            <p:flt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600" fill="hold"/>
                                        <p:tgtEl>
                                          <p:spTgt spid="5"/>
                                        </p:tgtEl>
                                        <p:attrNameLst>
                                          <p:attrName>ppt_w</p:attrName>
                                        </p:attrNameLst>
                                      </p:cBhvr>
                                      <p:tavLst>
                                        <p:tav tm="0">
                                          <p:val>
                                            <p:fltVal val="0"/>
                                          </p:val>
                                        </p:tav>
                                        <p:tav tm="100000">
                                          <p:val>
                                            <p:strVal val="#ppt_w"/>
                                          </p:val>
                                        </p:tav>
                                      </p:tavLst>
                                    </p:anim>
                                    <p:anim calcmode="lin" valueType="num">
                                      <p:cBhvr>
                                        <p:cTn id="20" dur="600" fill="hold"/>
                                        <p:tgtEl>
                                          <p:spTgt spid="5"/>
                                        </p:tgtEl>
                                        <p:attrNameLst>
                                          <p:attrName>ppt_h</p:attrName>
                                        </p:attrNameLst>
                                      </p:cBhvr>
                                      <p:tavLst>
                                        <p:tav tm="0">
                                          <p:val>
                                            <p:fltVal val="0"/>
                                          </p:val>
                                        </p:tav>
                                        <p:tav tm="100000">
                                          <p:val>
                                            <p:strVal val="#ppt_h"/>
                                          </p:val>
                                        </p:tav>
                                      </p:tavLst>
                                    </p:anim>
                                  </p:childTnLst>
                                </p:cTn>
                              </p:par>
                            </p:childTnLst>
                          </p:cTn>
                        </p:par>
                        <p:par>
                          <p:cTn id="21" fill="hold">
                            <p:stCondLst>
                              <p:cond delay="600"/>
                            </p:stCondLst>
                            <p:childTnLst>
                              <p:par>
                                <p:cTn id="22" presetID="53" presetClass="entr" presetSubtype="1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600" fill="hold"/>
                                        <p:tgtEl>
                                          <p:spTgt spid="6"/>
                                        </p:tgtEl>
                                        <p:attrNameLst>
                                          <p:attrName>ppt_w</p:attrName>
                                        </p:attrNameLst>
                                      </p:cBhvr>
                                      <p:tavLst>
                                        <p:tav tm="0">
                                          <p:val>
                                            <p:fltVal val="0"/>
                                          </p:val>
                                        </p:tav>
                                        <p:tav tm="100000">
                                          <p:val>
                                            <p:strVal val="#ppt_w"/>
                                          </p:val>
                                        </p:tav>
                                      </p:tavLst>
                                    </p:anim>
                                    <p:anim calcmode="lin" valueType="num">
                                      <p:cBhvr>
                                        <p:cTn id="25" dur="600" fill="hold"/>
                                        <p:tgtEl>
                                          <p:spTgt spid="6"/>
                                        </p:tgtEl>
                                        <p:attrNameLst>
                                          <p:attrName>ppt_h</p:attrName>
                                        </p:attrNameLst>
                                      </p:cBhvr>
                                      <p:tavLst>
                                        <p:tav tm="0">
                                          <p:val>
                                            <p:fltVal val="0"/>
                                          </p:val>
                                        </p:tav>
                                        <p:tav tm="100000">
                                          <p:val>
                                            <p:strVal val="#ppt_h"/>
                                          </p:val>
                                        </p:tav>
                                      </p:tavLst>
                                    </p:anim>
                                    <p:animEffect transition="in" filter="fade">
                                      <p:cBhvr>
                                        <p:cTn id="26" dur="6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600" fill="hold"/>
                                        <p:tgtEl>
                                          <p:spTgt spid="7"/>
                                        </p:tgtEl>
                                        <p:attrNameLst>
                                          <p:attrName>ppt_w</p:attrName>
                                        </p:attrNameLst>
                                      </p:cBhvr>
                                      <p:tavLst>
                                        <p:tav tm="0">
                                          <p:val>
                                            <p:fltVal val="0"/>
                                          </p:val>
                                        </p:tav>
                                        <p:tav tm="100000">
                                          <p:val>
                                            <p:strVal val="#ppt_w"/>
                                          </p:val>
                                        </p:tav>
                                      </p:tavLst>
                                    </p:anim>
                                    <p:anim calcmode="lin" valueType="num">
                                      <p:cBhvr>
                                        <p:cTn id="30" dur="600" fill="hold"/>
                                        <p:tgtEl>
                                          <p:spTgt spid="7"/>
                                        </p:tgtEl>
                                        <p:attrNameLst>
                                          <p:attrName>ppt_h</p:attrName>
                                        </p:attrNameLst>
                                      </p:cBhvr>
                                      <p:tavLst>
                                        <p:tav tm="0">
                                          <p:val>
                                            <p:fltVal val="0"/>
                                          </p:val>
                                        </p:tav>
                                        <p:tav tm="100000">
                                          <p:val>
                                            <p:strVal val="#ppt_h"/>
                                          </p:val>
                                        </p:tav>
                                      </p:tavLst>
                                    </p:anim>
                                    <p:animEffect transition="in" filter="fade">
                                      <p:cBhvr>
                                        <p:cTn id="31" dur="600"/>
                                        <p:tgtEl>
                                          <p:spTgt spid="7"/>
                                        </p:tgtEl>
                                      </p:cBhvr>
                                    </p:animEffect>
                                  </p:childTnLst>
                                </p:cTn>
                              </p:par>
                            </p:childTnLst>
                          </p:cTn>
                        </p:par>
                        <p:par>
                          <p:cTn id="32" fill="hold">
                            <p:stCondLst>
                              <p:cond delay="1200"/>
                            </p:stCondLst>
                            <p:childTnLst>
                              <p:par>
                                <p:cTn id="33" presetID="10"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theme/theme1.xml><?xml version="1.0" encoding="utf-8"?>
<a:theme xmlns:a="http://schemas.openxmlformats.org/drawingml/2006/main" name="Conjure Reality">
  <a:themeElements>
    <a:clrScheme name="Conjure Reality">
      <a:dk1>
        <a:srgbClr val="1F2224"/>
      </a:dk1>
      <a:lt1>
        <a:srgbClr val="F4F1EA"/>
      </a:lt1>
      <a:dk2>
        <a:srgbClr val="2B2F31"/>
      </a:dk2>
      <a:lt2>
        <a:srgbClr val="B9C4BF"/>
      </a:lt2>
      <a:accent1>
        <a:srgbClr val="6FA391"/>
      </a:accent1>
      <a:accent2>
        <a:srgbClr val="F2A541"/>
      </a:accent2>
      <a:accent3>
        <a:srgbClr val="A8D5C2"/>
      </a:accent3>
      <a:accent4>
        <a:srgbClr val="E2705D"/>
      </a:accent4>
      <a:accent5>
        <a:srgbClr val="9C8CE0"/>
      </a:accent5>
      <a:accent6>
        <a:srgbClr val="5B7F95"/>
      </a:accent6>
      <a:hlink>
        <a:srgbClr val="A8D5C2"/>
      </a:hlink>
      <a:folHlink>
        <a:srgbClr val="9C8CE0"/>
      </a:folHlink>
    </a:clrScheme>
    <a:fontScheme name="Conjure Reality">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5136</Words>
  <Application>Microsoft Office PowerPoint</Application>
  <PresentationFormat>Widescreen</PresentationFormat>
  <Paragraphs>523</Paragraphs>
  <Slides>31</Slides>
  <Notes>31</Notes>
  <HiddenSlides>17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Bookman Old Style</vt:lpstr>
      <vt:lpstr>Calibri</vt:lpstr>
      <vt:lpstr>Conjure Reality</vt:lpstr>
      <vt:lpstr>PowerPoint Presentation</vt:lpstr>
      <vt:lpstr>The cold chain ends at the pharmacy door</vt:lpstr>
      <vt:lpstr>The insight: exposure adds up</vt:lpstr>
      <vt:lpstr>A big, growing group of people carry this risk</vt:lpstr>
      <vt:lpstr>Meet LIFELOG</vt:lpstr>
      <vt:lpstr>24 real medicines, checked against their FDA labels</vt:lpstr>
      <vt:lpstr>How it works</vt:lpstr>
      <vt:lpstr>When the power goes out, who runs out first?</vt:lpstr>
      <vt:lpstr>Private by design, checked by a pharmacist</vt:lpstr>
      <vt:lpstr>Care that reaches the whole family</vt:lpstr>
      <vt:lpstr>Who pays, and why</vt:lpstr>
      <vt:lpstr>Go-to-market: start in Dearborn</vt:lpstr>
      <vt:lpstr>PowerPoint Presentation</vt:lpstr>
      <vt:lpstr>PowerPoint Presentation</vt:lpstr>
      <vt:lpstr>Everyone watches medicine until it reaches you</vt:lpstr>
      <vt:lpstr>What's new here</vt:lpstr>
      <vt:lpstr>Tiger Data does the heavy lifting</vt:lpstr>
      <vt:lpstr>Gemini: from messy reality to clear advice</vt:lpstr>
      <vt:lpstr>A forecast trained for each medicine</vt:lpstr>
      <vt:lpstr>Real outages, live from DTE</vt:lpstr>
      <vt:lpstr>Numbers you can trust, and limits we show</vt:lpstr>
      <vt:lpstr>Records a pharmacist can verify</vt:lpstr>
      <vt:lpstr>Was the dose I took last Tuesday still good?</vt:lpstr>
      <vt:lpstr>In your language, with your data in your hands</vt:lpstr>
      <vt:lpstr>Works with or without AI</vt:lpstr>
      <vt:lpstr>Build on LIFELOG</vt:lpstr>
      <vt:lpstr>Try it three ways</vt:lpstr>
      <vt:lpstr>What you'll see in the live demo</vt:lpstr>
      <vt:lpstr>Who it helps</vt:lpstr>
      <vt:lpstr>Tested end to end, and what's still open</vt:lpstr>
      <vt:lpstr>PowerPoint Presentation</vt:lpstr>
    </vt:vector>
  </TitlesOfParts>
  <Company>Hack Dearborn 5</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LIFELOG: Conjure the hidden life of your medicine</dc:title>
  <dc:subject>PptxGenJS Presentation</dc:subject>
  <dc:creator>Manognya Lokesh Reddy</dc:creator>
  <cp:lastModifiedBy>Manognya Lokesh</cp:lastModifiedBy>
  <cp:revision>2</cp:revision>
  <dcterms:created xsi:type="dcterms:W3CDTF">2026-10-04T15:18:31Z</dcterms:created>
  <dcterms:modified xsi:type="dcterms:W3CDTF">2026-10-04T15:18:42Z</dcterms:modified>
</cp:coreProperties>
</file>