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67E0BC-0B06-07FA-A255-1261DD309111}">
          <p14:sldIdLst>
            <p14:sldId id="256"/>
          </p14:sldIdLst>
        </p14:section>
        <p14:section name="Problem" id="{65D32146-B8F9-3B8A-A76F-13505C751118}">
          <p14:sldIdLst>
            <p14:sldId id="257"/>
            <p14:sldId id="258"/>
          </p14:sldIdLst>
        </p14:section>
        <p14:section name="Novelty" id="{D7EC815F-E12B-5EAB-5D92-1DD71171C737}">
          <p14:sldIdLst>
            <p14:sldId id="259"/>
            <p14:sldId id="260"/>
          </p14:sldIdLst>
        </p14:section>
        <p14:section name="Product" id="{AD25AEFD-1CF7-469E-0A08-3188DB1C6799}">
          <p14:sldIdLst>
            <p14:sldId id="261"/>
            <p14:sldId id="262"/>
            <p14:sldId id="263"/>
          </p14:sldIdLst>
        </p14:section>
        <p14:section name="Sponsor tech" id="{854D2435-E938-A508-42EB-668447F4815C}">
          <p14:sldIdLst>
            <p14:sldId id="264"/>
            <p14:sldId id="265"/>
            <p14:sldId id="266"/>
          </p14:sldIdLst>
        </p14:section>
        <p14:section name="Impact" id="{E276D2F8-6238-ED50-2B34-A6199674491D}">
          <p14:sldIdLst>
            <p14:sldId id="267"/>
            <p14:sldId id="268"/>
            <p14:sldId id="269"/>
            <p14:sldId id="270"/>
            <p14:sldId id="271"/>
            <p14:sldId id="272"/>
            <p14:sldId id="273"/>
            <p14:sldId id="274"/>
            <p14:sldId id="275"/>
          </p14:sldIdLst>
        </p14:section>
        <p14:section name="Demo" id="{5D084A4C-66CB-9AC8-E664-D2876AC0E0AC}">
          <p14:sldIdLst>
            <p14:sldId id="276"/>
            <p14:sldId id="277"/>
          </p14:sldIdLst>
        </p14:section>
        <p14:section name="Close" id="{8F2EFBA9-DFFC-460A-D65A-24F14E9BD4FC}">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946C-44A7-8DB2-0DED982D9A8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31070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starts with the rules. 22 real medicines: insulins, GLP-1 pens, biologics, heart, migraine and bone medicines, an EpiPen and glucagon, each from its manufacturer's FDA label. Every quote is tested word for word against the label text, and every number against its quote, and a script re-checks them live. For anything else, type the name: we fetch the official FDA label first, check what was extracted the same way, and flag anything we couldn't find.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map isn't only a demo storm. Every 10 minutes LIFELOG imports DTE Energy's public outage map, stores each outage area as a PostGIS polygon with customers out and the restoration estimate, and closes areas when power is back. Utilities report by ZIP code, so we say power may be out instead of pretending we know. When we captured this, 174 customers were out across 30 ZIP areas.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Medicine data has to be private and trustworthy. Privacy is enforced by the database itself: row-level security means a signed-in person's queries can only return their own rows. A pharmacist signs off on each medicine's rules and wording. And where the label is silent, published evidence can replace our 8-hour assumption, for example EpiPen's 1994 heat study, but only after a pharmacist approves it; then Tiger recalculates every patient's history.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patients actually ask is: was the dose I already took still good? One tap logs a dose with the medicine's status at that moment from Tiger Data. If late sensor data later changes the answer, the dose is flagged. Doses go into the verifiable receipt, and Ask LIFELOG can answer from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try it three ways. The owner account has six medicines and the demo controls. A customer account has three medicines of its own and cannot see the owner's, because row-level security in Postgres hides them. A pharmacist account reviews the rules and approves evidence.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don't tell you if your medicine is cold right now. We tell you how much safe life it has left. Next: a pilot with a Dearborn pharmacy, more utilities like Consumers Energy, evidence review for every medicine, and a clinical validation study. Thank you!</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audio" Target="../media/audio3.wav"/></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audio" Target="../media/audio2.wav"/><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audio" Target="../media/audio2.wav"/><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14.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18.png"/><Relationship Id="rId9"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audio" Target="../media/audio2.wav"/><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audio" Target="../media/audio2.wav"/><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audio" Target="../media/audio2.wav"/><Relationship Id="rId7"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audio" Target="../media/audio2.wav"/><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audio" Target="../media/audio2.wav"/><Relationship Id="rId7"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audio" Target="../media/audio2.wav"/><Relationship Id="rId7"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2.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61.png"/><Relationship Id="rId4" Type="http://schemas.openxmlformats.org/officeDocument/2006/relationships/image" Target="../media/image60.png"/></Relationships>
</file>

<file path=ppt/slides/_rels/slide20.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63.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71.png"/><Relationship Id="rId4" Type="http://schemas.openxmlformats.org/officeDocument/2006/relationships/image" Target="../media/image70.png"/></Relationships>
</file>

<file path=ppt/slides/_rels/slide2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4"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4"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4"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4"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22 real medicines, checked against their FDA labels</a:t>
            </a:r>
            <a:endParaRPr lang="en-US" sz="3200" dirty="0"/>
          </a:p>
        </p:txBody>
      </p:sp>
      <p:graphicFrame>
        <p:nvGraphicFramePr>
          <p:cNvPr id="8"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the fridge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Insulins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Lantus, NovoLog, Tresiba, Humalog, Toujeo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28 days (Tresiba, Toujeo 56)</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GLP-1 / GIP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Mounjaro, Zepbound, Trulicity, Victoza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21 / 21 / 14 / 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Biologics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Enbrel, Humira, Dupixent, Stelara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14–30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Heart, migraine, bone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Repatha, Praluent, Aimovig, Emgality, Prolia, Forteo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7–30 days; Forteo: none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Emergency</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EpiPen, Gvoke glucagon</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room temp; 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Eye drops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Xalatan, opened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 6 weeks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Every quote is tested word-for-word against the saved label text, and every allowance's °C and days against its own quote. A script re-checks all 22 labels live on openFDA.</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7" name="anim|3|wipe|click|"/>
          <p:cNvSpPr/>
          <p:nvPr/>
        </p:nvSpPr>
        <p:spPr>
          <a:xfrm>
            <a:off x="8183880" y="2240280"/>
            <a:ext cx="640080" cy="640080"/>
          </a:xfrm>
          <a:prstGeom prst="ellipse">
            <a:avLst/>
          </a:prstGeom>
          <a:solidFill>
            <a:srgbClr val="3A3458"/>
          </a:solidFill>
          <a:ln/>
        </p:spPr>
      </p:sp>
      <p:pic>
        <p:nvPicPr>
          <p:cNvPr id="3"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Checked, then 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Quotes not found in the label are flagged before tracking</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22" presetClass="entr" presetSubtype="8"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wipe(left)">
                                      <p:cBhvr>
                                        <p:cTn id="26" dur="500"/>
                                        <p:tgtEl>
                                          <p:spTgt spid="3"/>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4"/>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5"/>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6"/>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7"/>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8"/>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9"/>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10"/>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1"/>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4"/>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4"/>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Demo storm shown here; the next slide is the live DTE feed.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outages, live from DTE</a:t>
            </a:r>
            <a:endParaRPr lang="en-US" sz="3200" dirty="0"/>
          </a:p>
        </p:txBody>
      </p:sp>
      <p:sp>
        <p:nvSpPr>
          <p:cNvPr id="3" name="anim|1|fade|after|"/>
          <p:cNvSpPr/>
          <p:nvPr/>
        </p:nvSpPr>
        <p:spPr>
          <a:xfrm>
            <a:off x="493776" y="1316736"/>
            <a:ext cx="3529584" cy="4773168"/>
          </a:xfrm>
          <a:prstGeom prst="roundRect">
            <a:avLst>
              <a:gd name="adj" fmla="val 3109"/>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livemap.png"/>
          <p:cNvPicPr>
            <a:picLocks noChangeAspect="1"/>
          </p:cNvPicPr>
          <p:nvPr/>
        </p:nvPicPr>
        <p:blipFill>
          <a:blip r:embed="rId4"/>
          <a:stretch>
            <a:fillRect/>
          </a:stretch>
        </p:blipFill>
        <p:spPr>
          <a:xfrm>
            <a:off x="548640" y="1371600"/>
            <a:ext cx="3419856" cy="4663440"/>
          </a:xfrm>
          <a:prstGeom prst="rect">
            <a:avLst/>
          </a:prstGeom>
        </p:spPr>
      </p:pic>
      <p:sp>
        <p:nvSpPr>
          <p:cNvPr id="5" name="anim|2|wipe|click|"/>
          <p:cNvSpPr/>
          <p:nvPr/>
        </p:nvSpPr>
        <p:spPr>
          <a:xfrm>
            <a:off x="4434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4567611" y="1550091"/>
            <a:ext cx="337962" cy="337962"/>
          </a:xfrm>
          <a:prstGeom prst="rect">
            <a:avLst/>
          </a:prstGeom>
        </p:spPr>
      </p:pic>
      <p:sp>
        <p:nvSpPr>
          <p:cNvPr id="7" name="anim|2|wipe|with|"/>
          <p:cNvSpPr txBox="1"/>
          <p:nvPr/>
        </p:nvSpPr>
        <p:spPr>
          <a:xfrm>
            <a:off x="5212080" y="139903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Imported every 10 minutes</a:t>
            </a:r>
            <a:endParaRPr lang="en-US" sz="1700" dirty="0"/>
          </a:p>
        </p:txBody>
      </p:sp>
      <p:sp>
        <p:nvSpPr>
          <p:cNvPr id="8" name="anim|2|wipe|with|"/>
          <p:cNvSpPr txBox="1"/>
          <p:nvPr/>
        </p:nvSpPr>
        <p:spPr>
          <a:xfrm>
            <a:off x="5212080" y="178308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DTE's public outage map: areas by ZIP, customers out, restoration time when known</a:t>
            </a:r>
            <a:endParaRPr lang="en-US" sz="1350" dirty="0"/>
          </a:p>
        </p:txBody>
      </p:sp>
      <p:sp>
        <p:nvSpPr>
          <p:cNvPr id="9" name="anim|3|wipe|click|"/>
          <p:cNvSpPr/>
          <p:nvPr/>
        </p:nvSpPr>
        <p:spPr>
          <a:xfrm>
            <a:off x="4434840" y="251460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4567611" y="2647371"/>
            <a:ext cx="337962" cy="337962"/>
          </a:xfrm>
          <a:prstGeom prst="rect">
            <a:avLst/>
          </a:prstGeom>
        </p:spPr>
      </p:pic>
      <p:sp>
        <p:nvSpPr>
          <p:cNvPr id="11" name="anim|3|wipe|with|"/>
          <p:cNvSpPr txBox="1"/>
          <p:nvPr/>
        </p:nvSpPr>
        <p:spPr>
          <a:xfrm>
            <a:off x="5212080" y="249631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Stored as PostGIS polygons</a:t>
            </a:r>
            <a:endParaRPr lang="en-US" sz="1700" dirty="0"/>
          </a:p>
        </p:txBody>
      </p:sp>
      <p:sp>
        <p:nvSpPr>
          <p:cNvPr id="12" name="anim|3|wipe|with|"/>
          <p:cNvSpPr txBox="1"/>
          <p:nvPr/>
        </p:nvSpPr>
        <p:spPr>
          <a:xfrm>
            <a:off x="5212080" y="288036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Updated in place; areas close automatically when power is restored</a:t>
            </a:r>
            <a:endParaRPr lang="en-US" sz="1350" dirty="0"/>
          </a:p>
        </p:txBody>
      </p:sp>
      <p:sp>
        <p:nvSpPr>
          <p:cNvPr id="13" name="anim|4|wipe|click|"/>
          <p:cNvSpPr/>
          <p:nvPr/>
        </p:nvSpPr>
        <p:spPr>
          <a:xfrm>
            <a:off x="4434840" y="361188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4567611" y="3744651"/>
            <a:ext cx="337962" cy="337962"/>
          </a:xfrm>
          <a:prstGeom prst="rect">
            <a:avLst/>
          </a:prstGeom>
        </p:spPr>
      </p:pic>
      <p:sp>
        <p:nvSpPr>
          <p:cNvPr id="15" name="anim|4|wipe|with|"/>
          <p:cNvSpPr txBox="1"/>
          <p:nvPr/>
        </p:nvSpPr>
        <p:spPr>
          <a:xfrm>
            <a:off x="5212080" y="359359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Honest about precision</a:t>
            </a:r>
            <a:endParaRPr lang="en-US" sz="1700" dirty="0"/>
          </a:p>
        </p:txBody>
      </p:sp>
      <p:sp>
        <p:nvSpPr>
          <p:cNvPr id="16" name="anim|4|wipe|with|"/>
          <p:cNvSpPr txBox="1"/>
          <p:nvPr/>
        </p:nvSpPr>
        <p:spPr>
          <a:xfrm>
            <a:off x="5212080" y="397764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ZIP-wide area means power may be out, so the no-power warming model waits for confirmation</a:t>
            </a:r>
            <a:endParaRPr lang="en-US" sz="1350" dirty="0"/>
          </a:p>
        </p:txBody>
      </p:sp>
      <p:sp>
        <p:nvSpPr>
          <p:cNvPr id="17" name="anim|5|wipe|click|"/>
          <p:cNvSpPr/>
          <p:nvPr/>
        </p:nvSpPr>
        <p:spPr>
          <a:xfrm>
            <a:off x="4434840" y="470916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4567611" y="4841931"/>
            <a:ext cx="337962" cy="337962"/>
          </a:xfrm>
          <a:prstGeom prst="rect">
            <a:avLst/>
          </a:prstGeom>
        </p:spPr>
      </p:pic>
      <p:sp>
        <p:nvSpPr>
          <p:cNvPr id="19" name="anim|5|wipe|with|"/>
          <p:cNvSpPr txBox="1"/>
          <p:nvPr/>
        </p:nvSpPr>
        <p:spPr>
          <a:xfrm>
            <a:off x="5212080" y="469087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Kubra utility</a:t>
            </a:r>
            <a:endParaRPr lang="en-US" sz="1700" dirty="0"/>
          </a:p>
        </p:txBody>
      </p:sp>
      <p:sp>
        <p:nvSpPr>
          <p:cNvPr id="20" name="anim|5|wipe|with|"/>
          <p:cNvSpPr txBox="1"/>
          <p:nvPr/>
        </p:nvSpPr>
        <p:spPr>
          <a:xfrm>
            <a:off x="5212080" y="507492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Consumers Energy and others plug in with one setting</a:t>
            </a:r>
            <a:endParaRPr lang="en-US" sz="1350" dirty="0"/>
          </a:p>
        </p:txBody>
      </p:sp>
      <p:sp>
        <p:nvSpPr>
          <p:cNvPr id="21" name="anim|6|fadedzoom|click|"/>
          <p:cNvSpPr/>
          <p:nvPr/>
        </p:nvSpPr>
        <p:spPr>
          <a:xfrm>
            <a:off x="4434840" y="5715000"/>
            <a:ext cx="7223760" cy="548640"/>
          </a:xfrm>
          <a:prstGeom prst="roundRect">
            <a:avLst>
              <a:gd name="adj" fmla="val 20000"/>
            </a:avLst>
          </a:prstGeom>
          <a:solidFill>
            <a:srgbClr val="3A2F1E"/>
          </a:solidFill>
          <a:ln w="9525">
            <a:solidFill>
              <a:srgbClr val="F2A541"/>
            </a:solidFill>
            <a:prstDash val="solid"/>
          </a:ln>
        </p:spPr>
      </p:sp>
      <p:sp>
        <p:nvSpPr>
          <p:cNvPr id="22" name="anim|6|fadedzoom|with|"/>
          <p:cNvSpPr txBox="1"/>
          <p:nvPr/>
        </p:nvSpPr>
        <p:spPr>
          <a:xfrm>
            <a:off x="4617720" y="5715000"/>
            <a:ext cx="6858000" cy="54864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Captured Oct 3, 2026: 174 DTE customers without power across 30 ZIP areas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 calcmode="lin" valueType="num">
                                      <p:cBhvr>
                                        <p:cTn id="72" dur="600" fill="hold"/>
                                        <p:tgtEl>
                                          <p:spTgt spid="21"/>
                                        </p:tgtEl>
                                        <p:attrNameLst>
                                          <p:attrName>ppt_w</p:attrName>
                                        </p:attrNameLst>
                                      </p:cBhvr>
                                      <p:tavLst>
                                        <p:tav tm="0">
                                          <p:val>
                                            <p:fltVal val="0"/>
                                          </p:val>
                                        </p:tav>
                                        <p:tav tm="100000">
                                          <p:val>
                                            <p:strVal val="#ppt_w"/>
                                          </p:val>
                                        </p:tav>
                                      </p:tavLst>
                                    </p:anim>
                                    <p:anim calcmode="lin" valueType="num">
                                      <p:cBhvr>
                                        <p:cTn id="73" dur="600" fill="hold"/>
                                        <p:tgtEl>
                                          <p:spTgt spid="21"/>
                                        </p:tgtEl>
                                        <p:attrNameLst>
                                          <p:attrName>ppt_h</p:attrName>
                                        </p:attrNameLst>
                                      </p:cBhvr>
                                      <p:tavLst>
                                        <p:tav tm="0">
                                          <p:val>
                                            <p:fltVal val="0"/>
                                          </p:val>
                                        </p:tav>
                                        <p:tav tm="100000">
                                          <p:val>
                                            <p:strVal val="#ppt_h"/>
                                          </p:val>
                                        </p:tav>
                                      </p:tavLst>
                                    </p:anim>
                                    <p:animEffect transition="in" filter="fade">
                                      <p:cBhvr>
                                        <p:cTn id="74" dur="600"/>
                                        <p:tgtEl>
                                          <p:spTgt spid="2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 calcmode="lin" valueType="num">
                                      <p:cBhvr>
                                        <p:cTn id="77" dur="600" fill="hold"/>
                                        <p:tgtEl>
                                          <p:spTgt spid="22"/>
                                        </p:tgtEl>
                                        <p:attrNameLst>
                                          <p:attrName>ppt_w</p:attrName>
                                        </p:attrNameLst>
                                      </p:cBhvr>
                                      <p:tavLst>
                                        <p:tav tm="0">
                                          <p:val>
                                            <p:fltVal val="0"/>
                                          </p:val>
                                        </p:tav>
                                        <p:tav tm="100000">
                                          <p:val>
                                            <p:strVal val="#ppt_w"/>
                                          </p:val>
                                        </p:tav>
                                      </p:tavLst>
                                    </p:anim>
                                    <p:anim calcmode="lin" valueType="num">
                                      <p:cBhvr>
                                        <p:cTn id="78" dur="600" fill="hold"/>
                                        <p:tgtEl>
                                          <p:spTgt spid="22"/>
                                        </p:tgtEl>
                                        <p:attrNameLst>
                                          <p:attrName>ppt_h</p:attrName>
                                        </p:attrNameLst>
                                      </p:cBhvr>
                                      <p:tavLst>
                                        <p:tav tm="0">
                                          <p:val>
                                            <p:fltVal val="0"/>
                                          </p:val>
                                        </p:tav>
                                        <p:tav tm="100000">
                                          <p:val>
                                            <p:strVal val="#ppt_h"/>
                                          </p:val>
                                        </p:tav>
                                      </p:tavLst>
                                    </p:anim>
                                    <p:animEffect transition="in" filter="fade">
                                      <p:cBhvr>
                                        <p:cTn id="7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15"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4"/>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Private by design, checked by a pharmacist</a:t>
            </a:r>
            <a:endParaRPr lang="en-US" sz="3200" dirty="0"/>
          </a:p>
        </p:txBody>
      </p:sp>
      <p:sp>
        <p:nvSpPr>
          <p:cNvPr id="3" name="anim|1|fade|after|"/>
          <p:cNvSpPr/>
          <p:nvPr/>
        </p:nvSpPr>
        <p:spPr>
          <a:xfrm>
            <a:off x="493776" y="1316736"/>
            <a:ext cx="5961888" cy="3264408"/>
          </a:xfrm>
          <a:prstGeom prst="roundRect">
            <a:avLst>
              <a:gd name="adj" fmla="val 336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view.png"/>
          <p:cNvPicPr>
            <a:picLocks noChangeAspect="1"/>
          </p:cNvPicPr>
          <p:nvPr/>
        </p:nvPicPr>
        <p:blipFill>
          <a:blip r:embed="rId4"/>
          <a:stretch>
            <a:fillRect/>
          </a:stretch>
        </p:blipFill>
        <p:spPr>
          <a:xfrm>
            <a:off x="548640" y="1371600"/>
            <a:ext cx="5852160" cy="3154680"/>
          </a:xfrm>
          <a:prstGeom prst="rect">
            <a:avLst/>
          </a:prstGeom>
        </p:spPr>
      </p:pic>
      <p:sp>
        <p:nvSpPr>
          <p:cNvPr id="5" name="anim|2|wipe|click|"/>
          <p:cNvSpPr/>
          <p:nvPr/>
        </p:nvSpPr>
        <p:spPr>
          <a:xfrm>
            <a:off x="676656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6899331" y="1550091"/>
            <a:ext cx="337962" cy="337962"/>
          </a:xfrm>
          <a:prstGeom prst="rect">
            <a:avLst/>
          </a:prstGeom>
        </p:spPr>
      </p:pic>
      <p:sp>
        <p:nvSpPr>
          <p:cNvPr id="7" name="anim|2|wipe|with|"/>
          <p:cNvSpPr txBox="1"/>
          <p:nvPr/>
        </p:nvSpPr>
        <p:spPr>
          <a:xfrm>
            <a:off x="7498080" y="1399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Your data, enforced by Postgres</a:t>
            </a:r>
            <a:endParaRPr lang="en-US" sz="1650" dirty="0"/>
          </a:p>
        </p:txBody>
      </p:sp>
      <p:sp>
        <p:nvSpPr>
          <p:cNvPr id="8" name="anim|2|wipe|with|"/>
          <p:cNvSpPr txBox="1"/>
          <p:nvPr/>
        </p:nvSpPr>
        <p:spPr>
          <a:xfrm>
            <a:off x="7498080" y="1764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each signed-in person's queries only ever return their own medicines, doses and receipts</a:t>
            </a:r>
            <a:endParaRPr lang="en-US" sz="1300" dirty="0"/>
          </a:p>
        </p:txBody>
      </p:sp>
      <p:sp>
        <p:nvSpPr>
          <p:cNvPr id="9" name="anim|3|wipe|click|"/>
          <p:cNvSpPr/>
          <p:nvPr/>
        </p:nvSpPr>
        <p:spPr>
          <a:xfrm>
            <a:off x="6766560" y="2560320"/>
            <a:ext cx="603504" cy="603504"/>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6899331" y="2693091"/>
            <a:ext cx="337962" cy="337962"/>
          </a:xfrm>
          <a:prstGeom prst="rect">
            <a:avLst/>
          </a:prstGeom>
        </p:spPr>
      </p:pic>
      <p:sp>
        <p:nvSpPr>
          <p:cNvPr id="11" name="anim|3|wipe|with|"/>
          <p:cNvSpPr txBox="1"/>
          <p:nvPr/>
        </p:nvSpPr>
        <p:spPr>
          <a:xfrm>
            <a:off x="7498080" y="2542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Pharmacist sign-off</a:t>
            </a:r>
            <a:endParaRPr lang="en-US" sz="1650" dirty="0"/>
          </a:p>
        </p:txBody>
      </p:sp>
      <p:sp>
        <p:nvSpPr>
          <p:cNvPr id="12" name="anim|3|wipe|with|"/>
          <p:cNvSpPr txBox="1"/>
          <p:nvPr/>
        </p:nvSpPr>
        <p:spPr>
          <a:xfrm>
            <a:off x="7498080" y="2907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Rules and the exact care-checklist wording are approved before patients see "reviewed"</a:t>
            </a:r>
            <a:endParaRPr lang="en-US" sz="1300" dirty="0"/>
          </a:p>
        </p:txBody>
      </p:sp>
      <p:sp>
        <p:nvSpPr>
          <p:cNvPr id="13" name="anim|4|wipe|click|"/>
          <p:cNvSpPr/>
          <p:nvPr/>
        </p:nvSpPr>
        <p:spPr>
          <a:xfrm>
            <a:off x="6766560" y="3703320"/>
            <a:ext cx="603504" cy="603504"/>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6899331" y="3836091"/>
            <a:ext cx="337962" cy="337962"/>
          </a:xfrm>
          <a:prstGeom prst="rect">
            <a:avLst/>
          </a:prstGeom>
        </p:spPr>
      </p:pic>
      <p:sp>
        <p:nvSpPr>
          <p:cNvPr id="15" name="anim|4|wipe|with|"/>
          <p:cNvSpPr txBox="1"/>
          <p:nvPr/>
        </p:nvSpPr>
        <p:spPr>
          <a:xfrm>
            <a:off x="7498080" y="3685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Evidence replaces assumptions</a:t>
            </a:r>
            <a:endParaRPr lang="en-US" sz="1650" dirty="0"/>
          </a:p>
        </p:txBody>
      </p:sp>
      <p:sp>
        <p:nvSpPr>
          <p:cNvPr id="16" name="anim|4|wipe|with|"/>
          <p:cNvSpPr txBox="1"/>
          <p:nvPr/>
        </p:nvSpPr>
        <p:spPr>
          <a:xfrm>
            <a:off x="7498080" y="4050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EpiPen: 8 h → 10,752 h (Grant 1994). Lantus: 8 h → 303 h (insulin heat review)</a:t>
            </a:r>
            <a:endParaRPr lang="en-US" sz="1300" dirty="0"/>
          </a:p>
        </p:txBody>
      </p:sp>
      <p:sp>
        <p:nvSpPr>
          <p:cNvPr id="17" name="anim|5|wipe|click|"/>
          <p:cNvSpPr/>
          <p:nvPr/>
        </p:nvSpPr>
        <p:spPr>
          <a:xfrm>
            <a:off x="6766560" y="4846320"/>
            <a:ext cx="603504" cy="603504"/>
          </a:xfrm>
          <a:prstGeom prst="ellipse">
            <a:avLst/>
          </a:prstGeom>
          <a:solidFill>
            <a:srgbClr val="343A3C"/>
          </a:solidFill>
          <a:ln/>
        </p:spPr>
      </p:sp>
      <p:pic>
        <p:nvPicPr>
          <p:cNvPr id="18" name="anim|5|wipe|click|" descr="preencoded.png"/>
          <p:cNvPicPr>
            <a:picLocks noChangeAspect="1"/>
          </p:cNvPicPr>
          <p:nvPr/>
        </p:nvPicPr>
        <p:blipFill>
          <a:blip r:embed="rId8"/>
          <a:stretch>
            <a:fillRect/>
          </a:stretch>
        </p:blipFill>
        <p:spPr>
          <a:xfrm>
            <a:off x="6899331" y="4979091"/>
            <a:ext cx="337962" cy="337962"/>
          </a:xfrm>
          <a:prstGeom prst="rect">
            <a:avLst/>
          </a:prstGeom>
        </p:spPr>
      </p:pic>
      <p:sp>
        <p:nvSpPr>
          <p:cNvPr id="19" name="anim|5|wipe|with|"/>
          <p:cNvSpPr txBox="1"/>
          <p:nvPr/>
        </p:nvSpPr>
        <p:spPr>
          <a:xfrm>
            <a:off x="7498080" y="4828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Approve → history recalculated</a:t>
            </a:r>
            <a:endParaRPr lang="en-US" sz="1650" dirty="0"/>
          </a:p>
        </p:txBody>
      </p:sp>
      <p:sp>
        <p:nvSpPr>
          <p:cNvPr id="20" name="anim|5|wipe|with|"/>
          <p:cNvSpPr txBox="1"/>
          <p:nvPr/>
        </p:nvSpPr>
        <p:spPr>
          <a:xfrm>
            <a:off x="7498080" y="5193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Tiger Data refreshes every patient's rollups for that medicine</a:t>
            </a:r>
            <a:endParaRPr lang="en-US" sz="1300" dirty="0"/>
          </a:p>
        </p:txBody>
      </p:sp>
      <p:sp>
        <p:nvSpPr>
          <p:cNvPr id="21" name="anim|6|fade|click|"/>
          <p:cNvSpPr/>
          <p:nvPr/>
        </p:nvSpPr>
        <p:spPr>
          <a:xfrm>
            <a:off x="548640" y="4846320"/>
            <a:ext cx="5852160" cy="1234440"/>
          </a:xfrm>
          <a:prstGeom prst="roundRect">
            <a:avLst>
              <a:gd name="adj" fmla="val 8889"/>
            </a:avLst>
          </a:prstGeom>
          <a:solidFill>
            <a:srgbClr val="23352F"/>
          </a:solidFill>
          <a:ln w="9525">
            <a:solidFill>
              <a:srgbClr val="6FA391"/>
            </a:solidFill>
            <a:prstDash val="solid"/>
          </a:ln>
        </p:spPr>
      </p:sp>
      <p:sp>
        <p:nvSpPr>
          <p:cNvPr id="22" name="anim|6|fade|with|"/>
          <p:cNvSpPr txBox="1"/>
          <p:nvPr/>
        </p:nvSpPr>
        <p:spPr>
          <a:xfrm>
            <a:off x="777240" y="4846320"/>
            <a:ext cx="5440680" cy="123444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No number changes until a pharmacist approves it, and every derivation is shown, including our doubling-per-10°C rule.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Was the dose I took last Tuesday still good?</a:t>
            </a:r>
            <a:endParaRPr lang="en-US" sz="3200" dirty="0"/>
          </a:p>
        </p:txBody>
      </p:sp>
      <p:sp>
        <p:nvSpPr>
          <p:cNvPr id="3" name="anim|1|fade|after|"/>
          <p:cNvSpPr/>
          <p:nvPr/>
        </p:nvSpPr>
        <p:spPr>
          <a:xfrm>
            <a:off x="493776" y="1316736"/>
            <a:ext cx="5047488" cy="3566160"/>
          </a:xfrm>
          <a:prstGeom prst="roundRect">
            <a:avLst>
              <a:gd name="adj" fmla="val 3077"/>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osebtn.png"/>
          <p:cNvPicPr>
            <a:picLocks noChangeAspect="1"/>
          </p:cNvPicPr>
          <p:nvPr/>
        </p:nvPicPr>
        <p:blipFill>
          <a:blip r:embed="rId4"/>
          <a:stretch>
            <a:fillRect/>
          </a:stretch>
        </p:blipFill>
        <p:spPr>
          <a:xfrm>
            <a:off x="548640" y="1371600"/>
            <a:ext cx="4937760" cy="3456432"/>
          </a:xfrm>
          <a:prstGeom prst="rect">
            <a:avLst/>
          </a:prstGeom>
        </p:spPr>
      </p:pic>
      <p:sp>
        <p:nvSpPr>
          <p:cNvPr id="5" name="anim|2|rise|click|"/>
          <p:cNvSpPr/>
          <p:nvPr/>
        </p:nvSpPr>
        <p:spPr>
          <a:xfrm>
            <a:off x="5751576" y="1316736"/>
            <a:ext cx="2670048" cy="2093976"/>
          </a:xfrm>
          <a:prstGeom prst="roundRect">
            <a:avLst>
              <a:gd name="adj" fmla="val 5240"/>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doses-top.png"/>
          <p:cNvPicPr>
            <a:picLocks noChangeAspect="1"/>
          </p:cNvPicPr>
          <p:nvPr/>
        </p:nvPicPr>
        <p:blipFill>
          <a:blip r:embed="rId5"/>
          <a:stretch>
            <a:fillRect/>
          </a:stretch>
        </p:blipFill>
        <p:spPr>
          <a:xfrm>
            <a:off x="5806440" y="1371600"/>
            <a:ext cx="2560320" cy="1984248"/>
          </a:xfrm>
          <a:prstGeom prst="rect">
            <a:avLst/>
          </a:prstGeom>
        </p:spPr>
      </p:pic>
      <p:sp>
        <p:nvSpPr>
          <p:cNvPr id="7" name="anim|2|fade|after|"/>
          <p:cNvSpPr/>
          <p:nvPr/>
        </p:nvSpPr>
        <p:spPr>
          <a:xfrm>
            <a:off x="8686800" y="1316736"/>
            <a:ext cx="2971800" cy="2093976"/>
          </a:xfrm>
          <a:prstGeom prst="roundRect">
            <a:avLst>
              <a:gd name="adj" fmla="val 5240"/>
            </a:avLst>
          </a:prstGeom>
          <a:solidFill>
            <a:srgbClr val="3A2F1E"/>
          </a:solidFill>
          <a:ln w="9525">
            <a:solidFill>
              <a:srgbClr val="F2A541"/>
            </a:solidFill>
            <a:prstDash val="solid"/>
          </a:ln>
        </p:spPr>
      </p:sp>
      <p:sp>
        <p:nvSpPr>
          <p:cNvPr id="8" name="anim|2|fade|with|"/>
          <p:cNvSpPr txBox="1"/>
          <p:nvPr/>
        </p:nvSpPr>
        <p:spPr>
          <a:xfrm>
            <a:off x="8869680" y="1463040"/>
            <a:ext cx="2606040" cy="685800"/>
          </a:xfrm>
          <a:prstGeom prst="rect">
            <a:avLst/>
          </a:prstGeom>
          <a:noFill/>
          <a:ln/>
        </p:spPr>
        <p:txBody>
          <a:bodyPr wrap="square" lIns="0" tIns="0" rIns="0" bIns="0" rtlCol="0" anchor="ctr"/>
          <a:lstStyle/>
          <a:p>
            <a:pPr marL="0" indent="0">
              <a:buNone/>
            </a:pPr>
            <a:r>
              <a:rPr lang="en-US" sz="3600" b="1" dirty="0">
                <a:solidFill>
                  <a:srgbClr val="F2A541"/>
                </a:solidFill>
                <a:latin typeface="Calibri" pitchFamily="34" charset="0"/>
                <a:ea typeface="Calibri" pitchFamily="34" charset="-122"/>
                <a:cs typeface="Calibri" pitchFamily="34" charset="-120"/>
              </a:rPr>
              <a:t>14 days</a:t>
            </a:r>
            <a:endParaRPr lang="en-US" sz="3600" dirty="0"/>
          </a:p>
        </p:txBody>
      </p:sp>
      <p:sp>
        <p:nvSpPr>
          <p:cNvPr id="9" name="anim|2|fade|with|"/>
          <p:cNvSpPr txBox="1"/>
          <p:nvPr/>
        </p:nvSpPr>
        <p:spPr>
          <a:xfrm>
            <a:off x="8869680" y="2194560"/>
            <a:ext cx="2606040" cy="1097280"/>
          </a:xfrm>
          <a:prstGeom prst="rect">
            <a:avLst/>
          </a:prstGeom>
          <a:noFill/>
          <a:ln/>
        </p:spPr>
        <p:txBody>
          <a:bodyPr wrap="square" lIns="0" tIns="0" rIns="0" bIns="0" rtlCol="0" anchor="t"/>
          <a:lstStyle/>
          <a:p>
            <a:pPr marL="0" indent="0">
              <a:buNone/>
            </a:pPr>
            <a:r>
              <a:rPr lang="en-US" sz="1350" dirty="0">
                <a:solidFill>
                  <a:srgbClr val="F4F1EA"/>
                </a:solidFill>
                <a:latin typeface="Calibri" pitchFamily="34" charset="0"/>
                <a:ea typeface="Calibri" pitchFamily="34" charset="-122"/>
                <a:cs typeface="Calibri" pitchFamily="34" charset="-120"/>
              </a:rPr>
              <a:t>of demo doses, each saved with the status it had at that moment, from Tiger Data</a:t>
            </a:r>
            <a:endParaRPr lang="en-US" sz="1350" dirty="0"/>
          </a:p>
        </p:txBody>
      </p:sp>
      <p:sp>
        <p:nvSpPr>
          <p:cNvPr id="10" name="anim|3|wipe|click|"/>
          <p:cNvSpPr/>
          <p:nvPr/>
        </p:nvSpPr>
        <p:spPr>
          <a:xfrm>
            <a:off x="5806440" y="3657600"/>
            <a:ext cx="548640" cy="548640"/>
          </a:xfrm>
          <a:prstGeom prst="ellipse">
            <a:avLst/>
          </a:prstGeom>
          <a:solidFill>
            <a:srgbClr val="343A3C"/>
          </a:solidFill>
          <a:ln/>
        </p:spPr>
      </p:sp>
      <p:pic>
        <p:nvPicPr>
          <p:cNvPr id="11" name="anim|3|wipe|click|" descr="preencoded.png"/>
          <p:cNvPicPr>
            <a:picLocks noChangeAspect="1"/>
          </p:cNvPicPr>
          <p:nvPr/>
        </p:nvPicPr>
        <p:blipFill>
          <a:blip r:embed="rId6"/>
          <a:stretch>
            <a:fillRect/>
          </a:stretch>
        </p:blipFill>
        <p:spPr>
          <a:xfrm>
            <a:off x="5927141" y="3778301"/>
            <a:ext cx="307238" cy="307238"/>
          </a:xfrm>
          <a:prstGeom prst="rect">
            <a:avLst/>
          </a:prstGeom>
        </p:spPr>
      </p:pic>
      <p:sp>
        <p:nvSpPr>
          <p:cNvPr id="12" name="anim|3|wipe|with|"/>
          <p:cNvSpPr txBox="1"/>
          <p:nvPr/>
        </p:nvSpPr>
        <p:spPr>
          <a:xfrm>
            <a:off x="6492240" y="362102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tap: "I took a dose"</a:t>
            </a:r>
            <a:endParaRPr lang="en-US" sz="1600" dirty="0"/>
          </a:p>
        </p:txBody>
      </p:sp>
      <p:sp>
        <p:nvSpPr>
          <p:cNvPr id="13" name="anim|3|wipe|with|"/>
          <p:cNvSpPr txBox="1"/>
          <p:nvPr/>
        </p:nvSpPr>
        <p:spPr>
          <a:xfrm>
            <a:off x="6492240" y="395020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Saves the status, budget left and temperature at that moment</a:t>
            </a:r>
            <a:endParaRPr lang="en-US" sz="1300" dirty="0"/>
          </a:p>
        </p:txBody>
      </p:sp>
      <p:sp>
        <p:nvSpPr>
          <p:cNvPr id="14" name="anim|4|wipe|click|"/>
          <p:cNvSpPr/>
          <p:nvPr/>
        </p:nvSpPr>
        <p:spPr>
          <a:xfrm>
            <a:off x="5806440" y="4526280"/>
            <a:ext cx="548640" cy="548640"/>
          </a:xfrm>
          <a:prstGeom prst="ellipse">
            <a:avLst/>
          </a:prstGeom>
          <a:solidFill>
            <a:srgbClr val="343A3C"/>
          </a:solidFill>
          <a:ln/>
        </p:spPr>
      </p:sp>
      <p:pic>
        <p:nvPicPr>
          <p:cNvPr id="15" name="anim|4|wipe|click|" descr="preencoded.png"/>
          <p:cNvPicPr>
            <a:picLocks noChangeAspect="1"/>
          </p:cNvPicPr>
          <p:nvPr/>
        </p:nvPicPr>
        <p:blipFill>
          <a:blip r:embed="rId7"/>
          <a:stretch>
            <a:fillRect/>
          </a:stretch>
        </p:blipFill>
        <p:spPr>
          <a:xfrm>
            <a:off x="5927141" y="4646981"/>
            <a:ext cx="307238" cy="307238"/>
          </a:xfrm>
          <a:prstGeom prst="rect">
            <a:avLst/>
          </a:prstGeom>
        </p:spPr>
      </p:pic>
      <p:sp>
        <p:nvSpPr>
          <p:cNvPr id="16" name="anim|4|wipe|with|"/>
          <p:cNvSpPr txBox="1"/>
          <p:nvPr/>
        </p:nvSpPr>
        <p:spPr>
          <a:xfrm>
            <a:off x="6492240" y="448970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Rechecked when late data arrives</a:t>
            </a:r>
            <a:endParaRPr lang="en-US" sz="1600" dirty="0"/>
          </a:p>
        </p:txBody>
      </p:sp>
      <p:sp>
        <p:nvSpPr>
          <p:cNvPr id="17" name="anim|4|wipe|with|"/>
          <p:cNvSpPr txBox="1"/>
          <p:nvPr/>
        </p:nvSpPr>
        <p:spPr>
          <a:xfrm>
            <a:off x="6492240" y="481888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If a sensor uploads hours later and the answer changes, the dose is flagged</a:t>
            </a:r>
            <a:endParaRPr lang="en-US" sz="1300" dirty="0"/>
          </a:p>
        </p:txBody>
      </p:sp>
      <p:sp>
        <p:nvSpPr>
          <p:cNvPr id="18" name="anim|5|wipe|click|"/>
          <p:cNvSpPr/>
          <p:nvPr/>
        </p:nvSpPr>
        <p:spPr>
          <a:xfrm>
            <a:off x="5806440" y="5394960"/>
            <a:ext cx="548640" cy="548640"/>
          </a:xfrm>
          <a:prstGeom prst="ellipse">
            <a:avLst/>
          </a:prstGeom>
          <a:solidFill>
            <a:srgbClr val="343A3C"/>
          </a:solidFill>
          <a:ln/>
        </p:spPr>
      </p:sp>
      <p:pic>
        <p:nvPicPr>
          <p:cNvPr id="19" name="anim|5|wipe|click|" descr="preencoded.png"/>
          <p:cNvPicPr>
            <a:picLocks noChangeAspect="1"/>
          </p:cNvPicPr>
          <p:nvPr/>
        </p:nvPicPr>
        <p:blipFill>
          <a:blip r:embed="rId8"/>
          <a:stretch>
            <a:fillRect/>
          </a:stretch>
        </p:blipFill>
        <p:spPr>
          <a:xfrm>
            <a:off x="5927141" y="5515661"/>
            <a:ext cx="307238" cy="307238"/>
          </a:xfrm>
          <a:prstGeom prst="rect">
            <a:avLst/>
          </a:prstGeom>
        </p:spPr>
      </p:pic>
      <p:sp>
        <p:nvSpPr>
          <p:cNvPr id="20" name="anim|5|wipe|with|"/>
          <p:cNvSpPr txBox="1"/>
          <p:nvPr/>
        </p:nvSpPr>
        <p:spPr>
          <a:xfrm>
            <a:off x="6492240" y="535838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Ask in plain words</a:t>
            </a:r>
            <a:endParaRPr lang="en-US" sz="1600" dirty="0"/>
          </a:p>
        </p:txBody>
      </p:sp>
      <p:sp>
        <p:nvSpPr>
          <p:cNvPr id="21" name="anim|5|wipe|with|"/>
          <p:cNvSpPr txBox="1"/>
          <p:nvPr/>
        </p:nvSpPr>
        <p:spPr>
          <a:xfrm>
            <a:off x="6492240" y="568756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Ask LIFELOG calls get_doses and answers from the record; doses are in every receipt</a:t>
            </a:r>
            <a:endParaRPr lang="en-US" sz="1300" dirty="0"/>
          </a:p>
        </p:txBody>
      </p:sp>
      <p:sp>
        <p:nvSpPr>
          <p:cNvPr id="22" name="anim|6|fade|click|"/>
          <p:cNvSpPr txBox="1"/>
          <p:nvPr/>
        </p:nvSpPr>
        <p:spPr>
          <a:xfrm>
            <a:off x="548640" y="5074920"/>
            <a:ext cx="4937760" cy="822960"/>
          </a:xfrm>
          <a:prstGeom prst="rect">
            <a:avLst/>
          </a:prstGeom>
          <a:noFill/>
          <a:ln/>
        </p:spPr>
        <p:txBody>
          <a:bodyPr wrap="square" lIns="0" tIns="0" rIns="0" bIns="0" rtlCol="0" anchor="t"/>
          <a:lstStyle/>
          <a:p>
            <a:pPr marL="0" indent="0">
              <a:buNone/>
            </a:pPr>
            <a:r>
              <a:rPr lang="en-US" sz="1500" i="1" dirty="0">
                <a:solidFill>
                  <a:srgbClr val="A8D5C2"/>
                </a:solidFill>
                <a:latin typeface="Calibri" pitchFamily="34" charset="0"/>
                <a:ea typeface="Calibri" pitchFamily="34" charset="-122"/>
                <a:cs typeface="Calibri" pitchFamily="34" charset="-120"/>
              </a:rPr>
              <a:t>Patients stop guessing; pharmacists get a verifiable dose-by-dose record.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par>
                          <p:cTn id="26" fill="hold">
                            <p:stCondLst>
                              <p:cond delay="500"/>
                            </p:stCondLst>
                            <p:childTnLst>
                              <p:par>
                                <p:cTn id="27" presetID="10" presetClass="entr" presetSubtype="0" fill="hold" nodeType="afterEffect">
                                  <p:stCondLst>
                                    <p:cond delay="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par>
                                <p:cTn id="41" presetID="22" presetClass="entr" presetSubtype="8"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00"/>
                                        <p:tgtEl>
                                          <p:spTgt spid="11"/>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wipe(left)">
                                      <p:cBhvr>
                                        <p:cTn id="46" dur="500"/>
                                        <p:tgtEl>
                                          <p:spTgt spid="12"/>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500"/>
                                        <p:tgtEl>
                                          <p:spTgt spid="14"/>
                                        </p:tgtEl>
                                      </p:cBhvr>
                                    </p:animEffect>
                                  </p:childTnLst>
                                </p:cTn>
                              </p:par>
                              <p:par>
                                <p:cTn id="55" presetID="22" presetClass="entr" presetSubtype="8"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500"/>
                                        <p:tgtEl>
                                          <p:spTgt spid="15"/>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wipe(left)">
                                      <p:cBhvr>
                                        <p:cTn id="63" dur="500"/>
                                        <p:tgtEl>
                                          <p:spTgt spid="17"/>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wipe(left)">
                                      <p:cBhvr>
                                        <p:cTn id="68" dur="500"/>
                                        <p:tgtEl>
                                          <p:spTgt spid="18"/>
                                        </p:tgtEl>
                                      </p:cBhvr>
                                    </p:animEffect>
                                  </p:childTnLst>
                                </p:cTn>
                              </p:par>
                              <p:par>
                                <p:cTn id="69" presetID="22" presetClass="entr" presetSubtype="8"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wipe(left)">
                                      <p:cBhvr>
                                        <p:cTn id="71" dur="500"/>
                                        <p:tgtEl>
                                          <p:spTgt spid="19"/>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500"/>
                                        <p:tgtEl>
                                          <p:spTgt spid="20"/>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500"/>
                                        <p:tgtEl>
                                          <p:spTgt spid="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19"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Try it three ways</a:t>
            </a:r>
            <a:endParaRPr lang="en-US" sz="3200" dirty="0"/>
          </a:p>
        </p:txBody>
      </p:sp>
      <p:sp>
        <p:nvSpPr>
          <p:cNvPr id="3" name="anim|1|rise|click|"/>
          <p:cNvSpPr/>
          <p:nvPr/>
        </p:nvSpPr>
        <p:spPr>
          <a:xfrm>
            <a:off x="548640" y="1417320"/>
            <a:ext cx="3520440" cy="3749040"/>
          </a:xfrm>
          <a:prstGeom prst="roundRect">
            <a:avLst>
              <a:gd name="adj" fmla="val 3117"/>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3017520" cy="457200"/>
          </a:xfrm>
          <a:prstGeom prst="rect">
            <a:avLst/>
          </a:prstGeom>
          <a:noFill/>
          <a:ln/>
        </p:spPr>
        <p:txBody>
          <a:bodyPr wrap="square" lIns="0" tIns="0" rIns="0" bIns="0" rtlCol="0" anchor="ctr"/>
          <a:lstStyle/>
          <a:p>
            <a:pPr marL="0" indent="0">
              <a:buNone/>
            </a:pPr>
            <a:r>
              <a:rPr lang="en-US" sz="2200" b="1" dirty="0">
                <a:solidFill>
                  <a:srgbClr val="A8D5C2"/>
                </a:solidFill>
                <a:latin typeface="Calibri" pitchFamily="34" charset="0"/>
                <a:ea typeface="Calibri" pitchFamily="34" charset="-122"/>
                <a:cs typeface="Calibri" pitchFamily="34" charset="-120"/>
              </a:rPr>
              <a:t>Owner</a:t>
            </a:r>
            <a:endParaRPr lang="en-US" sz="2200" dirty="0"/>
          </a:p>
        </p:txBody>
      </p:sp>
      <p:sp>
        <p:nvSpPr>
          <p:cNvPr id="7" name="anim|1|rise|with|"/>
          <p:cNvSpPr txBox="1"/>
          <p:nvPr/>
        </p:nvSpPr>
        <p:spPr>
          <a:xfrm>
            <a:off x="822960"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Manu · 6 medicines</a:t>
            </a:r>
            <a:endParaRPr lang="en-US" sz="1500" dirty="0"/>
          </a:p>
        </p:txBody>
      </p:sp>
      <p:sp>
        <p:nvSpPr>
          <p:cNvPr id="8" name="anim|1|rise|with|"/>
          <p:cNvSpPr txBox="1"/>
          <p:nvPr/>
        </p:nvSpPr>
        <p:spPr>
          <a:xfrm>
            <a:off x="822960"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Full history, dose log, receipts, and the demo controls: hot car, late upload, storm.</a:t>
            </a:r>
            <a:endParaRPr lang="en-US" sz="1400" dirty="0"/>
          </a:p>
        </p:txBody>
      </p:sp>
      <p:sp>
        <p:nvSpPr>
          <p:cNvPr id="9" name="anim|2|rise|click|"/>
          <p:cNvSpPr/>
          <p:nvPr/>
        </p:nvSpPr>
        <p:spPr>
          <a:xfrm>
            <a:off x="4325112" y="1417320"/>
            <a:ext cx="3520440" cy="3749040"/>
          </a:xfrm>
          <a:prstGeom prst="roundRect">
            <a:avLst>
              <a:gd name="adj" fmla="val 3117"/>
            </a:avLst>
          </a:prstGeom>
          <a:solidFill>
            <a:srgbClr val="2B2F31"/>
          </a:solidFill>
          <a:ln w="9525">
            <a:solidFill>
              <a:srgbClr val="45504C"/>
            </a:solidFill>
            <a:prstDash val="solid"/>
          </a:ln>
        </p:spPr>
      </p:sp>
      <p:sp>
        <p:nvSpPr>
          <p:cNvPr id="10" name="anim|2|rise|with|"/>
          <p:cNvSpPr/>
          <p:nvPr/>
        </p:nvSpPr>
        <p:spPr>
          <a:xfrm>
            <a:off x="459943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70425" y="1862633"/>
            <a:ext cx="435254" cy="435254"/>
          </a:xfrm>
          <a:prstGeom prst="rect">
            <a:avLst/>
          </a:prstGeom>
        </p:spPr>
      </p:pic>
      <p:sp>
        <p:nvSpPr>
          <p:cNvPr id="12" name="anim|2|rise|with|"/>
          <p:cNvSpPr txBox="1"/>
          <p:nvPr/>
        </p:nvSpPr>
        <p:spPr>
          <a:xfrm>
            <a:off x="4599432" y="2651760"/>
            <a:ext cx="3017520" cy="457200"/>
          </a:xfrm>
          <a:prstGeom prst="rect">
            <a:avLst/>
          </a:prstGeom>
          <a:noFill/>
          <a:ln/>
        </p:spPr>
        <p:txBody>
          <a:bodyPr wrap="square" lIns="0" tIns="0" rIns="0" bIns="0" rtlCol="0" anchor="ctr"/>
          <a:lstStyle/>
          <a:p>
            <a:pPr marL="0" indent="0">
              <a:buNone/>
            </a:pPr>
            <a:r>
              <a:rPr lang="en-US" sz="2200" b="1" dirty="0">
                <a:solidFill>
                  <a:srgbClr val="F2A541"/>
                </a:solidFill>
                <a:latin typeface="Calibri" pitchFamily="34" charset="0"/>
                <a:ea typeface="Calibri" pitchFamily="34" charset="-122"/>
                <a:cs typeface="Calibri" pitchFamily="34" charset="-120"/>
              </a:rPr>
              <a:t>Customer</a:t>
            </a:r>
            <a:endParaRPr lang="en-US" sz="2200" dirty="0"/>
          </a:p>
        </p:txBody>
      </p:sp>
      <p:sp>
        <p:nvSpPr>
          <p:cNvPr id="13" name="anim|2|rise|with|"/>
          <p:cNvSpPr txBox="1"/>
          <p:nvPr/>
        </p:nvSpPr>
        <p:spPr>
          <a:xfrm>
            <a:off x="4599432"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Alex · 3 medicines</a:t>
            </a:r>
            <a:endParaRPr lang="en-US" sz="1500" dirty="0"/>
          </a:p>
        </p:txBody>
      </p:sp>
      <p:sp>
        <p:nvSpPr>
          <p:cNvPr id="14" name="anim|2|rise|with|"/>
          <p:cNvSpPr txBox="1"/>
          <p:nvPr/>
        </p:nvSpPr>
        <p:spPr>
          <a:xfrm>
            <a:off x="4599432"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Dupixent, Humalog in use, Repatha. Sees only their own data; the owner's is hidden by the database.</a:t>
            </a:r>
            <a:endParaRPr lang="en-US" sz="1400" dirty="0"/>
          </a:p>
        </p:txBody>
      </p:sp>
      <p:sp>
        <p:nvSpPr>
          <p:cNvPr id="15" name="anim|3|rise|click|"/>
          <p:cNvSpPr/>
          <p:nvPr/>
        </p:nvSpPr>
        <p:spPr>
          <a:xfrm>
            <a:off x="8101584" y="1417320"/>
            <a:ext cx="3520440" cy="3749040"/>
          </a:xfrm>
          <a:prstGeom prst="roundRect">
            <a:avLst>
              <a:gd name="adj" fmla="val 3117"/>
            </a:avLst>
          </a:prstGeom>
          <a:solidFill>
            <a:srgbClr val="2B2F31"/>
          </a:solidFill>
          <a:ln w="9525">
            <a:solidFill>
              <a:srgbClr val="45504C"/>
            </a:solidFill>
            <a:prstDash val="solid"/>
          </a:ln>
        </p:spPr>
      </p:sp>
      <p:sp>
        <p:nvSpPr>
          <p:cNvPr id="16" name="anim|3|rise|with|"/>
          <p:cNvSpPr/>
          <p:nvPr/>
        </p:nvSpPr>
        <p:spPr>
          <a:xfrm>
            <a:off x="837590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8546897" y="1862633"/>
            <a:ext cx="435254" cy="435254"/>
          </a:xfrm>
          <a:prstGeom prst="rect">
            <a:avLst/>
          </a:prstGeom>
        </p:spPr>
      </p:pic>
      <p:sp>
        <p:nvSpPr>
          <p:cNvPr id="18" name="anim|3|rise|with|"/>
          <p:cNvSpPr txBox="1"/>
          <p:nvPr/>
        </p:nvSpPr>
        <p:spPr>
          <a:xfrm>
            <a:off x="8375904" y="2651760"/>
            <a:ext cx="3017520" cy="457200"/>
          </a:xfrm>
          <a:prstGeom prst="rect">
            <a:avLst/>
          </a:prstGeom>
          <a:noFill/>
          <a:ln/>
        </p:spPr>
        <p:txBody>
          <a:bodyPr wrap="square" lIns="0" tIns="0" rIns="0" bIns="0" rtlCol="0" anchor="ctr"/>
          <a:lstStyle/>
          <a:p>
            <a:pPr marL="0" indent="0">
              <a:buNone/>
            </a:pPr>
            <a:r>
              <a:rPr lang="en-US" sz="2200" b="1" dirty="0">
                <a:solidFill>
                  <a:srgbClr val="9C8CE0"/>
                </a:solidFill>
                <a:latin typeface="Calibri" pitchFamily="34" charset="0"/>
                <a:ea typeface="Calibri" pitchFamily="34" charset="-122"/>
                <a:cs typeface="Calibri" pitchFamily="34" charset="-120"/>
              </a:rPr>
              <a:t>Pharmacist</a:t>
            </a:r>
            <a:endParaRPr lang="en-US" sz="2200" dirty="0"/>
          </a:p>
        </p:txBody>
      </p:sp>
      <p:sp>
        <p:nvSpPr>
          <p:cNvPr id="19" name="anim|3|rise|with|"/>
          <p:cNvSpPr txBox="1"/>
          <p:nvPr/>
        </p:nvSpPr>
        <p:spPr>
          <a:xfrm>
            <a:off x="8375904"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Demo Pharmacist</a:t>
            </a:r>
            <a:endParaRPr lang="en-US" sz="1500" dirty="0"/>
          </a:p>
        </p:txBody>
      </p:sp>
      <p:sp>
        <p:nvSpPr>
          <p:cNvPr id="20" name="anim|3|rise|with|"/>
          <p:cNvSpPr txBox="1"/>
          <p:nvPr/>
        </p:nvSpPr>
        <p:spPr>
          <a:xfrm>
            <a:off x="8375904"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Reviews every medicine's rules and wording; approves or rejects heat-tolerance evidence.</a:t>
            </a:r>
            <a:endParaRPr lang="en-US" sz="1400" dirty="0"/>
          </a:p>
        </p:txBody>
      </p:sp>
      <p:sp>
        <p:nvSpPr>
          <p:cNvPr id="21" name="anim|4|fade|click|"/>
          <p:cNvSpPr/>
          <p:nvPr/>
        </p:nvSpPr>
        <p:spPr>
          <a:xfrm>
            <a:off x="548640" y="5394960"/>
            <a:ext cx="11064240" cy="731520"/>
          </a:xfrm>
          <a:prstGeom prst="roundRect">
            <a:avLst>
              <a:gd name="adj" fmla="val 15000"/>
            </a:avLst>
          </a:prstGeom>
          <a:solidFill>
            <a:srgbClr val="23352F"/>
          </a:solidFill>
          <a:ln w="9525">
            <a:solidFill>
              <a:srgbClr val="6FA391"/>
            </a:solidFill>
            <a:prstDash val="solid"/>
          </a:ln>
        </p:spPr>
      </p:sp>
      <p:sp>
        <p:nvSpPr>
          <p:cNvPr id="22" name="anim|4|fade|with|"/>
          <p:cNvSpPr txBox="1"/>
          <p:nvPr/>
        </p:nvSpPr>
        <p:spPr>
          <a:xfrm>
            <a:off x="822960" y="5394960"/>
            <a:ext cx="10515600" cy="7315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click on the sign-in page, or email + password. Same app, three different views, privacy enforced by Postgres.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NEXT</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Pilot with a Dearborn pharmacy</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Consumers Energy + more utilities</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Evidence review for every medicine</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Clinical validation study</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3633</Words>
  <Application>Microsoft Office PowerPoint</Application>
  <PresentationFormat>Widescreen</PresentationFormat>
  <Paragraphs>381</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Bookman Old Style</vt:lpstr>
      <vt:lpstr>Calibri</vt:lpstr>
      <vt:lpstr>Conjure Reality</vt:lpstr>
      <vt:lpstr>PowerPoint Presentation</vt:lpstr>
      <vt:lpstr>The cold chain ends at the pharmacy door</vt:lpstr>
      <vt:lpstr>The insight: exposure adds up</vt:lpstr>
      <vt:lpstr>Everyone watches medicine until it reaches you</vt:lpstr>
      <vt:lpstr>What's new here</vt:lpstr>
      <vt:lpstr>Meet LIFELOG</vt:lpstr>
      <vt:lpstr>22 real medicines, checked against their FDA labels</vt:lpstr>
      <vt:lpstr>How it works</vt:lpstr>
      <vt:lpstr>Tiger Data does the heavy lifting</vt:lpstr>
      <vt:lpstr>Gemini: from messy reality to clear advice</vt:lpstr>
      <vt:lpstr>A forecast trained for each medicine</vt:lpstr>
      <vt:lpstr>When the power goes out, who runs out first?</vt:lpstr>
      <vt:lpstr>Real outages, live from DTE</vt:lpstr>
      <vt:lpstr>Numbers you can trust, and limits we show</vt:lpstr>
      <vt:lpstr>Records a pharmacist can verify</vt:lpstr>
      <vt:lpstr>Private by design, checked by a pharmacist</vt:lpstr>
      <vt:lpstr>Was the dose I took last Tuesday still good?</vt:lpstr>
      <vt:lpstr>Works with or without AI</vt:lpstr>
      <vt:lpstr>Build on LIFELOG</vt:lpstr>
      <vt:lpstr>Try it three ways</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2026-10-04T10:37:04Z</dcterms:created>
  <dcterms:modified xsi:type="dcterms:W3CDTF">2026-10-04T10:37:22Z</dcterms:modified>
</cp:coreProperties>
</file>