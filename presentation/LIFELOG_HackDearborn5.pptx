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6 minutes)" id="{93F16535-021B-5464-661A-DAF5836155A9}">
          <p14:sldIdLst>
            <p14:sldId id="256"/>
            <p14:sldId id="257"/>
            <p14:sldId id="258"/>
            <p14:sldId id="259"/>
            <p14:sldId id="260"/>
            <p14:sldId id="261"/>
            <p14:sldId id="262"/>
            <p14:sldId id="263"/>
            <p14:sldId id="264"/>
            <p14:sldId id="265"/>
            <p14:sldId id="266"/>
            <p14:sldId id="267"/>
            <p14:sldId id="268"/>
          </p14:sldIdLst>
        </p14:section>
        <p14:section name="Appendix: deep dives for Q&amp;A" id="{A1CCDCC2-546D-ACBF-543B-3F64AE591F70}">
          <p14:sldIdLst>
            <p14:sldId id="269"/>
            <p14:sldId id="270"/>
            <p14:sldId id="271"/>
            <p14:sldId id="272"/>
            <p14:sldId id="273"/>
            <p14:sldId id="274"/>
            <p14:sldId id="275"/>
            <p14:sldId id="276"/>
            <p14:sldId id="277"/>
            <p14:sldId id="278"/>
            <p14:sldId id="279"/>
            <p14:sldId id="280"/>
            <p14:sldId id="281"/>
            <p14:sldId id="282"/>
            <p14:sldId id="283"/>
            <p14:sldId id="284"/>
          </p14:sldIdLst>
        </p14:section>
        <p14:section name="Thank you" id="{85418DF5-CD71-2076-C9CD-5247568C443E}">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C5BE-4729-A9D1-26C0FA2FFE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5787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[0:10–0:45] 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[1:10–1:45] This isn't a niche. Over 8 million Americans rely on insulin, 1 in 8 adults now take a GLP-1 drug, and power outages doubled last year to 11 hours per customer. When researchers mailed 48 test packages, every single one left its labeled temperature range. Add biologics, EpiPens and glucagon, and that's tens of millions of people whose medicine leaves the cold chain at the pharmacy door.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[1:45–2:15] 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Accuracy starts with the rules. 24 real medicines: insulins, GLP-1 pens, biologics, heart, migraine and bone medicines, an EpiPen and glucagon, each from its manufacturer's FDA label. Every quote is tested word for word against the label text, and every number against its quote, and a script re-checks them live. For anything else, type the name: we fetch the official FDA label first, check what was extracted the same way, and flag anything we couldn't find.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[3:35–4:00] Medicine data has to be private and trustworthy. Privacy is enforced by the database itself: row-level security means a signed-in person's queries can only return their own rows. A pharmacist signs off on each medicine's rules and wording. And where the label is silent, published evidence can replace our 8-hour assumption, for example EpiPen's 1994 heat study, but only after a pharmacist approves it; then Tiger recalculates every patient's history.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[4:00–4:25] Many people who depend on these medicines don't watch an app: an older patient with a flip phone, or a son looking after his mother. LIFELOG texts or calls them when something critical happens, reminds them 7, 3 and 1 days before a pen runs out with a refill letter already drafted, lets a caregiver see everyone they look after in one place, and turns the utility's ZIP-level outage report into a plan with one tap.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[4:25–5:10] Patients never pay: they bring the data and the network. The people who lose money today pay. Pharmacies and mail-order services subscribe per patient: storage proof for replacements and fewer ruined shipments. Health plans pay per verified exposure receipt instead of approving replacements on guesswork. Utilities license the outage view to know which medical-needs homes come first. It's cheap to run: no feature depends on paid AI, and Tiger compresses the data 11 times. The exact prices are what our pilot will test.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[5:10–5:45] We start where we are. First, one Dearborn pharmacy and about a hundred insulin and GLP-1 patients, in English and Arabic. Then a mail-order pharmacy and a utility partner before storm season. Then a health plan and our open API for device makers. We'll measure medicines saved from the trash, replacements backed by receipts, and alerts acted on within the hour. And it's hard to copy: verified label rules, pharmacist review and a history no thermometer builds.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[5:45–6:05] So: we don't tell you if your medicine is cold right now. We tell you how much safe life it has left. We're looking for a Dearborn pharmacy for our pilot, a utility partner before storm season, a health plan to try exposure receipts, and clinicians to validate it. (Next click goes straight to the thank-you slide: the appendix is hidden.)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index. These slides are hidden during the slideshow; type a number and press Enter to jump to one.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gets its own forecasting model. Four candidates compete on that medicine's own history from Tiger Data, and the winner is chosen by backtesting. The EpiPen in a backpack follows the outdoor weather, so it gets the weather model, 66 percent more accurate than assuming nothing changes; fridge pens get simpler models. Then we simulate 300 possible futures through the life budget to get real risks, not just a line.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map isn't only a demo storm. Every 10 minutes LIFELOG imports DTE Energy's public outage map, stores each outage area as a PostGIS polygon with customers out and the restoration estimate, and closes areas when power is back. Utilities report by ZIP code, so we say power may be out instead of pretending we know. When we captured this, 174 customers were out across 30 ZIP areas.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Insurers and pharmacists need to trust the numbers. One tap creates an exposure receipt: a fingerprint of the medicine's temperature record stored in Tiger Data. The pharmacist scans the QR code and sees the record. If anything in that period changed later, the page says so.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patients actually ask is: was the dose I already took still good? One tap logs a dose with the medicine's status at that moment from Tiger Data. If late sensor data later changes the answer, the dose is flagged. Doses go into the verifiable receipt, and Ask LIFELOG can answer from them.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Dearborn, a safety tool has to speak Arabic, so the whole interface works in English, Arabic, Spanish and Bengali, with Arabic right to left. Label quotes stay exactly as the FDA wrote them. And people stay in control: download everything LIFELOG holds about you in one file, or delete your account and every reading.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makes LIFELOG friendlier, but it's never a single point of failure. When the free quota runs out, every button falls back to rules built from your own data and the label's exact words, and the answer says so.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LIFELOG is also a platform. Any thermometer, smart fridge or cooler bag can send readings with a device key, receive signed alert webhooks, and use our open format for medicine storage rules. A standard Bluetooth thermometer pairs straight from the browser.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try it three ways. The owner account has six medicines and the demo controls. A customer account has three medicines of its own and cannot see the owner's, because row-level security in Postgres hides them. A pharmacist account reviews the rules and approves evidence.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We're happy to take questions; the backup slides are numbered 15 to 29.</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audio" Target="../media/audio2.wav"/><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audio" Target="../media/audio1.wav"/><Relationship Id="rId7"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10.png"/><Relationship Id="rId4" Type="http://schemas.openxmlformats.org/officeDocument/2006/relationships/image" Target="../media/image39.png"/><Relationship Id="rId9" Type="http://schemas.openxmlformats.org/officeDocument/2006/relationships/image" Target="../media/image44.png"/></Relationships>
</file>

<file path=ppt/slides/_rels/slide1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5.png"/><Relationship Id="rId7"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14.png"/><Relationship Id="rId9" Type="http://schemas.openxmlformats.org/officeDocument/2006/relationships/image" Target="../media/image49.png"/></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38.png"/><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74.png"/><Relationship Id="rId4" Type="http://schemas.openxmlformats.org/officeDocument/2006/relationships/image" Target="../media/image73.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82.png"/><Relationship Id="rId4" Type="http://schemas.openxmlformats.org/officeDocument/2006/relationships/image" Target="../media/image81.png"/></Relationships>
</file>

<file path=ppt/slides/_rels/slide30.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big, growing group of people carry this risk</a:t>
            </a:r>
            <a:endParaRPr lang="en-US" sz="3200" dirty="0"/>
          </a:p>
        </p:txBody>
      </p:sp>
      <p:sp>
        <p:nvSpPr>
          <p:cNvPr id="3" name="anim|1|rise|click|"/>
          <p:cNvSpPr/>
          <p:nvPr/>
        </p:nvSpPr>
        <p:spPr>
          <a:xfrm>
            <a:off x="548640" y="1417320"/>
            <a:ext cx="2606040" cy="3429000"/>
          </a:xfrm>
          <a:prstGeom prst="roundRect">
            <a:avLst>
              <a:gd name="adj" fmla="val 4211"/>
            </a:avLst>
          </a:prstGeom>
          <a:solidFill>
            <a:srgbClr val="2B2F31"/>
          </a:solidFill>
          <a:ln w="9525">
            <a:solidFill>
              <a:srgbClr val="45504C"/>
            </a:solidFill>
            <a:prstDash val="solid"/>
          </a:ln>
        </p:spPr>
      </p:sp>
      <p:sp>
        <p:nvSpPr>
          <p:cNvPr id="4" name="anim|1|rise|with|"/>
          <p:cNvSpPr txBox="1"/>
          <p:nvPr/>
        </p:nvSpPr>
        <p:spPr>
          <a:xfrm>
            <a:off x="777240"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8M+</a:t>
            </a:r>
            <a:endParaRPr lang="en-US" sz="4000" dirty="0"/>
          </a:p>
        </p:txBody>
      </p:sp>
      <p:sp>
        <p:nvSpPr>
          <p:cNvPr id="5" name="anim|1|rise|with|"/>
          <p:cNvSpPr txBox="1"/>
          <p:nvPr/>
        </p:nvSpPr>
        <p:spPr>
          <a:xfrm>
            <a:off x="777240"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Americans rely on insulin to survive</a:t>
            </a:r>
            <a:endParaRPr lang="en-US" sz="1500" dirty="0"/>
          </a:p>
        </p:txBody>
      </p:sp>
      <p:sp>
        <p:nvSpPr>
          <p:cNvPr id="6" name="anim|1|rise|with|"/>
          <p:cNvSpPr txBox="1"/>
          <p:nvPr/>
        </p:nvSpPr>
        <p:spPr>
          <a:xfrm>
            <a:off x="777240"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American Diabetes Association, Mar 2026</a:t>
            </a:r>
            <a:endParaRPr lang="en-US" sz="1100" dirty="0"/>
          </a:p>
        </p:txBody>
      </p:sp>
      <p:sp>
        <p:nvSpPr>
          <p:cNvPr id="7" name="anim|2|rise|click|"/>
          <p:cNvSpPr/>
          <p:nvPr/>
        </p:nvSpPr>
        <p:spPr>
          <a:xfrm>
            <a:off x="3364992" y="1417320"/>
            <a:ext cx="2606040" cy="3429000"/>
          </a:xfrm>
          <a:prstGeom prst="roundRect">
            <a:avLst>
              <a:gd name="adj" fmla="val 4211"/>
            </a:avLst>
          </a:prstGeom>
          <a:solidFill>
            <a:srgbClr val="2B2F31"/>
          </a:solidFill>
          <a:ln w="9525">
            <a:solidFill>
              <a:srgbClr val="45504C"/>
            </a:solidFill>
            <a:prstDash val="solid"/>
          </a:ln>
        </p:spPr>
      </p:sp>
      <p:sp>
        <p:nvSpPr>
          <p:cNvPr id="8" name="anim|2|rise|with|"/>
          <p:cNvSpPr txBox="1"/>
          <p:nvPr/>
        </p:nvSpPr>
        <p:spPr>
          <a:xfrm>
            <a:off x="3593592"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1 in 8</a:t>
            </a:r>
            <a:endParaRPr lang="en-US" sz="4000" dirty="0"/>
          </a:p>
        </p:txBody>
      </p:sp>
      <p:sp>
        <p:nvSpPr>
          <p:cNvPr id="9" name="anim|2|rise|with|"/>
          <p:cNvSpPr txBox="1"/>
          <p:nvPr/>
        </p:nvSpPr>
        <p:spPr>
          <a:xfrm>
            <a:off x="3593592"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U.S. adults currently take a GLP-1 drug</a:t>
            </a:r>
            <a:endParaRPr lang="en-US" sz="1500" dirty="0"/>
          </a:p>
        </p:txBody>
      </p:sp>
      <p:sp>
        <p:nvSpPr>
          <p:cNvPr id="10" name="anim|2|rise|with|"/>
          <p:cNvSpPr txBox="1"/>
          <p:nvPr/>
        </p:nvSpPr>
        <p:spPr>
          <a:xfrm>
            <a:off x="3593592"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KFF Health Tracking Poll, Nov 2025</a:t>
            </a:r>
            <a:endParaRPr lang="en-US" sz="1100" dirty="0"/>
          </a:p>
        </p:txBody>
      </p:sp>
      <p:sp>
        <p:nvSpPr>
          <p:cNvPr id="11" name="anim|3|rise|click|"/>
          <p:cNvSpPr/>
          <p:nvPr/>
        </p:nvSpPr>
        <p:spPr>
          <a:xfrm>
            <a:off x="6181344" y="1417320"/>
            <a:ext cx="2606040" cy="3429000"/>
          </a:xfrm>
          <a:prstGeom prst="roundRect">
            <a:avLst>
              <a:gd name="adj" fmla="val 4211"/>
            </a:avLst>
          </a:prstGeom>
          <a:solidFill>
            <a:srgbClr val="2B2F31"/>
          </a:solidFill>
          <a:ln w="9525">
            <a:solidFill>
              <a:srgbClr val="45504C"/>
            </a:solidFill>
            <a:prstDash val="solid"/>
          </a:ln>
        </p:spPr>
      </p:sp>
      <p:sp>
        <p:nvSpPr>
          <p:cNvPr id="12" name="anim|3|rise|with|"/>
          <p:cNvSpPr txBox="1"/>
          <p:nvPr/>
        </p:nvSpPr>
        <p:spPr>
          <a:xfrm>
            <a:off x="6409944"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11 h</a:t>
            </a:r>
            <a:endParaRPr lang="en-US" sz="4000" dirty="0"/>
          </a:p>
        </p:txBody>
      </p:sp>
      <p:sp>
        <p:nvSpPr>
          <p:cNvPr id="13" name="anim|3|rise|with|"/>
          <p:cNvSpPr txBox="1"/>
          <p:nvPr/>
        </p:nvSpPr>
        <p:spPr>
          <a:xfrm>
            <a:off x="6409944"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average power interruption per U.S. customer in 2024, nearly 2× the decade before</a:t>
            </a:r>
            <a:endParaRPr lang="en-US" sz="1500" dirty="0"/>
          </a:p>
        </p:txBody>
      </p:sp>
      <p:sp>
        <p:nvSpPr>
          <p:cNvPr id="14" name="anim|3|rise|with|"/>
          <p:cNvSpPr txBox="1"/>
          <p:nvPr/>
        </p:nvSpPr>
        <p:spPr>
          <a:xfrm>
            <a:off x="6409944"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U.S. EIA, Dec 2025</a:t>
            </a:r>
            <a:endParaRPr lang="en-US" sz="1100" dirty="0"/>
          </a:p>
        </p:txBody>
      </p:sp>
      <p:sp>
        <p:nvSpPr>
          <p:cNvPr id="15" name="anim|4|rise|click|"/>
          <p:cNvSpPr/>
          <p:nvPr/>
        </p:nvSpPr>
        <p:spPr>
          <a:xfrm>
            <a:off x="8997696" y="1417320"/>
            <a:ext cx="2606040" cy="3429000"/>
          </a:xfrm>
          <a:prstGeom prst="roundRect">
            <a:avLst>
              <a:gd name="adj" fmla="val 4211"/>
            </a:avLst>
          </a:prstGeom>
          <a:solidFill>
            <a:srgbClr val="2B2F31"/>
          </a:solidFill>
          <a:ln w="9525">
            <a:solidFill>
              <a:srgbClr val="45504C"/>
            </a:solidFill>
            <a:prstDash val="solid"/>
          </a:ln>
        </p:spPr>
      </p:sp>
      <p:sp>
        <p:nvSpPr>
          <p:cNvPr id="16" name="anim|4|rise|with|"/>
          <p:cNvSpPr txBox="1"/>
          <p:nvPr/>
        </p:nvSpPr>
        <p:spPr>
          <a:xfrm>
            <a:off x="9226296" y="1645920"/>
            <a:ext cx="2194560" cy="868680"/>
          </a:xfrm>
          <a:prstGeom prst="rect">
            <a:avLst/>
          </a:prstGeom>
          <a:noFill/>
          <a:ln/>
        </p:spPr>
        <p:txBody>
          <a:bodyPr wrap="square" lIns="0" tIns="0" rIns="0" bIns="0" rtlCol="0" anchor="ctr"/>
          <a:lstStyle/>
          <a:p>
            <a:pPr marL="0" indent="0">
              <a:buNone/>
            </a:pPr>
            <a:r>
              <a:rPr lang="en-US" sz="4000" b="1" dirty="0">
                <a:solidFill>
                  <a:srgbClr val="F2A541"/>
                </a:solidFill>
                <a:latin typeface="Calibri" pitchFamily="34" charset="0"/>
                <a:ea typeface="Calibri" pitchFamily="34" charset="-122"/>
                <a:cs typeface="Calibri" pitchFamily="34" charset="-120"/>
              </a:rPr>
              <a:t>48 of 48</a:t>
            </a:r>
            <a:endParaRPr lang="en-US" sz="4000" dirty="0"/>
          </a:p>
        </p:txBody>
      </p:sp>
      <p:sp>
        <p:nvSpPr>
          <p:cNvPr id="17" name="anim|4|rise|with|"/>
          <p:cNvSpPr txBox="1"/>
          <p:nvPr/>
        </p:nvSpPr>
        <p:spPr>
          <a:xfrm>
            <a:off x="9226296" y="2560320"/>
            <a:ext cx="2194560" cy="1463040"/>
          </a:xfrm>
          <a:prstGeom prst="rect">
            <a:avLst/>
          </a:prstGeom>
          <a:noFill/>
          <a:ln/>
        </p:spPr>
        <p:txBody>
          <a:bodyPr wrap="square" lIns="0" tIns="0" rIns="0" bIns="0" rtlCol="0" anchor="t"/>
          <a:lstStyle/>
          <a:p>
            <a:pPr marL="0" indent="0">
              <a:buNone/>
            </a:pPr>
            <a:r>
              <a:rPr lang="en-US" sz="1500" dirty="0">
                <a:solidFill>
                  <a:srgbClr val="F4F1EA"/>
                </a:solidFill>
                <a:latin typeface="Calibri" pitchFamily="34" charset="0"/>
                <a:ea typeface="Calibri" pitchFamily="34" charset="-122"/>
                <a:cs typeface="Calibri" pitchFamily="34" charset="-120"/>
              </a:rPr>
              <a:t>mail-order test packages left the labeled range in transit (27–54% of the time in summer)</a:t>
            </a:r>
            <a:endParaRPr lang="en-US" sz="1500" dirty="0"/>
          </a:p>
        </p:txBody>
      </p:sp>
      <p:sp>
        <p:nvSpPr>
          <p:cNvPr id="18" name="anim|4|rise|with|"/>
          <p:cNvSpPr txBox="1"/>
          <p:nvPr/>
        </p:nvSpPr>
        <p:spPr>
          <a:xfrm>
            <a:off x="9226296" y="4206240"/>
            <a:ext cx="2194560" cy="457200"/>
          </a:xfrm>
          <a:prstGeom prst="rect">
            <a:avLst/>
          </a:prstGeom>
          <a:noFill/>
          <a:ln/>
        </p:spPr>
        <p:txBody>
          <a:bodyPr wrap="square" lIns="0" tIns="0" rIns="0" bIns="0" rtlCol="0" anchor="t"/>
          <a:lstStyle/>
          <a:p>
            <a:pPr marL="0" indent="0">
              <a:buNone/>
            </a:pPr>
            <a:r>
              <a:rPr lang="en-US" sz="1100" i="1" dirty="0">
                <a:solidFill>
                  <a:srgbClr val="B9C4BF"/>
                </a:solidFill>
                <a:latin typeface="Calibri" pitchFamily="34" charset="0"/>
                <a:ea typeface="Calibri" pitchFamily="34" charset="-122"/>
                <a:cs typeface="Calibri" pitchFamily="34" charset="-120"/>
              </a:rPr>
              <a:t>ASHP Midyear 2020, Univ. of Utah</a:t>
            </a:r>
            <a:endParaRPr lang="en-US" sz="1100" dirty="0"/>
          </a:p>
        </p:txBody>
      </p:sp>
      <p:sp>
        <p:nvSpPr>
          <p:cNvPr id="19" name="anim|5|fade|click|"/>
          <p:cNvSpPr/>
          <p:nvPr/>
        </p:nvSpPr>
        <p:spPr>
          <a:xfrm>
            <a:off x="548640" y="5120640"/>
            <a:ext cx="11064240" cy="960120"/>
          </a:xfrm>
          <a:prstGeom prst="roundRect">
            <a:avLst>
              <a:gd name="adj" fmla="val 11429"/>
            </a:avLst>
          </a:prstGeom>
          <a:solidFill>
            <a:srgbClr val="23352F"/>
          </a:solidFill>
          <a:ln w="9525">
            <a:solidFill>
              <a:srgbClr val="6FA391"/>
            </a:solidFill>
            <a:prstDash val="solid"/>
          </a:ln>
        </p:spPr>
      </p:sp>
      <p:sp>
        <p:nvSpPr>
          <p:cNvPr id="20" name="anim|5|fade|with|"/>
          <p:cNvSpPr txBox="1"/>
          <p:nvPr/>
        </p:nvSpPr>
        <p:spPr>
          <a:xfrm>
            <a:off x="822960" y="5120640"/>
            <a:ext cx="10515600" cy="9601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Add biologics, migraine and bone injectables, EpiPens and glucagon: every one leaves the cold chain at the pharmacy door, and nobody tracks it after that.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37" presetClass="entr" presetSubtype="0" fill="hold"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anim calcmode="lin" valueType="num">
                                      <p:cBhvr>
                                        <p:cTn id="34" dur="500" fill="hold"/>
                                        <p:tgtEl>
                                          <p:spTgt spid="7"/>
                                        </p:tgtEl>
                                        <p:attrNameLst>
                                          <p:attrName>ppt_x</p:attrName>
                                        </p:attrNameLst>
                                      </p:cBhvr>
                                      <p:tavLst>
                                        <p:tav tm="0">
                                          <p:val>
                                            <p:strVal val="#ppt_x"/>
                                          </p:val>
                                        </p:tav>
                                        <p:tav tm="100000">
                                          <p:val>
                                            <p:strVal val="#ppt_x"/>
                                          </p:val>
                                        </p:tav>
                                      </p:tavLst>
                                    </p:anim>
                                    <p:anim calcmode="lin" valueType="num">
                                      <p:cBhvr>
                                        <p:cTn id="35" dur="450" decel="100000" fill="hold"/>
                                        <p:tgtEl>
                                          <p:spTgt spid="7"/>
                                        </p:tgtEl>
                                        <p:attrNameLst>
                                          <p:attrName>ppt_y</p:attrName>
                                        </p:attrNameLst>
                                      </p:cBhvr>
                                      <p:tavLst>
                                        <p:tav tm="0">
                                          <p:val>
                                            <p:strVal val="#ppt_y+1"/>
                                          </p:val>
                                        </p:tav>
                                        <p:tav tm="100000">
                                          <p:val>
                                            <p:strVal val="#ppt_y-.03"/>
                                          </p:val>
                                        </p:tav>
                                      </p:tavLst>
                                    </p:anim>
                                    <p:anim calcmode="lin" valueType="num">
                                      <p:cBhvr>
                                        <p:cTn id="36"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7" presetID="37" presetClass="entr" presetSubtype="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37" presetClass="entr" presetSubtype="0" fill="hold" nodeType="clickEffect">
                                  <p:stCondLst>
                                    <p:cond delay="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500"/>
                                        <p:tgtEl>
                                          <p:spTgt spid="11"/>
                                        </p:tgtEl>
                                      </p:cBhvr>
                                    </p:animEffect>
                                    <p:anim calcmode="lin" valueType="num">
                                      <p:cBhvr>
                                        <p:cTn id="60" dur="500" fill="hold"/>
                                        <p:tgtEl>
                                          <p:spTgt spid="11"/>
                                        </p:tgtEl>
                                        <p:attrNameLst>
                                          <p:attrName>ppt_x</p:attrName>
                                        </p:attrNameLst>
                                      </p:cBhvr>
                                      <p:tavLst>
                                        <p:tav tm="0">
                                          <p:val>
                                            <p:strVal val="#ppt_x"/>
                                          </p:val>
                                        </p:tav>
                                        <p:tav tm="100000">
                                          <p:val>
                                            <p:strVal val="#ppt_x"/>
                                          </p:val>
                                        </p:tav>
                                      </p:tavLst>
                                    </p:anim>
                                    <p:anim calcmode="lin" valueType="num">
                                      <p:cBhvr>
                                        <p:cTn id="61" dur="450" decel="100000" fill="hold"/>
                                        <p:tgtEl>
                                          <p:spTgt spid="11"/>
                                        </p:tgtEl>
                                        <p:attrNameLst>
                                          <p:attrName>ppt_y</p:attrName>
                                        </p:attrNameLst>
                                      </p:cBhvr>
                                      <p:tavLst>
                                        <p:tav tm="0">
                                          <p:val>
                                            <p:strVal val="#ppt_y+1"/>
                                          </p:val>
                                        </p:tav>
                                        <p:tav tm="100000">
                                          <p:val>
                                            <p:strVal val="#ppt_y-.03"/>
                                          </p:val>
                                        </p:tav>
                                      </p:tavLst>
                                    </p:anim>
                                    <p:anim calcmode="lin" valueType="num">
                                      <p:cBhvr>
                                        <p:cTn id="62"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3" presetID="37" presetClass="entr" presetSubtype="0" fill="hold" grpId="0" nodeType="withEffect">
                                  <p:stCondLst>
                                    <p:cond delay="0"/>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500"/>
                                        <p:tgtEl>
                                          <p:spTgt spid="12"/>
                                        </p:tgtEl>
                                      </p:cBhvr>
                                    </p:animEffect>
                                    <p:anim calcmode="lin" valueType="num">
                                      <p:cBhvr>
                                        <p:cTn id="66" dur="500" fill="hold"/>
                                        <p:tgtEl>
                                          <p:spTgt spid="12"/>
                                        </p:tgtEl>
                                        <p:attrNameLst>
                                          <p:attrName>ppt_x</p:attrName>
                                        </p:attrNameLst>
                                      </p:cBhvr>
                                      <p:tavLst>
                                        <p:tav tm="0">
                                          <p:val>
                                            <p:strVal val="#ppt_x"/>
                                          </p:val>
                                        </p:tav>
                                        <p:tav tm="100000">
                                          <p:val>
                                            <p:strVal val="#ppt_x"/>
                                          </p:val>
                                        </p:tav>
                                      </p:tavLst>
                                    </p:anim>
                                    <p:anim calcmode="lin" valueType="num">
                                      <p:cBhvr>
                                        <p:cTn id="67" dur="450" decel="100000" fill="hold"/>
                                        <p:tgtEl>
                                          <p:spTgt spid="12"/>
                                        </p:tgtEl>
                                        <p:attrNameLst>
                                          <p:attrName>ppt_y</p:attrName>
                                        </p:attrNameLst>
                                      </p:cBhvr>
                                      <p:tavLst>
                                        <p:tav tm="0">
                                          <p:val>
                                            <p:strVal val="#ppt_y+1"/>
                                          </p:val>
                                        </p:tav>
                                        <p:tav tm="100000">
                                          <p:val>
                                            <p:strVal val="#ppt_y-.03"/>
                                          </p:val>
                                        </p:tav>
                                      </p:tavLst>
                                    </p:anim>
                                    <p:anim calcmode="lin" valueType="num">
                                      <p:cBhvr>
                                        <p:cTn id="68"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9" presetID="37" presetClass="entr" presetSubtype="0" fill="hold" grpId="0" nodeType="with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37" presetClass="entr" presetSubtype="0" fill="hold" nodeType="clickEffect">
                                  <p:stCondLst>
                                    <p:cond delay="0"/>
                                  </p:stCondLst>
                                  <p:childTnLst>
                                    <p:set>
                                      <p:cBhvr>
                                        <p:cTn id="84" dur="1" fill="hold">
                                          <p:stCondLst>
                                            <p:cond delay="0"/>
                                          </p:stCondLst>
                                        </p:cTn>
                                        <p:tgtEl>
                                          <p:spTgt spid="15"/>
                                        </p:tgtEl>
                                        <p:attrNameLst>
                                          <p:attrName>style.visibility</p:attrName>
                                        </p:attrNameLst>
                                      </p:cBhvr>
                                      <p:to>
                                        <p:strVal val="visible"/>
                                      </p:to>
                                    </p:set>
                                    <p:animEffect transition="in" filter="fade">
                                      <p:cBhvr>
                                        <p:cTn id="85" dur="500"/>
                                        <p:tgtEl>
                                          <p:spTgt spid="15"/>
                                        </p:tgtEl>
                                      </p:cBhvr>
                                    </p:animEffect>
                                    <p:anim calcmode="lin" valueType="num">
                                      <p:cBhvr>
                                        <p:cTn id="86" dur="500" fill="hold"/>
                                        <p:tgtEl>
                                          <p:spTgt spid="15"/>
                                        </p:tgtEl>
                                        <p:attrNameLst>
                                          <p:attrName>ppt_x</p:attrName>
                                        </p:attrNameLst>
                                      </p:cBhvr>
                                      <p:tavLst>
                                        <p:tav tm="0">
                                          <p:val>
                                            <p:strVal val="#ppt_x"/>
                                          </p:val>
                                        </p:tav>
                                        <p:tav tm="100000">
                                          <p:val>
                                            <p:strVal val="#ppt_x"/>
                                          </p:val>
                                        </p:tav>
                                      </p:tavLst>
                                    </p:anim>
                                    <p:anim calcmode="lin" valueType="num">
                                      <p:cBhvr>
                                        <p:cTn id="87" dur="450" decel="100000" fill="hold"/>
                                        <p:tgtEl>
                                          <p:spTgt spid="15"/>
                                        </p:tgtEl>
                                        <p:attrNameLst>
                                          <p:attrName>ppt_y</p:attrName>
                                        </p:attrNameLst>
                                      </p:cBhvr>
                                      <p:tavLst>
                                        <p:tav tm="0">
                                          <p:val>
                                            <p:strVal val="#ppt_y+1"/>
                                          </p:val>
                                        </p:tav>
                                        <p:tav tm="100000">
                                          <p:val>
                                            <p:strVal val="#ppt_y-.03"/>
                                          </p:val>
                                        </p:tav>
                                      </p:tavLst>
                                    </p:anim>
                                    <p:anim calcmode="lin" valueType="num">
                                      <p:cBhvr>
                                        <p:cTn id="88"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9" presetID="37" presetClass="entr" presetSubtype="0"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fade">
                                      <p:cBhvr>
                                        <p:cTn id="91" dur="500"/>
                                        <p:tgtEl>
                                          <p:spTgt spid="16"/>
                                        </p:tgtEl>
                                      </p:cBhvr>
                                    </p:animEffect>
                                    <p:anim calcmode="lin" valueType="num">
                                      <p:cBhvr>
                                        <p:cTn id="92" dur="500" fill="hold"/>
                                        <p:tgtEl>
                                          <p:spTgt spid="16"/>
                                        </p:tgtEl>
                                        <p:attrNameLst>
                                          <p:attrName>ppt_x</p:attrName>
                                        </p:attrNameLst>
                                      </p:cBhvr>
                                      <p:tavLst>
                                        <p:tav tm="0">
                                          <p:val>
                                            <p:strVal val="#ppt_x"/>
                                          </p:val>
                                        </p:tav>
                                        <p:tav tm="100000">
                                          <p:val>
                                            <p:strVal val="#ppt_x"/>
                                          </p:val>
                                        </p:tav>
                                      </p:tavLst>
                                    </p:anim>
                                    <p:anim calcmode="lin" valueType="num">
                                      <p:cBhvr>
                                        <p:cTn id="93" dur="450" decel="100000" fill="hold"/>
                                        <p:tgtEl>
                                          <p:spTgt spid="16"/>
                                        </p:tgtEl>
                                        <p:attrNameLst>
                                          <p:attrName>ppt_y</p:attrName>
                                        </p:attrNameLst>
                                      </p:cBhvr>
                                      <p:tavLst>
                                        <p:tav tm="0">
                                          <p:val>
                                            <p:strVal val="#ppt_y+1"/>
                                          </p:val>
                                        </p:tav>
                                        <p:tav tm="100000">
                                          <p:val>
                                            <p:strVal val="#ppt_y-.03"/>
                                          </p:val>
                                        </p:tav>
                                      </p:tavLst>
                                    </p:anim>
                                    <p:anim calcmode="lin" valueType="num">
                                      <p:cBhvr>
                                        <p:cTn id="94"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5" presetID="37" presetClass="entr" presetSubtype="0" fill="hold" grpId="0" nodeType="withEffect">
                                  <p:stCondLst>
                                    <p:cond delay="0"/>
                                  </p:stCondLst>
                                  <p:childTnLst>
                                    <p:set>
                                      <p:cBhvr>
                                        <p:cTn id="96"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450" decel="100000" fill="hold"/>
                                        <p:tgtEl>
                                          <p:spTgt spid="17"/>
                                        </p:tgtEl>
                                        <p:attrNameLst>
                                          <p:attrName>ppt_y</p:attrName>
                                        </p:attrNameLst>
                                      </p:cBhvr>
                                      <p:tavLst>
                                        <p:tav tm="0">
                                          <p:val>
                                            <p:strVal val="#ppt_y+1"/>
                                          </p:val>
                                        </p:tav>
                                        <p:tav tm="100000">
                                          <p:val>
                                            <p:strVal val="#ppt_y-.03"/>
                                          </p:val>
                                        </p:tav>
                                      </p:tavLst>
                                    </p:anim>
                                    <p:anim calcmode="lin" valueType="num">
                                      <p:cBhvr>
                                        <p:cTn id="100"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101" presetID="37" presetClass="entr" presetSubtype="0" fill="hold" grpId="0" nodeType="with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500"/>
                                        <p:tgtEl>
                                          <p:spTgt spid="1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0"/>
                                        </p:tgtEl>
                                        <p:attrNameLst>
                                          <p:attrName>style.visibility</p:attrName>
                                        </p:attrNameLst>
                                      </p:cBhvr>
                                      <p:to>
                                        <p:strVal val="visible"/>
                                      </p:to>
                                    </p:set>
                                    <p:animEffect transition="in" filter="fade">
                                      <p:cBhvr>
                                        <p:cTn id="114"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P spid="18"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24 real medicines, checked against their FDA labels</a:t>
            </a:r>
            <a:endParaRPr lang="en-US" sz="3200" dirty="0"/>
          </a:p>
        </p:txBody>
      </p:sp>
      <p:graphicFrame>
        <p:nvGraphicFramePr>
          <p:cNvPr id="7"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the fridge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Insulins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Lantus, NovoLog, Tresiba, Humalog, Toujeo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28 days (Tresiba, Toujeo 56)</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GLP-1 / GIP</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Mounjaro, Zepbound, Ozempic, Wegovy, Trulicity, Victoza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≤30°C · 14–56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Biologics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Enbrel, Humira, Dupixent, Stelara</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14–30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Heart, migraine, bone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Repatha, Praluent, Aimovig, Emgality, Prolia, Forteo</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≤25–30°C · 7–30 days; Forteo: none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Emergency</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EpiPen, Gvoke glucagon</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room temp; 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Eye drops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Xalatan, opened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 6 weeks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Every quote is tested word-for-word against the saved label text, and every allowance's °C and days against its own quote. A script re-checks all 24 labels live (openFDA, DailyMed).</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3" name="anim|3|wipe|click|"/>
          <p:cNvSpPr/>
          <p:nvPr/>
        </p:nvSpPr>
        <p:spPr>
          <a:xfrm>
            <a:off x="8183880" y="2240280"/>
            <a:ext cx="640080" cy="640080"/>
          </a:xfrm>
          <a:prstGeom prst="ellipse">
            <a:avLst/>
          </a:prstGeom>
          <a:solidFill>
            <a:srgbClr val="3A3458"/>
          </a:solidFill>
          <a:ln/>
        </p:spPr>
      </p:sp>
      <p:pic>
        <p:nvPicPr>
          <p:cNvPr id="8"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Checked, then 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Quotes not found in the label are flagged before tracking</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wipe(left)">
                                      <p:cBhvr>
                                        <p:cTn id="23" dur="500"/>
                                        <p:tgtEl>
                                          <p:spTgt spid="3"/>
                                        </p:tgtEl>
                                      </p:cBhvr>
                                    </p:animEffect>
                                  </p:childTnLst>
                                </p:cTn>
                              </p:par>
                              <p:par>
                                <p:cTn id="24" presetID="22" presetClass="entr" presetSubtype="8"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left)">
                                      <p:cBhvr>
                                        <p:cTn id="26" dur="500"/>
                                        <p:tgtEl>
                                          <p:spTgt spid="8"/>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3"/>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Demo storm shown here; the next slide is the live DTE feed.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Private by design, checked by a pharmacist</a:t>
            </a:r>
            <a:endParaRPr lang="en-US" sz="3200" dirty="0"/>
          </a:p>
        </p:txBody>
      </p:sp>
      <p:sp>
        <p:nvSpPr>
          <p:cNvPr id="3" name="anim|1|fade|after|"/>
          <p:cNvSpPr/>
          <p:nvPr/>
        </p:nvSpPr>
        <p:spPr>
          <a:xfrm>
            <a:off x="493776" y="1316736"/>
            <a:ext cx="5961888" cy="3264408"/>
          </a:xfrm>
          <a:prstGeom prst="roundRect">
            <a:avLst>
              <a:gd name="adj" fmla="val 336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view.png"/>
          <p:cNvPicPr>
            <a:picLocks noChangeAspect="1"/>
          </p:cNvPicPr>
          <p:nvPr/>
        </p:nvPicPr>
        <p:blipFill>
          <a:blip r:embed="rId3"/>
          <a:stretch>
            <a:fillRect/>
          </a:stretch>
        </p:blipFill>
        <p:spPr>
          <a:xfrm>
            <a:off x="548640" y="1371600"/>
            <a:ext cx="5852160" cy="3154680"/>
          </a:xfrm>
          <a:prstGeom prst="rect">
            <a:avLst/>
          </a:prstGeom>
        </p:spPr>
      </p:pic>
      <p:sp>
        <p:nvSpPr>
          <p:cNvPr id="5" name="anim|2|wipe|click|"/>
          <p:cNvSpPr/>
          <p:nvPr/>
        </p:nvSpPr>
        <p:spPr>
          <a:xfrm>
            <a:off x="676656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899331" y="1550091"/>
            <a:ext cx="337962" cy="337962"/>
          </a:xfrm>
          <a:prstGeom prst="rect">
            <a:avLst/>
          </a:prstGeom>
        </p:spPr>
      </p:pic>
      <p:sp>
        <p:nvSpPr>
          <p:cNvPr id="7" name="anim|2|wipe|with|"/>
          <p:cNvSpPr txBox="1"/>
          <p:nvPr/>
        </p:nvSpPr>
        <p:spPr>
          <a:xfrm>
            <a:off x="7498080" y="1399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Your data, enforced by Postgres</a:t>
            </a:r>
            <a:endParaRPr lang="en-US" sz="1650" dirty="0"/>
          </a:p>
        </p:txBody>
      </p:sp>
      <p:sp>
        <p:nvSpPr>
          <p:cNvPr id="8" name="anim|2|wipe|with|"/>
          <p:cNvSpPr txBox="1"/>
          <p:nvPr/>
        </p:nvSpPr>
        <p:spPr>
          <a:xfrm>
            <a:off x="7498080" y="1764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each signed-in person's queries only ever return their own medicines, doses and receipts</a:t>
            </a:r>
            <a:endParaRPr lang="en-US" sz="1300" dirty="0"/>
          </a:p>
        </p:txBody>
      </p:sp>
      <p:sp>
        <p:nvSpPr>
          <p:cNvPr id="9" name="anim|3|wipe|click|"/>
          <p:cNvSpPr/>
          <p:nvPr/>
        </p:nvSpPr>
        <p:spPr>
          <a:xfrm>
            <a:off x="6766560" y="2560320"/>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899331" y="2693091"/>
            <a:ext cx="337962" cy="337962"/>
          </a:xfrm>
          <a:prstGeom prst="rect">
            <a:avLst/>
          </a:prstGeom>
        </p:spPr>
      </p:pic>
      <p:sp>
        <p:nvSpPr>
          <p:cNvPr id="11" name="anim|3|wipe|with|"/>
          <p:cNvSpPr txBox="1"/>
          <p:nvPr/>
        </p:nvSpPr>
        <p:spPr>
          <a:xfrm>
            <a:off x="7498080" y="2542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Pharmacist sign-off</a:t>
            </a:r>
            <a:endParaRPr lang="en-US" sz="1650" dirty="0"/>
          </a:p>
        </p:txBody>
      </p:sp>
      <p:sp>
        <p:nvSpPr>
          <p:cNvPr id="12" name="anim|3|wipe|with|"/>
          <p:cNvSpPr txBox="1"/>
          <p:nvPr/>
        </p:nvSpPr>
        <p:spPr>
          <a:xfrm>
            <a:off x="7498080" y="2907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Rules and the exact care-checklist wording are approved before patients see "reviewed"</a:t>
            </a:r>
            <a:endParaRPr lang="en-US" sz="1300" dirty="0"/>
          </a:p>
        </p:txBody>
      </p:sp>
      <p:sp>
        <p:nvSpPr>
          <p:cNvPr id="13" name="anim|4|wipe|click|"/>
          <p:cNvSpPr/>
          <p:nvPr/>
        </p:nvSpPr>
        <p:spPr>
          <a:xfrm>
            <a:off x="6766560" y="3703320"/>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899331" y="3836091"/>
            <a:ext cx="337962" cy="337962"/>
          </a:xfrm>
          <a:prstGeom prst="rect">
            <a:avLst/>
          </a:prstGeom>
        </p:spPr>
      </p:pic>
      <p:sp>
        <p:nvSpPr>
          <p:cNvPr id="15" name="anim|4|wipe|with|"/>
          <p:cNvSpPr txBox="1"/>
          <p:nvPr/>
        </p:nvSpPr>
        <p:spPr>
          <a:xfrm>
            <a:off x="7498080" y="3685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Evidence replaces assumptions</a:t>
            </a:r>
            <a:endParaRPr lang="en-US" sz="1650" dirty="0"/>
          </a:p>
        </p:txBody>
      </p:sp>
      <p:sp>
        <p:nvSpPr>
          <p:cNvPr id="16" name="anim|4|wipe|with|"/>
          <p:cNvSpPr txBox="1"/>
          <p:nvPr/>
        </p:nvSpPr>
        <p:spPr>
          <a:xfrm>
            <a:off x="7498080" y="4050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Cited studies for EpiPen, Lantus, NovoLog and Humalog, e.g. EpiPen 8 h → 10,752 h (Grant 1994)</a:t>
            </a:r>
            <a:endParaRPr lang="en-US" sz="1300" dirty="0"/>
          </a:p>
        </p:txBody>
      </p:sp>
      <p:sp>
        <p:nvSpPr>
          <p:cNvPr id="17" name="anim|5|wipe|click|"/>
          <p:cNvSpPr/>
          <p:nvPr/>
        </p:nvSpPr>
        <p:spPr>
          <a:xfrm>
            <a:off x="6766560" y="4846320"/>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899331" y="4979091"/>
            <a:ext cx="337962" cy="337962"/>
          </a:xfrm>
          <a:prstGeom prst="rect">
            <a:avLst/>
          </a:prstGeom>
        </p:spPr>
      </p:pic>
      <p:sp>
        <p:nvSpPr>
          <p:cNvPr id="19" name="anim|5|wipe|with|"/>
          <p:cNvSpPr txBox="1"/>
          <p:nvPr/>
        </p:nvSpPr>
        <p:spPr>
          <a:xfrm>
            <a:off x="7498080" y="4828032"/>
            <a:ext cx="420624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Approve → history recalculated</a:t>
            </a:r>
            <a:endParaRPr lang="en-US" sz="1650" dirty="0"/>
          </a:p>
        </p:txBody>
      </p:sp>
      <p:sp>
        <p:nvSpPr>
          <p:cNvPr id="20" name="anim|5|wipe|with|"/>
          <p:cNvSpPr txBox="1"/>
          <p:nvPr/>
        </p:nvSpPr>
        <p:spPr>
          <a:xfrm>
            <a:off x="7498080" y="5193792"/>
            <a:ext cx="4206240" cy="7315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Tiger Data refreshes every rollup; every decision is logged and shown on receipts</a:t>
            </a:r>
            <a:endParaRPr lang="en-US" sz="1300" dirty="0"/>
          </a:p>
        </p:txBody>
      </p:sp>
      <p:sp>
        <p:nvSpPr>
          <p:cNvPr id="21" name="anim|6|fade|click|"/>
          <p:cNvSpPr/>
          <p:nvPr/>
        </p:nvSpPr>
        <p:spPr>
          <a:xfrm>
            <a:off x="548640" y="4846320"/>
            <a:ext cx="5852160" cy="1234440"/>
          </a:xfrm>
          <a:prstGeom prst="roundRect">
            <a:avLst>
              <a:gd name="adj" fmla="val 8889"/>
            </a:avLst>
          </a:prstGeom>
          <a:solidFill>
            <a:srgbClr val="23352F"/>
          </a:solidFill>
          <a:ln w="9525">
            <a:solidFill>
              <a:srgbClr val="6FA391"/>
            </a:solidFill>
            <a:prstDash val="solid"/>
          </a:ln>
        </p:spPr>
      </p:sp>
      <p:sp>
        <p:nvSpPr>
          <p:cNvPr id="22" name="anim|6|fade|with|"/>
          <p:cNvSpPr txBox="1"/>
          <p:nvPr/>
        </p:nvSpPr>
        <p:spPr>
          <a:xfrm>
            <a:off x="777240" y="4846320"/>
            <a:ext cx="5440680" cy="123444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No number changes until a pharmacist approves it, and every derivation is shown, including our doubling-per-10°C rule.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Reaching people who don't watch an app</a:t>
            </a:r>
            <a:endParaRPr lang="en-US" sz="3200" dirty="0"/>
          </a:p>
        </p:txBody>
      </p:sp>
      <p:sp>
        <p:nvSpPr>
          <p:cNvPr id="3" name="anim|1|fade|after|"/>
          <p:cNvSpPr/>
          <p:nvPr/>
        </p:nvSpPr>
        <p:spPr>
          <a:xfrm>
            <a:off x="493776" y="1316736"/>
            <a:ext cx="4956048" cy="4032504"/>
          </a:xfrm>
          <a:prstGeom prst="roundRect">
            <a:avLst>
              <a:gd name="adj" fmla="val 2721"/>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settings.png"/>
          <p:cNvPicPr>
            <a:picLocks noChangeAspect="1"/>
          </p:cNvPicPr>
          <p:nvPr/>
        </p:nvPicPr>
        <p:blipFill>
          <a:blip r:embed="rId3"/>
          <a:stretch>
            <a:fillRect/>
          </a:stretch>
        </p:blipFill>
        <p:spPr>
          <a:xfrm>
            <a:off x="548640" y="1371600"/>
            <a:ext cx="4846320" cy="3922776"/>
          </a:xfrm>
          <a:prstGeom prst="rect">
            <a:avLst/>
          </a:prstGeom>
        </p:spPr>
      </p:pic>
      <p:sp>
        <p:nvSpPr>
          <p:cNvPr id="5" name="anim|2|rise|click|"/>
          <p:cNvSpPr/>
          <p:nvPr/>
        </p:nvSpPr>
        <p:spPr>
          <a:xfrm>
            <a:off x="493776" y="5431536"/>
            <a:ext cx="4956048" cy="768096"/>
          </a:xfrm>
          <a:prstGeom prst="roundRect">
            <a:avLst>
              <a:gd name="adj" fmla="val 1428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coming.png"/>
          <p:cNvPicPr>
            <a:picLocks noChangeAspect="1"/>
          </p:cNvPicPr>
          <p:nvPr/>
        </p:nvPicPr>
        <p:blipFill>
          <a:blip r:embed="rId4"/>
          <a:stretch>
            <a:fillRect/>
          </a:stretch>
        </p:blipFill>
        <p:spPr>
          <a:xfrm>
            <a:off x="548640" y="5486400"/>
            <a:ext cx="4846320" cy="658368"/>
          </a:xfrm>
          <a:prstGeom prst="rect">
            <a:avLst/>
          </a:prstGeom>
        </p:spPr>
      </p:pic>
      <p:sp>
        <p:nvSpPr>
          <p:cNvPr id="7" name="anim|3|wipe|click|"/>
          <p:cNvSpPr/>
          <p:nvPr/>
        </p:nvSpPr>
        <p:spPr>
          <a:xfrm>
            <a:off x="5760720" y="1417320"/>
            <a:ext cx="603504" cy="603504"/>
          </a:xfrm>
          <a:prstGeom prst="ellipse">
            <a:avLst/>
          </a:prstGeom>
          <a:solidFill>
            <a:srgbClr val="343A3C"/>
          </a:solidFill>
          <a:ln/>
        </p:spPr>
      </p:sp>
      <p:pic>
        <p:nvPicPr>
          <p:cNvPr id="8" name="anim|3|wipe|click|" descr="preencoded.png"/>
          <p:cNvPicPr>
            <a:picLocks noChangeAspect="1"/>
          </p:cNvPicPr>
          <p:nvPr/>
        </p:nvPicPr>
        <p:blipFill>
          <a:blip r:embed="rId5"/>
          <a:stretch>
            <a:fillRect/>
          </a:stretch>
        </p:blipFill>
        <p:spPr>
          <a:xfrm>
            <a:off x="5893491" y="1550091"/>
            <a:ext cx="337962" cy="337962"/>
          </a:xfrm>
          <a:prstGeom prst="rect">
            <a:avLst/>
          </a:prstGeom>
        </p:spPr>
      </p:pic>
      <p:sp>
        <p:nvSpPr>
          <p:cNvPr id="9" name="anim|3|wipe|with|"/>
          <p:cNvSpPr txBox="1"/>
          <p:nvPr/>
        </p:nvSpPr>
        <p:spPr>
          <a:xfrm>
            <a:off x="649224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Texts and phone calls</a:t>
            </a:r>
            <a:endParaRPr lang="en-US" sz="1700" dirty="0"/>
          </a:p>
        </p:txBody>
      </p:sp>
      <p:sp>
        <p:nvSpPr>
          <p:cNvPr id="10" name="anim|3|wipe|with|"/>
          <p:cNvSpPr txBox="1"/>
          <p:nvPr/>
        </p:nvSpPr>
        <p:spPr>
          <a:xfrm>
            <a:off x="6492240" y="1783080"/>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Critical alerts by text, or a call that reads them aloud: for a flip phone or a caregiver</a:t>
            </a:r>
            <a:endParaRPr lang="en-US" sz="1350" dirty="0"/>
          </a:p>
        </p:txBody>
      </p:sp>
      <p:sp>
        <p:nvSpPr>
          <p:cNvPr id="11" name="anim|4|wipe|click|"/>
          <p:cNvSpPr/>
          <p:nvPr/>
        </p:nvSpPr>
        <p:spPr>
          <a:xfrm>
            <a:off x="5760720" y="2587752"/>
            <a:ext cx="603504" cy="603504"/>
          </a:xfrm>
          <a:prstGeom prst="ellipse">
            <a:avLst/>
          </a:prstGeom>
          <a:solidFill>
            <a:srgbClr val="343A3C"/>
          </a:solidFill>
          <a:ln/>
        </p:spPr>
      </p:sp>
      <p:pic>
        <p:nvPicPr>
          <p:cNvPr id="12" name="anim|4|wipe|click|" descr="preencoded.png"/>
          <p:cNvPicPr>
            <a:picLocks noChangeAspect="1"/>
          </p:cNvPicPr>
          <p:nvPr/>
        </p:nvPicPr>
        <p:blipFill>
          <a:blip r:embed="rId6"/>
          <a:stretch>
            <a:fillRect/>
          </a:stretch>
        </p:blipFill>
        <p:spPr>
          <a:xfrm>
            <a:off x="5893491" y="2720523"/>
            <a:ext cx="337962" cy="337962"/>
          </a:xfrm>
          <a:prstGeom prst="rect">
            <a:avLst/>
          </a:prstGeom>
        </p:spPr>
      </p:pic>
      <p:sp>
        <p:nvSpPr>
          <p:cNvPr id="13" name="anim|4|wipe|with|"/>
          <p:cNvSpPr txBox="1"/>
          <p:nvPr/>
        </p:nvSpPr>
        <p:spPr>
          <a:xfrm>
            <a:off x="6492240" y="2569464"/>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Refill reminders</a:t>
            </a:r>
            <a:endParaRPr lang="en-US" sz="1700" dirty="0"/>
          </a:p>
        </p:txBody>
      </p:sp>
      <p:sp>
        <p:nvSpPr>
          <p:cNvPr id="14" name="anim|4|wipe|with|"/>
          <p:cNvSpPr txBox="1"/>
          <p:nvPr/>
        </p:nvSpPr>
        <p:spPr>
          <a:xfrm>
            <a:off x="6492240" y="2953512"/>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7, 3 and 1 days before a use-by date, with a refill letter drafted in one click</a:t>
            </a:r>
            <a:endParaRPr lang="en-US" sz="1350" dirty="0"/>
          </a:p>
        </p:txBody>
      </p:sp>
      <p:sp>
        <p:nvSpPr>
          <p:cNvPr id="15" name="anim|5|wipe|click|"/>
          <p:cNvSpPr/>
          <p:nvPr/>
        </p:nvSpPr>
        <p:spPr>
          <a:xfrm>
            <a:off x="5760720" y="3758184"/>
            <a:ext cx="603504" cy="603504"/>
          </a:xfrm>
          <a:prstGeom prst="ellipse">
            <a:avLst/>
          </a:prstGeom>
          <a:solidFill>
            <a:srgbClr val="343A3C"/>
          </a:solidFill>
          <a:ln/>
        </p:spPr>
      </p:sp>
      <p:pic>
        <p:nvPicPr>
          <p:cNvPr id="16" name="anim|5|wipe|click|" descr="preencoded.png"/>
          <p:cNvPicPr>
            <a:picLocks noChangeAspect="1"/>
          </p:cNvPicPr>
          <p:nvPr/>
        </p:nvPicPr>
        <p:blipFill>
          <a:blip r:embed="rId7"/>
          <a:stretch>
            <a:fillRect/>
          </a:stretch>
        </p:blipFill>
        <p:spPr>
          <a:xfrm>
            <a:off x="5893491" y="3890955"/>
            <a:ext cx="337962" cy="337962"/>
          </a:xfrm>
          <a:prstGeom prst="rect">
            <a:avLst/>
          </a:prstGeom>
        </p:spPr>
      </p:pic>
      <p:sp>
        <p:nvSpPr>
          <p:cNvPr id="17" name="anim|5|wipe|with|"/>
          <p:cNvSpPr txBox="1"/>
          <p:nvPr/>
        </p:nvSpPr>
        <p:spPr>
          <a:xfrm>
            <a:off x="6492240" y="3739896"/>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People I care for</a:t>
            </a:r>
            <a:endParaRPr lang="en-US" sz="1700" dirty="0"/>
          </a:p>
        </p:txBody>
      </p:sp>
      <p:sp>
        <p:nvSpPr>
          <p:cNvPr id="18" name="anim|5|wipe|with|"/>
          <p:cNvSpPr txBox="1"/>
          <p:nvPr/>
        </p:nvSpPr>
        <p:spPr>
          <a:xfrm>
            <a:off x="6492240" y="4123944"/>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caregiver sees each person's medicines and alerts next to their own</a:t>
            </a:r>
            <a:endParaRPr lang="en-US" sz="1350" dirty="0"/>
          </a:p>
        </p:txBody>
      </p:sp>
      <p:sp>
        <p:nvSpPr>
          <p:cNvPr id="19" name="anim|6|wipe|click|"/>
          <p:cNvSpPr/>
          <p:nvPr/>
        </p:nvSpPr>
        <p:spPr>
          <a:xfrm>
            <a:off x="5760720" y="4928616"/>
            <a:ext cx="603504" cy="603504"/>
          </a:xfrm>
          <a:prstGeom prst="ellipse">
            <a:avLst/>
          </a:prstGeom>
          <a:solidFill>
            <a:srgbClr val="343A3C"/>
          </a:solidFill>
          <a:ln/>
        </p:spPr>
      </p:sp>
      <p:pic>
        <p:nvPicPr>
          <p:cNvPr id="20" name="anim|6|wipe|click|" descr="preencoded.png"/>
          <p:cNvPicPr>
            <a:picLocks noChangeAspect="1"/>
          </p:cNvPicPr>
          <p:nvPr/>
        </p:nvPicPr>
        <p:blipFill>
          <a:blip r:embed="rId8"/>
          <a:stretch>
            <a:fillRect/>
          </a:stretch>
        </p:blipFill>
        <p:spPr>
          <a:xfrm>
            <a:off x="5893491" y="5061387"/>
            <a:ext cx="337962" cy="337962"/>
          </a:xfrm>
          <a:prstGeom prst="rect">
            <a:avLst/>
          </a:prstGeom>
        </p:spPr>
      </p:pic>
      <p:sp>
        <p:nvSpPr>
          <p:cNvPr id="21" name="anim|6|wipe|with|"/>
          <p:cNvSpPr txBox="1"/>
          <p:nvPr/>
        </p:nvSpPr>
        <p:spPr>
          <a:xfrm>
            <a:off x="6492240" y="4910328"/>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"My power is out"</a:t>
            </a:r>
            <a:endParaRPr lang="en-US" sz="1700" dirty="0"/>
          </a:p>
        </p:txBody>
      </p:sp>
      <p:sp>
        <p:nvSpPr>
          <p:cNvPr id="22" name="anim|6|wipe|with|"/>
          <p:cNvSpPr txBox="1"/>
          <p:nvPr/>
        </p:nvSpPr>
        <p:spPr>
          <a:xfrm>
            <a:off x="6492240" y="5294376"/>
            <a:ext cx="5212080" cy="68580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One tap turns a ZIP-level utility report into a plan for your own fridge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2" dur="500"/>
                                        <p:tgtEl>
                                          <p:spTgt spid="19"/>
                                        </p:tgtEl>
                                      </p:cBhvr>
                                    </p:animEffect>
                                  </p:childTnLst>
                                </p:cTn>
                              </p:par>
                              <p:par>
                                <p:cTn id="73" presetID="22" presetClass="entr" presetSubtype="8" fill="hold"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5" dur="500"/>
                                        <p:tgtEl>
                                          <p:spTgt spid="20"/>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wipe(left)">
                                      <p:cBhvr>
                                        <p:cTn id="78" dur="500"/>
                                        <p:tgtEl>
                                          <p:spTgt spid="21"/>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left)">
                                      <p:cBhvr>
                                        <p:cTn id="8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pays, and why</a:t>
            </a:r>
            <a:endParaRPr lang="en-US" sz="3200" dirty="0"/>
          </a:p>
        </p:txBody>
      </p:sp>
      <p:sp>
        <p:nvSpPr>
          <p:cNvPr id="3" name="anim|1|rise|click|"/>
          <p:cNvSpPr/>
          <p:nvPr/>
        </p:nvSpPr>
        <p:spPr>
          <a:xfrm>
            <a:off x="548640" y="1417320"/>
            <a:ext cx="2606040" cy="365760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777240" y="1645920"/>
            <a:ext cx="640080" cy="64008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18058" y="1786738"/>
            <a:ext cx="358445" cy="358445"/>
          </a:xfrm>
          <a:prstGeom prst="rect">
            <a:avLst/>
          </a:prstGeom>
        </p:spPr>
      </p:pic>
      <p:sp>
        <p:nvSpPr>
          <p:cNvPr id="6" name="anim|1|rise|with|"/>
          <p:cNvSpPr txBox="1"/>
          <p:nvPr/>
        </p:nvSpPr>
        <p:spPr>
          <a:xfrm>
            <a:off x="777240"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Patients and caregivers</a:t>
            </a:r>
            <a:endParaRPr lang="en-US" sz="1600" dirty="0"/>
          </a:p>
        </p:txBody>
      </p:sp>
      <p:sp>
        <p:nvSpPr>
          <p:cNvPr id="7" name="anim|1|rise|with|"/>
          <p:cNvSpPr txBox="1"/>
          <p:nvPr/>
        </p:nvSpPr>
        <p:spPr>
          <a:xfrm>
            <a:off x="777240" y="3063240"/>
            <a:ext cx="2194560" cy="457200"/>
          </a:xfrm>
          <a:prstGeom prst="rect">
            <a:avLst/>
          </a:prstGeom>
          <a:noFill/>
          <a:ln/>
        </p:spPr>
        <p:txBody>
          <a:bodyPr wrap="square" lIns="0" tIns="0" rIns="0" bIns="0" rtlCol="0" anchor="t"/>
          <a:lstStyle/>
          <a:p>
            <a:pPr marL="0" indent="0">
              <a:buNone/>
            </a:pPr>
            <a:r>
              <a:rPr lang="en-US" sz="1400" b="1" dirty="0">
                <a:solidFill>
                  <a:srgbClr val="A8D5C2"/>
                </a:solidFill>
                <a:latin typeface="Calibri" pitchFamily="34" charset="0"/>
                <a:ea typeface="Calibri" pitchFamily="34" charset="-122"/>
                <a:cs typeface="Calibri" pitchFamily="34" charset="-120"/>
              </a:rPr>
              <a:t>Free</a:t>
            </a:r>
            <a:endParaRPr lang="en-US" sz="1400" dirty="0"/>
          </a:p>
        </p:txBody>
      </p:sp>
      <p:sp>
        <p:nvSpPr>
          <p:cNvPr id="8" name="anim|1|rise|with|"/>
          <p:cNvSpPr txBox="1"/>
          <p:nvPr/>
        </p:nvSpPr>
        <p:spPr>
          <a:xfrm>
            <a:off x="777240"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The app, reminders, caregiver view and texts. They bring the data and the network.</a:t>
            </a:r>
            <a:endParaRPr lang="en-US" sz="1250" dirty="0"/>
          </a:p>
        </p:txBody>
      </p:sp>
      <p:sp>
        <p:nvSpPr>
          <p:cNvPr id="9" name="anim|2|rise|click|"/>
          <p:cNvSpPr/>
          <p:nvPr/>
        </p:nvSpPr>
        <p:spPr>
          <a:xfrm>
            <a:off x="3364992" y="1417320"/>
            <a:ext cx="2606040" cy="365760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593592" y="1645920"/>
            <a:ext cx="640080" cy="64008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734410" y="1786738"/>
            <a:ext cx="358445" cy="358445"/>
          </a:xfrm>
          <a:prstGeom prst="rect">
            <a:avLst/>
          </a:prstGeom>
        </p:spPr>
      </p:pic>
      <p:sp>
        <p:nvSpPr>
          <p:cNvPr id="12" name="anim|2|rise|with|"/>
          <p:cNvSpPr txBox="1"/>
          <p:nvPr/>
        </p:nvSpPr>
        <p:spPr>
          <a:xfrm>
            <a:off x="3593592"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Pharmacies and mail-order</a:t>
            </a:r>
            <a:endParaRPr lang="en-US" sz="1600" dirty="0"/>
          </a:p>
        </p:txBody>
      </p:sp>
      <p:sp>
        <p:nvSpPr>
          <p:cNvPr id="13" name="anim|2|rise|with|"/>
          <p:cNvSpPr txBox="1"/>
          <p:nvPr/>
        </p:nvSpPr>
        <p:spPr>
          <a:xfrm>
            <a:off x="3593592" y="3063240"/>
            <a:ext cx="2194560" cy="457200"/>
          </a:xfrm>
          <a:prstGeom prst="rect">
            <a:avLst/>
          </a:prstGeom>
          <a:noFill/>
          <a:ln/>
        </p:spPr>
        <p:txBody>
          <a:bodyPr wrap="square" lIns="0" tIns="0" rIns="0" bIns="0" rtlCol="0" anchor="t"/>
          <a:lstStyle/>
          <a:p>
            <a:pPr marL="0" indent="0">
              <a:buNone/>
            </a:pPr>
            <a:r>
              <a:rPr lang="en-US" sz="1400" b="1" dirty="0">
                <a:solidFill>
                  <a:srgbClr val="F2A541"/>
                </a:solidFill>
                <a:latin typeface="Calibri" pitchFamily="34" charset="0"/>
                <a:ea typeface="Calibri" pitchFamily="34" charset="-122"/>
                <a:cs typeface="Calibri" pitchFamily="34" charset="-120"/>
              </a:rPr>
              <a:t>Subscription per patient tracked</a:t>
            </a:r>
            <a:endParaRPr lang="en-US" sz="1400" dirty="0"/>
          </a:p>
        </p:txBody>
      </p:sp>
      <p:sp>
        <p:nvSpPr>
          <p:cNvPr id="14" name="anim|2|rise|with|"/>
          <p:cNvSpPr txBox="1"/>
          <p:nvPr/>
        </p:nvSpPr>
        <p:spPr>
          <a:xfrm>
            <a:off x="3593592"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Proof of storage for replacements, fewer heat-damaged shipments, refill reminders that bring patients back.</a:t>
            </a:r>
            <a:endParaRPr lang="en-US" sz="1250" dirty="0"/>
          </a:p>
        </p:txBody>
      </p:sp>
      <p:sp>
        <p:nvSpPr>
          <p:cNvPr id="15" name="anim|3|rise|click|"/>
          <p:cNvSpPr/>
          <p:nvPr/>
        </p:nvSpPr>
        <p:spPr>
          <a:xfrm>
            <a:off x="6181344" y="1417320"/>
            <a:ext cx="2606040" cy="365760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09944" y="1645920"/>
            <a:ext cx="640080" cy="64008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550762" y="1786738"/>
            <a:ext cx="358445" cy="358445"/>
          </a:xfrm>
          <a:prstGeom prst="rect">
            <a:avLst/>
          </a:prstGeom>
        </p:spPr>
      </p:pic>
      <p:sp>
        <p:nvSpPr>
          <p:cNvPr id="18" name="anim|3|rise|with|"/>
          <p:cNvSpPr txBox="1"/>
          <p:nvPr/>
        </p:nvSpPr>
        <p:spPr>
          <a:xfrm>
            <a:off x="6409944"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Health plans and PBMs</a:t>
            </a:r>
            <a:endParaRPr lang="en-US" sz="1600" dirty="0"/>
          </a:p>
        </p:txBody>
      </p:sp>
      <p:sp>
        <p:nvSpPr>
          <p:cNvPr id="19" name="anim|3|rise|with|"/>
          <p:cNvSpPr txBox="1"/>
          <p:nvPr/>
        </p:nvSpPr>
        <p:spPr>
          <a:xfrm>
            <a:off x="6409944" y="3063240"/>
            <a:ext cx="2194560" cy="457200"/>
          </a:xfrm>
          <a:prstGeom prst="rect">
            <a:avLst/>
          </a:prstGeom>
          <a:noFill/>
          <a:ln/>
        </p:spPr>
        <p:txBody>
          <a:bodyPr wrap="square" lIns="0" tIns="0" rIns="0" bIns="0" rtlCol="0" anchor="t"/>
          <a:lstStyle/>
          <a:p>
            <a:pPr marL="0" indent="0">
              <a:buNone/>
            </a:pPr>
            <a:r>
              <a:rPr lang="en-US" sz="1400" b="1" dirty="0">
                <a:solidFill>
                  <a:srgbClr val="9C8CE0"/>
                </a:solidFill>
                <a:latin typeface="Calibri" pitchFamily="34" charset="0"/>
                <a:ea typeface="Calibri" pitchFamily="34" charset="-122"/>
                <a:cs typeface="Calibri" pitchFamily="34" charset="-120"/>
              </a:rPr>
              <a:t>Fee per verified receipt</a:t>
            </a:r>
            <a:endParaRPr lang="en-US" sz="1400" dirty="0"/>
          </a:p>
        </p:txBody>
      </p:sp>
      <p:sp>
        <p:nvSpPr>
          <p:cNvPr id="20" name="anim|3|rise|with|"/>
          <p:cNvSpPr txBox="1"/>
          <p:nvPr/>
        </p:nvSpPr>
        <p:spPr>
          <a:xfrm>
            <a:off x="6409944"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Pay for replacements with evidence instead of guesswork, and see where waste happens.</a:t>
            </a:r>
            <a:endParaRPr lang="en-US" sz="1250" dirty="0"/>
          </a:p>
        </p:txBody>
      </p:sp>
      <p:sp>
        <p:nvSpPr>
          <p:cNvPr id="21" name="anim|4|rise|click|"/>
          <p:cNvSpPr/>
          <p:nvPr/>
        </p:nvSpPr>
        <p:spPr>
          <a:xfrm>
            <a:off x="8997696" y="1417320"/>
            <a:ext cx="2606040" cy="3657600"/>
          </a:xfrm>
          <a:prstGeom prst="roundRect">
            <a:avLst>
              <a:gd name="adj" fmla="val 4211"/>
            </a:avLst>
          </a:prstGeom>
          <a:solidFill>
            <a:srgbClr val="2B2F31"/>
          </a:solidFill>
          <a:ln w="9525">
            <a:solidFill>
              <a:srgbClr val="45504C"/>
            </a:solidFill>
            <a:prstDash val="solid"/>
          </a:ln>
        </p:spPr>
      </p:sp>
      <p:sp>
        <p:nvSpPr>
          <p:cNvPr id="22" name="anim|4|rise|with|"/>
          <p:cNvSpPr/>
          <p:nvPr/>
        </p:nvSpPr>
        <p:spPr>
          <a:xfrm>
            <a:off x="9226296" y="1645920"/>
            <a:ext cx="640080" cy="640080"/>
          </a:xfrm>
          <a:prstGeom prst="ellipse">
            <a:avLst/>
          </a:prstGeom>
          <a:solidFill>
            <a:srgbClr val="343A3C"/>
          </a:solidFill>
          <a:ln/>
        </p:spPr>
      </p:sp>
      <p:pic>
        <p:nvPicPr>
          <p:cNvPr id="23" name="anim|4|rise|with|" descr="preencoded.png"/>
          <p:cNvPicPr>
            <a:picLocks noChangeAspect="1"/>
          </p:cNvPicPr>
          <p:nvPr/>
        </p:nvPicPr>
        <p:blipFill>
          <a:blip r:embed="rId7"/>
          <a:stretch>
            <a:fillRect/>
          </a:stretch>
        </p:blipFill>
        <p:spPr>
          <a:xfrm>
            <a:off x="9367114" y="1786738"/>
            <a:ext cx="358445" cy="358445"/>
          </a:xfrm>
          <a:prstGeom prst="rect">
            <a:avLst/>
          </a:prstGeom>
        </p:spPr>
      </p:pic>
      <p:sp>
        <p:nvSpPr>
          <p:cNvPr id="24" name="anim|4|rise|with|"/>
          <p:cNvSpPr txBox="1"/>
          <p:nvPr/>
        </p:nvSpPr>
        <p:spPr>
          <a:xfrm>
            <a:off x="9226296" y="2423160"/>
            <a:ext cx="2194560" cy="64008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Utilities and cities</a:t>
            </a:r>
            <a:endParaRPr lang="en-US" sz="1600" dirty="0"/>
          </a:p>
        </p:txBody>
      </p:sp>
      <p:sp>
        <p:nvSpPr>
          <p:cNvPr id="25" name="anim|4|rise|with|"/>
          <p:cNvSpPr txBox="1"/>
          <p:nvPr/>
        </p:nvSpPr>
        <p:spPr>
          <a:xfrm>
            <a:off x="9226296" y="3063240"/>
            <a:ext cx="2194560" cy="457200"/>
          </a:xfrm>
          <a:prstGeom prst="rect">
            <a:avLst/>
          </a:prstGeom>
          <a:noFill/>
          <a:ln/>
        </p:spPr>
        <p:txBody>
          <a:bodyPr wrap="square" lIns="0" tIns="0" rIns="0" bIns="0" rtlCol="0" anchor="t"/>
          <a:lstStyle/>
          <a:p>
            <a:pPr marL="0" indent="0">
              <a:buNone/>
            </a:pPr>
            <a:r>
              <a:rPr lang="en-US" sz="1400" b="1" dirty="0">
                <a:solidFill>
                  <a:srgbClr val="E2705D"/>
                </a:solidFill>
                <a:latin typeface="Calibri" pitchFamily="34" charset="0"/>
                <a:ea typeface="Calibri" pitchFamily="34" charset="-122"/>
                <a:cs typeface="Calibri" pitchFamily="34" charset="-120"/>
              </a:rPr>
              <a:t>License per service area</a:t>
            </a:r>
            <a:endParaRPr lang="en-US" sz="1400" dirty="0"/>
          </a:p>
        </p:txBody>
      </p:sp>
      <p:sp>
        <p:nvSpPr>
          <p:cNvPr id="26" name="anim|4|rise|with|"/>
          <p:cNvSpPr txBox="1"/>
          <p:nvPr/>
        </p:nvSpPr>
        <p:spPr>
          <a:xfrm>
            <a:off x="9226296" y="3611880"/>
            <a:ext cx="2194560" cy="1371600"/>
          </a:xfrm>
          <a:prstGeom prst="rect">
            <a:avLst/>
          </a:prstGeom>
          <a:noFill/>
          <a:ln/>
        </p:spPr>
        <p:txBody>
          <a:bodyPr wrap="square" lIns="0" tIns="0" rIns="0" bIns="0" rtlCol="0" anchor="t"/>
          <a:lstStyle/>
          <a:p>
            <a:pPr marL="0" indent="0">
              <a:buNone/>
            </a:pPr>
            <a:r>
              <a:rPr lang="en-US" sz="1250" dirty="0">
                <a:solidFill>
                  <a:srgbClr val="B9C4BF"/>
                </a:solidFill>
                <a:latin typeface="Calibri" pitchFamily="34" charset="0"/>
                <a:ea typeface="Calibri" pitchFamily="34" charset="-122"/>
                <a:cs typeface="Calibri" pitchFamily="34" charset="-120"/>
              </a:rPr>
              <a:t>Know which medical-needs homes to restore or check first in a storm.</a:t>
            </a:r>
            <a:endParaRPr lang="en-US" sz="1250" dirty="0"/>
          </a:p>
        </p:txBody>
      </p:sp>
      <p:sp>
        <p:nvSpPr>
          <p:cNvPr id="27" name="anim|5|fade|click|"/>
          <p:cNvSpPr/>
          <p:nvPr/>
        </p:nvSpPr>
        <p:spPr>
          <a:xfrm>
            <a:off x="548640" y="5303520"/>
            <a:ext cx="11064240" cy="777240"/>
          </a:xfrm>
          <a:prstGeom prst="roundRect">
            <a:avLst>
              <a:gd name="adj" fmla="val 14118"/>
            </a:avLst>
          </a:prstGeom>
          <a:solidFill>
            <a:srgbClr val="23352F"/>
          </a:solidFill>
          <a:ln w="9525">
            <a:solidFill>
              <a:srgbClr val="6FA391"/>
            </a:solidFill>
            <a:prstDash val="solid"/>
          </a:ln>
        </p:spPr>
      </p:sp>
      <p:sp>
        <p:nvSpPr>
          <p:cNvPr id="28" name="anim|5|fade|with|"/>
          <p:cNvSpPr txBox="1"/>
          <p:nvPr/>
        </p:nvSpPr>
        <p:spPr>
          <a:xfrm>
            <a:off x="822960" y="5303520"/>
            <a:ext cx="10515600" cy="777240"/>
          </a:xfrm>
          <a:prstGeom prst="rect">
            <a:avLst/>
          </a:prstGeom>
          <a:noFill/>
          <a:ln/>
        </p:spPr>
        <p:txBody>
          <a:bodyPr wrap="square" lIns="0" tIns="0" rIns="0" bIns="0" rtlCol="0" anchor="ctr"/>
          <a:lstStyle/>
          <a:p>
            <a:pPr marL="0" indent="0">
              <a:buNone/>
            </a:pPr>
            <a:r>
              <a:rPr lang="en-US" sz="1500" b="1" dirty="0">
                <a:solidFill>
                  <a:srgbClr val="A8D5C2"/>
                </a:solidFill>
                <a:latin typeface="Calibri" pitchFamily="34" charset="0"/>
                <a:ea typeface="Calibri" pitchFamily="34" charset="-122"/>
                <a:cs typeface="Calibri" pitchFamily="34" charset="-120"/>
              </a:rPr>
              <a:t>Low cost to run: </a:t>
            </a:r>
            <a:r>
              <a:rPr lang="en-US" sz="1500" dirty="0">
                <a:solidFill>
                  <a:srgbClr val="F4F1EA"/>
                </a:solidFill>
                <a:latin typeface="Calibri" pitchFamily="34" charset="0"/>
                <a:ea typeface="Calibri" pitchFamily="34" charset="-122"/>
                <a:cs typeface="Calibri" pitchFamily="34" charset="-120"/>
              </a:rPr>
              <a:t>every AI feature has a no-AI fallback, and Tiger Data compresses history 11.2×. Prices are hypotheses we test in the pilot.</a:t>
            </a:r>
            <a:endParaRPr lang="en-US" sz="1500" dirty="0"/>
          </a:p>
        </p:txBody>
      </p:sp>
      <p:sp>
        <p:nvSpPr>
          <p:cNvPr id="29"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37"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31" presetID="37" presetClass="entr" presetSubtype="0" fill="hold" nodeType="withEffect">
                                  <p:stCondLst>
                                    <p:cond delay="0"/>
                                  </p:stCondLst>
                                  <p:childTnLst>
                                    <p:set>
                                      <p:cBhvr>
                                        <p:cTn id="132" dur="1" fill="hold">
                                          <p:stCondLst>
                                            <p:cond delay="0"/>
                                          </p:stCondLst>
                                        </p:cTn>
                                        <p:tgtEl>
                                          <p:spTgt spid="23"/>
                                        </p:tgtEl>
                                        <p:attrNameLst>
                                          <p:attrName>style.visibility</p:attrName>
                                        </p:attrNameLst>
                                      </p:cBhvr>
                                      <p:to>
                                        <p:strVal val="visible"/>
                                      </p:to>
                                    </p:set>
                                    <p:animEffect transition="in" filter="fade">
                                      <p:cBhvr>
                                        <p:cTn id="133" dur="500"/>
                                        <p:tgtEl>
                                          <p:spTgt spid="23"/>
                                        </p:tgtEl>
                                      </p:cBhvr>
                                    </p:animEffect>
                                    <p:anim calcmode="lin" valueType="num">
                                      <p:cBhvr>
                                        <p:cTn id="134" dur="500" fill="hold"/>
                                        <p:tgtEl>
                                          <p:spTgt spid="23"/>
                                        </p:tgtEl>
                                        <p:attrNameLst>
                                          <p:attrName>ppt_x</p:attrName>
                                        </p:attrNameLst>
                                      </p:cBhvr>
                                      <p:tavLst>
                                        <p:tav tm="0">
                                          <p:val>
                                            <p:strVal val="#ppt_x"/>
                                          </p:val>
                                        </p:tav>
                                        <p:tav tm="100000">
                                          <p:val>
                                            <p:strVal val="#ppt_x"/>
                                          </p:val>
                                        </p:tav>
                                      </p:tavLst>
                                    </p:anim>
                                    <p:anim calcmode="lin" valueType="num">
                                      <p:cBhvr>
                                        <p:cTn id="135" dur="450" decel="100000" fill="hold"/>
                                        <p:tgtEl>
                                          <p:spTgt spid="23"/>
                                        </p:tgtEl>
                                        <p:attrNameLst>
                                          <p:attrName>ppt_y</p:attrName>
                                        </p:attrNameLst>
                                      </p:cBhvr>
                                      <p:tavLst>
                                        <p:tav tm="0">
                                          <p:val>
                                            <p:strVal val="#ppt_y+1"/>
                                          </p:val>
                                        </p:tav>
                                        <p:tav tm="100000">
                                          <p:val>
                                            <p:strVal val="#ppt_y-.03"/>
                                          </p:val>
                                        </p:tav>
                                      </p:tavLst>
                                    </p:anim>
                                    <p:anim calcmode="lin" valueType="num">
                                      <p:cBhvr>
                                        <p:cTn id="136"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37" presetID="37" presetClass="entr" presetSubtype="0" fill="hold" grpId="0" nodeType="withEffect">
                                  <p:stCondLst>
                                    <p:cond delay="0"/>
                                  </p:stCondLst>
                                  <p:childTnLst>
                                    <p:set>
                                      <p:cBhvr>
                                        <p:cTn id="138" dur="1" fill="hold">
                                          <p:stCondLst>
                                            <p:cond delay="0"/>
                                          </p:stCondLst>
                                        </p:cTn>
                                        <p:tgtEl>
                                          <p:spTgt spid="24"/>
                                        </p:tgtEl>
                                        <p:attrNameLst>
                                          <p:attrName>style.visibility</p:attrName>
                                        </p:attrNameLst>
                                      </p:cBhvr>
                                      <p:to>
                                        <p:strVal val="visible"/>
                                      </p:to>
                                    </p:set>
                                    <p:animEffect transition="in" filter="fade">
                                      <p:cBhvr>
                                        <p:cTn id="139" dur="500"/>
                                        <p:tgtEl>
                                          <p:spTgt spid="24"/>
                                        </p:tgtEl>
                                      </p:cBhvr>
                                    </p:animEffect>
                                    <p:anim calcmode="lin" valueType="num">
                                      <p:cBhvr>
                                        <p:cTn id="140" dur="500" fill="hold"/>
                                        <p:tgtEl>
                                          <p:spTgt spid="24"/>
                                        </p:tgtEl>
                                        <p:attrNameLst>
                                          <p:attrName>ppt_x</p:attrName>
                                        </p:attrNameLst>
                                      </p:cBhvr>
                                      <p:tavLst>
                                        <p:tav tm="0">
                                          <p:val>
                                            <p:strVal val="#ppt_x"/>
                                          </p:val>
                                        </p:tav>
                                        <p:tav tm="100000">
                                          <p:val>
                                            <p:strVal val="#ppt_x"/>
                                          </p:val>
                                        </p:tav>
                                      </p:tavLst>
                                    </p:anim>
                                    <p:anim calcmode="lin" valueType="num">
                                      <p:cBhvr>
                                        <p:cTn id="141" dur="450" decel="100000" fill="hold"/>
                                        <p:tgtEl>
                                          <p:spTgt spid="24"/>
                                        </p:tgtEl>
                                        <p:attrNameLst>
                                          <p:attrName>ppt_y</p:attrName>
                                        </p:attrNameLst>
                                      </p:cBhvr>
                                      <p:tavLst>
                                        <p:tav tm="0">
                                          <p:val>
                                            <p:strVal val="#ppt_y+1"/>
                                          </p:val>
                                        </p:tav>
                                        <p:tav tm="100000">
                                          <p:val>
                                            <p:strVal val="#ppt_y-.03"/>
                                          </p:val>
                                        </p:tav>
                                      </p:tavLst>
                                    </p:anim>
                                    <p:anim calcmode="lin" valueType="num">
                                      <p:cBhvr>
                                        <p:cTn id="142"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43" presetID="37" presetClass="entr" presetSubtype="0" fill="hold" grpId="0" nodeType="withEffect">
                                  <p:stCondLst>
                                    <p:cond delay="0"/>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500"/>
                                        <p:tgtEl>
                                          <p:spTgt spid="25"/>
                                        </p:tgtEl>
                                      </p:cBhvr>
                                    </p:animEffect>
                                    <p:anim calcmode="lin" valueType="num">
                                      <p:cBhvr>
                                        <p:cTn id="146" dur="500" fill="hold"/>
                                        <p:tgtEl>
                                          <p:spTgt spid="25"/>
                                        </p:tgtEl>
                                        <p:attrNameLst>
                                          <p:attrName>ppt_x</p:attrName>
                                        </p:attrNameLst>
                                      </p:cBhvr>
                                      <p:tavLst>
                                        <p:tav tm="0">
                                          <p:val>
                                            <p:strVal val="#ppt_x"/>
                                          </p:val>
                                        </p:tav>
                                        <p:tav tm="100000">
                                          <p:val>
                                            <p:strVal val="#ppt_x"/>
                                          </p:val>
                                        </p:tav>
                                      </p:tavLst>
                                    </p:anim>
                                    <p:anim calcmode="lin" valueType="num">
                                      <p:cBhvr>
                                        <p:cTn id="147" dur="450" decel="100000" fill="hold"/>
                                        <p:tgtEl>
                                          <p:spTgt spid="25"/>
                                        </p:tgtEl>
                                        <p:attrNameLst>
                                          <p:attrName>ppt_y</p:attrName>
                                        </p:attrNameLst>
                                      </p:cBhvr>
                                      <p:tavLst>
                                        <p:tav tm="0">
                                          <p:val>
                                            <p:strVal val="#ppt_y+1"/>
                                          </p:val>
                                        </p:tav>
                                        <p:tav tm="100000">
                                          <p:val>
                                            <p:strVal val="#ppt_y-.03"/>
                                          </p:val>
                                        </p:tav>
                                      </p:tavLst>
                                    </p:anim>
                                    <p:anim calcmode="lin" valueType="num">
                                      <p:cBhvr>
                                        <p:cTn id="148"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49" presetID="37" presetClass="entr" presetSubtype="0" fill="hold" grpId="0" nodeType="withEffect">
                                  <p:stCondLst>
                                    <p:cond delay="0"/>
                                  </p:stCondLst>
                                  <p:childTnLst>
                                    <p:set>
                                      <p:cBhvr>
                                        <p:cTn id="150" dur="1" fill="hold">
                                          <p:stCondLst>
                                            <p:cond delay="0"/>
                                          </p:stCondLst>
                                        </p:cTn>
                                        <p:tgtEl>
                                          <p:spTgt spid="26"/>
                                        </p:tgtEl>
                                        <p:attrNameLst>
                                          <p:attrName>style.visibility</p:attrName>
                                        </p:attrNameLst>
                                      </p:cBhvr>
                                      <p:to>
                                        <p:strVal val="visible"/>
                                      </p:to>
                                    </p:set>
                                    <p:animEffect transition="in" filter="fade">
                                      <p:cBhvr>
                                        <p:cTn id="151" dur="500"/>
                                        <p:tgtEl>
                                          <p:spTgt spid="26"/>
                                        </p:tgtEl>
                                      </p:cBhvr>
                                    </p:animEffect>
                                    <p:anim calcmode="lin" valueType="num">
                                      <p:cBhvr>
                                        <p:cTn id="152" dur="500" fill="hold"/>
                                        <p:tgtEl>
                                          <p:spTgt spid="26"/>
                                        </p:tgtEl>
                                        <p:attrNameLst>
                                          <p:attrName>ppt_x</p:attrName>
                                        </p:attrNameLst>
                                      </p:cBhvr>
                                      <p:tavLst>
                                        <p:tav tm="0">
                                          <p:val>
                                            <p:strVal val="#ppt_x"/>
                                          </p:val>
                                        </p:tav>
                                        <p:tav tm="100000">
                                          <p:val>
                                            <p:strVal val="#ppt_x"/>
                                          </p:val>
                                        </p:tav>
                                      </p:tavLst>
                                    </p:anim>
                                    <p:anim calcmode="lin" valueType="num">
                                      <p:cBhvr>
                                        <p:cTn id="153" dur="450" decel="100000" fill="hold"/>
                                        <p:tgtEl>
                                          <p:spTgt spid="26"/>
                                        </p:tgtEl>
                                        <p:attrNameLst>
                                          <p:attrName>ppt_y</p:attrName>
                                        </p:attrNameLst>
                                      </p:cBhvr>
                                      <p:tavLst>
                                        <p:tav tm="0">
                                          <p:val>
                                            <p:strVal val="#ppt_y+1"/>
                                          </p:val>
                                        </p:tav>
                                        <p:tav tm="100000">
                                          <p:val>
                                            <p:strVal val="#ppt_y-.03"/>
                                          </p:val>
                                        </p:tav>
                                      </p:tavLst>
                                    </p:anim>
                                    <p:anim calcmode="lin" valueType="num">
                                      <p:cBhvr>
                                        <p:cTn id="154"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7" presetID="10" presetClass="entr" presetSubtype="0" fill="hold" nodeType="clickEffect">
                                  <p:stCondLst>
                                    <p:cond delay="0"/>
                                  </p:stCondLst>
                                  <p:childTnLst>
                                    <p:set>
                                      <p:cBhvr>
                                        <p:cTn id="158" dur="1" fill="hold">
                                          <p:stCondLst>
                                            <p:cond delay="0"/>
                                          </p:stCondLst>
                                        </p:cTn>
                                        <p:tgtEl>
                                          <p:spTgt spid="27"/>
                                        </p:tgtEl>
                                        <p:attrNameLst>
                                          <p:attrName>style.visibility</p:attrName>
                                        </p:attrNameLst>
                                      </p:cBhvr>
                                      <p:to>
                                        <p:strVal val="visible"/>
                                      </p:to>
                                    </p:set>
                                    <p:animEffect transition="in" filter="fade">
                                      <p:cBhvr>
                                        <p:cTn id="159" dur="500"/>
                                        <p:tgtEl>
                                          <p:spTgt spid="27"/>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28"/>
                                        </p:tgtEl>
                                        <p:attrNameLst>
                                          <p:attrName>style.visibility</p:attrName>
                                        </p:attrNameLst>
                                      </p:cBhvr>
                                      <p:to>
                                        <p:strVal val="visible"/>
                                      </p:to>
                                    </p:set>
                                    <p:animEffect transition="in" filter="fade">
                                      <p:cBhvr>
                                        <p:cTn id="16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4" grpId="0" animBg="1"/>
      <p:bldP spid="25" grpId="0" animBg="1"/>
      <p:bldP spid="26"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Go-to-market: start in Dearborn</a:t>
            </a:r>
            <a:endParaRPr lang="en-US" sz="3200" dirty="0"/>
          </a:p>
        </p:txBody>
      </p:sp>
      <p:sp>
        <p:nvSpPr>
          <p:cNvPr id="3" name="anim|1|wipe|after|"/>
          <p:cNvSpPr/>
          <p:nvPr/>
        </p:nvSpPr>
        <p:spPr>
          <a:xfrm>
            <a:off x="914400" y="2057400"/>
            <a:ext cx="10332720" cy="0"/>
          </a:xfrm>
          <a:prstGeom prst="line">
            <a:avLst/>
          </a:prstGeom>
          <a:noFill/>
          <a:ln w="25400">
            <a:solidFill>
              <a:srgbClr val="45504C"/>
            </a:solidFill>
            <a:prstDash val="dash"/>
          </a:ln>
        </p:spPr>
      </p:sp>
      <p:sp>
        <p:nvSpPr>
          <p:cNvPr id="4" name="anim|2|rise|click|"/>
          <p:cNvSpPr/>
          <p:nvPr/>
        </p:nvSpPr>
        <p:spPr>
          <a:xfrm>
            <a:off x="685800" y="1874520"/>
            <a:ext cx="365760" cy="365760"/>
          </a:xfrm>
          <a:prstGeom prst="ellipse">
            <a:avLst/>
          </a:prstGeom>
          <a:solidFill>
            <a:srgbClr val="F2A541"/>
          </a:solidFill>
          <a:ln w="12700">
            <a:solidFill>
              <a:srgbClr val="F2A541"/>
            </a:solidFill>
            <a:prstDash val="solid"/>
          </a:ln>
        </p:spPr>
      </p:sp>
      <p:sp>
        <p:nvSpPr>
          <p:cNvPr id="5" name="anim|2|rise|with|"/>
          <p:cNvSpPr txBox="1"/>
          <p:nvPr/>
        </p:nvSpPr>
        <p:spPr>
          <a:xfrm>
            <a:off x="594360"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0–3 months</a:t>
            </a:r>
            <a:endParaRPr lang="en-US" sz="1500" dirty="0"/>
          </a:p>
        </p:txBody>
      </p:sp>
      <p:sp>
        <p:nvSpPr>
          <p:cNvPr id="6" name="anim|2|rise|with|"/>
          <p:cNvSpPr/>
          <p:nvPr/>
        </p:nvSpPr>
        <p:spPr>
          <a:xfrm>
            <a:off x="548640" y="2560320"/>
            <a:ext cx="3520440" cy="1874520"/>
          </a:xfrm>
          <a:prstGeom prst="roundRect">
            <a:avLst>
              <a:gd name="adj" fmla="val 5854"/>
            </a:avLst>
          </a:prstGeom>
          <a:solidFill>
            <a:srgbClr val="2B2F31"/>
          </a:solidFill>
          <a:ln w="9525">
            <a:solidFill>
              <a:srgbClr val="45504C"/>
            </a:solidFill>
            <a:prstDash val="solid"/>
          </a:ln>
        </p:spPr>
      </p:sp>
      <p:sp>
        <p:nvSpPr>
          <p:cNvPr id="7" name="anim|2|rise|with|"/>
          <p:cNvSpPr txBox="1"/>
          <p:nvPr/>
        </p:nvSpPr>
        <p:spPr>
          <a:xfrm>
            <a:off x="777240"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Pilot</a:t>
            </a:r>
            <a:endParaRPr lang="en-US" sz="2000" dirty="0"/>
          </a:p>
        </p:txBody>
      </p:sp>
      <p:sp>
        <p:nvSpPr>
          <p:cNvPr id="8" name="anim|2|rise|with|"/>
          <p:cNvSpPr txBox="1"/>
          <p:nvPr/>
        </p:nvSpPr>
        <p:spPr>
          <a:xfrm>
            <a:off x="777240"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One independent Dearborn pharmacy, about 100 insulin and GLP-1 patients, in English and Arabic.</a:t>
            </a:r>
            <a:endParaRPr lang="en-US" sz="1400" dirty="0"/>
          </a:p>
        </p:txBody>
      </p:sp>
      <p:sp>
        <p:nvSpPr>
          <p:cNvPr id="9" name="anim|3|rise|click|"/>
          <p:cNvSpPr/>
          <p:nvPr/>
        </p:nvSpPr>
        <p:spPr>
          <a:xfrm>
            <a:off x="4462272" y="1874520"/>
            <a:ext cx="365760" cy="365760"/>
          </a:xfrm>
          <a:prstGeom prst="ellipse">
            <a:avLst/>
          </a:prstGeom>
          <a:solidFill>
            <a:srgbClr val="F2A541"/>
          </a:solidFill>
          <a:ln w="12700">
            <a:solidFill>
              <a:srgbClr val="F2A541"/>
            </a:solidFill>
            <a:prstDash val="solid"/>
          </a:ln>
        </p:spPr>
      </p:sp>
      <p:sp>
        <p:nvSpPr>
          <p:cNvPr id="10" name="anim|3|rise|with|"/>
          <p:cNvSpPr txBox="1"/>
          <p:nvPr/>
        </p:nvSpPr>
        <p:spPr>
          <a:xfrm>
            <a:off x="4370832"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3–9 months</a:t>
            </a:r>
            <a:endParaRPr lang="en-US" sz="1500" dirty="0"/>
          </a:p>
        </p:txBody>
      </p:sp>
      <p:sp>
        <p:nvSpPr>
          <p:cNvPr id="11" name="anim|3|rise|with|"/>
          <p:cNvSpPr/>
          <p:nvPr/>
        </p:nvSpPr>
        <p:spPr>
          <a:xfrm>
            <a:off x="4325112" y="2560320"/>
            <a:ext cx="3520440" cy="1874520"/>
          </a:xfrm>
          <a:prstGeom prst="roundRect">
            <a:avLst>
              <a:gd name="adj" fmla="val 5854"/>
            </a:avLst>
          </a:prstGeom>
          <a:solidFill>
            <a:srgbClr val="2B2F31"/>
          </a:solidFill>
          <a:ln w="9525">
            <a:solidFill>
              <a:srgbClr val="45504C"/>
            </a:solidFill>
            <a:prstDash val="solid"/>
          </a:ln>
        </p:spPr>
      </p:sp>
      <p:sp>
        <p:nvSpPr>
          <p:cNvPr id="12" name="anim|3|rise|with|"/>
          <p:cNvSpPr txBox="1"/>
          <p:nvPr/>
        </p:nvSpPr>
        <p:spPr>
          <a:xfrm>
            <a:off x="4553712"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Expand</a:t>
            </a:r>
            <a:endParaRPr lang="en-US" sz="2000" dirty="0"/>
          </a:p>
        </p:txBody>
      </p:sp>
      <p:sp>
        <p:nvSpPr>
          <p:cNvPr id="13" name="anim|3|rise|with|"/>
          <p:cNvSpPr txBox="1"/>
          <p:nvPr/>
        </p:nvSpPr>
        <p:spPr>
          <a:xfrm>
            <a:off x="4553712"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A mail-order or specialty pharmacy using receipts for replacements, and a utility partner for storm season.</a:t>
            </a:r>
            <a:endParaRPr lang="en-US" sz="1400" dirty="0"/>
          </a:p>
        </p:txBody>
      </p:sp>
      <p:sp>
        <p:nvSpPr>
          <p:cNvPr id="14" name="anim|4|rise|click|"/>
          <p:cNvSpPr/>
          <p:nvPr/>
        </p:nvSpPr>
        <p:spPr>
          <a:xfrm>
            <a:off x="8238744" y="1874520"/>
            <a:ext cx="365760" cy="365760"/>
          </a:xfrm>
          <a:prstGeom prst="ellipse">
            <a:avLst/>
          </a:prstGeom>
          <a:solidFill>
            <a:srgbClr val="F2A541"/>
          </a:solidFill>
          <a:ln w="12700">
            <a:solidFill>
              <a:srgbClr val="F2A541"/>
            </a:solidFill>
            <a:prstDash val="solid"/>
          </a:ln>
        </p:spPr>
      </p:sp>
      <p:sp>
        <p:nvSpPr>
          <p:cNvPr id="15" name="anim|4|rise|with|"/>
          <p:cNvSpPr txBox="1"/>
          <p:nvPr/>
        </p:nvSpPr>
        <p:spPr>
          <a:xfrm>
            <a:off x="8147304" y="1325880"/>
            <a:ext cx="2926080" cy="457200"/>
          </a:xfrm>
          <a:prstGeom prst="rect">
            <a:avLst/>
          </a:prstGeom>
          <a:noFill/>
          <a:ln/>
        </p:spPr>
        <p:txBody>
          <a:bodyPr wrap="square" lIns="0" tIns="0" rIns="0" bIns="0" rtlCol="0" anchor="ctr"/>
          <a:lstStyle/>
          <a:p>
            <a:pPr marL="0" indent="0">
              <a:buNone/>
            </a:pPr>
            <a:r>
              <a:rPr lang="en-US" sz="1500" b="1" dirty="0">
                <a:solidFill>
                  <a:srgbClr val="B9C4BF"/>
                </a:solidFill>
                <a:latin typeface="Calibri" pitchFamily="34" charset="0"/>
                <a:ea typeface="Calibri" pitchFamily="34" charset="-122"/>
                <a:cs typeface="Calibri" pitchFamily="34" charset="-120"/>
              </a:rPr>
              <a:t>9–18 months</a:t>
            </a:r>
            <a:endParaRPr lang="en-US" sz="1500" dirty="0"/>
          </a:p>
        </p:txBody>
      </p:sp>
      <p:sp>
        <p:nvSpPr>
          <p:cNvPr id="16" name="anim|4|rise|with|"/>
          <p:cNvSpPr/>
          <p:nvPr/>
        </p:nvSpPr>
        <p:spPr>
          <a:xfrm>
            <a:off x="8101584" y="2560320"/>
            <a:ext cx="3520440" cy="1874520"/>
          </a:xfrm>
          <a:prstGeom prst="roundRect">
            <a:avLst>
              <a:gd name="adj" fmla="val 5854"/>
            </a:avLst>
          </a:prstGeom>
          <a:solidFill>
            <a:srgbClr val="2B2F31"/>
          </a:solidFill>
          <a:ln w="9525">
            <a:solidFill>
              <a:srgbClr val="45504C"/>
            </a:solidFill>
            <a:prstDash val="solid"/>
          </a:ln>
        </p:spPr>
      </p:sp>
      <p:sp>
        <p:nvSpPr>
          <p:cNvPr id="17" name="anim|4|rise|with|"/>
          <p:cNvSpPr txBox="1"/>
          <p:nvPr/>
        </p:nvSpPr>
        <p:spPr>
          <a:xfrm>
            <a:off x="8330184" y="2697480"/>
            <a:ext cx="3108960" cy="457200"/>
          </a:xfrm>
          <a:prstGeom prst="rect">
            <a:avLst/>
          </a:prstGeom>
          <a:noFill/>
          <a:ln/>
        </p:spPr>
        <p:txBody>
          <a:bodyPr wrap="square" lIns="0" tIns="0" rIns="0" bIns="0" rtlCol="0" anchor="ctr"/>
          <a:lstStyle/>
          <a:p>
            <a:pPr marL="0" indent="0">
              <a:buNone/>
            </a:pPr>
            <a:r>
              <a:rPr lang="en-US" sz="2000" b="1" dirty="0">
                <a:solidFill>
                  <a:srgbClr val="F2A541"/>
                </a:solidFill>
                <a:latin typeface="Calibri" pitchFamily="34" charset="0"/>
                <a:ea typeface="Calibri" pitchFamily="34" charset="-122"/>
                <a:cs typeface="Calibri" pitchFamily="34" charset="-120"/>
              </a:rPr>
              <a:t>Scale</a:t>
            </a:r>
            <a:endParaRPr lang="en-US" sz="2000" dirty="0"/>
          </a:p>
        </p:txBody>
      </p:sp>
      <p:sp>
        <p:nvSpPr>
          <p:cNvPr id="18" name="anim|4|rise|with|"/>
          <p:cNvSpPr txBox="1"/>
          <p:nvPr/>
        </p:nvSpPr>
        <p:spPr>
          <a:xfrm>
            <a:off x="8330184" y="3200400"/>
            <a:ext cx="3108960" cy="1188720"/>
          </a:xfrm>
          <a:prstGeom prst="rect">
            <a:avLst/>
          </a:prstGeom>
          <a:noFill/>
          <a:ln/>
        </p:spPr>
        <p:txBody>
          <a:bodyPr wrap="square" lIns="0" tIns="0" rIns="0" bIns="0" rtlCol="0" anchor="t"/>
          <a:lstStyle/>
          <a:p>
            <a:pPr marL="0" indent="0">
              <a:buNone/>
            </a:pPr>
            <a:r>
              <a:rPr lang="en-US" sz="1400" dirty="0">
                <a:solidFill>
                  <a:srgbClr val="F4F1EA"/>
                </a:solidFill>
                <a:latin typeface="Calibri" pitchFamily="34" charset="0"/>
                <a:ea typeface="Calibri" pitchFamily="34" charset="-122"/>
                <a:cs typeface="Calibri" pitchFamily="34" charset="-120"/>
              </a:rPr>
              <a:t>A health-plan pilot, and the open API for sensor, cooler and smart-fridge makers.</a:t>
            </a:r>
            <a:endParaRPr lang="en-US" sz="1400" dirty="0"/>
          </a:p>
        </p:txBody>
      </p:sp>
      <p:sp>
        <p:nvSpPr>
          <p:cNvPr id="19" name="anim|5|fade|click|"/>
          <p:cNvSpPr/>
          <p:nvPr/>
        </p:nvSpPr>
        <p:spPr>
          <a:xfrm>
            <a:off x="548640" y="4663440"/>
            <a:ext cx="5394960" cy="1417320"/>
          </a:xfrm>
          <a:prstGeom prst="roundRect">
            <a:avLst>
              <a:gd name="adj" fmla="val 7742"/>
            </a:avLst>
          </a:prstGeom>
          <a:solidFill>
            <a:srgbClr val="2A2740"/>
          </a:solidFill>
          <a:ln w="9525">
            <a:solidFill>
              <a:srgbClr val="9C8CE0"/>
            </a:solidFill>
            <a:prstDash val="solid"/>
          </a:ln>
        </p:spPr>
      </p:sp>
      <p:sp>
        <p:nvSpPr>
          <p:cNvPr id="20" name="anim|5|fade|with|"/>
          <p:cNvSpPr txBox="1"/>
          <p:nvPr/>
        </p:nvSpPr>
        <p:spPr>
          <a:xfrm>
            <a:off x="777240" y="4709160"/>
            <a:ext cx="4983480" cy="1325880"/>
          </a:xfrm>
          <a:prstGeom prst="rect">
            <a:avLst/>
          </a:prstGeom>
          <a:noFill/>
          <a:ln/>
        </p:spPr>
        <p:txBody>
          <a:bodyPr wrap="square" lIns="0" tIns="0" rIns="0" bIns="0" rtlCol="0" anchor="ctr"/>
          <a:lstStyle/>
          <a:p>
            <a:pPr marL="0" indent="0">
              <a:buNone/>
            </a:pPr>
            <a:r>
              <a:rPr lang="en-US" sz="1400" b="1" dirty="0">
                <a:solidFill>
                  <a:srgbClr val="9C8CE0"/>
                </a:solidFill>
                <a:latin typeface="Calibri" pitchFamily="34" charset="0"/>
                <a:ea typeface="Calibri" pitchFamily="34" charset="-122"/>
                <a:cs typeface="Calibri" pitchFamily="34" charset="-120"/>
              </a:rPr>
              <a:t>What we measure
</a:t>
            </a:r>
            <a:endParaRPr lang="en-US" sz="1400" dirty="0"/>
          </a:p>
          <a:p>
            <a:pPr marL="0" indent="0">
              <a:buNone/>
            </a:pPr>
            <a:r>
              <a:rPr lang="en-US" sz="1400" dirty="0">
                <a:solidFill>
                  <a:srgbClr val="F4F1EA"/>
                </a:solidFill>
                <a:latin typeface="Calibri" pitchFamily="34" charset="0"/>
                <a:ea typeface="Calibri" pitchFamily="34" charset="-122"/>
                <a:cs typeface="Calibri" pitchFamily="34" charset="-120"/>
              </a:rPr>
              <a:t>Medicines saved from being thrown out, replacements backed by a receipt, and alerts acted on within the hour.</a:t>
            </a:r>
            <a:endParaRPr lang="en-US" sz="1400" dirty="0"/>
          </a:p>
        </p:txBody>
      </p:sp>
      <p:sp>
        <p:nvSpPr>
          <p:cNvPr id="21" name="anim|6|fade|click|"/>
          <p:cNvSpPr/>
          <p:nvPr/>
        </p:nvSpPr>
        <p:spPr>
          <a:xfrm>
            <a:off x="6217920" y="4663440"/>
            <a:ext cx="5394960" cy="1417320"/>
          </a:xfrm>
          <a:prstGeom prst="roundRect">
            <a:avLst>
              <a:gd name="adj" fmla="val 7742"/>
            </a:avLst>
          </a:prstGeom>
          <a:solidFill>
            <a:srgbClr val="23352F"/>
          </a:solidFill>
          <a:ln w="9525">
            <a:solidFill>
              <a:srgbClr val="6FA391"/>
            </a:solidFill>
            <a:prstDash val="solid"/>
          </a:ln>
        </p:spPr>
      </p:sp>
      <p:sp>
        <p:nvSpPr>
          <p:cNvPr id="22" name="anim|6|fade|with|"/>
          <p:cNvSpPr txBox="1"/>
          <p:nvPr/>
        </p:nvSpPr>
        <p:spPr>
          <a:xfrm>
            <a:off x="6446520" y="4709160"/>
            <a:ext cx="4983480" cy="1325880"/>
          </a:xfrm>
          <a:prstGeom prst="rect">
            <a:avLst/>
          </a:prstGeom>
          <a:noFill/>
          <a:ln/>
        </p:spPr>
        <p:txBody>
          <a:bodyPr wrap="square" lIns="0" tIns="0" rIns="0" bIns="0" rtlCol="0" anchor="ctr"/>
          <a:lstStyle/>
          <a:p>
            <a:pPr marL="0" indent="0">
              <a:buNone/>
            </a:pPr>
            <a:r>
              <a:rPr lang="en-US" sz="1400" b="1" dirty="0">
                <a:solidFill>
                  <a:srgbClr val="A8D5C2"/>
                </a:solidFill>
                <a:latin typeface="Calibri" pitchFamily="34" charset="0"/>
                <a:ea typeface="Calibri" pitchFamily="34" charset="-122"/>
                <a:cs typeface="Calibri" pitchFamily="34" charset="-120"/>
              </a:rPr>
              <a:t>Why it's hard to copy
</a:t>
            </a:r>
            <a:endParaRPr lang="en-US" sz="1400" dirty="0"/>
          </a:p>
          <a:p>
            <a:pPr marL="0" indent="0">
              <a:buNone/>
            </a:pPr>
            <a:r>
              <a:rPr lang="en-US" sz="1400" dirty="0">
                <a:solidFill>
                  <a:srgbClr val="F4F1EA"/>
                </a:solidFill>
                <a:latin typeface="Calibri" pitchFamily="34" charset="0"/>
                <a:ea typeface="Calibri" pitchFamily="34" charset="-122"/>
                <a:cs typeface="Calibri" pitchFamily="34" charset="-120"/>
              </a:rPr>
              <a:t>24 label-verified medicine rules, pharmacist review, and per-medicine history that a thermometer never builds.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37"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fill="hold"/>
                                        <p:tgtEl>
                                          <p:spTgt spid="4"/>
                                        </p:tgtEl>
                                        <p:attrNameLst>
                                          <p:attrName>ppt_x</p:attrName>
                                        </p:attrNameLst>
                                      </p:cBhvr>
                                      <p:tavLst>
                                        <p:tav tm="0">
                                          <p:val>
                                            <p:strVal val="#ppt_x"/>
                                          </p:val>
                                        </p:tav>
                                        <p:tav tm="100000">
                                          <p:val>
                                            <p:strVal val="#ppt_x"/>
                                          </p:val>
                                        </p:tav>
                                      </p:tavLst>
                                    </p:anim>
                                    <p:anim calcmode="lin" valueType="num">
                                      <p:cBhvr>
                                        <p:cTn id="14" dur="450" decel="100000" fill="hold"/>
                                        <p:tgtEl>
                                          <p:spTgt spid="4"/>
                                        </p:tgtEl>
                                        <p:attrNameLst>
                                          <p:attrName>ppt_y</p:attrName>
                                        </p:attrNameLst>
                                      </p:cBhvr>
                                      <p:tavLst>
                                        <p:tav tm="0">
                                          <p:val>
                                            <p:strVal val="#ppt_y+1"/>
                                          </p:val>
                                        </p:tav>
                                        <p:tav tm="100000">
                                          <p:val>
                                            <p:strVal val="#ppt_y-.03"/>
                                          </p:val>
                                        </p:tav>
                                      </p:tavLst>
                                    </p:anim>
                                    <p:anim calcmode="lin" valueType="num">
                                      <p:cBhvr>
                                        <p:cTn id="15"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6" presetID="37"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anim calcmode="lin" valueType="num">
                                      <p:cBhvr>
                                        <p:cTn id="19" dur="500" fill="hold"/>
                                        <p:tgtEl>
                                          <p:spTgt spid="5"/>
                                        </p:tgtEl>
                                        <p:attrNameLst>
                                          <p:attrName>ppt_x</p:attrName>
                                        </p:attrNameLst>
                                      </p:cBhvr>
                                      <p:tavLst>
                                        <p:tav tm="0">
                                          <p:val>
                                            <p:strVal val="#ppt_x"/>
                                          </p:val>
                                        </p:tav>
                                        <p:tav tm="100000">
                                          <p:val>
                                            <p:strVal val="#ppt_x"/>
                                          </p:val>
                                        </p:tav>
                                      </p:tavLst>
                                    </p:anim>
                                    <p:anim calcmode="lin" valueType="num">
                                      <p:cBhvr>
                                        <p:cTn id="20" dur="450" decel="100000" fill="hold"/>
                                        <p:tgtEl>
                                          <p:spTgt spid="5"/>
                                        </p:tgtEl>
                                        <p:attrNameLst>
                                          <p:attrName>ppt_y</p:attrName>
                                        </p:attrNameLst>
                                      </p:cBhvr>
                                      <p:tavLst>
                                        <p:tav tm="0">
                                          <p:val>
                                            <p:strVal val="#ppt_y+1"/>
                                          </p:val>
                                        </p:tav>
                                        <p:tav tm="100000">
                                          <p:val>
                                            <p:strVal val="#ppt_y-.03"/>
                                          </p:val>
                                        </p:tav>
                                      </p:tavLst>
                                    </p:anim>
                                    <p:anim calcmode="lin" valueType="num">
                                      <p:cBhvr>
                                        <p:cTn id="21"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2" presetID="37"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anim calcmode="lin" valueType="num">
                                      <p:cBhvr>
                                        <p:cTn id="25" dur="500" fill="hold"/>
                                        <p:tgtEl>
                                          <p:spTgt spid="6"/>
                                        </p:tgtEl>
                                        <p:attrNameLst>
                                          <p:attrName>ppt_x</p:attrName>
                                        </p:attrNameLst>
                                      </p:cBhvr>
                                      <p:tavLst>
                                        <p:tav tm="0">
                                          <p:val>
                                            <p:strVal val="#ppt_x"/>
                                          </p:val>
                                        </p:tav>
                                        <p:tav tm="100000">
                                          <p:val>
                                            <p:strVal val="#ppt_x"/>
                                          </p:val>
                                        </p:tav>
                                      </p:tavLst>
                                    </p:anim>
                                    <p:anim calcmode="lin" valueType="num">
                                      <p:cBhvr>
                                        <p:cTn id="26" dur="450" decel="100000" fill="hold"/>
                                        <p:tgtEl>
                                          <p:spTgt spid="6"/>
                                        </p:tgtEl>
                                        <p:attrNameLst>
                                          <p:attrName>ppt_y</p:attrName>
                                        </p:attrNameLst>
                                      </p:cBhvr>
                                      <p:tavLst>
                                        <p:tav tm="0">
                                          <p:val>
                                            <p:strVal val="#ppt_y+1"/>
                                          </p:val>
                                        </p:tav>
                                        <p:tav tm="100000">
                                          <p:val>
                                            <p:strVal val="#ppt_y-.03"/>
                                          </p:val>
                                        </p:tav>
                                      </p:tavLst>
                                    </p:anim>
                                    <p:anim calcmode="lin" valueType="num">
                                      <p:cBhvr>
                                        <p:cTn id="27"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8" presetID="37"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anim calcmode="lin" valueType="num">
                                      <p:cBhvr>
                                        <p:cTn id="31" dur="500" fill="hold"/>
                                        <p:tgtEl>
                                          <p:spTgt spid="7"/>
                                        </p:tgtEl>
                                        <p:attrNameLst>
                                          <p:attrName>ppt_x</p:attrName>
                                        </p:attrNameLst>
                                      </p:cBhvr>
                                      <p:tavLst>
                                        <p:tav tm="0">
                                          <p:val>
                                            <p:strVal val="#ppt_x"/>
                                          </p:val>
                                        </p:tav>
                                        <p:tav tm="100000">
                                          <p:val>
                                            <p:strVal val="#ppt_x"/>
                                          </p:val>
                                        </p:tav>
                                      </p:tavLst>
                                    </p:anim>
                                    <p:anim calcmode="lin" valueType="num">
                                      <p:cBhvr>
                                        <p:cTn id="32" dur="450" decel="100000" fill="hold"/>
                                        <p:tgtEl>
                                          <p:spTgt spid="7"/>
                                        </p:tgtEl>
                                        <p:attrNameLst>
                                          <p:attrName>ppt_y</p:attrName>
                                        </p:attrNameLst>
                                      </p:cBhvr>
                                      <p:tavLst>
                                        <p:tav tm="0">
                                          <p:val>
                                            <p:strVal val="#ppt_y+1"/>
                                          </p:val>
                                        </p:tav>
                                        <p:tav tm="100000">
                                          <p:val>
                                            <p:strVal val="#ppt_y-.03"/>
                                          </p:val>
                                        </p:tav>
                                      </p:tavLst>
                                    </p:anim>
                                    <p:anim calcmode="lin" valueType="num">
                                      <p:cBhvr>
                                        <p:cTn id="33"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4" presetID="37"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anim calcmode="lin" valueType="num">
                                      <p:cBhvr>
                                        <p:cTn id="37" dur="500" fill="hold"/>
                                        <p:tgtEl>
                                          <p:spTgt spid="8"/>
                                        </p:tgtEl>
                                        <p:attrNameLst>
                                          <p:attrName>ppt_x</p:attrName>
                                        </p:attrNameLst>
                                      </p:cBhvr>
                                      <p:tavLst>
                                        <p:tav tm="0">
                                          <p:val>
                                            <p:strVal val="#ppt_x"/>
                                          </p:val>
                                        </p:tav>
                                        <p:tav tm="100000">
                                          <p:val>
                                            <p:strVal val="#ppt_x"/>
                                          </p:val>
                                        </p:tav>
                                      </p:tavLst>
                                    </p:anim>
                                    <p:anim calcmode="lin" valueType="num">
                                      <p:cBhvr>
                                        <p:cTn id="38" dur="450" decel="100000" fill="hold"/>
                                        <p:tgtEl>
                                          <p:spTgt spid="8"/>
                                        </p:tgtEl>
                                        <p:attrNameLst>
                                          <p:attrName>ppt_y</p:attrName>
                                        </p:attrNameLst>
                                      </p:cBhvr>
                                      <p:tavLst>
                                        <p:tav tm="0">
                                          <p:val>
                                            <p:strVal val="#ppt_y+1"/>
                                          </p:val>
                                        </p:tav>
                                        <p:tav tm="100000">
                                          <p:val>
                                            <p:strVal val="#ppt_y-.03"/>
                                          </p:val>
                                        </p:tav>
                                      </p:tavLst>
                                    </p:anim>
                                    <p:anim calcmode="lin" valueType="num">
                                      <p:cBhvr>
                                        <p:cTn id="3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500"/>
                                        <p:tgtEl>
                                          <p:spTgt spid="9"/>
                                        </p:tgtEl>
                                      </p:cBhvr>
                                    </p:animEffect>
                                    <p:anim calcmode="lin" valueType="num">
                                      <p:cBhvr>
                                        <p:cTn id="45" dur="500" fill="hold"/>
                                        <p:tgtEl>
                                          <p:spTgt spid="9"/>
                                        </p:tgtEl>
                                        <p:attrNameLst>
                                          <p:attrName>ppt_x</p:attrName>
                                        </p:attrNameLst>
                                      </p:cBhvr>
                                      <p:tavLst>
                                        <p:tav tm="0">
                                          <p:val>
                                            <p:strVal val="#ppt_x"/>
                                          </p:val>
                                        </p:tav>
                                        <p:tav tm="100000">
                                          <p:val>
                                            <p:strVal val="#ppt_x"/>
                                          </p:val>
                                        </p:tav>
                                      </p:tavLst>
                                    </p:anim>
                                    <p:anim calcmode="lin" valueType="num">
                                      <p:cBhvr>
                                        <p:cTn id="46" dur="450" decel="100000" fill="hold"/>
                                        <p:tgtEl>
                                          <p:spTgt spid="9"/>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500"/>
                                        <p:tgtEl>
                                          <p:spTgt spid="10"/>
                                        </p:tgtEl>
                                      </p:cBhvr>
                                    </p:animEffect>
                                    <p:anim calcmode="lin" valueType="num">
                                      <p:cBhvr>
                                        <p:cTn id="51" dur="500" fill="hold"/>
                                        <p:tgtEl>
                                          <p:spTgt spid="10"/>
                                        </p:tgtEl>
                                        <p:attrNameLst>
                                          <p:attrName>ppt_x</p:attrName>
                                        </p:attrNameLst>
                                      </p:cBhvr>
                                      <p:tavLst>
                                        <p:tav tm="0">
                                          <p:val>
                                            <p:strVal val="#ppt_x"/>
                                          </p:val>
                                        </p:tav>
                                        <p:tav tm="100000">
                                          <p:val>
                                            <p:strVal val="#ppt_x"/>
                                          </p:val>
                                        </p:tav>
                                      </p:tavLst>
                                    </p:anim>
                                    <p:anim calcmode="lin" valueType="num">
                                      <p:cBhvr>
                                        <p:cTn id="52" dur="450" decel="100000" fill="hold"/>
                                        <p:tgtEl>
                                          <p:spTgt spid="10"/>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4" presetID="37" presetClass="entr" presetSubtype="0" fill="hold"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anim calcmode="lin" valueType="num">
                                      <p:cBhvr>
                                        <p:cTn id="57" dur="500" fill="hold"/>
                                        <p:tgtEl>
                                          <p:spTgt spid="11"/>
                                        </p:tgtEl>
                                        <p:attrNameLst>
                                          <p:attrName>ppt_x</p:attrName>
                                        </p:attrNameLst>
                                      </p:cBhvr>
                                      <p:tavLst>
                                        <p:tav tm="0">
                                          <p:val>
                                            <p:strVal val="#ppt_x"/>
                                          </p:val>
                                        </p:tav>
                                        <p:tav tm="100000">
                                          <p:val>
                                            <p:strVal val="#ppt_x"/>
                                          </p:val>
                                        </p:tav>
                                      </p:tavLst>
                                    </p:anim>
                                    <p:anim calcmode="lin" valueType="num">
                                      <p:cBhvr>
                                        <p:cTn id="58" dur="450" decel="100000" fill="hold"/>
                                        <p:tgtEl>
                                          <p:spTgt spid="11"/>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500"/>
                                        <p:tgtEl>
                                          <p:spTgt spid="12"/>
                                        </p:tgtEl>
                                      </p:cBhvr>
                                    </p:animEffect>
                                    <p:anim calcmode="lin" valueType="num">
                                      <p:cBhvr>
                                        <p:cTn id="63" dur="500" fill="hold"/>
                                        <p:tgtEl>
                                          <p:spTgt spid="12"/>
                                        </p:tgtEl>
                                        <p:attrNameLst>
                                          <p:attrName>ppt_x</p:attrName>
                                        </p:attrNameLst>
                                      </p:cBhvr>
                                      <p:tavLst>
                                        <p:tav tm="0">
                                          <p:val>
                                            <p:strVal val="#ppt_x"/>
                                          </p:val>
                                        </p:tav>
                                        <p:tav tm="100000">
                                          <p:val>
                                            <p:strVal val="#ppt_x"/>
                                          </p:val>
                                        </p:tav>
                                      </p:tavLst>
                                    </p:anim>
                                    <p:anim calcmode="lin" valueType="num">
                                      <p:cBhvr>
                                        <p:cTn id="64" dur="450" decel="100000" fill="hold"/>
                                        <p:tgtEl>
                                          <p:spTgt spid="12"/>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6" presetID="37" presetClass="entr" presetSubtype="0" fill="hold" grpId="0" nodeType="withEffect">
                                  <p:stCondLst>
                                    <p:cond delay="0"/>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450" decel="100000" fill="hold"/>
                                        <p:tgtEl>
                                          <p:spTgt spid="13"/>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37" presetClass="entr" presetSubtype="0" fill="hold" nodeType="clickEffect">
                                  <p:stCondLst>
                                    <p:cond delay="0"/>
                                  </p:stCondLst>
                                  <p:childTnLst>
                                    <p:set>
                                      <p:cBhvr>
                                        <p:cTn id="75" dur="1" fill="hold">
                                          <p:stCondLst>
                                            <p:cond delay="0"/>
                                          </p:stCondLst>
                                        </p:cTn>
                                        <p:tgtEl>
                                          <p:spTgt spid="14"/>
                                        </p:tgtEl>
                                        <p:attrNameLst>
                                          <p:attrName>style.visibility</p:attrName>
                                        </p:attrNameLst>
                                      </p:cBhvr>
                                      <p:to>
                                        <p:strVal val="visible"/>
                                      </p:to>
                                    </p:set>
                                    <p:animEffect transition="in" filter="fade">
                                      <p:cBhvr>
                                        <p:cTn id="76" dur="500"/>
                                        <p:tgtEl>
                                          <p:spTgt spid="14"/>
                                        </p:tgtEl>
                                      </p:cBhvr>
                                    </p:animEffect>
                                    <p:anim calcmode="lin" valueType="num">
                                      <p:cBhvr>
                                        <p:cTn id="77" dur="500" fill="hold"/>
                                        <p:tgtEl>
                                          <p:spTgt spid="14"/>
                                        </p:tgtEl>
                                        <p:attrNameLst>
                                          <p:attrName>ppt_x</p:attrName>
                                        </p:attrNameLst>
                                      </p:cBhvr>
                                      <p:tavLst>
                                        <p:tav tm="0">
                                          <p:val>
                                            <p:strVal val="#ppt_x"/>
                                          </p:val>
                                        </p:tav>
                                        <p:tav tm="100000">
                                          <p:val>
                                            <p:strVal val="#ppt_x"/>
                                          </p:val>
                                        </p:tav>
                                      </p:tavLst>
                                    </p:anim>
                                    <p:anim calcmode="lin" valueType="num">
                                      <p:cBhvr>
                                        <p:cTn id="78" dur="450" decel="100000" fill="hold"/>
                                        <p:tgtEl>
                                          <p:spTgt spid="14"/>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0" presetID="37" presetClass="entr" presetSubtype="0" fill="hold" grpId="0" nodeType="withEffect">
                                  <p:stCondLst>
                                    <p:cond delay="0"/>
                                  </p:stCondLst>
                                  <p:childTnLst>
                                    <p:set>
                                      <p:cBhvr>
                                        <p:cTn id="81" dur="1" fill="hold">
                                          <p:stCondLst>
                                            <p:cond delay="0"/>
                                          </p:stCondLst>
                                        </p:cTn>
                                        <p:tgtEl>
                                          <p:spTgt spid="15"/>
                                        </p:tgtEl>
                                        <p:attrNameLst>
                                          <p:attrName>style.visibility</p:attrName>
                                        </p:attrNameLst>
                                      </p:cBhvr>
                                      <p:to>
                                        <p:strVal val="visible"/>
                                      </p:to>
                                    </p:set>
                                    <p:animEffect transition="in" filter="fade">
                                      <p:cBhvr>
                                        <p:cTn id="82" dur="500"/>
                                        <p:tgtEl>
                                          <p:spTgt spid="15"/>
                                        </p:tgtEl>
                                      </p:cBhvr>
                                    </p:animEffect>
                                    <p:anim calcmode="lin" valueType="num">
                                      <p:cBhvr>
                                        <p:cTn id="83" dur="500" fill="hold"/>
                                        <p:tgtEl>
                                          <p:spTgt spid="15"/>
                                        </p:tgtEl>
                                        <p:attrNameLst>
                                          <p:attrName>ppt_x</p:attrName>
                                        </p:attrNameLst>
                                      </p:cBhvr>
                                      <p:tavLst>
                                        <p:tav tm="0">
                                          <p:val>
                                            <p:strVal val="#ppt_x"/>
                                          </p:val>
                                        </p:tav>
                                        <p:tav tm="100000">
                                          <p:val>
                                            <p:strVal val="#ppt_x"/>
                                          </p:val>
                                        </p:tav>
                                      </p:tavLst>
                                    </p:anim>
                                    <p:anim calcmode="lin" valueType="num">
                                      <p:cBhvr>
                                        <p:cTn id="84" dur="450" decel="100000" fill="hold"/>
                                        <p:tgtEl>
                                          <p:spTgt spid="15"/>
                                        </p:tgtEl>
                                        <p:attrNameLst>
                                          <p:attrName>ppt_y</p:attrName>
                                        </p:attrNameLst>
                                      </p:cBhvr>
                                      <p:tavLst>
                                        <p:tav tm="0">
                                          <p:val>
                                            <p:strVal val="#ppt_y+1"/>
                                          </p:val>
                                        </p:tav>
                                        <p:tav tm="100000">
                                          <p:val>
                                            <p:strVal val="#ppt_y-.03"/>
                                          </p:val>
                                        </p:tav>
                                      </p:tavLst>
                                    </p:anim>
                                    <p:anim calcmode="lin" valueType="num">
                                      <p:cBhvr>
                                        <p:cTn id="85"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6" presetID="37" presetClass="entr" presetSubtype="0"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500"/>
                                        <p:tgtEl>
                                          <p:spTgt spid="16"/>
                                        </p:tgtEl>
                                      </p:cBhvr>
                                    </p:animEffect>
                                    <p:anim calcmode="lin" valueType="num">
                                      <p:cBhvr>
                                        <p:cTn id="89" dur="500" fill="hold"/>
                                        <p:tgtEl>
                                          <p:spTgt spid="16"/>
                                        </p:tgtEl>
                                        <p:attrNameLst>
                                          <p:attrName>ppt_x</p:attrName>
                                        </p:attrNameLst>
                                      </p:cBhvr>
                                      <p:tavLst>
                                        <p:tav tm="0">
                                          <p:val>
                                            <p:strVal val="#ppt_x"/>
                                          </p:val>
                                        </p:tav>
                                        <p:tav tm="100000">
                                          <p:val>
                                            <p:strVal val="#ppt_x"/>
                                          </p:val>
                                        </p:tav>
                                      </p:tavLst>
                                    </p:anim>
                                    <p:anim calcmode="lin" valueType="num">
                                      <p:cBhvr>
                                        <p:cTn id="90" dur="450" decel="100000" fill="hold"/>
                                        <p:tgtEl>
                                          <p:spTgt spid="16"/>
                                        </p:tgtEl>
                                        <p:attrNameLst>
                                          <p:attrName>ppt_y</p:attrName>
                                        </p:attrNameLst>
                                      </p:cBhvr>
                                      <p:tavLst>
                                        <p:tav tm="0">
                                          <p:val>
                                            <p:strVal val="#ppt_y+1"/>
                                          </p:val>
                                        </p:tav>
                                        <p:tav tm="100000">
                                          <p:val>
                                            <p:strVal val="#ppt_y-.03"/>
                                          </p:val>
                                        </p:tav>
                                      </p:tavLst>
                                    </p:anim>
                                    <p:anim calcmode="lin" valueType="num">
                                      <p:cBhvr>
                                        <p:cTn id="91"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2" presetID="37" presetClass="entr" presetSubtype="0" fill="hold" grpId="0" nodeType="withEffect">
                                  <p:stCondLst>
                                    <p:cond delay="0"/>
                                  </p:stCondLst>
                                  <p:childTnLst>
                                    <p:set>
                                      <p:cBhvr>
                                        <p:cTn id="93" dur="1" fill="hold">
                                          <p:stCondLst>
                                            <p:cond delay="0"/>
                                          </p:stCondLst>
                                        </p:cTn>
                                        <p:tgtEl>
                                          <p:spTgt spid="17"/>
                                        </p:tgtEl>
                                        <p:attrNameLst>
                                          <p:attrName>style.visibility</p:attrName>
                                        </p:attrNameLst>
                                      </p:cBhvr>
                                      <p:to>
                                        <p:strVal val="visible"/>
                                      </p:to>
                                    </p:set>
                                    <p:animEffect transition="in" filter="fade">
                                      <p:cBhvr>
                                        <p:cTn id="94" dur="500"/>
                                        <p:tgtEl>
                                          <p:spTgt spid="17"/>
                                        </p:tgtEl>
                                      </p:cBhvr>
                                    </p:animEffect>
                                    <p:anim calcmode="lin" valueType="num">
                                      <p:cBhvr>
                                        <p:cTn id="95" dur="500" fill="hold"/>
                                        <p:tgtEl>
                                          <p:spTgt spid="17"/>
                                        </p:tgtEl>
                                        <p:attrNameLst>
                                          <p:attrName>ppt_x</p:attrName>
                                        </p:attrNameLst>
                                      </p:cBhvr>
                                      <p:tavLst>
                                        <p:tav tm="0">
                                          <p:val>
                                            <p:strVal val="#ppt_x"/>
                                          </p:val>
                                        </p:tav>
                                        <p:tav tm="100000">
                                          <p:val>
                                            <p:strVal val="#ppt_x"/>
                                          </p:val>
                                        </p:tav>
                                      </p:tavLst>
                                    </p:anim>
                                    <p:anim calcmode="lin" valueType="num">
                                      <p:cBhvr>
                                        <p:cTn id="96" dur="450" decel="100000" fill="hold"/>
                                        <p:tgtEl>
                                          <p:spTgt spid="17"/>
                                        </p:tgtEl>
                                        <p:attrNameLst>
                                          <p:attrName>ppt_y</p:attrName>
                                        </p:attrNameLst>
                                      </p:cBhvr>
                                      <p:tavLst>
                                        <p:tav tm="0">
                                          <p:val>
                                            <p:strVal val="#ppt_y+1"/>
                                          </p:val>
                                        </p:tav>
                                        <p:tav tm="100000">
                                          <p:val>
                                            <p:strVal val="#ppt_y-.03"/>
                                          </p:val>
                                        </p:tav>
                                      </p:tavLst>
                                    </p:anim>
                                    <p:anim calcmode="lin" valueType="num">
                                      <p:cBhvr>
                                        <p:cTn id="97"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8" presetID="37" presetClass="entr" presetSubtype="0" fill="hold" grpId="0" nodeType="with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anim calcmode="lin" valueType="num">
                                      <p:cBhvr>
                                        <p:cTn id="101" dur="500" fill="hold"/>
                                        <p:tgtEl>
                                          <p:spTgt spid="18"/>
                                        </p:tgtEl>
                                        <p:attrNameLst>
                                          <p:attrName>ppt_x</p:attrName>
                                        </p:attrNameLst>
                                      </p:cBhvr>
                                      <p:tavLst>
                                        <p:tav tm="0">
                                          <p:val>
                                            <p:strVal val="#ppt_x"/>
                                          </p:val>
                                        </p:tav>
                                        <p:tav tm="100000">
                                          <p:val>
                                            <p:strVal val="#ppt_x"/>
                                          </p:val>
                                        </p:tav>
                                      </p:tavLst>
                                    </p:anim>
                                    <p:anim calcmode="lin" valueType="num">
                                      <p:cBhvr>
                                        <p:cTn id="102" dur="450" decel="100000" fill="hold"/>
                                        <p:tgtEl>
                                          <p:spTgt spid="18"/>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nodeType="clickEffect">
                                  <p:stCondLst>
                                    <p:cond delay="0"/>
                                  </p:stCondLst>
                                  <p:childTnLst>
                                    <p:set>
                                      <p:cBhvr>
                                        <p:cTn id="107" dur="1" fill="hold">
                                          <p:stCondLst>
                                            <p:cond delay="0"/>
                                          </p:stCondLst>
                                        </p:cTn>
                                        <p:tgtEl>
                                          <p:spTgt spid="19"/>
                                        </p:tgtEl>
                                        <p:attrNameLst>
                                          <p:attrName>style.visibility</p:attrName>
                                        </p:attrNameLst>
                                      </p:cBhvr>
                                      <p:to>
                                        <p:strVal val="visible"/>
                                      </p:to>
                                    </p:set>
                                    <p:animEffect transition="in" filter="fade">
                                      <p:cBhvr>
                                        <p:cTn id="108" dur="500"/>
                                        <p:tgtEl>
                                          <p:spTgt spid="19"/>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500"/>
                                        <p:tgtEl>
                                          <p:spTgt spid="20"/>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500"/>
                                        <p:tgtEl>
                                          <p:spTgt spid="21"/>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2" grpId="0" animBg="1"/>
      <p:bldP spid="13" grpId="0" animBg="1"/>
      <p:bldP spid="15" grpId="0" animBg="1"/>
      <p:bldP spid="17" grpId="0" animBg="1"/>
      <p:bldP spid="18" grpId="0" animBg="1"/>
      <p:bldP spid="20" grpId="0" animBg="1"/>
      <p:bldP spid="2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3"/>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WHAT WE ARE LOOKING FOR</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Dearborn pharmacy pilot</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Utility storm-season partner</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Health-plan receipts pilot</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Clinical validation study</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txBox="1"/>
          <p:nvPr/>
        </p:nvSpPr>
        <p:spPr>
          <a:xfrm>
            <a:off x="731520" y="502920"/>
            <a:ext cx="10698480" cy="731520"/>
          </a:xfrm>
          <a:prstGeom prst="rect">
            <a:avLst/>
          </a:prstGeom>
          <a:noFill/>
          <a:ln/>
        </p:spPr>
        <p:txBody>
          <a:bodyPr wrap="square" lIns="0" tIns="0" rIns="0" bIns="0" rtlCol="0" anchor="ctr"/>
          <a:lstStyle/>
          <a:p>
            <a:pPr marL="0" indent="0" algn="ctr">
              <a:buNone/>
            </a:pPr>
            <a:r>
              <a:rPr lang="en-US" sz="3200" dirty="0">
                <a:solidFill>
                  <a:srgbClr val="F4F1EA"/>
                </a:solidFill>
                <a:latin typeface="Bookman Old Style" pitchFamily="34" charset="0"/>
                <a:ea typeface="Bookman Old Style" pitchFamily="34" charset="-122"/>
                <a:cs typeface="Bookman Old Style" pitchFamily="34" charset="-120"/>
              </a:rPr>
              <a:t>Appendix: backup slides for questions</a:t>
            </a:r>
            <a:endParaRPr lang="en-US" sz="3200" dirty="0"/>
          </a:p>
        </p:txBody>
      </p:sp>
      <p:sp>
        <p:nvSpPr>
          <p:cNvPr id="3" name="Text 1"/>
          <p:cNvSpPr txBox="1"/>
          <p:nvPr/>
        </p:nvSpPr>
        <p:spPr>
          <a:xfrm>
            <a:off x="731520" y="1234440"/>
            <a:ext cx="10698480" cy="41148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Hidden in the slideshow. To open one while presenting, type its number and press Enter.</a:t>
            </a:r>
            <a:endParaRPr lang="en-US" sz="1500" dirty="0"/>
          </a:p>
        </p:txBody>
      </p:sp>
      <p:sp>
        <p:nvSpPr>
          <p:cNvPr id="4" name="Text 2"/>
          <p:cNvSpPr txBox="1"/>
          <p:nvPr/>
        </p:nvSpPr>
        <p:spPr>
          <a:xfrm>
            <a:off x="822960" y="192024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15</a:t>
            </a:r>
            <a:endParaRPr lang="en-US" sz="1800" dirty="0"/>
          </a:p>
        </p:txBody>
      </p:sp>
      <p:sp>
        <p:nvSpPr>
          <p:cNvPr id="5" name="Text 3"/>
          <p:cNvSpPr txBox="1"/>
          <p:nvPr/>
        </p:nvSpPr>
        <p:spPr>
          <a:xfrm>
            <a:off x="1463040" y="192024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Everyone watches medicine until it reaches you</a:t>
            </a:r>
            <a:endParaRPr lang="en-US" sz="1500" dirty="0"/>
          </a:p>
        </p:txBody>
      </p:sp>
      <p:sp>
        <p:nvSpPr>
          <p:cNvPr id="6" name="Text 4"/>
          <p:cNvSpPr txBox="1"/>
          <p:nvPr/>
        </p:nvSpPr>
        <p:spPr>
          <a:xfrm>
            <a:off x="822960" y="246888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16</a:t>
            </a:r>
            <a:endParaRPr lang="en-US" sz="1800" dirty="0"/>
          </a:p>
        </p:txBody>
      </p:sp>
      <p:sp>
        <p:nvSpPr>
          <p:cNvPr id="7" name="Text 5"/>
          <p:cNvSpPr txBox="1"/>
          <p:nvPr/>
        </p:nvSpPr>
        <p:spPr>
          <a:xfrm>
            <a:off x="1463040" y="246888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What's new here</a:t>
            </a:r>
            <a:endParaRPr lang="en-US" sz="1500" dirty="0"/>
          </a:p>
        </p:txBody>
      </p:sp>
      <p:sp>
        <p:nvSpPr>
          <p:cNvPr id="8" name="Text 6"/>
          <p:cNvSpPr txBox="1"/>
          <p:nvPr/>
        </p:nvSpPr>
        <p:spPr>
          <a:xfrm>
            <a:off x="822960" y="301752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17</a:t>
            </a:r>
            <a:endParaRPr lang="en-US" sz="1800" dirty="0"/>
          </a:p>
        </p:txBody>
      </p:sp>
      <p:sp>
        <p:nvSpPr>
          <p:cNvPr id="9" name="Text 7"/>
          <p:cNvSpPr txBox="1"/>
          <p:nvPr/>
        </p:nvSpPr>
        <p:spPr>
          <a:xfrm>
            <a:off x="1463040" y="301752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Tiger Data does the heavy lifting</a:t>
            </a:r>
            <a:endParaRPr lang="en-US" sz="1500" dirty="0"/>
          </a:p>
        </p:txBody>
      </p:sp>
      <p:sp>
        <p:nvSpPr>
          <p:cNvPr id="10" name="Text 8"/>
          <p:cNvSpPr txBox="1"/>
          <p:nvPr/>
        </p:nvSpPr>
        <p:spPr>
          <a:xfrm>
            <a:off x="822960" y="356616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18</a:t>
            </a:r>
            <a:endParaRPr lang="en-US" sz="1800" dirty="0"/>
          </a:p>
        </p:txBody>
      </p:sp>
      <p:sp>
        <p:nvSpPr>
          <p:cNvPr id="11" name="Text 9"/>
          <p:cNvSpPr txBox="1"/>
          <p:nvPr/>
        </p:nvSpPr>
        <p:spPr>
          <a:xfrm>
            <a:off x="1463040" y="356616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Gemini: from messy reality to clear advice</a:t>
            </a:r>
            <a:endParaRPr lang="en-US" sz="1500" dirty="0"/>
          </a:p>
        </p:txBody>
      </p:sp>
      <p:sp>
        <p:nvSpPr>
          <p:cNvPr id="12" name="Text 10"/>
          <p:cNvSpPr txBox="1"/>
          <p:nvPr/>
        </p:nvSpPr>
        <p:spPr>
          <a:xfrm>
            <a:off x="822960" y="411480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19</a:t>
            </a:r>
            <a:endParaRPr lang="en-US" sz="1800" dirty="0"/>
          </a:p>
        </p:txBody>
      </p:sp>
      <p:sp>
        <p:nvSpPr>
          <p:cNvPr id="13" name="Text 11"/>
          <p:cNvSpPr txBox="1"/>
          <p:nvPr/>
        </p:nvSpPr>
        <p:spPr>
          <a:xfrm>
            <a:off x="1463040" y="411480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A forecast trained for each medicine</a:t>
            </a:r>
            <a:endParaRPr lang="en-US" sz="1500" dirty="0"/>
          </a:p>
        </p:txBody>
      </p:sp>
      <p:sp>
        <p:nvSpPr>
          <p:cNvPr id="14" name="Text 12"/>
          <p:cNvSpPr txBox="1"/>
          <p:nvPr/>
        </p:nvSpPr>
        <p:spPr>
          <a:xfrm>
            <a:off x="822960" y="466344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20</a:t>
            </a:r>
            <a:endParaRPr lang="en-US" sz="1800" dirty="0"/>
          </a:p>
        </p:txBody>
      </p:sp>
      <p:sp>
        <p:nvSpPr>
          <p:cNvPr id="15" name="Text 13"/>
          <p:cNvSpPr txBox="1"/>
          <p:nvPr/>
        </p:nvSpPr>
        <p:spPr>
          <a:xfrm>
            <a:off x="1463040" y="466344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Real outages, live from DTE</a:t>
            </a:r>
            <a:endParaRPr lang="en-US" sz="1500" dirty="0"/>
          </a:p>
        </p:txBody>
      </p:sp>
      <p:sp>
        <p:nvSpPr>
          <p:cNvPr id="16" name="Text 14"/>
          <p:cNvSpPr txBox="1"/>
          <p:nvPr/>
        </p:nvSpPr>
        <p:spPr>
          <a:xfrm>
            <a:off x="822960" y="521208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21</a:t>
            </a:r>
            <a:endParaRPr lang="en-US" sz="1800" dirty="0"/>
          </a:p>
        </p:txBody>
      </p:sp>
      <p:sp>
        <p:nvSpPr>
          <p:cNvPr id="17" name="Text 15"/>
          <p:cNvSpPr txBox="1"/>
          <p:nvPr/>
        </p:nvSpPr>
        <p:spPr>
          <a:xfrm>
            <a:off x="1463040" y="521208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Numbers you can trust, and limits we show</a:t>
            </a:r>
            <a:endParaRPr lang="en-US" sz="1500" dirty="0"/>
          </a:p>
        </p:txBody>
      </p:sp>
      <p:sp>
        <p:nvSpPr>
          <p:cNvPr id="18" name="Text 16"/>
          <p:cNvSpPr txBox="1"/>
          <p:nvPr/>
        </p:nvSpPr>
        <p:spPr>
          <a:xfrm>
            <a:off x="822960" y="576072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22</a:t>
            </a:r>
            <a:endParaRPr lang="en-US" sz="1800" dirty="0"/>
          </a:p>
        </p:txBody>
      </p:sp>
      <p:sp>
        <p:nvSpPr>
          <p:cNvPr id="19" name="Text 17"/>
          <p:cNvSpPr txBox="1"/>
          <p:nvPr/>
        </p:nvSpPr>
        <p:spPr>
          <a:xfrm>
            <a:off x="1463040" y="576072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Records a pharmacist can verify</a:t>
            </a:r>
            <a:endParaRPr lang="en-US" sz="1500" dirty="0"/>
          </a:p>
        </p:txBody>
      </p:sp>
      <p:sp>
        <p:nvSpPr>
          <p:cNvPr id="20" name="Text 18"/>
          <p:cNvSpPr txBox="1"/>
          <p:nvPr/>
        </p:nvSpPr>
        <p:spPr>
          <a:xfrm>
            <a:off x="6400800" y="192024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23</a:t>
            </a:r>
            <a:endParaRPr lang="en-US" sz="1800" dirty="0"/>
          </a:p>
        </p:txBody>
      </p:sp>
      <p:sp>
        <p:nvSpPr>
          <p:cNvPr id="21" name="Text 19"/>
          <p:cNvSpPr txBox="1"/>
          <p:nvPr/>
        </p:nvSpPr>
        <p:spPr>
          <a:xfrm>
            <a:off x="7040880" y="192024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Was the dose I took last Tuesday still good?</a:t>
            </a:r>
            <a:endParaRPr lang="en-US" sz="1500" dirty="0"/>
          </a:p>
        </p:txBody>
      </p:sp>
      <p:sp>
        <p:nvSpPr>
          <p:cNvPr id="22" name="Text 20"/>
          <p:cNvSpPr txBox="1"/>
          <p:nvPr/>
        </p:nvSpPr>
        <p:spPr>
          <a:xfrm>
            <a:off x="6400800" y="246888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24</a:t>
            </a:r>
            <a:endParaRPr lang="en-US" sz="1800" dirty="0"/>
          </a:p>
        </p:txBody>
      </p:sp>
      <p:sp>
        <p:nvSpPr>
          <p:cNvPr id="23" name="Text 21"/>
          <p:cNvSpPr txBox="1"/>
          <p:nvPr/>
        </p:nvSpPr>
        <p:spPr>
          <a:xfrm>
            <a:off x="7040880" y="246888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In your language, with your data in your hands</a:t>
            </a:r>
            <a:endParaRPr lang="en-US" sz="1500" dirty="0"/>
          </a:p>
        </p:txBody>
      </p:sp>
      <p:sp>
        <p:nvSpPr>
          <p:cNvPr id="24" name="Text 22"/>
          <p:cNvSpPr txBox="1"/>
          <p:nvPr/>
        </p:nvSpPr>
        <p:spPr>
          <a:xfrm>
            <a:off x="6400800" y="301752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25</a:t>
            </a:r>
            <a:endParaRPr lang="en-US" sz="1800" dirty="0"/>
          </a:p>
        </p:txBody>
      </p:sp>
      <p:sp>
        <p:nvSpPr>
          <p:cNvPr id="25" name="Text 23"/>
          <p:cNvSpPr txBox="1"/>
          <p:nvPr/>
        </p:nvSpPr>
        <p:spPr>
          <a:xfrm>
            <a:off x="7040880" y="301752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Works with or without AI</a:t>
            </a:r>
            <a:endParaRPr lang="en-US" sz="1500" dirty="0"/>
          </a:p>
        </p:txBody>
      </p:sp>
      <p:sp>
        <p:nvSpPr>
          <p:cNvPr id="26" name="Text 24"/>
          <p:cNvSpPr txBox="1"/>
          <p:nvPr/>
        </p:nvSpPr>
        <p:spPr>
          <a:xfrm>
            <a:off x="6400800" y="356616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26</a:t>
            </a:r>
            <a:endParaRPr lang="en-US" sz="1800" dirty="0"/>
          </a:p>
        </p:txBody>
      </p:sp>
      <p:sp>
        <p:nvSpPr>
          <p:cNvPr id="27" name="Text 25"/>
          <p:cNvSpPr txBox="1"/>
          <p:nvPr/>
        </p:nvSpPr>
        <p:spPr>
          <a:xfrm>
            <a:off x="7040880" y="356616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Build on LIFELOG (developers)</a:t>
            </a:r>
            <a:endParaRPr lang="en-US" sz="1500" dirty="0"/>
          </a:p>
        </p:txBody>
      </p:sp>
      <p:sp>
        <p:nvSpPr>
          <p:cNvPr id="28" name="Text 26"/>
          <p:cNvSpPr txBox="1"/>
          <p:nvPr/>
        </p:nvSpPr>
        <p:spPr>
          <a:xfrm>
            <a:off x="6400800" y="411480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27</a:t>
            </a:r>
            <a:endParaRPr lang="en-US" sz="1800" dirty="0"/>
          </a:p>
        </p:txBody>
      </p:sp>
      <p:sp>
        <p:nvSpPr>
          <p:cNvPr id="29" name="Text 27"/>
          <p:cNvSpPr txBox="1"/>
          <p:nvPr/>
        </p:nvSpPr>
        <p:spPr>
          <a:xfrm>
            <a:off x="7040880" y="411480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Try it three ways (demo accounts)</a:t>
            </a:r>
            <a:endParaRPr lang="en-US" sz="1500" dirty="0"/>
          </a:p>
        </p:txBody>
      </p:sp>
      <p:sp>
        <p:nvSpPr>
          <p:cNvPr id="30" name="Text 28"/>
          <p:cNvSpPr txBox="1"/>
          <p:nvPr/>
        </p:nvSpPr>
        <p:spPr>
          <a:xfrm>
            <a:off x="6400800" y="466344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28</a:t>
            </a:r>
            <a:endParaRPr lang="en-US" sz="1800" dirty="0"/>
          </a:p>
        </p:txBody>
      </p:sp>
      <p:sp>
        <p:nvSpPr>
          <p:cNvPr id="31" name="Text 29"/>
          <p:cNvSpPr txBox="1"/>
          <p:nvPr/>
        </p:nvSpPr>
        <p:spPr>
          <a:xfrm>
            <a:off x="7040880" y="466344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What you'll see in the live demo</a:t>
            </a:r>
            <a:endParaRPr lang="en-US" sz="1500" dirty="0"/>
          </a:p>
        </p:txBody>
      </p:sp>
      <p:sp>
        <p:nvSpPr>
          <p:cNvPr id="32" name="Text 30"/>
          <p:cNvSpPr txBox="1"/>
          <p:nvPr/>
        </p:nvSpPr>
        <p:spPr>
          <a:xfrm>
            <a:off x="6400800" y="5212080"/>
            <a:ext cx="548640" cy="457200"/>
          </a:xfrm>
          <a:prstGeom prst="rect">
            <a:avLst/>
          </a:prstGeom>
          <a:noFill/>
          <a:ln/>
        </p:spPr>
        <p:txBody>
          <a:bodyPr wrap="square" lIns="0" tIns="0" rIns="0" bIns="0" rtlCol="0" anchor="ctr"/>
          <a:lstStyle/>
          <a:p>
            <a:pPr marL="0" indent="0">
              <a:buNone/>
            </a:pPr>
            <a:r>
              <a:rPr lang="en-US" sz="1800" b="1" dirty="0">
                <a:solidFill>
                  <a:srgbClr val="F2A541"/>
                </a:solidFill>
                <a:latin typeface="Calibri" pitchFamily="34" charset="0"/>
                <a:ea typeface="Calibri" pitchFamily="34" charset="-122"/>
                <a:cs typeface="Calibri" pitchFamily="34" charset="-120"/>
              </a:rPr>
              <a:t>29</a:t>
            </a:r>
            <a:endParaRPr lang="en-US" sz="1800" dirty="0"/>
          </a:p>
        </p:txBody>
      </p:sp>
      <p:sp>
        <p:nvSpPr>
          <p:cNvPr id="33" name="Text 31"/>
          <p:cNvSpPr txBox="1"/>
          <p:nvPr/>
        </p:nvSpPr>
        <p:spPr>
          <a:xfrm>
            <a:off x="7040880" y="5212080"/>
            <a:ext cx="4754880" cy="457200"/>
          </a:xfrm>
          <a:prstGeom prst="rect">
            <a:avLst/>
          </a:prstGeom>
          <a:noFill/>
          <a:ln/>
        </p:spPr>
        <p:txBody>
          <a:bodyPr wrap="square" lIns="0" tIns="0" rIns="0" bIns="0" rtlCol="0" anchor="ctr"/>
          <a:lstStyle/>
          <a:p>
            <a:pPr marL="0" indent="0">
              <a:buNone/>
            </a:pPr>
            <a:r>
              <a:rPr lang="en-US" sz="1500" dirty="0">
                <a:solidFill>
                  <a:srgbClr val="F4F1EA"/>
                </a:solidFill>
                <a:latin typeface="Calibri" pitchFamily="34" charset="0"/>
                <a:ea typeface="Calibri" pitchFamily="34" charset="-122"/>
                <a:cs typeface="Calibri" pitchFamily="34" charset="-120"/>
              </a:rPr>
              <a:t>Who it helps</a:t>
            </a:r>
            <a:endParaRPr lang="en-US" sz="1500" dirty="0"/>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53" presetClass="entr" presetSubtype="16"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 calcmode="lin" valueType="num">
                                      <p:cBhvr>
                                        <p:cTn id="121" dur="600" fill="hold"/>
                                        <p:tgtEl>
                                          <p:spTgt spid="21"/>
                                        </p:tgtEl>
                                        <p:attrNameLst>
                                          <p:attrName>ppt_w</p:attrName>
                                        </p:attrNameLst>
                                      </p:cBhvr>
                                      <p:tavLst>
                                        <p:tav tm="0">
                                          <p:val>
                                            <p:fltVal val="0"/>
                                          </p:val>
                                        </p:tav>
                                        <p:tav tm="100000">
                                          <p:val>
                                            <p:strVal val="#ppt_w"/>
                                          </p:val>
                                        </p:tav>
                                      </p:tavLst>
                                    </p:anim>
                                    <p:anim calcmode="lin" valueType="num">
                                      <p:cBhvr>
                                        <p:cTn id="122" dur="600" fill="hold"/>
                                        <p:tgtEl>
                                          <p:spTgt spid="21"/>
                                        </p:tgtEl>
                                        <p:attrNameLst>
                                          <p:attrName>ppt_h</p:attrName>
                                        </p:attrNameLst>
                                      </p:cBhvr>
                                      <p:tavLst>
                                        <p:tav tm="0">
                                          <p:val>
                                            <p:fltVal val="0"/>
                                          </p:val>
                                        </p:tav>
                                        <p:tav tm="100000">
                                          <p:val>
                                            <p:strVal val="#ppt_h"/>
                                          </p:val>
                                        </p:tav>
                                      </p:tavLst>
                                    </p:anim>
                                    <p:animEffect transition="in" filter="fade">
                                      <p:cBhvr>
                                        <p:cTn id="123" dur="600"/>
                                        <p:tgtEl>
                                          <p:spTgt spid="21"/>
                                        </p:tgtEl>
                                      </p:cBhvr>
                                    </p:animEffect>
                                  </p:childTnLst>
                                </p:cTn>
                              </p:par>
                              <p:par>
                                <p:cTn id="124" presetID="37" presetClass="entr" presetSubtype="0" fill="hold" nodeType="withEffect">
                                  <p:stCondLst>
                                    <p:cond delay="0"/>
                                  </p:stCondLst>
                                  <p:childTnLst>
                                    <p:set>
                                      <p:cBhvr>
                                        <p:cTn id="125" dur="1" fill="hold">
                                          <p:stCondLst>
                                            <p:cond delay="0"/>
                                          </p:stCondLst>
                                        </p:cTn>
                                        <p:tgtEl>
                                          <p:spTgt spid="22"/>
                                        </p:tgtEl>
                                        <p:attrNameLst>
                                          <p:attrName>style.visibility</p:attrName>
                                        </p:attrNameLst>
                                      </p:cBhvr>
                                      <p:to>
                                        <p:strVal val="visible"/>
                                      </p:to>
                                    </p:set>
                                    <p:animEffect transition="in" filter="fade">
                                      <p:cBhvr>
                                        <p:cTn id="126" dur="500"/>
                                        <p:tgtEl>
                                          <p:spTgt spid="22"/>
                                        </p:tgtEl>
                                      </p:cBhvr>
                                    </p:animEffect>
                                    <p:anim calcmode="lin" valueType="num">
                                      <p:cBhvr>
                                        <p:cTn id="127" dur="500" fill="hold"/>
                                        <p:tgtEl>
                                          <p:spTgt spid="22"/>
                                        </p:tgtEl>
                                        <p:attrNameLst>
                                          <p:attrName>ppt_x</p:attrName>
                                        </p:attrNameLst>
                                      </p:cBhvr>
                                      <p:tavLst>
                                        <p:tav tm="0">
                                          <p:val>
                                            <p:strVal val="#ppt_x"/>
                                          </p:val>
                                        </p:tav>
                                        <p:tav tm="100000">
                                          <p:val>
                                            <p:strVal val="#ppt_x"/>
                                          </p:val>
                                        </p:tav>
                                      </p:tavLst>
                                    </p:anim>
                                    <p:anim calcmode="lin" valueType="num">
                                      <p:cBhvr>
                                        <p:cTn id="128" dur="450" decel="100000" fill="hold"/>
                                        <p:tgtEl>
                                          <p:spTgt spid="22"/>
                                        </p:tgtEl>
                                        <p:attrNameLst>
                                          <p:attrName>ppt_y</p:attrName>
                                        </p:attrNameLst>
                                      </p:cBhvr>
                                      <p:tavLst>
                                        <p:tav tm="0">
                                          <p:val>
                                            <p:strVal val="#ppt_y+1"/>
                                          </p:val>
                                        </p:tav>
                                        <p:tav tm="100000">
                                          <p:val>
                                            <p:strVal val="#ppt_y-.03"/>
                                          </p:val>
                                        </p:tav>
                                      </p:tavLst>
                                    </p:anim>
                                    <p:anim calcmode="lin" valueType="num">
                                      <p:cBhvr>
                                        <p:cTn id="12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30" presetID="37" presetClass="entr" presetSubtype="0" fill="hold" nodeType="withEffect">
                                  <p:stCondLst>
                                    <p:cond delay="0"/>
                                  </p:stCondLst>
                                  <p:childTnLst>
                                    <p:set>
                                      <p:cBhvr>
                                        <p:cTn id="131" dur="1" fill="hold">
                                          <p:stCondLst>
                                            <p:cond delay="0"/>
                                          </p:stCondLst>
                                        </p:cTn>
                                        <p:tgtEl>
                                          <p:spTgt spid="23"/>
                                        </p:tgtEl>
                                        <p:attrNameLst>
                                          <p:attrName>style.visibility</p:attrName>
                                        </p:attrNameLst>
                                      </p:cBhvr>
                                      <p:to>
                                        <p:strVal val="visible"/>
                                      </p:to>
                                    </p:set>
                                    <p:animEffect transition="in" filter="fade">
                                      <p:cBhvr>
                                        <p:cTn id="132" dur="500"/>
                                        <p:tgtEl>
                                          <p:spTgt spid="23"/>
                                        </p:tgtEl>
                                      </p:cBhvr>
                                    </p:animEffect>
                                    <p:anim calcmode="lin" valueType="num">
                                      <p:cBhvr>
                                        <p:cTn id="133" dur="500" fill="hold"/>
                                        <p:tgtEl>
                                          <p:spTgt spid="23"/>
                                        </p:tgtEl>
                                        <p:attrNameLst>
                                          <p:attrName>ppt_x</p:attrName>
                                        </p:attrNameLst>
                                      </p:cBhvr>
                                      <p:tavLst>
                                        <p:tav tm="0">
                                          <p:val>
                                            <p:strVal val="#ppt_x"/>
                                          </p:val>
                                        </p:tav>
                                        <p:tav tm="100000">
                                          <p:val>
                                            <p:strVal val="#ppt_x"/>
                                          </p:val>
                                        </p:tav>
                                      </p:tavLst>
                                    </p:anim>
                                    <p:anim calcmode="lin" valueType="num">
                                      <p:cBhvr>
                                        <p:cTn id="134" dur="450" decel="100000" fill="hold"/>
                                        <p:tgtEl>
                                          <p:spTgt spid="23"/>
                                        </p:tgtEl>
                                        <p:attrNameLst>
                                          <p:attrName>ppt_y</p:attrName>
                                        </p:attrNameLst>
                                      </p:cBhvr>
                                      <p:tavLst>
                                        <p:tav tm="0">
                                          <p:val>
                                            <p:strVal val="#ppt_y+1"/>
                                          </p:val>
                                        </p:tav>
                                        <p:tav tm="100000">
                                          <p:val>
                                            <p:strVal val="#ppt_y-.03"/>
                                          </p:val>
                                        </p:tav>
                                      </p:tavLst>
                                    </p:anim>
                                    <p:anim calcmode="lin" valueType="num">
                                      <p:cBhvr>
                                        <p:cTn id="13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36" presetID="37"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anim calcmode="lin" valueType="num">
                                      <p:cBhvr>
                                        <p:cTn id="139" dur="500" fill="hold"/>
                                        <p:tgtEl>
                                          <p:spTgt spid="24"/>
                                        </p:tgtEl>
                                        <p:attrNameLst>
                                          <p:attrName>ppt_x</p:attrName>
                                        </p:attrNameLst>
                                      </p:cBhvr>
                                      <p:tavLst>
                                        <p:tav tm="0">
                                          <p:val>
                                            <p:strVal val="#ppt_x"/>
                                          </p:val>
                                        </p:tav>
                                        <p:tav tm="100000">
                                          <p:val>
                                            <p:strVal val="#ppt_x"/>
                                          </p:val>
                                        </p:tav>
                                      </p:tavLst>
                                    </p:anim>
                                    <p:anim calcmode="lin" valueType="num">
                                      <p:cBhvr>
                                        <p:cTn id="140" dur="450" decel="100000" fill="hold"/>
                                        <p:tgtEl>
                                          <p:spTgt spid="24"/>
                                        </p:tgtEl>
                                        <p:attrNameLst>
                                          <p:attrName>ppt_y</p:attrName>
                                        </p:attrNameLst>
                                      </p:cBhvr>
                                      <p:tavLst>
                                        <p:tav tm="0">
                                          <p:val>
                                            <p:strVal val="#ppt_y+1"/>
                                          </p:val>
                                        </p:tav>
                                        <p:tav tm="100000">
                                          <p:val>
                                            <p:strVal val="#ppt_y-.03"/>
                                          </p:val>
                                        </p:tav>
                                      </p:tavLst>
                                    </p:anim>
                                    <p:anim calcmode="lin" valueType="num">
                                      <p:cBhvr>
                                        <p:cTn id="14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42" presetID="37" presetClass="entr" presetSubtype="0" fill="hold" grpId="0" nodeType="withEffect">
                                  <p:stCondLst>
                                    <p:cond delay="0"/>
                                  </p:stCondLst>
                                  <p:childTnLst>
                                    <p:set>
                                      <p:cBhvr>
                                        <p:cTn id="143" dur="1" fill="hold">
                                          <p:stCondLst>
                                            <p:cond delay="0"/>
                                          </p:stCondLst>
                                        </p:cTn>
                                        <p:tgtEl>
                                          <p:spTgt spid="25"/>
                                        </p:tgtEl>
                                        <p:attrNameLst>
                                          <p:attrName>style.visibility</p:attrName>
                                        </p:attrNameLst>
                                      </p:cBhvr>
                                      <p:to>
                                        <p:strVal val="visible"/>
                                      </p:to>
                                    </p:set>
                                    <p:animEffect transition="in" filter="fade">
                                      <p:cBhvr>
                                        <p:cTn id="144" dur="500"/>
                                        <p:tgtEl>
                                          <p:spTgt spid="25"/>
                                        </p:tgtEl>
                                      </p:cBhvr>
                                    </p:animEffect>
                                    <p:anim calcmode="lin" valueType="num">
                                      <p:cBhvr>
                                        <p:cTn id="145" dur="500" fill="hold"/>
                                        <p:tgtEl>
                                          <p:spTgt spid="25"/>
                                        </p:tgtEl>
                                        <p:attrNameLst>
                                          <p:attrName>ppt_x</p:attrName>
                                        </p:attrNameLst>
                                      </p:cBhvr>
                                      <p:tavLst>
                                        <p:tav tm="0">
                                          <p:val>
                                            <p:strVal val="#ppt_x"/>
                                          </p:val>
                                        </p:tav>
                                        <p:tav tm="100000">
                                          <p:val>
                                            <p:strVal val="#ppt_x"/>
                                          </p:val>
                                        </p:tav>
                                      </p:tavLst>
                                    </p:anim>
                                    <p:anim calcmode="lin" valueType="num">
                                      <p:cBhvr>
                                        <p:cTn id="146" dur="450" decel="100000" fill="hold"/>
                                        <p:tgtEl>
                                          <p:spTgt spid="25"/>
                                        </p:tgtEl>
                                        <p:attrNameLst>
                                          <p:attrName>ppt_y</p:attrName>
                                        </p:attrNameLst>
                                      </p:cBhvr>
                                      <p:tavLst>
                                        <p:tav tm="0">
                                          <p:val>
                                            <p:strVal val="#ppt_y+1"/>
                                          </p:val>
                                        </p:tav>
                                        <p:tav tm="100000">
                                          <p:val>
                                            <p:strVal val="#ppt_y-.03"/>
                                          </p:val>
                                        </p:tav>
                                      </p:tavLst>
                                    </p:anim>
                                    <p:anim calcmode="lin" valueType="num">
                                      <p:cBhvr>
                                        <p:cTn id="14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48" presetID="37" presetClass="entr" presetSubtype="0" fill="hold" grpId="0" nodeType="with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fade">
                                      <p:cBhvr>
                                        <p:cTn id="150" dur="500"/>
                                        <p:tgtEl>
                                          <p:spTgt spid="26"/>
                                        </p:tgtEl>
                                      </p:cBhvr>
                                    </p:animEffect>
                                    <p:anim calcmode="lin" valueType="num">
                                      <p:cBhvr>
                                        <p:cTn id="151" dur="500" fill="hold"/>
                                        <p:tgtEl>
                                          <p:spTgt spid="26"/>
                                        </p:tgtEl>
                                        <p:attrNameLst>
                                          <p:attrName>ppt_x</p:attrName>
                                        </p:attrNameLst>
                                      </p:cBhvr>
                                      <p:tavLst>
                                        <p:tav tm="0">
                                          <p:val>
                                            <p:strVal val="#ppt_x"/>
                                          </p:val>
                                        </p:tav>
                                        <p:tav tm="100000">
                                          <p:val>
                                            <p:strVal val="#ppt_x"/>
                                          </p:val>
                                        </p:tav>
                                      </p:tavLst>
                                    </p:anim>
                                    <p:anim calcmode="lin" valueType="num">
                                      <p:cBhvr>
                                        <p:cTn id="152" dur="450" decel="100000" fill="hold"/>
                                        <p:tgtEl>
                                          <p:spTgt spid="26"/>
                                        </p:tgtEl>
                                        <p:attrNameLst>
                                          <p:attrName>ppt_y</p:attrName>
                                        </p:attrNameLst>
                                      </p:cBhvr>
                                      <p:tavLst>
                                        <p:tav tm="0">
                                          <p:val>
                                            <p:strVal val="#ppt_y+1"/>
                                          </p:val>
                                        </p:tav>
                                        <p:tav tm="100000">
                                          <p:val>
                                            <p:strVal val="#ppt_y-.03"/>
                                          </p:val>
                                        </p:tav>
                                      </p:tavLst>
                                    </p:anim>
                                    <p:anim calcmode="lin" valueType="num">
                                      <p:cBhvr>
                                        <p:cTn id="15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4" grpId="0" animBg="1"/>
      <p:bldP spid="25" grpId="0" animBg="1"/>
      <p:bldP spid="26"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ppt_x</p:attrName>
                                        </p:attrNameLst>
                                      </p:cBhvr>
                                      <p:tavLst>
                                        <p:tav tm="0">
                                          <p:val>
                                            <p:strVal val="#ppt_x"/>
                                          </p:val>
                                        </p:tav>
                                        <p:tav tm="100000">
                                          <p:val>
                                            <p:strVal val="#ppt_x"/>
                                          </p:val>
                                        </p:tav>
                                      </p:tavLst>
                                    </p:anim>
                                    <p:anim calcmode="lin" valueType="num">
                                      <p:cBhvr additive="base">
                                        <p:cTn id="16" dur="500" fill="hold"/>
                                        <p:tgtEl>
                                          <p:spTgt spid="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500" fill="hold"/>
                                        <p:tgtEl>
                                          <p:spTgt spid="8"/>
                                        </p:tgtEl>
                                        <p:attrNameLst>
                                          <p:attrName>ppt_x</p:attrName>
                                        </p:attrNameLst>
                                      </p:cBhvr>
                                      <p:tavLst>
                                        <p:tav tm="0">
                                          <p:val>
                                            <p:strVal val="#ppt_x"/>
                                          </p:val>
                                        </p:tav>
                                        <p:tav tm="100000">
                                          <p:val>
                                            <p:strVal val="#ppt_x"/>
                                          </p:val>
                                        </p:tav>
                                      </p:tavLst>
                                    </p:anim>
                                    <p:anim calcmode="lin" valueType="num">
                                      <p:cBhvr additive="base">
                                        <p:cTn id="30" dur="500" fill="hold"/>
                                        <p:tgtEl>
                                          <p:spTgt spid="8"/>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additive="base">
                                        <p:cTn id="33" dur="500" fill="hold"/>
                                        <p:tgtEl>
                                          <p:spTgt spid="9"/>
                                        </p:tgtEl>
                                        <p:attrNameLst>
                                          <p:attrName>ppt_x</p:attrName>
                                        </p:attrNameLst>
                                      </p:cBhvr>
                                      <p:tavLst>
                                        <p:tav tm="0">
                                          <p:val>
                                            <p:strVal val="#ppt_x"/>
                                          </p:val>
                                        </p:tav>
                                        <p:tav tm="100000">
                                          <p:val>
                                            <p:strVal val="#ppt_x"/>
                                          </p:val>
                                        </p:tav>
                                      </p:tavLst>
                                    </p:anim>
                                    <p:anim calcmode="lin" valueType="num">
                                      <p:cBhvr additive="base">
                                        <p:cTn id="34" dur="500" fill="hold"/>
                                        <p:tgtEl>
                                          <p:spTgt spid="9"/>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anim calcmode="lin" valueType="num">
                                      <p:cBhvr additive="base">
                                        <p:cTn id="47" dur="500" fill="hold"/>
                                        <p:tgtEl>
                                          <p:spTgt spid="12"/>
                                        </p:tgtEl>
                                        <p:attrNameLst>
                                          <p:attrName>ppt_x</p:attrName>
                                        </p:attrNameLst>
                                      </p:cBhvr>
                                      <p:tavLst>
                                        <p:tav tm="0">
                                          <p:val>
                                            <p:strVal val="#ppt_x"/>
                                          </p:val>
                                        </p:tav>
                                        <p:tav tm="100000">
                                          <p:val>
                                            <p:strVal val="#ppt_x"/>
                                          </p:val>
                                        </p:tav>
                                      </p:tavLst>
                                    </p:anim>
                                    <p:anim calcmode="lin" valueType="num">
                                      <p:cBhvr additive="base">
                                        <p:cTn id="48" dur="500" fill="hold"/>
                                        <p:tgtEl>
                                          <p:spTgt spid="12"/>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ppt_x</p:attrName>
                                        </p:attrNameLst>
                                      </p:cBhvr>
                                      <p:tavLst>
                                        <p:tav tm="0">
                                          <p:val>
                                            <p:strVal val="#ppt_x"/>
                                          </p:val>
                                        </p:tav>
                                        <p:tav tm="100000">
                                          <p:val>
                                            <p:strVal val="#ppt_x"/>
                                          </p:val>
                                        </p:tav>
                                      </p:tavLst>
                                    </p:anim>
                                    <p:anim calcmode="lin" valueType="num">
                                      <p:cBhvr additive="base">
                                        <p:cTn id="52" dur="500" fill="hold"/>
                                        <p:tgtEl>
                                          <p:spTgt spid="13"/>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additive="base">
                                        <p:cTn id="55" dur="500" fill="hold"/>
                                        <p:tgtEl>
                                          <p:spTgt spid="14"/>
                                        </p:tgtEl>
                                        <p:attrNameLst>
                                          <p:attrName>ppt_x</p:attrName>
                                        </p:attrNameLst>
                                      </p:cBhvr>
                                      <p:tavLst>
                                        <p:tav tm="0">
                                          <p:val>
                                            <p:strVal val="#ppt_x"/>
                                          </p:val>
                                        </p:tav>
                                        <p:tav tm="100000">
                                          <p:val>
                                            <p:strVal val="#ppt_x"/>
                                          </p:val>
                                        </p:tav>
                                      </p:tavLst>
                                    </p:anim>
                                    <p:anim calcmode="lin" valueType="num">
                                      <p:cBhvr additive="base">
                                        <p:cTn id="5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ppt_x</p:attrName>
                                        </p:attrNameLst>
                                      </p:cBhvr>
                                      <p:tavLst>
                                        <p:tav tm="0">
                                          <p:val>
                                            <p:strVal val="#ppt_x"/>
                                          </p:val>
                                        </p:tav>
                                        <p:tav tm="100000">
                                          <p:val>
                                            <p:strVal val="#ppt_x"/>
                                          </p:val>
                                        </p:tav>
                                      </p:tavLst>
                                    </p:anim>
                                    <p:anim calcmode="lin" valueType="num">
                                      <p:cBhvr additive="base">
                                        <p:cTn id="62" dur="500" fill="hold"/>
                                        <p:tgtEl>
                                          <p:spTgt spid="15"/>
                                        </p:tgtEl>
                                        <p:attrNameLst>
                                          <p:attrName>ppt_y</p:attrName>
                                        </p:attrNameLst>
                                      </p:cBhvr>
                                      <p:tavLst>
                                        <p:tav tm="0">
                                          <p:val>
                                            <p:strVal val="1+#ppt_h/2"/>
                                          </p:val>
                                        </p:tav>
                                        <p:tav tm="100000">
                                          <p:val>
                                            <p:strVal val="#ppt_y"/>
                                          </p:val>
                                        </p:tav>
                                      </p:tavLst>
                                    </p:anim>
                                  </p:childTnLst>
                                </p:cTn>
                              </p:par>
                              <p:par>
                                <p:cTn id="63" presetID="2" presetClass="entr" presetSubtype="4"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 calcmode="lin" valueType="num">
                                      <p:cBhvr additive="base">
                                        <p:cTn id="65" dur="500" fill="hold"/>
                                        <p:tgtEl>
                                          <p:spTgt spid="16"/>
                                        </p:tgtEl>
                                        <p:attrNameLst>
                                          <p:attrName>ppt_x</p:attrName>
                                        </p:attrNameLst>
                                      </p:cBhvr>
                                      <p:tavLst>
                                        <p:tav tm="0">
                                          <p:val>
                                            <p:strVal val="#ppt_x"/>
                                          </p:val>
                                        </p:tav>
                                        <p:tav tm="100000">
                                          <p:val>
                                            <p:strVal val="#ppt_x"/>
                                          </p:val>
                                        </p:tav>
                                      </p:tavLst>
                                    </p:anim>
                                    <p:anim calcmode="lin" valueType="num">
                                      <p:cBhvr additive="base">
                                        <p:cTn id="66" dur="500" fill="hold"/>
                                        <p:tgtEl>
                                          <p:spTgt spid="16"/>
                                        </p:tgtEl>
                                        <p:attrNameLst>
                                          <p:attrName>ppt_y</p:attrName>
                                        </p:attrNameLst>
                                      </p:cBhvr>
                                      <p:tavLst>
                                        <p:tav tm="0">
                                          <p:val>
                                            <p:strVal val="1+#ppt_h/2"/>
                                          </p:val>
                                        </p:tav>
                                        <p:tav tm="100000">
                                          <p:val>
                                            <p:strVal val="#ppt_y"/>
                                          </p:val>
                                        </p:tav>
                                      </p:tavLst>
                                    </p:anim>
                                  </p:childTnLst>
                                </p:cTn>
                              </p:par>
                              <p:par>
                                <p:cTn id="67" presetID="2" presetClass="entr" presetSubtype="4" fill="hold" grpId="0" nodeType="withEffect">
                                  <p:stCondLst>
                                    <p:cond delay="0"/>
                                  </p:stCondLst>
                                  <p:childTnLst>
                                    <p:set>
                                      <p:cBhvr>
                                        <p:cTn id="68" dur="1" fill="hold">
                                          <p:stCondLst>
                                            <p:cond delay="0"/>
                                          </p:stCondLst>
                                        </p:cTn>
                                        <p:tgtEl>
                                          <p:spTgt spid="17"/>
                                        </p:tgtEl>
                                        <p:attrNameLst>
                                          <p:attrName>style.visibility</p:attrName>
                                        </p:attrNameLst>
                                      </p:cBhvr>
                                      <p:to>
                                        <p:strVal val="visible"/>
                                      </p:to>
                                    </p:set>
                                    <p:anim calcmode="lin" valueType="num">
                                      <p:cBhvr additive="base">
                                        <p:cTn id="69" dur="500" fill="hold"/>
                                        <p:tgtEl>
                                          <p:spTgt spid="17"/>
                                        </p:tgtEl>
                                        <p:attrNameLst>
                                          <p:attrName>ppt_x</p:attrName>
                                        </p:attrNameLst>
                                      </p:cBhvr>
                                      <p:tavLst>
                                        <p:tav tm="0">
                                          <p:val>
                                            <p:strVal val="#ppt_x"/>
                                          </p:val>
                                        </p:tav>
                                        <p:tav tm="100000">
                                          <p:val>
                                            <p:strVal val="#ppt_x"/>
                                          </p:val>
                                        </p:tav>
                                      </p:tavLst>
                                    </p:anim>
                                    <p:anim calcmode="lin" valueType="num">
                                      <p:cBhvr additive="base">
                                        <p:cTn id="70" dur="500" fill="hold"/>
                                        <p:tgtEl>
                                          <p:spTgt spid="17"/>
                                        </p:tgtEl>
                                        <p:attrNameLst>
                                          <p:attrName>ppt_y</p:attrName>
                                        </p:attrNameLst>
                                      </p:cBhvr>
                                      <p:tavLst>
                                        <p:tav tm="0">
                                          <p:val>
                                            <p:strVal val="1+#ppt_h/2"/>
                                          </p:val>
                                        </p:tav>
                                        <p:tav tm="100000">
                                          <p:val>
                                            <p:strVal val="#ppt_y"/>
                                          </p:val>
                                        </p:tav>
                                      </p:tavLst>
                                    </p:anim>
                                  </p:childTnLst>
                                </p:cTn>
                              </p:par>
                              <p:par>
                                <p:cTn id="71" presetID="2" presetClass="entr" presetSubtype="4" fill="hold" grpId="0" nodeType="with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1+#ppt_h/2"/>
                                          </p:val>
                                        </p:tav>
                                        <p:tav tm="100000">
                                          <p:val>
                                            <p:strVal val="#ppt_y"/>
                                          </p:val>
                                        </p:tav>
                                      </p:tavLst>
                                    </p:anim>
                                  </p:childTnLst>
                                </p:cTn>
                              </p:par>
                            </p:childTnLst>
                          </p:cTn>
                        </p:par>
                        <p:par>
                          <p:cTn id="75" fill="hold">
                            <p:stCondLst>
                              <p:cond delay="500"/>
                            </p:stCondLst>
                            <p:childTnLst>
                              <p:par>
                                <p:cTn id="76" presetID="23" presetClass="entr" presetSubtype="16" fill="hold" nodeType="after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3"/>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4"/>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5"/>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6"/>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7"/>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8"/>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9"/>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0"/>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A forecast trained for each medicine</a:t>
            </a:r>
            <a:endParaRPr lang="en-US" sz="3200" dirty="0"/>
          </a:p>
        </p:txBody>
      </p:sp>
      <p:sp>
        <p:nvSpPr>
          <p:cNvPr id="3" name="anim|1|fade|after|"/>
          <p:cNvSpPr/>
          <p:nvPr/>
        </p:nvSpPr>
        <p:spPr>
          <a:xfrm>
            <a:off x="493776" y="1316736"/>
            <a:ext cx="5504688" cy="4700016"/>
          </a:xfrm>
          <a:prstGeom prst="roundRect">
            <a:avLst>
              <a:gd name="adj" fmla="val 233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ml.png"/>
          <p:cNvPicPr>
            <a:picLocks noChangeAspect="1"/>
          </p:cNvPicPr>
          <p:nvPr/>
        </p:nvPicPr>
        <p:blipFill>
          <a:blip r:embed="rId3"/>
          <a:stretch>
            <a:fillRect/>
          </a:stretch>
        </p:blipFill>
        <p:spPr>
          <a:xfrm>
            <a:off x="548640" y="1371600"/>
            <a:ext cx="5394960" cy="4590288"/>
          </a:xfrm>
          <a:prstGeom prst="rect">
            <a:avLst/>
          </a:prstGeom>
        </p:spPr>
      </p:pic>
      <p:sp>
        <p:nvSpPr>
          <p:cNvPr id="5" name="anim|2|wipe|click|"/>
          <p:cNvSpPr/>
          <p:nvPr/>
        </p:nvSpPr>
        <p:spPr>
          <a:xfrm>
            <a:off x="6355080" y="1371600"/>
            <a:ext cx="621792" cy="621792"/>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491874" y="1508394"/>
            <a:ext cx="348204" cy="348204"/>
          </a:xfrm>
          <a:prstGeom prst="rect">
            <a:avLst/>
          </a:prstGeom>
        </p:spPr>
      </p:pic>
      <p:sp>
        <p:nvSpPr>
          <p:cNvPr id="7" name="anim|2|wipe|with|"/>
          <p:cNvSpPr txBox="1"/>
          <p:nvPr/>
        </p:nvSpPr>
        <p:spPr>
          <a:xfrm>
            <a:off x="7132320" y="1353312"/>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Trained on its own history</a:t>
            </a:r>
            <a:endParaRPr lang="en-US" sz="1700" dirty="0"/>
          </a:p>
        </p:txBody>
      </p:sp>
      <p:sp>
        <p:nvSpPr>
          <p:cNvPr id="8" name="anim|2|wipe|with|"/>
          <p:cNvSpPr txBox="1"/>
          <p:nvPr/>
        </p:nvSpPr>
        <p:spPr>
          <a:xfrm>
            <a:off x="7132320" y="1737360"/>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14 days of hourly temperatures from the Tiger rollup, plus outdoor weather</a:t>
            </a:r>
            <a:endParaRPr lang="en-US" sz="1350" dirty="0"/>
          </a:p>
        </p:txBody>
      </p:sp>
      <p:sp>
        <p:nvSpPr>
          <p:cNvPr id="9" name="anim|3|wipe|click|"/>
          <p:cNvSpPr/>
          <p:nvPr/>
        </p:nvSpPr>
        <p:spPr>
          <a:xfrm>
            <a:off x="6355080" y="2542032"/>
            <a:ext cx="621792" cy="621792"/>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491874" y="2678826"/>
            <a:ext cx="348204" cy="348204"/>
          </a:xfrm>
          <a:prstGeom prst="rect">
            <a:avLst/>
          </a:prstGeom>
        </p:spPr>
      </p:pic>
      <p:sp>
        <p:nvSpPr>
          <p:cNvPr id="11" name="anim|3|wipe|with|"/>
          <p:cNvSpPr txBox="1"/>
          <p:nvPr/>
        </p:nvSpPr>
        <p:spPr>
          <a:xfrm>
            <a:off x="7132320" y="2523744"/>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Four models compete</a:t>
            </a:r>
            <a:endParaRPr lang="en-US" sz="1700" dirty="0"/>
          </a:p>
        </p:txBody>
      </p:sp>
      <p:sp>
        <p:nvSpPr>
          <p:cNvPr id="12" name="anim|3|wipe|with|"/>
          <p:cNvSpPr txBox="1"/>
          <p:nvPr/>
        </p:nvSpPr>
        <p:spPr>
          <a:xfrm>
            <a:off x="7132320" y="2907792"/>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Same as now · daily pattern · + short-term memory · + outdoor weather</a:t>
            </a:r>
            <a:endParaRPr lang="en-US" sz="1350" dirty="0"/>
          </a:p>
        </p:txBody>
      </p:sp>
      <p:sp>
        <p:nvSpPr>
          <p:cNvPr id="13" name="anim|4|wipe|click|"/>
          <p:cNvSpPr/>
          <p:nvPr/>
        </p:nvSpPr>
        <p:spPr>
          <a:xfrm>
            <a:off x="6355080" y="3712464"/>
            <a:ext cx="621792" cy="621792"/>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491874" y="3849258"/>
            <a:ext cx="348204" cy="348204"/>
          </a:xfrm>
          <a:prstGeom prst="rect">
            <a:avLst/>
          </a:prstGeom>
        </p:spPr>
      </p:pic>
      <p:sp>
        <p:nvSpPr>
          <p:cNvPr id="15" name="anim|4|wipe|with|"/>
          <p:cNvSpPr txBox="1"/>
          <p:nvPr/>
        </p:nvSpPr>
        <p:spPr>
          <a:xfrm>
            <a:off x="7132320" y="3694176"/>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best one wins, per medicine</a:t>
            </a:r>
            <a:endParaRPr lang="en-US" sz="1700" dirty="0"/>
          </a:p>
        </p:txBody>
      </p:sp>
      <p:sp>
        <p:nvSpPr>
          <p:cNvPr id="16" name="anim|4|wipe|with|"/>
          <p:cNvSpPr txBox="1"/>
          <p:nvPr/>
        </p:nvSpPr>
        <p:spPr>
          <a:xfrm>
            <a:off x="7132320" y="4078224"/>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Backtested on its own last 2 days. EpiPen in a backpack: weather model, 66% more accurate. Fridge pens: simpler models</a:t>
            </a:r>
            <a:endParaRPr lang="en-US" sz="1350" dirty="0"/>
          </a:p>
        </p:txBody>
      </p:sp>
      <p:sp>
        <p:nvSpPr>
          <p:cNvPr id="17" name="anim|5|wipe|click|"/>
          <p:cNvSpPr/>
          <p:nvPr/>
        </p:nvSpPr>
        <p:spPr>
          <a:xfrm>
            <a:off x="6355080" y="4882896"/>
            <a:ext cx="621792" cy="621792"/>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491874" y="5019690"/>
            <a:ext cx="348204" cy="348204"/>
          </a:xfrm>
          <a:prstGeom prst="rect">
            <a:avLst/>
          </a:prstGeom>
        </p:spPr>
      </p:pic>
      <p:sp>
        <p:nvSpPr>
          <p:cNvPr id="19" name="anim|5|wipe|with|"/>
          <p:cNvSpPr txBox="1"/>
          <p:nvPr/>
        </p:nvSpPr>
        <p:spPr>
          <a:xfrm>
            <a:off x="7132320" y="4864608"/>
            <a:ext cx="45262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Risk, not just a line</a:t>
            </a:r>
            <a:endParaRPr lang="en-US" sz="1700" dirty="0"/>
          </a:p>
        </p:txBody>
      </p:sp>
      <p:sp>
        <p:nvSpPr>
          <p:cNvPr id="20" name="anim|5|wipe|with|"/>
          <p:cNvSpPr txBox="1"/>
          <p:nvPr/>
        </p:nvSpPr>
        <p:spPr>
          <a:xfrm>
            <a:off x="7132320" y="5248656"/>
            <a:ext cx="4526280" cy="713232"/>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300 simulated futures through the life budget: chance of leaving range, freezing, budget left</a:t>
            </a:r>
            <a:endParaRPr lang="en-US" sz="1350" dirty="0"/>
          </a:p>
        </p:txBody>
      </p:sp>
      <p:sp>
        <p:nvSpPr>
          <p:cNvPr id="21" name="anim|6|fade|click|"/>
          <p:cNvSpPr txBox="1"/>
          <p:nvPr/>
        </p:nvSpPr>
        <p:spPr>
          <a:xfrm>
            <a:off x="548640" y="6053328"/>
            <a:ext cx="11064240" cy="32004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Retrains every hour · models stored in Tiger Data · drives predicted-excursion alerts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outages, live from DTE</a:t>
            </a:r>
            <a:endParaRPr lang="en-US" sz="3200" dirty="0"/>
          </a:p>
        </p:txBody>
      </p:sp>
      <p:sp>
        <p:nvSpPr>
          <p:cNvPr id="3" name="anim|1|fade|after|"/>
          <p:cNvSpPr/>
          <p:nvPr/>
        </p:nvSpPr>
        <p:spPr>
          <a:xfrm>
            <a:off x="493776" y="1316736"/>
            <a:ext cx="3529584" cy="4773168"/>
          </a:xfrm>
          <a:prstGeom prst="roundRect">
            <a:avLst>
              <a:gd name="adj" fmla="val 3109"/>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livemap.png"/>
          <p:cNvPicPr>
            <a:picLocks noChangeAspect="1"/>
          </p:cNvPicPr>
          <p:nvPr/>
        </p:nvPicPr>
        <p:blipFill>
          <a:blip r:embed="rId3"/>
          <a:stretch>
            <a:fillRect/>
          </a:stretch>
        </p:blipFill>
        <p:spPr>
          <a:xfrm>
            <a:off x="548640" y="1371600"/>
            <a:ext cx="3419856" cy="4663440"/>
          </a:xfrm>
          <a:prstGeom prst="rect">
            <a:avLst/>
          </a:prstGeom>
        </p:spPr>
      </p:pic>
      <p:sp>
        <p:nvSpPr>
          <p:cNvPr id="5" name="anim|2|wipe|click|"/>
          <p:cNvSpPr/>
          <p:nvPr/>
        </p:nvSpPr>
        <p:spPr>
          <a:xfrm>
            <a:off x="4434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4567611" y="1550091"/>
            <a:ext cx="337962" cy="337962"/>
          </a:xfrm>
          <a:prstGeom prst="rect">
            <a:avLst/>
          </a:prstGeom>
        </p:spPr>
      </p:pic>
      <p:sp>
        <p:nvSpPr>
          <p:cNvPr id="7" name="anim|2|wipe|with|"/>
          <p:cNvSpPr txBox="1"/>
          <p:nvPr/>
        </p:nvSpPr>
        <p:spPr>
          <a:xfrm>
            <a:off x="5212080" y="139903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Imported every 10 minutes</a:t>
            </a:r>
            <a:endParaRPr lang="en-US" sz="1700" dirty="0"/>
          </a:p>
        </p:txBody>
      </p:sp>
      <p:sp>
        <p:nvSpPr>
          <p:cNvPr id="8" name="anim|2|wipe|with|"/>
          <p:cNvSpPr txBox="1"/>
          <p:nvPr/>
        </p:nvSpPr>
        <p:spPr>
          <a:xfrm>
            <a:off x="5212080" y="178308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DTE's public outage map: areas by ZIP, customers out, restoration time when known</a:t>
            </a:r>
            <a:endParaRPr lang="en-US" sz="1350" dirty="0"/>
          </a:p>
        </p:txBody>
      </p:sp>
      <p:sp>
        <p:nvSpPr>
          <p:cNvPr id="9" name="anim|3|wipe|click|"/>
          <p:cNvSpPr/>
          <p:nvPr/>
        </p:nvSpPr>
        <p:spPr>
          <a:xfrm>
            <a:off x="4434840" y="2514600"/>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4567611" y="2647371"/>
            <a:ext cx="337962" cy="337962"/>
          </a:xfrm>
          <a:prstGeom prst="rect">
            <a:avLst/>
          </a:prstGeom>
        </p:spPr>
      </p:pic>
      <p:sp>
        <p:nvSpPr>
          <p:cNvPr id="11" name="anim|3|wipe|with|"/>
          <p:cNvSpPr txBox="1"/>
          <p:nvPr/>
        </p:nvSpPr>
        <p:spPr>
          <a:xfrm>
            <a:off x="5212080" y="249631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Stored as PostGIS polygons</a:t>
            </a:r>
            <a:endParaRPr lang="en-US" sz="1700" dirty="0"/>
          </a:p>
        </p:txBody>
      </p:sp>
      <p:sp>
        <p:nvSpPr>
          <p:cNvPr id="12" name="anim|3|wipe|with|"/>
          <p:cNvSpPr txBox="1"/>
          <p:nvPr/>
        </p:nvSpPr>
        <p:spPr>
          <a:xfrm>
            <a:off x="5212080" y="288036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Updated in place; areas close automatically when power is restored</a:t>
            </a:r>
            <a:endParaRPr lang="en-US" sz="1350" dirty="0"/>
          </a:p>
        </p:txBody>
      </p:sp>
      <p:sp>
        <p:nvSpPr>
          <p:cNvPr id="13" name="anim|4|wipe|click|"/>
          <p:cNvSpPr/>
          <p:nvPr/>
        </p:nvSpPr>
        <p:spPr>
          <a:xfrm>
            <a:off x="4434840" y="3611880"/>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4567611" y="3744651"/>
            <a:ext cx="337962" cy="337962"/>
          </a:xfrm>
          <a:prstGeom prst="rect">
            <a:avLst/>
          </a:prstGeom>
        </p:spPr>
      </p:pic>
      <p:sp>
        <p:nvSpPr>
          <p:cNvPr id="15" name="anim|4|wipe|with|"/>
          <p:cNvSpPr txBox="1"/>
          <p:nvPr/>
        </p:nvSpPr>
        <p:spPr>
          <a:xfrm>
            <a:off x="5212080" y="359359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Honest about precision</a:t>
            </a:r>
            <a:endParaRPr lang="en-US" sz="1700" dirty="0"/>
          </a:p>
        </p:txBody>
      </p:sp>
      <p:sp>
        <p:nvSpPr>
          <p:cNvPr id="16" name="anim|4|wipe|with|"/>
          <p:cNvSpPr txBox="1"/>
          <p:nvPr/>
        </p:nvSpPr>
        <p:spPr>
          <a:xfrm>
            <a:off x="5212080" y="397764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A ZIP-wide area means power may be out; one tap on "My power is out" confirms your home</a:t>
            </a:r>
            <a:endParaRPr lang="en-US" sz="1350" dirty="0"/>
          </a:p>
        </p:txBody>
      </p:sp>
      <p:sp>
        <p:nvSpPr>
          <p:cNvPr id="17" name="anim|5|wipe|click|"/>
          <p:cNvSpPr/>
          <p:nvPr/>
        </p:nvSpPr>
        <p:spPr>
          <a:xfrm>
            <a:off x="4434840" y="4709160"/>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4567611" y="4841931"/>
            <a:ext cx="337962" cy="337962"/>
          </a:xfrm>
          <a:prstGeom prst="rect">
            <a:avLst/>
          </a:prstGeom>
        </p:spPr>
      </p:pic>
      <p:sp>
        <p:nvSpPr>
          <p:cNvPr id="19" name="anim|5|wipe|with|"/>
          <p:cNvSpPr txBox="1"/>
          <p:nvPr/>
        </p:nvSpPr>
        <p:spPr>
          <a:xfrm>
            <a:off x="5212080" y="4690872"/>
            <a:ext cx="64008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Kubra utility</a:t>
            </a:r>
            <a:endParaRPr lang="en-US" sz="1700" dirty="0"/>
          </a:p>
        </p:txBody>
      </p:sp>
      <p:sp>
        <p:nvSpPr>
          <p:cNvPr id="20" name="anim|5|wipe|with|"/>
          <p:cNvSpPr txBox="1"/>
          <p:nvPr/>
        </p:nvSpPr>
        <p:spPr>
          <a:xfrm>
            <a:off x="5212080" y="5074920"/>
            <a:ext cx="64008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Consumers Energy and others plug in with one setting</a:t>
            </a:r>
            <a:endParaRPr lang="en-US" sz="1350" dirty="0"/>
          </a:p>
        </p:txBody>
      </p:sp>
      <p:sp>
        <p:nvSpPr>
          <p:cNvPr id="21" name="anim|6|fadedzoom|click|"/>
          <p:cNvSpPr/>
          <p:nvPr/>
        </p:nvSpPr>
        <p:spPr>
          <a:xfrm>
            <a:off x="4434840" y="5715000"/>
            <a:ext cx="7223760" cy="548640"/>
          </a:xfrm>
          <a:prstGeom prst="roundRect">
            <a:avLst>
              <a:gd name="adj" fmla="val 20000"/>
            </a:avLst>
          </a:prstGeom>
          <a:solidFill>
            <a:srgbClr val="3A2F1E"/>
          </a:solidFill>
          <a:ln w="9525">
            <a:solidFill>
              <a:srgbClr val="F2A541"/>
            </a:solidFill>
            <a:prstDash val="solid"/>
          </a:ln>
        </p:spPr>
      </p:sp>
      <p:sp>
        <p:nvSpPr>
          <p:cNvPr id="22" name="anim|6|fadedzoom|with|"/>
          <p:cNvSpPr txBox="1"/>
          <p:nvPr/>
        </p:nvSpPr>
        <p:spPr>
          <a:xfrm>
            <a:off x="4617720" y="5715000"/>
            <a:ext cx="6858000" cy="54864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Captured Oct 3, 2026: 174 DTE customers without power across 30 ZIP areas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 calcmode="lin" valueType="num">
                                      <p:cBhvr>
                                        <p:cTn id="72" dur="600" fill="hold"/>
                                        <p:tgtEl>
                                          <p:spTgt spid="21"/>
                                        </p:tgtEl>
                                        <p:attrNameLst>
                                          <p:attrName>ppt_w</p:attrName>
                                        </p:attrNameLst>
                                      </p:cBhvr>
                                      <p:tavLst>
                                        <p:tav tm="0">
                                          <p:val>
                                            <p:fltVal val="0"/>
                                          </p:val>
                                        </p:tav>
                                        <p:tav tm="100000">
                                          <p:val>
                                            <p:strVal val="#ppt_w"/>
                                          </p:val>
                                        </p:tav>
                                      </p:tavLst>
                                    </p:anim>
                                    <p:anim calcmode="lin" valueType="num">
                                      <p:cBhvr>
                                        <p:cTn id="73" dur="600" fill="hold"/>
                                        <p:tgtEl>
                                          <p:spTgt spid="21"/>
                                        </p:tgtEl>
                                        <p:attrNameLst>
                                          <p:attrName>ppt_h</p:attrName>
                                        </p:attrNameLst>
                                      </p:cBhvr>
                                      <p:tavLst>
                                        <p:tav tm="0">
                                          <p:val>
                                            <p:fltVal val="0"/>
                                          </p:val>
                                        </p:tav>
                                        <p:tav tm="100000">
                                          <p:val>
                                            <p:strVal val="#ppt_h"/>
                                          </p:val>
                                        </p:tav>
                                      </p:tavLst>
                                    </p:anim>
                                    <p:animEffect transition="in" filter="fade">
                                      <p:cBhvr>
                                        <p:cTn id="74" dur="600"/>
                                        <p:tgtEl>
                                          <p:spTgt spid="2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 calcmode="lin" valueType="num">
                                      <p:cBhvr>
                                        <p:cTn id="77" dur="600" fill="hold"/>
                                        <p:tgtEl>
                                          <p:spTgt spid="22"/>
                                        </p:tgtEl>
                                        <p:attrNameLst>
                                          <p:attrName>ppt_w</p:attrName>
                                        </p:attrNameLst>
                                      </p:cBhvr>
                                      <p:tavLst>
                                        <p:tav tm="0">
                                          <p:val>
                                            <p:fltVal val="0"/>
                                          </p:val>
                                        </p:tav>
                                        <p:tav tm="100000">
                                          <p:val>
                                            <p:strVal val="#ppt_w"/>
                                          </p:val>
                                        </p:tav>
                                      </p:tavLst>
                                    </p:anim>
                                    <p:anim calcmode="lin" valueType="num">
                                      <p:cBhvr>
                                        <p:cTn id="78" dur="600" fill="hold"/>
                                        <p:tgtEl>
                                          <p:spTgt spid="22"/>
                                        </p:tgtEl>
                                        <p:attrNameLst>
                                          <p:attrName>ppt_h</p:attrName>
                                        </p:attrNameLst>
                                      </p:cBhvr>
                                      <p:tavLst>
                                        <p:tav tm="0">
                                          <p:val>
                                            <p:fltVal val="0"/>
                                          </p:val>
                                        </p:tav>
                                        <p:tav tm="100000">
                                          <p:val>
                                            <p:strVal val="#ppt_h"/>
                                          </p:val>
                                        </p:tav>
                                      </p:tavLst>
                                    </p:anim>
                                    <p:animEffect transition="in" filter="fade">
                                      <p:cBhvr>
                                        <p:cTn id="7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22"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13"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450" decel="100000" fill="hold"/>
                                        <p:tgtEl>
                                          <p:spTgt spid="13"/>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13"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Records a pharmacist can verify</a:t>
            </a:r>
            <a:endParaRPr lang="en-US" sz="3200" dirty="0"/>
          </a:p>
        </p:txBody>
      </p:sp>
      <p:sp>
        <p:nvSpPr>
          <p:cNvPr id="3" name="anim|1|fade|after|"/>
          <p:cNvSpPr/>
          <p:nvPr/>
        </p:nvSpPr>
        <p:spPr>
          <a:xfrm>
            <a:off x="493776" y="1316736"/>
            <a:ext cx="4773168" cy="4645152"/>
          </a:xfrm>
          <a:prstGeom prst="roundRect">
            <a:avLst>
              <a:gd name="adj" fmla="val 236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receipt.png"/>
          <p:cNvPicPr>
            <a:picLocks noChangeAspect="1"/>
          </p:cNvPicPr>
          <p:nvPr/>
        </p:nvPicPr>
        <p:blipFill>
          <a:blip r:embed="rId3"/>
          <a:stretch>
            <a:fillRect/>
          </a:stretch>
        </p:blipFill>
        <p:spPr>
          <a:xfrm>
            <a:off x="548640" y="1371600"/>
            <a:ext cx="4663440" cy="4535424"/>
          </a:xfrm>
          <a:prstGeom prst="rect">
            <a:avLst/>
          </a:prstGeom>
        </p:spPr>
      </p:pic>
      <p:sp>
        <p:nvSpPr>
          <p:cNvPr id="5" name="anim|2|wipe|click|"/>
          <p:cNvSpPr/>
          <p:nvPr/>
        </p:nvSpPr>
        <p:spPr>
          <a:xfrm>
            <a:off x="5669280" y="1417320"/>
            <a:ext cx="621792" cy="621792"/>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5806074" y="1554114"/>
            <a:ext cx="348204" cy="348204"/>
          </a:xfrm>
          <a:prstGeom prst="rect">
            <a:avLst/>
          </a:prstGeom>
        </p:spPr>
      </p:pic>
      <p:sp>
        <p:nvSpPr>
          <p:cNvPr id="7" name="anim|2|wipe|with|"/>
          <p:cNvSpPr txBox="1"/>
          <p:nvPr/>
        </p:nvSpPr>
        <p:spPr>
          <a:xfrm>
            <a:off x="6446520" y="1399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One tap freezes the record</a:t>
            </a:r>
            <a:endParaRPr lang="en-US" sz="1700" dirty="0"/>
          </a:p>
        </p:txBody>
      </p:sp>
      <p:sp>
        <p:nvSpPr>
          <p:cNvPr id="8" name="anim|2|wipe|with|"/>
          <p:cNvSpPr txBox="1"/>
          <p:nvPr/>
        </p:nvSpPr>
        <p:spPr>
          <a:xfrm>
            <a:off x="6446520" y="1783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LIFELOG stores a SHA-256 fingerprint of the exposure history in Tiger Data</a:t>
            </a:r>
            <a:endParaRPr lang="en-US" sz="1350" dirty="0"/>
          </a:p>
        </p:txBody>
      </p:sp>
      <p:sp>
        <p:nvSpPr>
          <p:cNvPr id="9" name="anim|3|wipe|click|"/>
          <p:cNvSpPr/>
          <p:nvPr/>
        </p:nvSpPr>
        <p:spPr>
          <a:xfrm>
            <a:off x="5669280" y="2560320"/>
            <a:ext cx="621792" cy="621792"/>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5806074" y="2697114"/>
            <a:ext cx="348204" cy="348204"/>
          </a:xfrm>
          <a:prstGeom prst="rect">
            <a:avLst/>
          </a:prstGeom>
        </p:spPr>
      </p:pic>
      <p:sp>
        <p:nvSpPr>
          <p:cNvPr id="11" name="anim|3|wipe|with|"/>
          <p:cNvSpPr txBox="1"/>
          <p:nvPr/>
        </p:nvSpPr>
        <p:spPr>
          <a:xfrm>
            <a:off x="6446520" y="2542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The pharmacist scans the QR code</a:t>
            </a:r>
            <a:endParaRPr lang="en-US" sz="1700" dirty="0"/>
          </a:p>
        </p:txBody>
      </p:sp>
      <p:sp>
        <p:nvSpPr>
          <p:cNvPr id="12" name="anim|3|wipe|with|"/>
          <p:cNvSpPr txBox="1"/>
          <p:nvPr/>
        </p:nvSpPr>
        <p:spPr>
          <a:xfrm>
            <a:off x="6446520" y="2926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They see days outside storage, peaks, budget used and the label's own words</a:t>
            </a:r>
            <a:endParaRPr lang="en-US" sz="1350" dirty="0"/>
          </a:p>
        </p:txBody>
      </p:sp>
      <p:sp>
        <p:nvSpPr>
          <p:cNvPr id="13" name="anim|4|wipe|click|"/>
          <p:cNvSpPr/>
          <p:nvPr/>
        </p:nvSpPr>
        <p:spPr>
          <a:xfrm>
            <a:off x="5669280" y="3703320"/>
            <a:ext cx="621792" cy="621792"/>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5806074" y="3840114"/>
            <a:ext cx="348204" cy="348204"/>
          </a:xfrm>
          <a:prstGeom prst="rect">
            <a:avLst/>
          </a:prstGeom>
        </p:spPr>
      </p:pic>
      <p:sp>
        <p:nvSpPr>
          <p:cNvPr id="15" name="anim|4|wipe|with|"/>
          <p:cNvSpPr txBox="1"/>
          <p:nvPr/>
        </p:nvSpPr>
        <p:spPr>
          <a:xfrm>
            <a:off x="6446520" y="3685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Changed since? It says so</a:t>
            </a:r>
            <a:endParaRPr lang="en-US" sz="1700" dirty="0"/>
          </a:p>
        </p:txBody>
      </p:sp>
      <p:sp>
        <p:nvSpPr>
          <p:cNvPr id="16" name="anim|4|wipe|with|"/>
          <p:cNvSpPr txBox="1"/>
          <p:nvPr/>
        </p:nvSpPr>
        <p:spPr>
          <a:xfrm>
            <a:off x="6446520" y="4069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Late sensor data or edits to that period are detected when the page recomputes the fingerprint</a:t>
            </a:r>
            <a:endParaRPr lang="en-US" sz="1350" dirty="0"/>
          </a:p>
        </p:txBody>
      </p:sp>
      <p:sp>
        <p:nvSpPr>
          <p:cNvPr id="17" name="anim|5|wipe|click|"/>
          <p:cNvSpPr/>
          <p:nvPr/>
        </p:nvSpPr>
        <p:spPr>
          <a:xfrm>
            <a:off x="5669280" y="4846320"/>
            <a:ext cx="621792" cy="621792"/>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5806074" y="4983114"/>
            <a:ext cx="348204" cy="348204"/>
          </a:xfrm>
          <a:prstGeom prst="rect">
            <a:avLst/>
          </a:prstGeom>
        </p:spPr>
      </p:pic>
      <p:sp>
        <p:nvSpPr>
          <p:cNvPr id="19" name="anim|5|wipe|with|"/>
          <p:cNvSpPr txBox="1"/>
          <p:nvPr/>
        </p:nvSpPr>
        <p:spPr>
          <a:xfrm>
            <a:off x="6446520" y="4828032"/>
            <a:ext cx="521208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Built into refill letters</a:t>
            </a:r>
            <a:endParaRPr lang="en-US" sz="1700" dirty="0"/>
          </a:p>
        </p:txBody>
      </p:sp>
      <p:sp>
        <p:nvSpPr>
          <p:cNvPr id="20" name="anim|5|wipe|with|"/>
          <p:cNvSpPr txBox="1"/>
          <p:nvPr/>
        </p:nvSpPr>
        <p:spPr>
          <a:xfrm>
            <a:off x="6446520" y="5212080"/>
            <a:ext cx="521208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replacement request carries its receipt code</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Was the dose I took last Tuesday still good?</a:t>
            </a:r>
            <a:endParaRPr lang="en-US" sz="3200" dirty="0"/>
          </a:p>
        </p:txBody>
      </p:sp>
      <p:sp>
        <p:nvSpPr>
          <p:cNvPr id="3" name="anim|1|fade|after|"/>
          <p:cNvSpPr/>
          <p:nvPr/>
        </p:nvSpPr>
        <p:spPr>
          <a:xfrm>
            <a:off x="493776" y="1316736"/>
            <a:ext cx="5047488" cy="3566160"/>
          </a:xfrm>
          <a:prstGeom prst="roundRect">
            <a:avLst>
              <a:gd name="adj" fmla="val 3077"/>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osebtn.png"/>
          <p:cNvPicPr>
            <a:picLocks noChangeAspect="1"/>
          </p:cNvPicPr>
          <p:nvPr/>
        </p:nvPicPr>
        <p:blipFill>
          <a:blip r:embed="rId3"/>
          <a:stretch>
            <a:fillRect/>
          </a:stretch>
        </p:blipFill>
        <p:spPr>
          <a:xfrm>
            <a:off x="548640" y="1371600"/>
            <a:ext cx="4937760" cy="3456432"/>
          </a:xfrm>
          <a:prstGeom prst="rect">
            <a:avLst/>
          </a:prstGeom>
        </p:spPr>
      </p:pic>
      <p:sp>
        <p:nvSpPr>
          <p:cNvPr id="5" name="anim|2|rise|click|"/>
          <p:cNvSpPr/>
          <p:nvPr/>
        </p:nvSpPr>
        <p:spPr>
          <a:xfrm>
            <a:off x="5751576" y="1316736"/>
            <a:ext cx="2670048" cy="2093976"/>
          </a:xfrm>
          <a:prstGeom prst="roundRect">
            <a:avLst>
              <a:gd name="adj" fmla="val 5240"/>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crop-doses-top.png"/>
          <p:cNvPicPr>
            <a:picLocks noChangeAspect="1"/>
          </p:cNvPicPr>
          <p:nvPr/>
        </p:nvPicPr>
        <p:blipFill>
          <a:blip r:embed="rId4"/>
          <a:stretch>
            <a:fillRect/>
          </a:stretch>
        </p:blipFill>
        <p:spPr>
          <a:xfrm>
            <a:off x="5806440" y="1371600"/>
            <a:ext cx="2560320" cy="1984248"/>
          </a:xfrm>
          <a:prstGeom prst="rect">
            <a:avLst/>
          </a:prstGeom>
        </p:spPr>
      </p:pic>
      <p:sp>
        <p:nvSpPr>
          <p:cNvPr id="7" name="anim|2|fade|after|"/>
          <p:cNvSpPr/>
          <p:nvPr/>
        </p:nvSpPr>
        <p:spPr>
          <a:xfrm>
            <a:off x="8686800" y="1316736"/>
            <a:ext cx="2971800" cy="2093976"/>
          </a:xfrm>
          <a:prstGeom prst="roundRect">
            <a:avLst>
              <a:gd name="adj" fmla="val 5240"/>
            </a:avLst>
          </a:prstGeom>
          <a:solidFill>
            <a:srgbClr val="3A2F1E"/>
          </a:solidFill>
          <a:ln w="9525">
            <a:solidFill>
              <a:srgbClr val="F2A541"/>
            </a:solidFill>
            <a:prstDash val="solid"/>
          </a:ln>
        </p:spPr>
      </p:sp>
      <p:sp>
        <p:nvSpPr>
          <p:cNvPr id="8" name="anim|2|fade|with|"/>
          <p:cNvSpPr txBox="1"/>
          <p:nvPr/>
        </p:nvSpPr>
        <p:spPr>
          <a:xfrm>
            <a:off x="8869680" y="1463040"/>
            <a:ext cx="2606040" cy="685800"/>
          </a:xfrm>
          <a:prstGeom prst="rect">
            <a:avLst/>
          </a:prstGeom>
          <a:noFill/>
          <a:ln/>
        </p:spPr>
        <p:txBody>
          <a:bodyPr wrap="square" lIns="0" tIns="0" rIns="0" bIns="0" rtlCol="0" anchor="ctr"/>
          <a:lstStyle/>
          <a:p>
            <a:pPr marL="0" indent="0">
              <a:buNone/>
            </a:pPr>
            <a:r>
              <a:rPr lang="en-US" sz="3600" b="1" dirty="0">
                <a:solidFill>
                  <a:srgbClr val="F2A541"/>
                </a:solidFill>
                <a:latin typeface="Calibri" pitchFamily="34" charset="0"/>
                <a:ea typeface="Calibri" pitchFamily="34" charset="-122"/>
                <a:cs typeface="Calibri" pitchFamily="34" charset="-120"/>
              </a:rPr>
              <a:t>14 days</a:t>
            </a:r>
            <a:endParaRPr lang="en-US" sz="3600" dirty="0"/>
          </a:p>
        </p:txBody>
      </p:sp>
      <p:sp>
        <p:nvSpPr>
          <p:cNvPr id="9" name="anim|2|fade|with|"/>
          <p:cNvSpPr txBox="1"/>
          <p:nvPr/>
        </p:nvSpPr>
        <p:spPr>
          <a:xfrm>
            <a:off x="8869680" y="2194560"/>
            <a:ext cx="2606040" cy="1097280"/>
          </a:xfrm>
          <a:prstGeom prst="rect">
            <a:avLst/>
          </a:prstGeom>
          <a:noFill/>
          <a:ln/>
        </p:spPr>
        <p:txBody>
          <a:bodyPr wrap="square" lIns="0" tIns="0" rIns="0" bIns="0" rtlCol="0" anchor="t"/>
          <a:lstStyle/>
          <a:p>
            <a:pPr marL="0" indent="0">
              <a:buNone/>
            </a:pPr>
            <a:r>
              <a:rPr lang="en-US" sz="1350" dirty="0">
                <a:solidFill>
                  <a:srgbClr val="F4F1EA"/>
                </a:solidFill>
                <a:latin typeface="Calibri" pitchFamily="34" charset="0"/>
                <a:ea typeface="Calibri" pitchFamily="34" charset="-122"/>
                <a:cs typeface="Calibri" pitchFamily="34" charset="-120"/>
              </a:rPr>
              <a:t>of demo doses, each saved with the status it had at that moment, from Tiger Data</a:t>
            </a:r>
            <a:endParaRPr lang="en-US" sz="1350" dirty="0"/>
          </a:p>
        </p:txBody>
      </p:sp>
      <p:sp>
        <p:nvSpPr>
          <p:cNvPr id="10" name="anim|3|wipe|click|"/>
          <p:cNvSpPr/>
          <p:nvPr/>
        </p:nvSpPr>
        <p:spPr>
          <a:xfrm>
            <a:off x="5806440" y="3657600"/>
            <a:ext cx="548640" cy="548640"/>
          </a:xfrm>
          <a:prstGeom prst="ellipse">
            <a:avLst/>
          </a:prstGeom>
          <a:solidFill>
            <a:srgbClr val="343A3C"/>
          </a:solidFill>
          <a:ln/>
        </p:spPr>
      </p:sp>
      <p:pic>
        <p:nvPicPr>
          <p:cNvPr id="11" name="anim|3|wipe|click|" descr="preencoded.png"/>
          <p:cNvPicPr>
            <a:picLocks noChangeAspect="1"/>
          </p:cNvPicPr>
          <p:nvPr/>
        </p:nvPicPr>
        <p:blipFill>
          <a:blip r:embed="rId5"/>
          <a:stretch>
            <a:fillRect/>
          </a:stretch>
        </p:blipFill>
        <p:spPr>
          <a:xfrm>
            <a:off x="5927141" y="3778301"/>
            <a:ext cx="307238" cy="307238"/>
          </a:xfrm>
          <a:prstGeom prst="rect">
            <a:avLst/>
          </a:prstGeom>
        </p:spPr>
      </p:pic>
      <p:sp>
        <p:nvSpPr>
          <p:cNvPr id="12" name="anim|3|wipe|with|"/>
          <p:cNvSpPr txBox="1"/>
          <p:nvPr/>
        </p:nvSpPr>
        <p:spPr>
          <a:xfrm>
            <a:off x="6492240" y="362102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tap: "I took a dose"</a:t>
            </a:r>
            <a:endParaRPr lang="en-US" sz="1600" dirty="0"/>
          </a:p>
        </p:txBody>
      </p:sp>
      <p:sp>
        <p:nvSpPr>
          <p:cNvPr id="13" name="anim|3|wipe|with|"/>
          <p:cNvSpPr txBox="1"/>
          <p:nvPr/>
        </p:nvSpPr>
        <p:spPr>
          <a:xfrm>
            <a:off x="6492240" y="395020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Saves the status, budget left and temperature at that moment</a:t>
            </a:r>
            <a:endParaRPr lang="en-US" sz="1300" dirty="0"/>
          </a:p>
        </p:txBody>
      </p:sp>
      <p:sp>
        <p:nvSpPr>
          <p:cNvPr id="14" name="anim|4|wipe|click|"/>
          <p:cNvSpPr/>
          <p:nvPr/>
        </p:nvSpPr>
        <p:spPr>
          <a:xfrm>
            <a:off x="5806440" y="4526280"/>
            <a:ext cx="548640" cy="548640"/>
          </a:xfrm>
          <a:prstGeom prst="ellipse">
            <a:avLst/>
          </a:prstGeom>
          <a:solidFill>
            <a:srgbClr val="343A3C"/>
          </a:solidFill>
          <a:ln/>
        </p:spPr>
      </p:sp>
      <p:pic>
        <p:nvPicPr>
          <p:cNvPr id="15" name="anim|4|wipe|click|" descr="preencoded.png"/>
          <p:cNvPicPr>
            <a:picLocks noChangeAspect="1"/>
          </p:cNvPicPr>
          <p:nvPr/>
        </p:nvPicPr>
        <p:blipFill>
          <a:blip r:embed="rId6"/>
          <a:stretch>
            <a:fillRect/>
          </a:stretch>
        </p:blipFill>
        <p:spPr>
          <a:xfrm>
            <a:off x="5927141" y="4646981"/>
            <a:ext cx="307238" cy="307238"/>
          </a:xfrm>
          <a:prstGeom prst="rect">
            <a:avLst/>
          </a:prstGeom>
        </p:spPr>
      </p:pic>
      <p:sp>
        <p:nvSpPr>
          <p:cNvPr id="16" name="anim|4|wipe|with|"/>
          <p:cNvSpPr txBox="1"/>
          <p:nvPr/>
        </p:nvSpPr>
        <p:spPr>
          <a:xfrm>
            <a:off x="6492240" y="448970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Rechecked when late data arrives</a:t>
            </a:r>
            <a:endParaRPr lang="en-US" sz="1600" dirty="0"/>
          </a:p>
        </p:txBody>
      </p:sp>
      <p:sp>
        <p:nvSpPr>
          <p:cNvPr id="17" name="anim|4|wipe|with|"/>
          <p:cNvSpPr txBox="1"/>
          <p:nvPr/>
        </p:nvSpPr>
        <p:spPr>
          <a:xfrm>
            <a:off x="6492240" y="481888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If a sensor uploads hours later and the answer changes, the dose is flagged</a:t>
            </a:r>
            <a:endParaRPr lang="en-US" sz="1300" dirty="0"/>
          </a:p>
        </p:txBody>
      </p:sp>
      <p:sp>
        <p:nvSpPr>
          <p:cNvPr id="18" name="anim|5|wipe|click|"/>
          <p:cNvSpPr/>
          <p:nvPr/>
        </p:nvSpPr>
        <p:spPr>
          <a:xfrm>
            <a:off x="5806440" y="5394960"/>
            <a:ext cx="548640" cy="548640"/>
          </a:xfrm>
          <a:prstGeom prst="ellipse">
            <a:avLst/>
          </a:prstGeom>
          <a:solidFill>
            <a:srgbClr val="343A3C"/>
          </a:solidFill>
          <a:ln/>
        </p:spPr>
      </p:sp>
      <p:pic>
        <p:nvPicPr>
          <p:cNvPr id="19" name="anim|5|wipe|click|" descr="preencoded.png"/>
          <p:cNvPicPr>
            <a:picLocks noChangeAspect="1"/>
          </p:cNvPicPr>
          <p:nvPr/>
        </p:nvPicPr>
        <p:blipFill>
          <a:blip r:embed="rId7"/>
          <a:stretch>
            <a:fillRect/>
          </a:stretch>
        </p:blipFill>
        <p:spPr>
          <a:xfrm>
            <a:off x="5927141" y="5515661"/>
            <a:ext cx="307238" cy="307238"/>
          </a:xfrm>
          <a:prstGeom prst="rect">
            <a:avLst/>
          </a:prstGeom>
        </p:spPr>
      </p:pic>
      <p:sp>
        <p:nvSpPr>
          <p:cNvPr id="20" name="anim|5|wipe|with|"/>
          <p:cNvSpPr txBox="1"/>
          <p:nvPr/>
        </p:nvSpPr>
        <p:spPr>
          <a:xfrm>
            <a:off x="6492240" y="5358384"/>
            <a:ext cx="5212080" cy="347472"/>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Ask in plain words</a:t>
            </a:r>
            <a:endParaRPr lang="en-US" sz="1600" dirty="0"/>
          </a:p>
        </p:txBody>
      </p:sp>
      <p:sp>
        <p:nvSpPr>
          <p:cNvPr id="21" name="anim|5|wipe|with|"/>
          <p:cNvSpPr txBox="1"/>
          <p:nvPr/>
        </p:nvSpPr>
        <p:spPr>
          <a:xfrm>
            <a:off x="6492240" y="5687568"/>
            <a:ext cx="5212080" cy="50292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Ask LIFELOG calls get_doses and answers from the record; doses are in every receipt</a:t>
            </a:r>
            <a:endParaRPr lang="en-US" sz="1300" dirty="0"/>
          </a:p>
        </p:txBody>
      </p:sp>
      <p:sp>
        <p:nvSpPr>
          <p:cNvPr id="22" name="anim|6|fade|click|"/>
          <p:cNvSpPr txBox="1"/>
          <p:nvPr/>
        </p:nvSpPr>
        <p:spPr>
          <a:xfrm>
            <a:off x="548640" y="5074920"/>
            <a:ext cx="4937760" cy="822960"/>
          </a:xfrm>
          <a:prstGeom prst="rect">
            <a:avLst/>
          </a:prstGeom>
          <a:noFill/>
          <a:ln/>
        </p:spPr>
        <p:txBody>
          <a:bodyPr wrap="square" lIns="0" tIns="0" rIns="0" bIns="0" rtlCol="0" anchor="t"/>
          <a:lstStyle/>
          <a:p>
            <a:pPr marL="0" indent="0">
              <a:buNone/>
            </a:pPr>
            <a:r>
              <a:rPr lang="en-US" sz="1500" i="1" dirty="0">
                <a:solidFill>
                  <a:srgbClr val="A8D5C2"/>
                </a:solidFill>
                <a:latin typeface="Calibri" pitchFamily="34" charset="0"/>
                <a:ea typeface="Calibri" pitchFamily="34" charset="-122"/>
                <a:cs typeface="Calibri" pitchFamily="34" charset="-120"/>
              </a:rPr>
              <a:t>Patients stop guessing; pharmacists get a verifiable dose-by-dose record.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par>
                          <p:cTn id="26" fill="hold">
                            <p:stCondLst>
                              <p:cond delay="500"/>
                            </p:stCondLst>
                            <p:childTnLst>
                              <p:par>
                                <p:cTn id="27" presetID="10" presetClass="entr" presetSubtype="0" fill="hold" nodeType="afterEffect">
                                  <p:stCondLst>
                                    <p:cond delay="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par>
                                <p:cTn id="41" presetID="22" presetClass="entr" presetSubtype="8"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00"/>
                                        <p:tgtEl>
                                          <p:spTgt spid="11"/>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wipe(left)">
                                      <p:cBhvr>
                                        <p:cTn id="46" dur="500"/>
                                        <p:tgtEl>
                                          <p:spTgt spid="12"/>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500"/>
                                        <p:tgtEl>
                                          <p:spTgt spid="14"/>
                                        </p:tgtEl>
                                      </p:cBhvr>
                                    </p:animEffect>
                                  </p:childTnLst>
                                </p:cTn>
                              </p:par>
                              <p:par>
                                <p:cTn id="55" presetID="22" presetClass="entr" presetSubtype="8"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500"/>
                                        <p:tgtEl>
                                          <p:spTgt spid="15"/>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22" presetClass="entr" presetSubtype="8"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wipe(left)">
                                      <p:cBhvr>
                                        <p:cTn id="63" dur="500"/>
                                        <p:tgtEl>
                                          <p:spTgt spid="17"/>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nodeType="click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wipe(left)">
                                      <p:cBhvr>
                                        <p:cTn id="68" dur="500"/>
                                        <p:tgtEl>
                                          <p:spTgt spid="18"/>
                                        </p:tgtEl>
                                      </p:cBhvr>
                                    </p:animEffect>
                                  </p:childTnLst>
                                </p:cTn>
                              </p:par>
                              <p:par>
                                <p:cTn id="69" presetID="22" presetClass="entr" presetSubtype="8"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wipe(left)">
                                      <p:cBhvr>
                                        <p:cTn id="71" dur="500"/>
                                        <p:tgtEl>
                                          <p:spTgt spid="19"/>
                                        </p:tgtEl>
                                      </p:cBhvr>
                                    </p:animEffect>
                                  </p:childTnLst>
                                </p:cTn>
                              </p:par>
                              <p:par>
                                <p:cTn id="72" presetID="22" presetClass="entr" presetSubtype="8"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500"/>
                                        <p:tgtEl>
                                          <p:spTgt spid="20"/>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500"/>
                                        <p:tgtEl>
                                          <p:spTgt spid="2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In your language, with your data in your hands</a:t>
            </a:r>
            <a:endParaRPr lang="en-US" sz="3200" dirty="0"/>
          </a:p>
        </p:txBody>
      </p:sp>
      <p:sp>
        <p:nvSpPr>
          <p:cNvPr id="3" name="anim|1|fade|after|"/>
          <p:cNvSpPr/>
          <p:nvPr/>
        </p:nvSpPr>
        <p:spPr>
          <a:xfrm>
            <a:off x="493776" y="1316736"/>
            <a:ext cx="5961888" cy="3035808"/>
          </a:xfrm>
          <a:prstGeom prst="roundRect">
            <a:avLst>
              <a:gd name="adj" fmla="val 361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arabic.png"/>
          <p:cNvPicPr>
            <a:picLocks noChangeAspect="1"/>
          </p:cNvPicPr>
          <p:nvPr/>
        </p:nvPicPr>
        <p:blipFill>
          <a:blip r:embed="rId3"/>
          <a:stretch>
            <a:fillRect/>
          </a:stretch>
        </p:blipFill>
        <p:spPr>
          <a:xfrm>
            <a:off x="548640" y="1371600"/>
            <a:ext cx="5852160" cy="2926080"/>
          </a:xfrm>
          <a:prstGeom prst="rect">
            <a:avLst/>
          </a:prstGeom>
        </p:spPr>
      </p:pic>
      <p:sp>
        <p:nvSpPr>
          <p:cNvPr id="5" name="anim|2|wipe|click|"/>
          <p:cNvSpPr/>
          <p:nvPr/>
        </p:nvSpPr>
        <p:spPr>
          <a:xfrm>
            <a:off x="6720840" y="1417320"/>
            <a:ext cx="603504" cy="603504"/>
          </a:xfrm>
          <a:prstGeom prst="ellipse">
            <a:avLst/>
          </a:prstGeom>
          <a:solidFill>
            <a:srgbClr val="343A3C"/>
          </a:solidFill>
          <a:ln/>
        </p:spPr>
      </p:sp>
      <p:pic>
        <p:nvPicPr>
          <p:cNvPr id="6" name="anim|2|wipe|click|" descr="preencoded.png"/>
          <p:cNvPicPr>
            <a:picLocks noChangeAspect="1"/>
          </p:cNvPicPr>
          <p:nvPr/>
        </p:nvPicPr>
        <p:blipFill>
          <a:blip r:embed="rId4"/>
          <a:stretch>
            <a:fillRect/>
          </a:stretch>
        </p:blipFill>
        <p:spPr>
          <a:xfrm>
            <a:off x="6853611" y="1550091"/>
            <a:ext cx="337962" cy="337962"/>
          </a:xfrm>
          <a:prstGeom prst="rect">
            <a:avLst/>
          </a:prstGeom>
        </p:spPr>
      </p:pic>
      <p:sp>
        <p:nvSpPr>
          <p:cNvPr id="7" name="anim|2|wipe|with|"/>
          <p:cNvSpPr txBox="1"/>
          <p:nvPr/>
        </p:nvSpPr>
        <p:spPr>
          <a:xfrm>
            <a:off x="7452360" y="1399032"/>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English, Arabic, Spanish, Bengali</a:t>
            </a:r>
            <a:endParaRPr lang="en-US" sz="1650" dirty="0"/>
          </a:p>
        </p:txBody>
      </p:sp>
      <p:sp>
        <p:nvSpPr>
          <p:cNvPr id="8" name="anim|2|wipe|with|"/>
          <p:cNvSpPr txBox="1"/>
          <p:nvPr/>
        </p:nvSpPr>
        <p:spPr>
          <a:xfrm>
            <a:off x="7452360" y="1764792"/>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The whole interface, right-to-left for Arabic, saved to your account. Label quotes stay exactly as the FDA wrote them</a:t>
            </a:r>
            <a:endParaRPr lang="en-US" sz="1300" dirty="0"/>
          </a:p>
        </p:txBody>
      </p:sp>
      <p:sp>
        <p:nvSpPr>
          <p:cNvPr id="9" name="anim|3|wipe|click|"/>
          <p:cNvSpPr/>
          <p:nvPr/>
        </p:nvSpPr>
        <p:spPr>
          <a:xfrm>
            <a:off x="6720840" y="2587752"/>
            <a:ext cx="603504" cy="603504"/>
          </a:xfrm>
          <a:prstGeom prst="ellipse">
            <a:avLst/>
          </a:prstGeom>
          <a:solidFill>
            <a:srgbClr val="343A3C"/>
          </a:solidFill>
          <a:ln/>
        </p:spPr>
      </p:sp>
      <p:pic>
        <p:nvPicPr>
          <p:cNvPr id="10" name="anim|3|wipe|click|" descr="preencoded.png"/>
          <p:cNvPicPr>
            <a:picLocks noChangeAspect="1"/>
          </p:cNvPicPr>
          <p:nvPr/>
        </p:nvPicPr>
        <p:blipFill>
          <a:blip r:embed="rId5"/>
          <a:stretch>
            <a:fillRect/>
          </a:stretch>
        </p:blipFill>
        <p:spPr>
          <a:xfrm>
            <a:off x="6853611" y="2720523"/>
            <a:ext cx="337962" cy="337962"/>
          </a:xfrm>
          <a:prstGeom prst="rect">
            <a:avLst/>
          </a:prstGeom>
        </p:spPr>
      </p:pic>
      <p:sp>
        <p:nvSpPr>
          <p:cNvPr id="11" name="anim|3|wipe|with|"/>
          <p:cNvSpPr txBox="1"/>
          <p:nvPr/>
        </p:nvSpPr>
        <p:spPr>
          <a:xfrm>
            <a:off x="7452360" y="2569464"/>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Download everything</a:t>
            </a:r>
            <a:endParaRPr lang="en-US" sz="1650" dirty="0"/>
          </a:p>
        </p:txBody>
      </p:sp>
      <p:sp>
        <p:nvSpPr>
          <p:cNvPr id="12" name="anim|3|wipe|with|"/>
          <p:cNvSpPr txBox="1"/>
          <p:nvPr/>
        </p:nvSpPr>
        <p:spPr>
          <a:xfrm>
            <a:off x="7452360" y="2935224"/>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One ZIP: every medicine, every temperature reading, doses, alerts, receipts and messages</a:t>
            </a:r>
            <a:endParaRPr lang="en-US" sz="1300" dirty="0"/>
          </a:p>
        </p:txBody>
      </p:sp>
      <p:sp>
        <p:nvSpPr>
          <p:cNvPr id="13" name="anim|4|wipe|click|"/>
          <p:cNvSpPr/>
          <p:nvPr/>
        </p:nvSpPr>
        <p:spPr>
          <a:xfrm>
            <a:off x="6720840" y="3758184"/>
            <a:ext cx="603504" cy="603504"/>
          </a:xfrm>
          <a:prstGeom prst="ellipse">
            <a:avLst/>
          </a:prstGeom>
          <a:solidFill>
            <a:srgbClr val="343A3C"/>
          </a:solidFill>
          <a:ln/>
        </p:spPr>
      </p:sp>
      <p:pic>
        <p:nvPicPr>
          <p:cNvPr id="14" name="anim|4|wipe|click|" descr="preencoded.png"/>
          <p:cNvPicPr>
            <a:picLocks noChangeAspect="1"/>
          </p:cNvPicPr>
          <p:nvPr/>
        </p:nvPicPr>
        <p:blipFill>
          <a:blip r:embed="rId6"/>
          <a:stretch>
            <a:fillRect/>
          </a:stretch>
        </p:blipFill>
        <p:spPr>
          <a:xfrm>
            <a:off x="6853611" y="3890955"/>
            <a:ext cx="337962" cy="337962"/>
          </a:xfrm>
          <a:prstGeom prst="rect">
            <a:avLst/>
          </a:prstGeom>
        </p:spPr>
      </p:pic>
      <p:sp>
        <p:nvSpPr>
          <p:cNvPr id="15" name="anim|4|wipe|with|"/>
          <p:cNvSpPr txBox="1"/>
          <p:nvPr/>
        </p:nvSpPr>
        <p:spPr>
          <a:xfrm>
            <a:off x="7452360" y="3739896"/>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Delete for real</a:t>
            </a:r>
            <a:endParaRPr lang="en-US" sz="1650" dirty="0"/>
          </a:p>
        </p:txBody>
      </p:sp>
      <p:sp>
        <p:nvSpPr>
          <p:cNvPr id="16" name="anim|4|wipe|with|"/>
          <p:cNvSpPr txBox="1"/>
          <p:nvPr/>
        </p:nvSpPr>
        <p:spPr>
          <a:xfrm>
            <a:off x="7452360" y="4105656"/>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Your account and every reading are removed, including the rollups built from them</a:t>
            </a:r>
            <a:endParaRPr lang="en-US" sz="1300" dirty="0"/>
          </a:p>
        </p:txBody>
      </p:sp>
      <p:sp>
        <p:nvSpPr>
          <p:cNvPr id="17" name="anim|5|wipe|click|"/>
          <p:cNvSpPr/>
          <p:nvPr/>
        </p:nvSpPr>
        <p:spPr>
          <a:xfrm>
            <a:off x="6720840" y="4928616"/>
            <a:ext cx="603504" cy="603504"/>
          </a:xfrm>
          <a:prstGeom prst="ellipse">
            <a:avLst/>
          </a:prstGeom>
          <a:solidFill>
            <a:srgbClr val="343A3C"/>
          </a:solidFill>
          <a:ln/>
        </p:spPr>
      </p:sp>
      <p:pic>
        <p:nvPicPr>
          <p:cNvPr id="18" name="anim|5|wipe|click|" descr="preencoded.png"/>
          <p:cNvPicPr>
            <a:picLocks noChangeAspect="1"/>
          </p:cNvPicPr>
          <p:nvPr/>
        </p:nvPicPr>
        <p:blipFill>
          <a:blip r:embed="rId7"/>
          <a:stretch>
            <a:fillRect/>
          </a:stretch>
        </p:blipFill>
        <p:spPr>
          <a:xfrm>
            <a:off x="6853611" y="5061387"/>
            <a:ext cx="337962" cy="337962"/>
          </a:xfrm>
          <a:prstGeom prst="rect">
            <a:avLst/>
          </a:prstGeom>
        </p:spPr>
      </p:pic>
      <p:sp>
        <p:nvSpPr>
          <p:cNvPr id="19" name="anim|5|wipe|with|"/>
          <p:cNvSpPr txBox="1"/>
          <p:nvPr/>
        </p:nvSpPr>
        <p:spPr>
          <a:xfrm>
            <a:off x="7452360" y="4910328"/>
            <a:ext cx="4251960" cy="365760"/>
          </a:xfrm>
          <a:prstGeom prst="rect">
            <a:avLst/>
          </a:prstGeom>
          <a:noFill/>
          <a:ln/>
        </p:spPr>
        <p:txBody>
          <a:bodyPr wrap="square" lIns="0" tIns="0" rIns="0" bIns="0" rtlCol="0" anchor="ctr"/>
          <a:lstStyle/>
          <a:p>
            <a:pPr marL="0" indent="0">
              <a:buNone/>
            </a:pPr>
            <a:r>
              <a:rPr lang="en-US" sz="1650" b="1" dirty="0">
                <a:solidFill>
                  <a:srgbClr val="F4F1EA"/>
                </a:solidFill>
                <a:latin typeface="Calibri" pitchFamily="34" charset="0"/>
                <a:ea typeface="Calibri" pitchFamily="34" charset="-122"/>
                <a:cs typeface="Calibri" pitchFamily="34" charset="-120"/>
              </a:rPr>
              <a:t>Private by the database</a:t>
            </a:r>
            <a:endParaRPr lang="en-US" sz="1650" dirty="0"/>
          </a:p>
        </p:txBody>
      </p:sp>
      <p:sp>
        <p:nvSpPr>
          <p:cNvPr id="20" name="anim|5|wipe|with|"/>
          <p:cNvSpPr txBox="1"/>
          <p:nvPr/>
        </p:nvSpPr>
        <p:spPr>
          <a:xfrm>
            <a:off x="7452360" y="5276088"/>
            <a:ext cx="4251960" cy="77724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Row-level security, as before: no one else's queries can return your rows</a:t>
            </a:r>
            <a:endParaRPr lang="en-US" sz="1300" dirty="0"/>
          </a:p>
        </p:txBody>
      </p:sp>
      <p:sp>
        <p:nvSpPr>
          <p:cNvPr id="21" name="anim|6|fade|click|"/>
          <p:cNvSpPr/>
          <p:nvPr/>
        </p:nvSpPr>
        <p:spPr>
          <a:xfrm>
            <a:off x="548640" y="4572000"/>
            <a:ext cx="5852160" cy="1463040"/>
          </a:xfrm>
          <a:prstGeom prst="roundRect">
            <a:avLst>
              <a:gd name="adj" fmla="val 7500"/>
            </a:avLst>
          </a:prstGeom>
          <a:solidFill>
            <a:srgbClr val="23352F"/>
          </a:solidFill>
          <a:ln w="9525">
            <a:solidFill>
              <a:srgbClr val="6FA391"/>
            </a:solidFill>
            <a:prstDash val="solid"/>
          </a:ln>
        </p:spPr>
      </p:sp>
      <p:sp>
        <p:nvSpPr>
          <p:cNvPr id="22" name="anim|6|fade|with|"/>
          <p:cNvSpPr txBox="1"/>
          <p:nvPr/>
        </p:nvSpPr>
        <p:spPr>
          <a:xfrm>
            <a:off x="777240" y="4572000"/>
            <a:ext cx="5440680" cy="146304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Dearborn has one of the largest Arabic-speaking communities in the U.S. A safety tool has to speak its language.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2"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Works with or without AI</a:t>
            </a:r>
            <a:endParaRPr lang="en-US" sz="3200" dirty="0"/>
          </a:p>
        </p:txBody>
      </p:sp>
      <p:graphicFrame>
        <p:nvGraphicFramePr>
          <p:cNvPr id="26"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12064">
                <a:tc>
                  <a:txBody>
                    <a:bodyPr/>
                    <a:lstStyle/>
                    <a:p>
                      <a:pPr marL="0" indent="0">
                        <a:buNone/>
                      </a:pPr>
                      <a:r>
                        <a:rPr lang="en-US" sz="1400" b="1" dirty="0">
                          <a:solidFill>
                            <a:srgbClr val="F2A54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9C8CE0"/>
                          </a:solidFill>
                          <a:latin typeface="Calibri" pitchFamily="34" charset="0"/>
                          <a:ea typeface="Calibri" pitchFamily="34" charset="-122"/>
                          <a:cs typeface="Calibri" pitchFamily="34" charset="-120"/>
                        </a:rPr>
                        <a:t>With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b="1" dirty="0">
                          <a:solidFill>
                            <a:srgbClr val="A8D5C2"/>
                          </a:solidFill>
                          <a:latin typeface="Calibri" pitchFamily="34" charset="0"/>
                          <a:ea typeface="Calibri" pitchFamily="34" charset="-122"/>
                          <a:cs typeface="Calibri" pitchFamily="34" charset="-120"/>
                        </a:rPr>
                        <a:t>When Gemini is unavailable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Is it safe to use?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Grounded verdict quoting the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Rule-based verdict from your data +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Refill letter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Written by Gemini</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Template with your exposure log + receipt</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Add a medicine by name</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reads the FDA label</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Rules read the FDA label (flagged to check)</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Outage dispatch plan</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with Maps grounding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Ranked list + ready-to-send texts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Typed report ("in the car 2 h")</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Gemini extracts events</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Keyword + duration parser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F4F1EA"/>
                          </a:solidFill>
                          <a:latin typeface="Calibri" pitchFamily="34" charset="0"/>
                          <a:ea typeface="Calibri" pitchFamily="34" charset="-122"/>
                          <a:cs typeface="Calibri" pitchFamily="34" charset="-120"/>
                        </a:rPr>
                        <a:t>Ask LIFELOG</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Function calling over live data</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400" dirty="0">
                          <a:solidFill>
                            <a:srgbClr val="F4F1EA"/>
                          </a:solidFill>
                          <a:latin typeface="Calibri" pitchFamily="34" charset="0"/>
                          <a:ea typeface="Calibri" pitchFamily="34" charset="-122"/>
                          <a:cs typeface="Calibri" pitchFamily="34" charset="-120"/>
                        </a:rPr>
                        <a:t>Summary straight from Tiger</a:t>
                      </a:r>
                      <a:endParaRPr lang="en-US" sz="14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bl>
          </a:graphicData>
        </a:graphic>
      </p:graphicFrame>
      <p:sp>
        <p:nvSpPr>
          <p:cNvPr id="4" name="anim|2|fade|click|"/>
          <p:cNvSpPr/>
          <p:nvPr/>
        </p:nvSpPr>
        <p:spPr>
          <a:xfrm>
            <a:off x="548640" y="5257800"/>
            <a:ext cx="11064240" cy="822960"/>
          </a:xfrm>
          <a:prstGeom prst="roundRect">
            <a:avLst>
              <a:gd name="adj" fmla="val 13333"/>
            </a:avLst>
          </a:prstGeom>
          <a:solidFill>
            <a:srgbClr val="23352F"/>
          </a:solidFill>
          <a:ln w="9525">
            <a:solidFill>
              <a:srgbClr val="6FA391"/>
            </a:solidFill>
            <a:prstDash val="solid"/>
          </a:ln>
        </p:spPr>
      </p:sp>
      <p:sp>
        <p:nvSpPr>
          <p:cNvPr id="5" name="anim|2|fade|with|"/>
          <p:cNvSpPr txBox="1"/>
          <p:nvPr/>
        </p:nvSpPr>
        <p:spPr>
          <a:xfrm>
            <a:off x="822960" y="5257800"/>
            <a:ext cx="10515600" cy="8229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Free-tier Gemini quotas run out. Every LIFELOG button still answers, and says honestly when no AI was used.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Build on LIFELOG</a:t>
            </a:r>
            <a:endParaRPr lang="en-US" sz="3200" dirty="0"/>
          </a:p>
        </p:txBody>
      </p:sp>
      <p:sp>
        <p:nvSpPr>
          <p:cNvPr id="3" name="anim|1|fade|after|"/>
          <p:cNvSpPr/>
          <p:nvPr/>
        </p:nvSpPr>
        <p:spPr>
          <a:xfrm>
            <a:off x="493776" y="1316736"/>
            <a:ext cx="5230368" cy="4507992"/>
          </a:xfrm>
          <a:prstGeom prst="roundRect">
            <a:avLst>
              <a:gd name="adj" fmla="val 243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crop-dev.png"/>
          <p:cNvPicPr>
            <a:picLocks noChangeAspect="1"/>
          </p:cNvPicPr>
          <p:nvPr/>
        </p:nvPicPr>
        <p:blipFill>
          <a:blip r:embed="rId3"/>
          <a:stretch>
            <a:fillRect/>
          </a:stretch>
        </p:blipFill>
        <p:spPr>
          <a:xfrm>
            <a:off x="548640" y="1371600"/>
            <a:ext cx="5120640" cy="4398264"/>
          </a:xfrm>
          <a:prstGeom prst="rect">
            <a:avLst/>
          </a:prstGeom>
        </p:spPr>
      </p:pic>
      <p:sp>
        <p:nvSpPr>
          <p:cNvPr id="5" name="anim|2|wipe|click|"/>
          <p:cNvSpPr/>
          <p:nvPr/>
        </p:nvSpPr>
        <p:spPr>
          <a:xfrm>
            <a:off x="6080760" y="1417320"/>
            <a:ext cx="621792" cy="621792"/>
          </a:xfrm>
          <a:prstGeom prst="ellipse">
            <a:avLst/>
          </a:prstGeom>
          <a:solidFill>
            <a:srgbClr val="3A3458"/>
          </a:solidFill>
          <a:ln/>
        </p:spPr>
      </p:sp>
      <p:pic>
        <p:nvPicPr>
          <p:cNvPr id="6" name="anim|2|wipe|click|" descr="preencoded.png"/>
          <p:cNvPicPr>
            <a:picLocks noChangeAspect="1"/>
          </p:cNvPicPr>
          <p:nvPr/>
        </p:nvPicPr>
        <p:blipFill>
          <a:blip r:embed="rId4"/>
          <a:stretch>
            <a:fillRect/>
          </a:stretch>
        </p:blipFill>
        <p:spPr>
          <a:xfrm>
            <a:off x="6217554" y="1554114"/>
            <a:ext cx="348204" cy="348204"/>
          </a:xfrm>
          <a:prstGeom prst="rect">
            <a:avLst/>
          </a:prstGeom>
        </p:spPr>
      </p:pic>
      <p:sp>
        <p:nvSpPr>
          <p:cNvPr id="7" name="anim|2|wipe|with|"/>
          <p:cNvSpPr txBox="1"/>
          <p:nvPr/>
        </p:nvSpPr>
        <p:spPr>
          <a:xfrm>
            <a:off x="6858000" y="1399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Any sensor, one call</a:t>
            </a:r>
            <a:endParaRPr lang="en-US" sz="1700" dirty="0"/>
          </a:p>
        </p:txBody>
      </p:sp>
      <p:sp>
        <p:nvSpPr>
          <p:cNvPr id="8" name="anim|2|wipe|with|"/>
          <p:cNvSpPr txBox="1"/>
          <p:nvPr/>
        </p:nvSpPr>
        <p:spPr>
          <a:xfrm>
            <a:off x="6858000" y="1783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POST /v1/readings with a device key; late batches repaired automatically</a:t>
            </a:r>
            <a:endParaRPr lang="en-US" sz="1350" dirty="0"/>
          </a:p>
        </p:txBody>
      </p:sp>
      <p:sp>
        <p:nvSpPr>
          <p:cNvPr id="9" name="anim|3|wipe|click|"/>
          <p:cNvSpPr/>
          <p:nvPr/>
        </p:nvSpPr>
        <p:spPr>
          <a:xfrm>
            <a:off x="6080760" y="2560320"/>
            <a:ext cx="621792" cy="621792"/>
          </a:xfrm>
          <a:prstGeom prst="ellipse">
            <a:avLst/>
          </a:prstGeom>
          <a:solidFill>
            <a:srgbClr val="3A3458"/>
          </a:solidFill>
          <a:ln/>
        </p:spPr>
      </p:sp>
      <p:pic>
        <p:nvPicPr>
          <p:cNvPr id="10" name="anim|3|wipe|click|" descr="preencoded.png"/>
          <p:cNvPicPr>
            <a:picLocks noChangeAspect="1"/>
          </p:cNvPicPr>
          <p:nvPr/>
        </p:nvPicPr>
        <p:blipFill>
          <a:blip r:embed="rId5"/>
          <a:stretch>
            <a:fillRect/>
          </a:stretch>
        </p:blipFill>
        <p:spPr>
          <a:xfrm>
            <a:off x="6217554" y="2697114"/>
            <a:ext cx="348204" cy="348204"/>
          </a:xfrm>
          <a:prstGeom prst="rect">
            <a:avLst/>
          </a:prstGeom>
        </p:spPr>
      </p:pic>
      <p:sp>
        <p:nvSpPr>
          <p:cNvPr id="11" name="anim|3|wipe|with|"/>
          <p:cNvSpPr txBox="1"/>
          <p:nvPr/>
        </p:nvSpPr>
        <p:spPr>
          <a:xfrm>
            <a:off x="6858000" y="2542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Signed alert webhooks</a:t>
            </a:r>
            <a:endParaRPr lang="en-US" sz="1700" dirty="0"/>
          </a:p>
        </p:txBody>
      </p:sp>
      <p:sp>
        <p:nvSpPr>
          <p:cNvPr id="12" name="anim|3|wipe|with|"/>
          <p:cNvSpPr txBox="1"/>
          <p:nvPr/>
        </p:nvSpPr>
        <p:spPr>
          <a:xfrm>
            <a:off x="6858000" y="2926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Every alert pushed within seconds, signed with HMAC-SHA256</a:t>
            </a:r>
            <a:endParaRPr lang="en-US" sz="1350" dirty="0"/>
          </a:p>
        </p:txBody>
      </p:sp>
      <p:sp>
        <p:nvSpPr>
          <p:cNvPr id="13" name="anim|4|wipe|click|"/>
          <p:cNvSpPr/>
          <p:nvPr/>
        </p:nvSpPr>
        <p:spPr>
          <a:xfrm>
            <a:off x="6080760" y="3703320"/>
            <a:ext cx="621792" cy="621792"/>
          </a:xfrm>
          <a:prstGeom prst="ellipse">
            <a:avLst/>
          </a:prstGeom>
          <a:solidFill>
            <a:srgbClr val="3A3458"/>
          </a:solidFill>
          <a:ln/>
        </p:spPr>
      </p:sp>
      <p:pic>
        <p:nvPicPr>
          <p:cNvPr id="14" name="anim|4|wipe|click|" descr="preencoded.png"/>
          <p:cNvPicPr>
            <a:picLocks noChangeAspect="1"/>
          </p:cNvPicPr>
          <p:nvPr/>
        </p:nvPicPr>
        <p:blipFill>
          <a:blip r:embed="rId6"/>
          <a:stretch>
            <a:fillRect/>
          </a:stretch>
        </p:blipFill>
        <p:spPr>
          <a:xfrm>
            <a:off x="6217554" y="3840114"/>
            <a:ext cx="348204" cy="348204"/>
          </a:xfrm>
          <a:prstGeom prst="rect">
            <a:avLst/>
          </a:prstGeom>
        </p:spPr>
      </p:pic>
      <p:sp>
        <p:nvSpPr>
          <p:cNvPr id="15" name="anim|4|wipe|with|"/>
          <p:cNvSpPr txBox="1"/>
          <p:nvPr/>
        </p:nvSpPr>
        <p:spPr>
          <a:xfrm>
            <a:off x="6858000" y="3685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An open format for storage rules</a:t>
            </a:r>
            <a:endParaRPr lang="en-US" sz="1700" dirty="0"/>
          </a:p>
        </p:txBody>
      </p:sp>
      <p:sp>
        <p:nvSpPr>
          <p:cNvPr id="16" name="anim|4|wipe|with|"/>
          <p:cNvSpPr txBox="1"/>
          <p:nvPr/>
        </p:nvSpPr>
        <p:spPr>
          <a:xfrm>
            <a:off x="6858000" y="4069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JSON Schema for a medicine's life-budget model, plus the full OpenAPI</a:t>
            </a:r>
            <a:endParaRPr lang="en-US" sz="1350" dirty="0"/>
          </a:p>
        </p:txBody>
      </p:sp>
      <p:sp>
        <p:nvSpPr>
          <p:cNvPr id="17" name="anim|5|wipe|click|"/>
          <p:cNvSpPr/>
          <p:nvPr/>
        </p:nvSpPr>
        <p:spPr>
          <a:xfrm>
            <a:off x="6080760" y="4846320"/>
            <a:ext cx="621792" cy="621792"/>
          </a:xfrm>
          <a:prstGeom prst="ellipse">
            <a:avLst/>
          </a:prstGeom>
          <a:solidFill>
            <a:srgbClr val="3A3458"/>
          </a:solidFill>
          <a:ln/>
        </p:spPr>
      </p:sp>
      <p:pic>
        <p:nvPicPr>
          <p:cNvPr id="18" name="anim|5|wipe|click|" descr="preencoded.png"/>
          <p:cNvPicPr>
            <a:picLocks noChangeAspect="1"/>
          </p:cNvPicPr>
          <p:nvPr/>
        </p:nvPicPr>
        <p:blipFill>
          <a:blip r:embed="rId7"/>
          <a:stretch>
            <a:fillRect/>
          </a:stretch>
        </p:blipFill>
        <p:spPr>
          <a:xfrm>
            <a:off x="6217554" y="4983114"/>
            <a:ext cx="348204" cy="348204"/>
          </a:xfrm>
          <a:prstGeom prst="rect">
            <a:avLst/>
          </a:prstGeom>
        </p:spPr>
      </p:pic>
      <p:sp>
        <p:nvSpPr>
          <p:cNvPr id="19" name="anim|5|wipe|with|"/>
          <p:cNvSpPr txBox="1"/>
          <p:nvPr/>
        </p:nvSpPr>
        <p:spPr>
          <a:xfrm>
            <a:off x="6858000" y="4828032"/>
            <a:ext cx="4800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Bluetooth, no app</a:t>
            </a:r>
            <a:endParaRPr lang="en-US" sz="1700" dirty="0"/>
          </a:p>
        </p:txBody>
      </p:sp>
      <p:sp>
        <p:nvSpPr>
          <p:cNvPr id="20" name="anim|5|wipe|with|"/>
          <p:cNvSpPr txBox="1"/>
          <p:nvPr/>
        </p:nvSpPr>
        <p:spPr>
          <a:xfrm>
            <a:off x="6858000" y="5212080"/>
            <a:ext cx="4800600" cy="640080"/>
          </a:xfrm>
          <a:prstGeom prst="rect">
            <a:avLst/>
          </a:prstGeom>
          <a:noFill/>
          <a:ln/>
        </p:spPr>
        <p:txBody>
          <a:bodyPr wrap="square" lIns="0" tIns="0" rIns="0" bIns="0" rtlCol="0" anchor="t"/>
          <a:lstStyle/>
          <a:p>
            <a:pPr marL="0" indent="0">
              <a:buNone/>
            </a:pPr>
            <a:r>
              <a:rPr lang="en-US" sz="1350" dirty="0">
                <a:solidFill>
                  <a:srgbClr val="B9C4BF"/>
                </a:solidFill>
                <a:latin typeface="Calibri" pitchFamily="34" charset="0"/>
                <a:ea typeface="Calibri" pitchFamily="34" charset="-122"/>
                <a:cs typeface="Calibri" pitchFamily="34" charset="-120"/>
              </a:rPr>
              <a:t>Pair a standard thermometer from the browser (Web Bluetooth)</a:t>
            </a:r>
            <a:endParaRPr lang="en-US" sz="1350" dirty="0"/>
          </a:p>
        </p:txBody>
      </p:sp>
      <p:sp>
        <p:nvSpPr>
          <p:cNvPr id="21" name="anim|6|fade|click|"/>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Smart fridges, cooler bags, mail-order pharmacies and clinics plug in; Tiger Data does the math.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22" presetClass="entr" presetSubtype="8" fill="hold"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500"/>
                                        <p:tgtEl>
                                          <p:spTgt spid="18"/>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500"/>
                                        <p:tgtEl>
                                          <p:spTgt spid="2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Try it three ways</a:t>
            </a:r>
            <a:endParaRPr lang="en-US" sz="3200" dirty="0"/>
          </a:p>
        </p:txBody>
      </p:sp>
      <p:sp>
        <p:nvSpPr>
          <p:cNvPr id="3" name="anim|1|rise|click|"/>
          <p:cNvSpPr/>
          <p:nvPr/>
        </p:nvSpPr>
        <p:spPr>
          <a:xfrm>
            <a:off x="548640" y="1417320"/>
            <a:ext cx="3520440" cy="3749040"/>
          </a:xfrm>
          <a:prstGeom prst="roundRect">
            <a:avLst>
              <a:gd name="adj" fmla="val 3117"/>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3017520" cy="457200"/>
          </a:xfrm>
          <a:prstGeom prst="rect">
            <a:avLst/>
          </a:prstGeom>
          <a:noFill/>
          <a:ln/>
        </p:spPr>
        <p:txBody>
          <a:bodyPr wrap="square" lIns="0" tIns="0" rIns="0" bIns="0" rtlCol="0" anchor="ctr"/>
          <a:lstStyle/>
          <a:p>
            <a:pPr marL="0" indent="0">
              <a:buNone/>
            </a:pPr>
            <a:r>
              <a:rPr lang="en-US" sz="2200" b="1" dirty="0">
                <a:solidFill>
                  <a:srgbClr val="A8D5C2"/>
                </a:solidFill>
                <a:latin typeface="Calibri" pitchFamily="34" charset="0"/>
                <a:ea typeface="Calibri" pitchFamily="34" charset="-122"/>
                <a:cs typeface="Calibri" pitchFamily="34" charset="-120"/>
              </a:rPr>
              <a:t>Owner</a:t>
            </a:r>
            <a:endParaRPr lang="en-US" sz="2200" dirty="0"/>
          </a:p>
        </p:txBody>
      </p:sp>
      <p:sp>
        <p:nvSpPr>
          <p:cNvPr id="7" name="anim|1|rise|with|"/>
          <p:cNvSpPr txBox="1"/>
          <p:nvPr/>
        </p:nvSpPr>
        <p:spPr>
          <a:xfrm>
            <a:off x="822960"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Manu · 6 medicines</a:t>
            </a:r>
            <a:endParaRPr lang="en-US" sz="1500" dirty="0"/>
          </a:p>
        </p:txBody>
      </p:sp>
      <p:sp>
        <p:nvSpPr>
          <p:cNvPr id="8" name="anim|1|rise|with|"/>
          <p:cNvSpPr txBox="1"/>
          <p:nvPr/>
        </p:nvSpPr>
        <p:spPr>
          <a:xfrm>
            <a:off x="822960"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Full history, dose log, receipts, and the demo controls: hot car, late upload, storm.</a:t>
            </a:r>
            <a:endParaRPr lang="en-US" sz="1400" dirty="0"/>
          </a:p>
        </p:txBody>
      </p:sp>
      <p:sp>
        <p:nvSpPr>
          <p:cNvPr id="9" name="anim|2|rise|click|"/>
          <p:cNvSpPr/>
          <p:nvPr/>
        </p:nvSpPr>
        <p:spPr>
          <a:xfrm>
            <a:off x="4325112" y="1417320"/>
            <a:ext cx="3520440" cy="3749040"/>
          </a:xfrm>
          <a:prstGeom prst="roundRect">
            <a:avLst>
              <a:gd name="adj" fmla="val 3117"/>
            </a:avLst>
          </a:prstGeom>
          <a:solidFill>
            <a:srgbClr val="2B2F31"/>
          </a:solidFill>
          <a:ln w="9525">
            <a:solidFill>
              <a:srgbClr val="45504C"/>
            </a:solidFill>
            <a:prstDash val="solid"/>
          </a:ln>
        </p:spPr>
      </p:sp>
      <p:sp>
        <p:nvSpPr>
          <p:cNvPr id="10" name="anim|2|rise|with|"/>
          <p:cNvSpPr/>
          <p:nvPr/>
        </p:nvSpPr>
        <p:spPr>
          <a:xfrm>
            <a:off x="459943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4"/>
          <a:stretch>
            <a:fillRect/>
          </a:stretch>
        </p:blipFill>
        <p:spPr>
          <a:xfrm>
            <a:off x="4770425" y="1862633"/>
            <a:ext cx="435254" cy="435254"/>
          </a:xfrm>
          <a:prstGeom prst="rect">
            <a:avLst/>
          </a:prstGeom>
        </p:spPr>
      </p:pic>
      <p:sp>
        <p:nvSpPr>
          <p:cNvPr id="12" name="anim|2|rise|with|"/>
          <p:cNvSpPr txBox="1"/>
          <p:nvPr/>
        </p:nvSpPr>
        <p:spPr>
          <a:xfrm>
            <a:off x="4599432" y="2651760"/>
            <a:ext cx="3017520" cy="457200"/>
          </a:xfrm>
          <a:prstGeom prst="rect">
            <a:avLst/>
          </a:prstGeom>
          <a:noFill/>
          <a:ln/>
        </p:spPr>
        <p:txBody>
          <a:bodyPr wrap="square" lIns="0" tIns="0" rIns="0" bIns="0" rtlCol="0" anchor="ctr"/>
          <a:lstStyle/>
          <a:p>
            <a:pPr marL="0" indent="0">
              <a:buNone/>
            </a:pPr>
            <a:r>
              <a:rPr lang="en-US" sz="2200" b="1" dirty="0">
                <a:solidFill>
                  <a:srgbClr val="F2A541"/>
                </a:solidFill>
                <a:latin typeface="Calibri" pitchFamily="34" charset="0"/>
                <a:ea typeface="Calibri" pitchFamily="34" charset="-122"/>
                <a:cs typeface="Calibri" pitchFamily="34" charset="-120"/>
              </a:rPr>
              <a:t>Customer</a:t>
            </a:r>
            <a:endParaRPr lang="en-US" sz="2200" dirty="0"/>
          </a:p>
        </p:txBody>
      </p:sp>
      <p:sp>
        <p:nvSpPr>
          <p:cNvPr id="13" name="anim|2|rise|with|"/>
          <p:cNvSpPr txBox="1"/>
          <p:nvPr/>
        </p:nvSpPr>
        <p:spPr>
          <a:xfrm>
            <a:off x="4599432"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Alex · 3 medicines</a:t>
            </a:r>
            <a:endParaRPr lang="en-US" sz="1500" dirty="0"/>
          </a:p>
        </p:txBody>
      </p:sp>
      <p:sp>
        <p:nvSpPr>
          <p:cNvPr id="14" name="anim|2|rise|with|"/>
          <p:cNvSpPr txBox="1"/>
          <p:nvPr/>
        </p:nvSpPr>
        <p:spPr>
          <a:xfrm>
            <a:off x="4599432"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Dupixent, Humalog in use, Repatha. Sees only their own data; the owner's is hidden by the database.</a:t>
            </a:r>
            <a:endParaRPr lang="en-US" sz="1400" dirty="0"/>
          </a:p>
        </p:txBody>
      </p:sp>
      <p:sp>
        <p:nvSpPr>
          <p:cNvPr id="15" name="anim|3|rise|click|"/>
          <p:cNvSpPr/>
          <p:nvPr/>
        </p:nvSpPr>
        <p:spPr>
          <a:xfrm>
            <a:off x="8101584" y="1417320"/>
            <a:ext cx="3520440" cy="3749040"/>
          </a:xfrm>
          <a:prstGeom prst="roundRect">
            <a:avLst>
              <a:gd name="adj" fmla="val 3117"/>
            </a:avLst>
          </a:prstGeom>
          <a:solidFill>
            <a:srgbClr val="2B2F31"/>
          </a:solidFill>
          <a:ln w="9525">
            <a:solidFill>
              <a:srgbClr val="45504C"/>
            </a:solidFill>
            <a:prstDash val="solid"/>
          </a:ln>
        </p:spPr>
      </p:sp>
      <p:sp>
        <p:nvSpPr>
          <p:cNvPr id="16" name="anim|3|rise|with|"/>
          <p:cNvSpPr/>
          <p:nvPr/>
        </p:nvSpPr>
        <p:spPr>
          <a:xfrm>
            <a:off x="837590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5"/>
          <a:stretch>
            <a:fillRect/>
          </a:stretch>
        </p:blipFill>
        <p:spPr>
          <a:xfrm>
            <a:off x="8546897" y="1862633"/>
            <a:ext cx="435254" cy="435254"/>
          </a:xfrm>
          <a:prstGeom prst="rect">
            <a:avLst/>
          </a:prstGeom>
        </p:spPr>
      </p:pic>
      <p:sp>
        <p:nvSpPr>
          <p:cNvPr id="18" name="anim|3|rise|with|"/>
          <p:cNvSpPr txBox="1"/>
          <p:nvPr/>
        </p:nvSpPr>
        <p:spPr>
          <a:xfrm>
            <a:off x="8375904" y="2651760"/>
            <a:ext cx="3017520" cy="457200"/>
          </a:xfrm>
          <a:prstGeom prst="rect">
            <a:avLst/>
          </a:prstGeom>
          <a:noFill/>
          <a:ln/>
        </p:spPr>
        <p:txBody>
          <a:bodyPr wrap="square" lIns="0" tIns="0" rIns="0" bIns="0" rtlCol="0" anchor="ctr"/>
          <a:lstStyle/>
          <a:p>
            <a:pPr marL="0" indent="0">
              <a:buNone/>
            </a:pPr>
            <a:r>
              <a:rPr lang="en-US" sz="2200" b="1" dirty="0">
                <a:solidFill>
                  <a:srgbClr val="9C8CE0"/>
                </a:solidFill>
                <a:latin typeface="Calibri" pitchFamily="34" charset="0"/>
                <a:ea typeface="Calibri" pitchFamily="34" charset="-122"/>
                <a:cs typeface="Calibri" pitchFamily="34" charset="-120"/>
              </a:rPr>
              <a:t>Pharmacist</a:t>
            </a:r>
            <a:endParaRPr lang="en-US" sz="2200" dirty="0"/>
          </a:p>
        </p:txBody>
      </p:sp>
      <p:sp>
        <p:nvSpPr>
          <p:cNvPr id="19" name="anim|3|rise|with|"/>
          <p:cNvSpPr txBox="1"/>
          <p:nvPr/>
        </p:nvSpPr>
        <p:spPr>
          <a:xfrm>
            <a:off x="8375904" y="3108960"/>
            <a:ext cx="3017520" cy="36576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Demo Pharmacist</a:t>
            </a:r>
            <a:endParaRPr lang="en-US" sz="1500" dirty="0"/>
          </a:p>
        </p:txBody>
      </p:sp>
      <p:sp>
        <p:nvSpPr>
          <p:cNvPr id="20" name="anim|3|rise|with|"/>
          <p:cNvSpPr txBox="1"/>
          <p:nvPr/>
        </p:nvSpPr>
        <p:spPr>
          <a:xfrm>
            <a:off x="8375904" y="3566160"/>
            <a:ext cx="3017520" cy="146304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Reviews every medicine's rules and wording; approves or rejects heat-tolerance evidence.</a:t>
            </a:r>
            <a:endParaRPr lang="en-US" sz="1400" dirty="0"/>
          </a:p>
        </p:txBody>
      </p:sp>
      <p:sp>
        <p:nvSpPr>
          <p:cNvPr id="21" name="anim|4|fade|click|"/>
          <p:cNvSpPr/>
          <p:nvPr/>
        </p:nvSpPr>
        <p:spPr>
          <a:xfrm>
            <a:off x="548640" y="5394960"/>
            <a:ext cx="11064240" cy="731520"/>
          </a:xfrm>
          <a:prstGeom prst="roundRect">
            <a:avLst>
              <a:gd name="adj" fmla="val 15000"/>
            </a:avLst>
          </a:prstGeom>
          <a:solidFill>
            <a:srgbClr val="23352F"/>
          </a:solidFill>
          <a:ln w="9525">
            <a:solidFill>
              <a:srgbClr val="6FA391"/>
            </a:solidFill>
            <a:prstDash val="solid"/>
          </a:ln>
        </p:spPr>
      </p:sp>
      <p:sp>
        <p:nvSpPr>
          <p:cNvPr id="22" name="anim|4|fade|with|"/>
          <p:cNvSpPr txBox="1"/>
          <p:nvPr/>
        </p:nvSpPr>
        <p:spPr>
          <a:xfrm>
            <a:off x="822960" y="5394960"/>
            <a:ext cx="10515600" cy="731520"/>
          </a:xfrm>
          <a:prstGeom prst="rect">
            <a:avLst/>
          </a:prstGeom>
          <a:noFill/>
          <a:ln/>
        </p:spPr>
        <p:txBody>
          <a:bodyPr wrap="square" lIns="0" tIns="0" rIns="0" bIns="0" rtlCol="0" anchor="ctr"/>
          <a:lstStyle/>
          <a:p>
            <a:pPr marL="0" indent="0">
              <a:buNone/>
            </a:pPr>
            <a:r>
              <a:rPr lang="en-US" sz="1600" b="1" dirty="0">
                <a:solidFill>
                  <a:srgbClr val="F4F1EA"/>
                </a:solidFill>
                <a:latin typeface="Calibri" pitchFamily="34" charset="0"/>
                <a:ea typeface="Calibri" pitchFamily="34" charset="-122"/>
                <a:cs typeface="Calibri" pitchFamily="34" charset="-120"/>
              </a:rPr>
              <a:t>One click on the sign-in page, or email + password. Same app, three different views, privacy enforced by Postgres.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35" presetID="37" presetClass="entr" presetSubtype="0" fill="hold" grpId="0"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500"/>
                                        <p:tgtEl>
                                          <p:spTgt spid="8"/>
                                        </p:tgtEl>
                                      </p:cBhvr>
                                    </p:animEffect>
                                    <p:anim calcmode="lin" valueType="num">
                                      <p:cBhvr>
                                        <p:cTn id="38" dur="500" fill="hold"/>
                                        <p:tgtEl>
                                          <p:spTgt spid="8"/>
                                        </p:tgtEl>
                                        <p:attrNameLst>
                                          <p:attrName>ppt_x</p:attrName>
                                        </p:attrNameLst>
                                      </p:cBhvr>
                                      <p:tavLst>
                                        <p:tav tm="0">
                                          <p:val>
                                            <p:strVal val="#ppt_x"/>
                                          </p:val>
                                        </p:tav>
                                        <p:tav tm="100000">
                                          <p:val>
                                            <p:strVal val="#ppt_x"/>
                                          </p:val>
                                        </p:tav>
                                      </p:tavLst>
                                    </p:anim>
                                    <p:anim calcmode="lin" valueType="num">
                                      <p:cBhvr>
                                        <p:cTn id="39" dur="450" decel="100000" fill="hold"/>
                                        <p:tgtEl>
                                          <p:spTgt spid="8"/>
                                        </p:tgtEl>
                                        <p:attrNameLst>
                                          <p:attrName>ppt_y</p:attrName>
                                        </p:attrNameLst>
                                      </p:cBhvr>
                                      <p:tavLst>
                                        <p:tav tm="0">
                                          <p:val>
                                            <p:strVal val="#ppt_y+1"/>
                                          </p:val>
                                        </p:tav>
                                        <p:tav tm="100000">
                                          <p:val>
                                            <p:strVal val="#ppt_y-.03"/>
                                          </p:val>
                                        </p:tav>
                                      </p:tavLst>
                                    </p:anim>
                                    <p:anim calcmode="lin" valueType="num">
                                      <p:cBhvr>
                                        <p:cTn id="40"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37"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7" presetID="37"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500"/>
                                        <p:tgtEl>
                                          <p:spTgt spid="13"/>
                                        </p:tgtEl>
                                      </p:cBhvr>
                                    </p:animEffect>
                                    <p:anim calcmode="lin" valueType="num">
                                      <p:cBhvr>
                                        <p:cTn id="70" dur="500" fill="hold"/>
                                        <p:tgtEl>
                                          <p:spTgt spid="13"/>
                                        </p:tgtEl>
                                        <p:attrNameLst>
                                          <p:attrName>ppt_x</p:attrName>
                                        </p:attrNameLst>
                                      </p:cBhvr>
                                      <p:tavLst>
                                        <p:tav tm="0">
                                          <p:val>
                                            <p:strVal val="#ppt_x"/>
                                          </p:val>
                                        </p:tav>
                                        <p:tav tm="100000">
                                          <p:val>
                                            <p:strVal val="#ppt_x"/>
                                          </p:val>
                                        </p:tav>
                                      </p:tavLst>
                                    </p:anim>
                                    <p:anim calcmode="lin" valueType="num">
                                      <p:cBhvr>
                                        <p:cTn id="71" dur="450" decel="100000" fill="hold"/>
                                        <p:tgtEl>
                                          <p:spTgt spid="13"/>
                                        </p:tgtEl>
                                        <p:attrNameLst>
                                          <p:attrName>ppt_y</p:attrName>
                                        </p:attrNameLst>
                                      </p:cBhvr>
                                      <p:tavLst>
                                        <p:tav tm="0">
                                          <p:val>
                                            <p:strVal val="#ppt_y+1"/>
                                          </p:val>
                                        </p:tav>
                                        <p:tav tm="100000">
                                          <p:val>
                                            <p:strVal val="#ppt_y-.03"/>
                                          </p:val>
                                        </p:tav>
                                      </p:tavLst>
                                    </p:anim>
                                    <p:anim calcmode="lin" valueType="num">
                                      <p:cBhvr>
                                        <p:cTn id="72"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3" presetID="37" presetClass="entr" presetSubtype="0" fill="hold" grpId="0" nodeType="withEffect">
                                  <p:stCondLst>
                                    <p:cond delay="0"/>
                                  </p:stCondLst>
                                  <p:childTnLst>
                                    <p:set>
                                      <p:cBhvr>
                                        <p:cTn id="74" dur="1" fill="hold">
                                          <p:stCondLst>
                                            <p:cond delay="0"/>
                                          </p:stCondLst>
                                        </p:cTn>
                                        <p:tgtEl>
                                          <p:spTgt spid="14"/>
                                        </p:tgtEl>
                                        <p:attrNameLst>
                                          <p:attrName>style.visibility</p:attrName>
                                        </p:attrNameLst>
                                      </p:cBhvr>
                                      <p:to>
                                        <p:strVal val="visible"/>
                                      </p:to>
                                    </p:set>
                                    <p:animEffect transition="in" filter="fade">
                                      <p:cBhvr>
                                        <p:cTn id="75" dur="500"/>
                                        <p:tgtEl>
                                          <p:spTgt spid="14"/>
                                        </p:tgtEl>
                                      </p:cBhvr>
                                    </p:animEffect>
                                    <p:anim calcmode="lin" valueType="num">
                                      <p:cBhvr>
                                        <p:cTn id="76" dur="500" fill="hold"/>
                                        <p:tgtEl>
                                          <p:spTgt spid="14"/>
                                        </p:tgtEl>
                                        <p:attrNameLst>
                                          <p:attrName>ppt_x</p:attrName>
                                        </p:attrNameLst>
                                      </p:cBhvr>
                                      <p:tavLst>
                                        <p:tav tm="0">
                                          <p:val>
                                            <p:strVal val="#ppt_x"/>
                                          </p:val>
                                        </p:tav>
                                        <p:tav tm="100000">
                                          <p:val>
                                            <p:strVal val="#ppt_x"/>
                                          </p:val>
                                        </p:tav>
                                      </p:tavLst>
                                    </p:anim>
                                    <p:anim calcmode="lin" valueType="num">
                                      <p:cBhvr>
                                        <p:cTn id="77" dur="450" decel="100000" fill="hold"/>
                                        <p:tgtEl>
                                          <p:spTgt spid="14"/>
                                        </p:tgtEl>
                                        <p:attrNameLst>
                                          <p:attrName>ppt_y</p:attrName>
                                        </p:attrNameLst>
                                      </p:cBhvr>
                                      <p:tavLst>
                                        <p:tav tm="0">
                                          <p:val>
                                            <p:strVal val="#ppt_y+1"/>
                                          </p:val>
                                        </p:tav>
                                        <p:tav tm="100000">
                                          <p:val>
                                            <p:strVal val="#ppt_y-.03"/>
                                          </p:val>
                                        </p:tav>
                                      </p:tavLst>
                                    </p:anim>
                                    <p:anim calcmode="lin" valueType="num">
                                      <p:cBhvr>
                                        <p:cTn id="78"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37" presetClass="entr" presetSubtype="0" fill="hold" nodeType="click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9" presetID="37"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anim calcmode="lin" valueType="num">
                                      <p:cBhvr>
                                        <p:cTn id="102" dur="500" fill="hold"/>
                                        <p:tgtEl>
                                          <p:spTgt spid="18"/>
                                        </p:tgtEl>
                                        <p:attrNameLst>
                                          <p:attrName>ppt_x</p:attrName>
                                        </p:attrNameLst>
                                      </p:cBhvr>
                                      <p:tavLst>
                                        <p:tav tm="0">
                                          <p:val>
                                            <p:strVal val="#ppt_x"/>
                                          </p:val>
                                        </p:tav>
                                        <p:tav tm="100000">
                                          <p:val>
                                            <p:strVal val="#ppt_x"/>
                                          </p:val>
                                        </p:tav>
                                      </p:tavLst>
                                    </p:anim>
                                    <p:anim calcmode="lin" valueType="num">
                                      <p:cBhvr>
                                        <p:cTn id="103" dur="450" decel="100000" fill="hold"/>
                                        <p:tgtEl>
                                          <p:spTgt spid="18"/>
                                        </p:tgtEl>
                                        <p:attrNameLst>
                                          <p:attrName>ppt_y</p:attrName>
                                        </p:attrNameLst>
                                      </p:cBhvr>
                                      <p:tavLst>
                                        <p:tav tm="0">
                                          <p:val>
                                            <p:strVal val="#ppt_y+1"/>
                                          </p:val>
                                        </p:tav>
                                        <p:tav tm="100000">
                                          <p:val>
                                            <p:strVal val="#ppt_y-.03"/>
                                          </p:val>
                                        </p:tav>
                                      </p:tavLst>
                                    </p:anim>
                                    <p:anim calcmode="lin" valueType="num">
                                      <p:cBhvr>
                                        <p:cTn id="104"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5" presetID="37" presetClass="entr" presetSubtype="0" fill="hold" grpId="0" nodeType="withEffect">
                                  <p:stCondLst>
                                    <p:cond delay="0"/>
                                  </p:stCondLst>
                                  <p:childTnLst>
                                    <p:set>
                                      <p:cBhvr>
                                        <p:cTn id="106"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450" decel="100000" fill="hold"/>
                                        <p:tgtEl>
                                          <p:spTgt spid="19"/>
                                        </p:tgtEl>
                                        <p:attrNameLst>
                                          <p:attrName>ppt_y</p:attrName>
                                        </p:attrNameLst>
                                      </p:cBhvr>
                                      <p:tavLst>
                                        <p:tav tm="0">
                                          <p:val>
                                            <p:strVal val="#ppt_y+1"/>
                                          </p:val>
                                        </p:tav>
                                        <p:tav tm="100000">
                                          <p:val>
                                            <p:strVal val="#ppt_y-.03"/>
                                          </p:val>
                                        </p:tav>
                                      </p:tavLst>
                                    </p:anim>
                                    <p:anim calcmode="lin" valueType="num">
                                      <p:cBhvr>
                                        <p:cTn id="110"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1" presetID="37" presetClass="entr" presetSubtype="0" fill="hold" grpId="0"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500"/>
                                        <p:tgtEl>
                                          <p:spTgt spid="20"/>
                                        </p:tgtEl>
                                      </p:cBhvr>
                                    </p:animEffect>
                                    <p:anim calcmode="lin" valueType="num">
                                      <p:cBhvr>
                                        <p:cTn id="114" dur="500" fill="hold"/>
                                        <p:tgtEl>
                                          <p:spTgt spid="20"/>
                                        </p:tgtEl>
                                        <p:attrNameLst>
                                          <p:attrName>ppt_x</p:attrName>
                                        </p:attrNameLst>
                                      </p:cBhvr>
                                      <p:tavLst>
                                        <p:tav tm="0">
                                          <p:val>
                                            <p:strVal val="#ppt_x"/>
                                          </p:val>
                                        </p:tav>
                                        <p:tav tm="100000">
                                          <p:val>
                                            <p:strVal val="#ppt_x"/>
                                          </p:val>
                                        </p:tav>
                                      </p:tavLst>
                                    </p:anim>
                                    <p:anim calcmode="lin" valueType="num">
                                      <p:cBhvr>
                                        <p:cTn id="115" dur="450" decel="100000" fill="hold"/>
                                        <p:tgtEl>
                                          <p:spTgt spid="20"/>
                                        </p:tgtEl>
                                        <p:attrNameLst>
                                          <p:attrName>ppt_y</p:attrName>
                                        </p:attrNameLst>
                                      </p:cBhvr>
                                      <p:tavLst>
                                        <p:tav tm="0">
                                          <p:val>
                                            <p:strVal val="#ppt_y+1"/>
                                          </p:val>
                                        </p:tav>
                                        <p:tav tm="100000">
                                          <p:val>
                                            <p:strVal val="#ppt_y-.03"/>
                                          </p:val>
                                        </p:tav>
                                      </p:tavLst>
                                    </p:anim>
                                    <p:anim calcmode="lin" valueType="num">
                                      <p:cBhvr>
                                        <p:cTn id="116"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3" grpId="0" animBg="1"/>
      <p:bldP spid="14" grpId="0" animBg="1"/>
      <p:bldP spid="18" grpId="0" animBg="1"/>
      <p:bldP spid="19" grpId="0" animBg="1"/>
      <p:bldP spid="20" grpId="0" animBg="1"/>
      <p:bldP spid="22"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822960"/>
            <a:ext cx="1097280" cy="1097280"/>
          </a:xfrm>
          <a:prstGeom prst="rect">
            <a:avLst/>
          </a:prstGeom>
        </p:spPr>
      </p:pic>
      <p:sp>
        <p:nvSpPr>
          <p:cNvPr id="7" name="anim|2|fadedzoom|with|"/>
          <p:cNvSpPr txBox="1"/>
          <p:nvPr/>
        </p:nvSpPr>
        <p:spPr>
          <a:xfrm>
            <a:off x="731520" y="2103120"/>
            <a:ext cx="10698480" cy="1097280"/>
          </a:xfrm>
          <a:prstGeom prst="rect">
            <a:avLst/>
          </a:prstGeom>
          <a:noFill/>
          <a:ln/>
        </p:spPr>
        <p:txBody>
          <a:bodyPr wrap="square" lIns="0" tIns="0" rIns="0" bIns="0" rtlCol="0" anchor="ctr"/>
          <a:lstStyle/>
          <a:p>
            <a:pPr marL="0" indent="0" algn="ctr">
              <a:buNone/>
            </a:pPr>
            <a:r>
              <a:rPr lang="en-US" sz="5400" dirty="0">
                <a:solidFill>
                  <a:srgbClr val="F4F1EA"/>
                </a:solidFill>
                <a:latin typeface="Bookman Old Style" pitchFamily="34" charset="0"/>
                <a:ea typeface="Bookman Old Style" pitchFamily="34" charset="-122"/>
                <a:cs typeface="Bookman Old Style" pitchFamily="34" charset="-120"/>
              </a:rPr>
              <a:t>Thank you</a:t>
            </a:r>
            <a:endParaRPr lang="en-US" sz="5400" dirty="0"/>
          </a:p>
        </p:txBody>
      </p:sp>
      <p:sp>
        <p:nvSpPr>
          <p:cNvPr id="8" name="anim|3|fade|after|"/>
          <p:cNvSpPr txBox="1"/>
          <p:nvPr/>
        </p:nvSpPr>
        <p:spPr>
          <a:xfrm>
            <a:off x="731520" y="3200400"/>
            <a:ext cx="10698480" cy="640080"/>
          </a:xfrm>
          <a:prstGeom prst="rect">
            <a:avLst/>
          </a:prstGeom>
          <a:noFill/>
          <a:ln/>
        </p:spPr>
        <p:txBody>
          <a:bodyPr wrap="square" lIns="0" tIns="0" rIns="0" bIns="0" rtlCol="0" anchor="ctr"/>
          <a:lstStyle/>
          <a:p>
            <a:pPr marL="0" indent="0" algn="ctr">
              <a:buNone/>
            </a:pPr>
            <a:r>
              <a:rPr lang="en-US" sz="2800" dirty="0">
                <a:solidFill>
                  <a:srgbClr val="B9C4BF"/>
                </a:solidFill>
                <a:latin typeface="Bookman Old Style" pitchFamily="34" charset="0"/>
                <a:ea typeface="Bookman Old Style" pitchFamily="34" charset="-122"/>
                <a:cs typeface="Bookman Old Style" pitchFamily="34" charset="-120"/>
              </a:rPr>
              <a:t>Questions?</a:t>
            </a:r>
            <a:endParaRPr lang="en-US" sz="2800" dirty="0"/>
          </a:p>
        </p:txBody>
      </p:sp>
      <p:sp>
        <p:nvSpPr>
          <p:cNvPr id="9" name="anim|3|fade|with|"/>
          <p:cNvSpPr txBox="1"/>
          <p:nvPr/>
        </p:nvSpPr>
        <p:spPr>
          <a:xfrm>
            <a:off x="731520" y="4343400"/>
            <a:ext cx="10698480" cy="457200"/>
          </a:xfrm>
          <a:prstGeom prst="rect">
            <a:avLst/>
          </a:prstGeom>
          <a:noFill/>
          <a:ln/>
        </p:spPr>
        <p:txBody>
          <a:bodyPr wrap="square" lIns="0" tIns="0" rIns="0" bIns="0" rtlCol="0" anchor="ctr"/>
          <a:lstStyle/>
          <a:p>
            <a:pPr marL="0" indent="0" algn="ctr">
              <a:buNone/>
            </a:pPr>
            <a:r>
              <a:rPr lang="en-US" sz="1700" dirty="0">
                <a:solidFill>
                  <a:srgbClr val="A8D5C2"/>
                </a:solidFill>
                <a:latin typeface="Calibri" pitchFamily="34" charset="0"/>
                <a:ea typeface="Calibri" pitchFamily="34" charset="-122"/>
                <a:cs typeface="Calibri" pitchFamily="34" charset="-120"/>
              </a:rPr>
              <a:t>LIFELOG  ·  Hack Dearborn 5  ·  github.com/Manognya86/HackDearborn5</a:t>
            </a:r>
            <a:endParaRPr lang="en-US" sz="1700" dirty="0"/>
          </a:p>
        </p:txBody>
      </p:sp>
      <p:sp>
        <p:nvSpPr>
          <p:cNvPr id="10" name="anim|3|fade|with|"/>
          <p:cNvSpPr txBox="1"/>
          <p:nvPr/>
        </p:nvSpPr>
        <p:spPr>
          <a:xfrm>
            <a:off x="731520" y="4846320"/>
            <a:ext cx="10698480" cy="411480"/>
          </a:xfrm>
          <a:prstGeom prst="rect">
            <a:avLst/>
          </a:prstGeom>
          <a:noFill/>
          <a:ln/>
        </p:spPr>
        <p:txBody>
          <a:bodyPr wrap="square" lIns="0" tIns="0" rIns="0" bIns="0" rtlCol="0" anchor="ctr"/>
          <a:lstStyle/>
          <a:p>
            <a:pPr marL="0" indent="0" algn="ctr">
              <a:buNone/>
            </a:pPr>
            <a:r>
              <a:rPr lang="en-US" sz="1400" dirty="0">
                <a:solidFill>
                  <a:srgbClr val="B9C4BF"/>
                </a:solidFill>
                <a:latin typeface="Calibri" pitchFamily="34" charset="0"/>
                <a:ea typeface="Calibri" pitchFamily="34" charset="-122"/>
                <a:cs typeface="Calibri" pitchFamily="34" charset="-120"/>
              </a:rPr>
              <a:t>Try it: sign in as Owner, Customer or Pharmacist with one click</a:t>
            </a:r>
            <a:endParaRPr lang="en-US" sz="14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par>
                                <p:cTn id="27" presetID="53" presetClass="entr" presetSubtype="16"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p:cTn id="29" dur="600" fill="hold"/>
                                        <p:tgtEl>
                                          <p:spTgt spid="7"/>
                                        </p:tgtEl>
                                        <p:attrNameLst>
                                          <p:attrName>ppt_w</p:attrName>
                                        </p:attrNameLst>
                                      </p:cBhvr>
                                      <p:tavLst>
                                        <p:tav tm="0">
                                          <p:val>
                                            <p:fltVal val="0"/>
                                          </p:val>
                                        </p:tav>
                                        <p:tav tm="100000">
                                          <p:val>
                                            <p:strVal val="#ppt_w"/>
                                          </p:val>
                                        </p:tav>
                                      </p:tavLst>
                                    </p:anim>
                                    <p:anim calcmode="lin" valueType="num">
                                      <p:cBhvr>
                                        <p:cTn id="30" dur="600" fill="hold"/>
                                        <p:tgtEl>
                                          <p:spTgt spid="7"/>
                                        </p:tgtEl>
                                        <p:attrNameLst>
                                          <p:attrName>ppt_h</p:attrName>
                                        </p:attrNameLst>
                                      </p:cBhvr>
                                      <p:tavLst>
                                        <p:tav tm="0">
                                          <p:val>
                                            <p:fltVal val="0"/>
                                          </p:val>
                                        </p:tav>
                                        <p:tav tm="100000">
                                          <p:val>
                                            <p:strVal val="#ppt_h"/>
                                          </p:val>
                                        </p:tav>
                                      </p:tavLst>
                                    </p:anim>
                                    <p:animEffect transition="in" filter="fade">
                                      <p:cBhvr>
                                        <p:cTn id="31" dur="600"/>
                                        <p:tgtEl>
                                          <p:spTgt spid="7"/>
                                        </p:tgtEl>
                                      </p:cBhvr>
                                    </p:animEffect>
                                  </p:childTnLst>
                                </p:cTn>
                              </p:par>
                            </p:childTnLst>
                          </p:cTn>
                        </p:par>
                        <p:par>
                          <p:cTn id="3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4883</Words>
  <Application>Microsoft Office PowerPoint</Application>
  <PresentationFormat>Widescreen</PresentationFormat>
  <Paragraphs>496</Paragraphs>
  <Slides>30</Slides>
  <Notes>30</Notes>
  <HiddenSlides>16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Bookman Old Style</vt:lpstr>
      <vt:lpstr>Calibri</vt:lpstr>
      <vt:lpstr>Conjure Reality</vt:lpstr>
      <vt:lpstr>PowerPoint Presentation</vt:lpstr>
      <vt:lpstr>The cold chain ends at the pharmacy door</vt:lpstr>
      <vt:lpstr>The insight: exposure adds up</vt:lpstr>
      <vt:lpstr>A big, growing group of people carry this risk</vt:lpstr>
      <vt:lpstr>Meet LIFELOG</vt:lpstr>
      <vt:lpstr>24 real medicines, checked against their FDA labels</vt:lpstr>
      <vt:lpstr>How it works</vt:lpstr>
      <vt:lpstr>When the power goes out, who runs out first?</vt:lpstr>
      <vt:lpstr>Private by design, checked by a pharmacist</vt:lpstr>
      <vt:lpstr>Reaching people who don't watch an app</vt:lpstr>
      <vt:lpstr>Who pays, and why</vt:lpstr>
      <vt:lpstr>Go-to-market: start in Dearborn</vt:lpstr>
      <vt:lpstr>PowerPoint Presentation</vt:lpstr>
      <vt:lpstr>PowerPoint Presentation</vt:lpstr>
      <vt:lpstr>Everyone watches medicine until it reaches you</vt:lpstr>
      <vt:lpstr>What's new here</vt:lpstr>
      <vt:lpstr>Tiger Data does the heavy lifting</vt:lpstr>
      <vt:lpstr>Gemini: from messy reality to clear advice</vt:lpstr>
      <vt:lpstr>A forecast trained for each medicine</vt:lpstr>
      <vt:lpstr>Real outages, live from DTE</vt:lpstr>
      <vt:lpstr>Numbers you can trust, and limits we show</vt:lpstr>
      <vt:lpstr>Records a pharmacist can verify</vt:lpstr>
      <vt:lpstr>Was the dose I took last Tuesday still good?</vt:lpstr>
      <vt:lpstr>In your language, with your data in your hands</vt:lpstr>
      <vt:lpstr>Works with or without AI</vt:lpstr>
      <vt:lpstr>Build on LIFELOG</vt:lpstr>
      <vt:lpstr>Try it three ways</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2026-10-04T12:30:02Z</dcterms:created>
  <dcterms:modified xsi:type="dcterms:W3CDTF">2026-10-04T12:30:46Z</dcterms:modified>
</cp:coreProperties>
</file>